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User types the request; Chat API &gt; Kafka &gt; Orchestrator &gt; Supervisor. 2 Supervisor routes to the Personal Agent Builder. 3 Builder matches a template and shows the review card; on Create it calls create_agent through MCP (with the app confirmation token) and the automation service saves the agent and grant in MongoDB. 4 Banking event arrives via the event feed connector. 5 Flink trigger job matches and guards, emits trigger_fired to the automation service. 6 Automation service creates the run and sends a preview task with channel=automation. 7 Supervisor routes to the owning sub-agent. 8 Preview tool via MCP after grant check returns a quote. 9 Push to the user, approval with cvams step-up. 10 Execute run: execute tool re-validates and calls the API layer; run done, user notified.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Fargo Architecture + Personal Agents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697480" y="54864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788920" y="576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Tachyon control plane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788920" y="841248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inferencing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Gemini, Gemma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37160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TSDK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822960"/>
            <a:ext cx="1371600" cy="265176"/>
          </a:xfrm>
          <a:prstGeom prst="roundRect">
            <a:avLst>
              <a:gd name="adj" fmla="val 20690"/>
            </a:avLst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guardrails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1133856"/>
            <a:ext cx="1371600" cy="265176"/>
          </a:xfrm>
          <a:prstGeom prst="roundRect">
            <a:avLst>
              <a:gd name="adj" fmla="val 20690"/>
            </a:avLst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Overwatch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1444752"/>
            <a:ext cx="1371600" cy="265176"/>
          </a:xfrm>
          <a:prstGeom prst="roundRect">
            <a:avLst>
              <a:gd name="adj" fmla="val 20690"/>
            </a:avLst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201168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EAF4E4"/>
          </a:solidFill>
          <a:ln w="12700">
            <a:solidFill>
              <a:srgbClr val="A9D1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74320" y="260604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1F2D4D"/>
          </a:solidFill>
          <a:ln w="12700">
            <a:solidFill>
              <a:srgbClr val="1F2D4D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API (PAA)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v1/chat/stream SSE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74320" y="352044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C5D9F1"/>
          </a:solidFill>
          <a:ln w="12700">
            <a:solidFill>
              <a:srgbClr val="8EA9D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cvams-digital-service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Step-up, interdiction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2743200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0116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analytics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60604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Flink 2.0, A2A Java SDK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0116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EAF4E4"/>
          </a:solidFill>
          <a:ln w="12700">
            <a:solidFill>
              <a:srgbClr val="A9D18E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251460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5E2580"/>
          </a:solidFill>
          <a:ln w="12700">
            <a:solidFill>
              <a:srgbClr val="4A1C6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Agent (ADK)</a:t>
            </a:r>
            <a:endParaRPr lang="en-US" sz="10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agent intent, task routing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V="1">
            <a:off x="1005840" y="2395728"/>
            <a:ext cx="914" cy="210312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737360" y="2926080"/>
            <a:ext cx="164592" cy="91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5840" y="3246120"/>
            <a:ext cx="914" cy="256032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14600" y="2926080"/>
            <a:ext cx="164592" cy="91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3383280" y="2395728"/>
            <a:ext cx="914" cy="210312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069080" y="2926080"/>
            <a:ext cx="256032" cy="914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5029200" y="2395728"/>
            <a:ext cx="914" cy="118872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172200" y="50292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5E2580"/>
          </a:solidFill>
          <a:ln w="12700">
            <a:solidFill>
              <a:srgbClr val="4A1C6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DF CX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80760" y="960120"/>
            <a:ext cx="1737360" cy="4069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6172200" y="9875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080760" y="47731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sub-agents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105156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5E2580"/>
          </a:solidFill>
          <a:ln w="12700">
            <a:solidFill>
              <a:srgbClr val="4A1C6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Agent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1527048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5E2580"/>
          </a:solidFill>
          <a:ln w="12700">
            <a:solidFill>
              <a:srgbClr val="4A1C6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Rates, Fees &amp; Limits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2002536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5E2580"/>
          </a:solidFill>
          <a:ln w="12700">
            <a:solidFill>
              <a:srgbClr val="4A1C6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to Human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2478024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5E2580"/>
          </a:solidFill>
          <a:ln w="12700">
            <a:solidFill>
              <a:srgbClr val="4A1C6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Agent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295351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5E2580"/>
          </a:solidFill>
          <a:ln w="12700">
            <a:solidFill>
              <a:srgbClr val="4A1C6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Management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172200" y="342900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5E2580"/>
          </a:solidFill>
          <a:ln w="12700">
            <a:solidFill>
              <a:srgbClr val="4A1C6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Agent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172200" y="3904488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5E2580"/>
          </a:solidFill>
          <a:ln w="12700">
            <a:solidFill>
              <a:srgbClr val="4A1C6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Hub Agent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4379976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FCE4C4"/>
          </a:solidFill>
          <a:ln w="19050">
            <a:solidFill>
              <a:srgbClr val="D9822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Agent Builder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 flipV="1">
            <a:off x="5715000" y="667512"/>
            <a:ext cx="438912" cy="1984248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5715000" y="1243584"/>
            <a:ext cx="438912" cy="1682496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5715000" y="1719072"/>
            <a:ext cx="438912" cy="1207008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5715000" y="2194560"/>
            <a:ext cx="438912" cy="731520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5715000" y="2670048"/>
            <a:ext cx="438912" cy="256032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715000" y="2926080"/>
            <a:ext cx="438912" cy="219456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715000" y="2926080"/>
            <a:ext cx="438912" cy="694944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715000" y="2926080"/>
            <a:ext cx="438912" cy="1170432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715000" y="3200400"/>
            <a:ext cx="438912" cy="1371600"/>
          </a:xfrm>
          <a:prstGeom prst="line">
            <a:avLst/>
          </a:prstGeom>
          <a:noFill/>
          <a:ln w="1587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092440" y="1051560"/>
            <a:ext cx="822960" cy="3712464"/>
          </a:xfrm>
          <a:prstGeom prst="roundRect">
            <a:avLst>
              <a:gd name="adj" fmla="val 6667"/>
            </a:avLst>
          </a:prstGeom>
          <a:solidFill>
            <a:srgbClr val="E7E6E6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092440" y="2194560"/>
            <a:ext cx="8229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(stateless)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726680" y="1243584"/>
            <a:ext cx="347472" cy="914"/>
          </a:xfrm>
          <a:prstGeom prst="line">
            <a:avLst/>
          </a:prstGeom>
          <a:noFill/>
          <a:ln w="15875">
            <a:solidFill>
              <a:srgbClr val="5B8DC9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726680" y="1719072"/>
            <a:ext cx="347472" cy="914"/>
          </a:xfrm>
          <a:prstGeom prst="line">
            <a:avLst/>
          </a:prstGeom>
          <a:noFill/>
          <a:ln w="15875">
            <a:solidFill>
              <a:srgbClr val="5B8DC9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726680" y="2194560"/>
            <a:ext cx="347472" cy="914"/>
          </a:xfrm>
          <a:prstGeom prst="line">
            <a:avLst/>
          </a:prstGeom>
          <a:noFill/>
          <a:ln w="15875">
            <a:solidFill>
              <a:srgbClr val="5B8DC9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726680" y="2670048"/>
            <a:ext cx="347472" cy="914"/>
          </a:xfrm>
          <a:prstGeom prst="line">
            <a:avLst/>
          </a:prstGeom>
          <a:noFill/>
          <a:ln w="15875">
            <a:solidFill>
              <a:srgbClr val="5B8DC9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726680" y="3145536"/>
            <a:ext cx="347472" cy="914"/>
          </a:xfrm>
          <a:prstGeom prst="line">
            <a:avLst/>
          </a:prstGeom>
          <a:noFill/>
          <a:ln w="15875">
            <a:solidFill>
              <a:srgbClr val="5B8DC9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726680" y="3621024"/>
            <a:ext cx="347472" cy="914"/>
          </a:xfrm>
          <a:prstGeom prst="line">
            <a:avLst/>
          </a:prstGeom>
          <a:noFill/>
          <a:ln w="15875">
            <a:solidFill>
              <a:srgbClr val="5B8DC9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8156448" y="4069080"/>
            <a:ext cx="694944" cy="621792"/>
          </a:xfrm>
          <a:prstGeom prst="roundRect">
            <a:avLst>
              <a:gd name="adj" fmla="val 8824"/>
            </a:avLst>
          </a:prstGeom>
          <a:solidFill>
            <a:srgbClr val="FCE4C4"/>
          </a:solidFill>
          <a:ln w="19050">
            <a:solidFill>
              <a:srgbClr val="D9822B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check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runs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26680" y="4572000"/>
            <a:ext cx="347472" cy="914"/>
          </a:xfrm>
          <a:prstGeom prst="line">
            <a:avLst/>
          </a:prstGeom>
          <a:noFill/>
          <a:ln w="15875">
            <a:solidFill>
              <a:srgbClr val="5B8DC9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8092440" y="493776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Tachyon Search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8092440" y="5440680"/>
            <a:ext cx="822960" cy="329184"/>
          </a:xfrm>
          <a:prstGeom prst="roundRect">
            <a:avLst>
              <a:gd name="adj" fmla="val 16667"/>
            </a:avLst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726680" y="4096512"/>
            <a:ext cx="137160" cy="914"/>
          </a:xfrm>
          <a:prstGeom prst="line">
            <a:avLst/>
          </a:prstGeom>
          <a:noFill/>
          <a:ln w="15875">
            <a:solidFill>
              <a:srgbClr val="5B8DC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63840" y="4096512"/>
            <a:ext cx="914" cy="1005840"/>
          </a:xfrm>
          <a:prstGeom prst="line">
            <a:avLst/>
          </a:prstGeom>
          <a:noFill/>
          <a:ln w="15875">
            <a:solidFill>
              <a:srgbClr val="5B8DC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863840" y="5102352"/>
            <a:ext cx="210312" cy="914"/>
          </a:xfrm>
          <a:prstGeom prst="line">
            <a:avLst/>
          </a:prstGeom>
          <a:noFill/>
          <a:ln w="15875">
            <a:solidFill>
              <a:srgbClr val="5B8DC9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503920" y="5266944"/>
            <a:ext cx="914" cy="155448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9116568" y="411480"/>
            <a:ext cx="2843784" cy="3977640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</p:spPr>
      </p:sp>
      <p:sp>
        <p:nvSpPr>
          <p:cNvPr id="63" name="Text 61"/>
          <p:cNvSpPr txBox="1"/>
          <p:nvPr/>
        </p:nvSpPr>
        <p:spPr>
          <a:xfrm>
            <a:off x="9189720" y="50292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D6E4F5"/>
          </a:solidFill>
          <a:ln w="12700">
            <a:solidFill>
              <a:srgbClr val="8EA9DB"/>
            </a:solidFill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Chat-Data-Service (FAPI)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Webhooks: Account, Card Management, Transaction, Rate Fees &amp; Limits, T2H, Insights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(40+): Account, Transaction, RFL, T2H, Insights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9189720" y="283464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CE4C4"/>
          </a:solidFill>
          <a:ln w="19050">
            <a:solidFill>
              <a:srgbClr val="D9822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+ execute tools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first (no side effects), then act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9189720" y="3474720"/>
            <a:ext cx="2697480" cy="365760"/>
          </a:xfrm>
          <a:prstGeom prst="roundRect">
            <a:avLst>
              <a:gd name="adj" fmla="val 15000"/>
            </a:avLst>
          </a:prstGeom>
          <a:solidFill>
            <a:srgbClr val="C5D9F1"/>
          </a:solidFill>
          <a:ln w="12700">
            <a:solidFill>
              <a:srgbClr val="8EA9D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FAPI 2.0 (cross channel)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9189720" y="3977640"/>
            <a:ext cx="2697480" cy="320040"/>
          </a:xfrm>
          <a:prstGeom prst="roundRect">
            <a:avLst>
              <a:gd name="adj" fmla="val 17143"/>
            </a:avLst>
          </a:prstGeom>
          <a:solidFill>
            <a:srgbClr val="C5D9F1"/>
          </a:solidFill>
          <a:ln w="12700">
            <a:solidFill>
              <a:srgbClr val="8EA9D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WIM Tools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9189720" y="4526280"/>
            <a:ext cx="2697480" cy="1051560"/>
          </a:xfrm>
          <a:prstGeom prst="roundRect">
            <a:avLst>
              <a:gd name="adj" fmla="val 5217"/>
            </a:avLst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050" dirty="0"/>
          </a:p>
          <a:p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Banking Service · VPS/DTDS · Five9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Zelle / Bill Pay / TAP · Data APIs · PFF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platform (merchant blocks)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915400" y="1645920"/>
            <a:ext cx="256032" cy="914"/>
          </a:xfrm>
          <a:prstGeom prst="line">
            <a:avLst/>
          </a:prstGeom>
          <a:noFill/>
          <a:ln w="15875">
            <a:solidFill>
              <a:srgbClr val="5B8DC9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8915400" y="3081528"/>
            <a:ext cx="256032" cy="914"/>
          </a:xfrm>
          <a:prstGeom prst="line">
            <a:avLst/>
          </a:prstGeom>
          <a:noFill/>
          <a:ln w="15875">
            <a:solidFill>
              <a:srgbClr val="5B8DC9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10533888" y="4297680"/>
            <a:ext cx="914" cy="210312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274320" y="434340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</p:spPr>
      </p:sp>
      <p:sp>
        <p:nvSpPr>
          <p:cNvPr id="72" name="Text 70"/>
          <p:cNvSpPr txBox="1"/>
          <p:nvPr/>
        </p:nvSpPr>
        <p:spPr>
          <a:xfrm>
            <a:off x="365760" y="4370832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personal agent runtime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457200" y="46634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CE4C4"/>
          </a:solidFill>
          <a:ln w="19050">
            <a:solidFill>
              <a:srgbClr val="D9822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feed connector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Postings, ACH → Kafka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576072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CE4C4"/>
          </a:solidFill>
          <a:ln w="19050">
            <a:solidFill>
              <a:srgbClr val="D9822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Flink trigger job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+ guard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2377440" y="544068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CE4C4"/>
          </a:solidFill>
          <a:ln w="19050">
            <a:solidFill>
              <a:srgbClr val="D9822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service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Runs, approvals, scheduler, sweeper, outbox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4297680" y="466344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CE4C4"/>
          </a:solidFill>
          <a:ln w="19050">
            <a:solidFill>
              <a:srgbClr val="D9822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service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alerts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4297680" y="576072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CE4C4"/>
          </a:solidFill>
          <a:ln w="19050">
            <a:solidFill>
              <a:srgbClr val="D9822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Agents, grants, runs, approvals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1234440" y="5212080"/>
            <a:ext cx="914" cy="530352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2011680" y="6035040"/>
            <a:ext cx="347472" cy="91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4114800" y="6035040"/>
            <a:ext cx="164592" cy="91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 flipV="1">
            <a:off x="3840480" y="4937760"/>
            <a:ext cx="914" cy="50292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840480" y="4937760"/>
            <a:ext cx="438912" cy="914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 flipV="1">
            <a:off x="2926080" y="3264408"/>
            <a:ext cx="914" cy="2176272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3566160" y="3246120"/>
            <a:ext cx="914" cy="2176272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tailEnd type="triangle"/>
          </a:ln>
        </p:spPr>
      </p:sp>
      <p:sp>
        <p:nvSpPr>
          <p:cNvPr id="85" name="Shape 83"/>
          <p:cNvSpPr/>
          <p:nvPr/>
        </p:nvSpPr>
        <p:spPr>
          <a:xfrm flipV="1">
            <a:off x="4937760" y="3931920"/>
            <a:ext cx="914" cy="731520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H="1">
            <a:off x="1755648" y="3931920"/>
            <a:ext cx="3182112" cy="914"/>
          </a:xfrm>
          <a:prstGeom prst="line">
            <a:avLst/>
          </a:prstGeom>
          <a:noFill/>
          <a:ln w="15875">
            <a:solidFill>
              <a:srgbClr val="7F7F7F"/>
            </a:solidFill>
            <a:prstDash val="dash"/>
            <a:tailEnd type="triangle"/>
          </a:ln>
        </p:spPr>
      </p:sp>
      <p:sp>
        <p:nvSpPr>
          <p:cNvPr id="87" name="Shape 85"/>
          <p:cNvSpPr/>
          <p:nvPr/>
        </p:nvSpPr>
        <p:spPr>
          <a:xfrm flipH="1">
            <a:off x="7955280" y="4709160"/>
            <a:ext cx="137160" cy="914"/>
          </a:xfrm>
          <a:prstGeom prst="line">
            <a:avLst/>
          </a:prstGeom>
          <a:noFill/>
          <a:ln w="15875">
            <a:solidFill>
              <a:srgbClr val="5B8DC9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7955280" y="4709160"/>
            <a:ext cx="914" cy="822960"/>
          </a:xfrm>
          <a:prstGeom prst="line">
            <a:avLst/>
          </a:prstGeom>
          <a:noFill/>
          <a:ln w="15875">
            <a:solidFill>
              <a:srgbClr val="5B8DC9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H="1">
            <a:off x="4133088" y="5532120"/>
            <a:ext cx="3822192" cy="914"/>
          </a:xfrm>
          <a:prstGeom prst="line">
            <a:avLst/>
          </a:prstGeom>
          <a:noFill/>
          <a:ln w="15875">
            <a:solidFill>
              <a:srgbClr val="5B8DC9"/>
            </a:solidFill>
            <a:prstDash val="dash"/>
            <a:tailEnd type="triangle"/>
          </a:ln>
        </p:spPr>
      </p:sp>
      <p:sp>
        <p:nvSpPr>
          <p:cNvPr id="90" name="Text 88"/>
          <p:cNvSpPr txBox="1"/>
          <p:nvPr/>
        </p:nvSpPr>
        <p:spPr>
          <a:xfrm>
            <a:off x="5806440" y="5321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tools via MCP (list, create, pause)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080760" y="589788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A6A6A6"/>
            </a:solidFill>
            <a:prstDash val="dash"/>
          </a:ln>
        </p:spPr>
      </p:sp>
      <p:sp>
        <p:nvSpPr>
          <p:cNvPr id="92" name="Text 90"/>
          <p:cNvSpPr txBox="1"/>
          <p:nvPr/>
        </p:nvSpPr>
        <p:spPr>
          <a:xfrm>
            <a:off x="6172200" y="59253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Enablers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6144768" y="6144768"/>
            <a:ext cx="621792" cy="548640"/>
          </a:xfrm>
          <a:prstGeom prst="roundRect">
            <a:avLst>
              <a:gd name="adj" fmla="val 10000"/>
            </a:avLst>
          </a:prstGeom>
          <a:solidFill>
            <a:srgbClr val="5E2580"/>
          </a:solidFill>
          <a:ln w="12700">
            <a:solidFill>
              <a:srgbClr val="4A1C66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Fargo Agent builder</a:t>
            </a:r>
            <a:endParaRPr lang="en-US" sz="750" dirty="0"/>
          </a:p>
        </p:txBody>
      </p:sp>
      <p:sp>
        <p:nvSpPr>
          <p:cNvPr id="94" name="Text 92"/>
          <p:cNvSpPr txBox="1"/>
          <p:nvPr/>
        </p:nvSpPr>
        <p:spPr>
          <a:xfrm>
            <a:off x="6839712" y="6144768"/>
            <a:ext cx="621792" cy="548640"/>
          </a:xfrm>
          <a:prstGeom prst="roundRect">
            <a:avLst>
              <a:gd name="adj" fmla="val 10000"/>
            </a:avLst>
          </a:prstGeom>
          <a:solidFill>
            <a:srgbClr val="5E2580"/>
          </a:solidFill>
          <a:ln w="12700">
            <a:solidFill>
              <a:srgbClr val="4A1C66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Fargo Eval Engine</a:t>
            </a:r>
            <a:endParaRPr lang="en-US" sz="750" dirty="0"/>
          </a:p>
        </p:txBody>
      </p:sp>
      <p:sp>
        <p:nvSpPr>
          <p:cNvPr id="95" name="Text 93"/>
          <p:cNvSpPr txBox="1"/>
          <p:nvPr/>
        </p:nvSpPr>
        <p:spPr>
          <a:xfrm>
            <a:off x="7534656" y="6144768"/>
            <a:ext cx="621792" cy="548640"/>
          </a:xfrm>
          <a:prstGeom prst="roundRect">
            <a:avLst>
              <a:gd name="adj" fmla="val 10000"/>
            </a:avLst>
          </a:prstGeom>
          <a:solidFill>
            <a:srgbClr val="5E2580"/>
          </a:solidFill>
          <a:ln w="12700">
            <a:solidFill>
              <a:srgbClr val="4A1C66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Agent</a:t>
            </a:r>
            <a:endParaRPr lang="en-US" sz="750" dirty="0"/>
          </a:p>
        </p:txBody>
      </p:sp>
      <p:sp>
        <p:nvSpPr>
          <p:cNvPr id="96" name="Text 94"/>
          <p:cNvSpPr txBox="1"/>
          <p:nvPr/>
        </p:nvSpPr>
        <p:spPr>
          <a:xfrm>
            <a:off x="8229600" y="6144768"/>
            <a:ext cx="621792" cy="548640"/>
          </a:xfrm>
          <a:prstGeom prst="roundRect">
            <a:avLst>
              <a:gd name="adj" fmla="val 10000"/>
            </a:avLst>
          </a:prstGeom>
          <a:solidFill>
            <a:srgbClr val="5E2580"/>
          </a:solidFill>
          <a:ln w="12700">
            <a:solidFill>
              <a:srgbClr val="4A1C66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Agent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9189720" y="5797296"/>
            <a:ext cx="164592" cy="128016"/>
          </a:xfrm>
          <a:prstGeom prst="rect">
            <a:avLst/>
          </a:prstGeom>
          <a:solidFill>
            <a:srgbClr val="5E2580"/>
          </a:solidFill>
          <a:ln w="12700">
            <a:solidFill>
              <a:srgbClr val="4A1C66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9418320" y="57607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10561320" y="5797296"/>
            <a:ext cx="164592" cy="128016"/>
          </a:xfrm>
          <a:prstGeom prst="rect">
            <a:avLst/>
          </a:prstGeom>
          <a:solidFill>
            <a:srgbClr val="C5D9F1"/>
          </a:solidFill>
          <a:ln w="12700">
            <a:solidFill>
              <a:srgbClr val="8EA9DB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0789920" y="57607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/ tool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9189720" y="6025896"/>
            <a:ext cx="164592" cy="128016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9418320" y="59893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10561320" y="6025896"/>
            <a:ext cx="164592" cy="128016"/>
          </a:xfrm>
          <a:prstGeom prst="rect">
            <a:avLst/>
          </a:prstGeom>
          <a:solidFill>
            <a:srgbClr val="FCE4C4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0789920" y="59893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for personal agents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9189720" y="6364224"/>
            <a:ext cx="36576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06" name="Text 104"/>
          <p:cNvSpPr txBox="1"/>
          <p:nvPr/>
        </p:nvSpPr>
        <p:spPr>
          <a:xfrm>
            <a:off x="9619488" y="6263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protocol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10561320" y="6364224"/>
            <a:ext cx="365760" cy="0"/>
          </a:xfrm>
          <a:prstGeom prst="line">
            <a:avLst/>
          </a:prstGeom>
          <a:noFill/>
          <a:ln w="19050">
            <a:solidFill>
              <a:srgbClr val="5B8DC9"/>
            </a:solidFill>
            <a:prstDash val="solid"/>
            <a:tailEnd type="triangle"/>
          </a:ln>
        </p:spPr>
      </p:sp>
      <p:sp>
        <p:nvSpPr>
          <p:cNvPr id="108" name="Text 106"/>
          <p:cNvSpPr txBox="1"/>
          <p:nvPr/>
        </p:nvSpPr>
        <p:spPr>
          <a:xfrm>
            <a:off x="10991088" y="6263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protocol</a:t>
            </a:r>
            <a:endParaRPr lang="en-US" sz="850" dirty="0"/>
          </a:p>
        </p:txBody>
      </p:sp>
      <p:sp>
        <p:nvSpPr>
          <p:cNvPr id="109" name="Text 107"/>
          <p:cNvSpPr txBox="1"/>
          <p:nvPr/>
        </p:nvSpPr>
        <p:spPr>
          <a:xfrm>
            <a:off x="9189720" y="6510528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10" name="Text 108"/>
          <p:cNvSpPr txBox="1"/>
          <p:nvPr/>
        </p:nvSpPr>
        <p:spPr>
          <a:xfrm>
            <a:off x="9418320" y="65013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step (details on next slide)</a:t>
            </a:r>
            <a:endParaRPr lang="en-US" sz="850" dirty="0"/>
          </a:p>
        </p:txBody>
      </p:sp>
      <p:sp>
        <p:nvSpPr>
          <p:cNvPr id="111" name="Text 109"/>
          <p:cNvSpPr txBox="1"/>
          <p:nvPr/>
        </p:nvSpPr>
        <p:spPr>
          <a:xfrm>
            <a:off x="1673352" y="239572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2" name="Text 110"/>
          <p:cNvSpPr txBox="1"/>
          <p:nvPr/>
        </p:nvSpPr>
        <p:spPr>
          <a:xfrm>
            <a:off x="5779008" y="395020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3" name="Text 111"/>
          <p:cNvSpPr txBox="1"/>
          <p:nvPr/>
        </p:nvSpPr>
        <p:spPr>
          <a:xfrm>
            <a:off x="8924544" y="4370832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4" name="Text 112"/>
          <p:cNvSpPr txBox="1"/>
          <p:nvPr/>
        </p:nvSpPr>
        <p:spPr>
          <a:xfrm>
            <a:off x="2103120" y="480060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15" name="Text 113"/>
          <p:cNvSpPr txBox="1"/>
          <p:nvPr/>
        </p:nvSpPr>
        <p:spPr>
          <a:xfrm>
            <a:off x="1993392" y="566928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16" name="Text 114"/>
          <p:cNvSpPr txBox="1"/>
          <p:nvPr/>
        </p:nvSpPr>
        <p:spPr>
          <a:xfrm>
            <a:off x="2542032" y="452628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17" name="Text 115"/>
          <p:cNvSpPr txBox="1"/>
          <p:nvPr/>
        </p:nvSpPr>
        <p:spPr>
          <a:xfrm>
            <a:off x="5760720" y="221284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18" name="Text 116"/>
          <p:cNvSpPr txBox="1"/>
          <p:nvPr/>
        </p:nvSpPr>
        <p:spPr>
          <a:xfrm>
            <a:off x="8887968" y="274320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19" name="Text 117"/>
          <p:cNvSpPr txBox="1"/>
          <p:nvPr/>
        </p:nvSpPr>
        <p:spPr>
          <a:xfrm>
            <a:off x="5029200" y="4041648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20" name="Text 118"/>
          <p:cNvSpPr txBox="1"/>
          <p:nvPr/>
        </p:nvSpPr>
        <p:spPr>
          <a:xfrm>
            <a:off x="10652760" y="4261104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personal agent runs: 10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is a short preview run, an approval when the agent is in ask mode, then a short execute run.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2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the agent (once, in chat)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929384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asks in chat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API → Kafka → Orchestrator → Supervisor, like any chat turn.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2432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587752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routes to the builder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personal-agent intent, sent over A2A to the Personal Agent Builder.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8269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24612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creates the agent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match, params, review card. On Create: create_agent via MCP; automation service saves agent + grant.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2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agent (in the background)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96596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1929384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arrives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credit or card charge lands in Kafka via the event feed connector (or the scheduler fires).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62432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587752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job matches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Flink checks only that account’s agents, applies guards, emits trigger_fired.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28269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24612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service starts the run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Inserts the run (idempotency key), sends a preview task with channel=automation.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94106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904488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routes the task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task goes straight to the owning sub-agent, no NLU.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59943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4562856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through MCP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check passes, preview tool returns a quote, session ends.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525780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5221224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approves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notification, approval card, cvams step-up.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591616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71E2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5879592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and confirm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run re-validates, calls the API layer, run marked done, user notified.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11480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FCE4C4"/>
          </a:solidFill>
          <a:ln w="12700">
            <a:solidFill>
              <a:srgbClr val="D9822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Modes: </a:t>
            </a:r>
            <a:pPr indent="0" marL="0">
              <a:buNone/>
            </a:pPr>
            <a:r>
              <a:rPr lang="en-US" sz="1200" dirty="0">
                <a:solidFill>
                  <a:srgbClr val="7A3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→ steps 9–10 · act then tell → execute, then notify with undo · read → notify after step 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512064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C5D9F1"/>
          </a:solidFill>
          <a:ln w="12700">
            <a:solidFill>
              <a:srgbClr val="8EA9D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denied or ignored: </a:t>
            </a:r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changes; the run ends as DENIED or EXPIRED and the user is told.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data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collections, written only by the automation service. Account and card references are tokens, never raw numbers.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79192" cy="2377440"/>
          </a:xfrm>
          <a:prstGeom prst="roundRect">
            <a:avLst>
              <a:gd name="adj" fmla="val 2308"/>
            </a:avLst>
          </a:prstGeom>
          <a:solidFill>
            <a:srgbClr val="F7F5FA"/>
          </a:solidFill>
          <a:ln w="12700">
            <a:solidFill>
              <a:srgbClr val="C9B8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64592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2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agent_templates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Bank-reviewed blueprints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331720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templateId, version, name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trigger.type, action.type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mode: ask | act_then_tell | read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paramSchema, limits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requiredTools[], effectText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9272" y="1508760"/>
            <a:ext cx="2679192" cy="2377440"/>
          </a:xfrm>
          <a:prstGeom prst="roundRect">
            <a:avLst>
              <a:gd name="adj" fmla="val 2308"/>
            </a:avLst>
          </a:prstGeom>
          <a:solidFill>
            <a:srgbClr val="F7F5FA"/>
          </a:solidFill>
          <a:ln w="12700">
            <a:solidFill>
              <a:srgbClr val="C9B8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83864" y="164592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2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personal_agents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customer agent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83864" y="2331720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agentId, customerId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templateId, templateVersion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params, trigger, guards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on | paused | deleted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grantId, sourceUtterance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1508760"/>
            <a:ext cx="2679192" cy="2377440"/>
          </a:xfrm>
          <a:prstGeom prst="roundRect">
            <a:avLst>
              <a:gd name="adj" fmla="val 2308"/>
            </a:avLst>
          </a:prstGeom>
          <a:solidFill>
            <a:srgbClr val="F7F5FA"/>
          </a:solidFill>
          <a:ln w="12700">
            <a:solidFill>
              <a:srgbClr val="C9B8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5936" y="164592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2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agent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45936" y="2331720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grantId, agentId, customerId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allowedTools[]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accountScopes[] (tokens)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limits, issuedAt, expiresAt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revokedAt, revokedReason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43416" y="1508760"/>
            <a:ext cx="2679192" cy="2377440"/>
          </a:xfrm>
          <a:prstGeom prst="roundRect">
            <a:avLst>
              <a:gd name="adj" fmla="val 2308"/>
            </a:avLst>
          </a:prstGeom>
          <a:solidFill>
            <a:srgbClr val="F7F5FA"/>
          </a:solidFill>
          <a:ln w="12700">
            <a:solidFill>
              <a:srgbClr val="C9B8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08008" y="164592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2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agent_runs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trigger firing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208008" y="2331720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runId, agentId, periodId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idempotencyKey (unique)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state, stateHistory[]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preview: quoteId, warnings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outcome, error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2679192" cy="2377440"/>
          </a:xfrm>
          <a:prstGeom prst="roundRect">
            <a:avLst>
              <a:gd name="adj" fmla="val 2308"/>
            </a:avLst>
          </a:prstGeom>
          <a:solidFill>
            <a:srgbClr val="F7F5FA"/>
          </a:solidFill>
          <a:ln w="12700">
            <a:solidFill>
              <a:srgbClr val="C9B8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25196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2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ask-mode run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4937760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approvalId, runId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previewHash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expiresAt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stepUpRef (cvams)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notificationId, decidedAt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9272" y="4114800"/>
            <a:ext cx="2679192" cy="2377440"/>
          </a:xfrm>
          <a:prstGeom prst="roundRect">
            <a:avLst>
              <a:gd name="adj" fmla="val 2308"/>
            </a:avLst>
          </a:prstGeom>
          <a:solidFill>
            <a:srgbClr val="F7F5FA"/>
          </a:solidFill>
          <a:ln w="12700">
            <a:solidFill>
              <a:srgbClr val="C9B8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83864" y="425196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2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agent_activity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Customer-facing feed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483864" y="4937760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eventId, customerId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agentId, runId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fired | approved | 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message, createdAt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81344" y="4114800"/>
            <a:ext cx="2679192" cy="2377440"/>
          </a:xfrm>
          <a:prstGeom prst="roundRect">
            <a:avLst>
              <a:gd name="adj" fmla="val 2308"/>
            </a:avLst>
          </a:prstGeom>
          <a:solidFill>
            <a:srgbClr val="F7F5FA"/>
          </a:solidFill>
          <a:ln w="12700">
            <a:solidFill>
              <a:srgbClr val="C9B8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45936" y="425196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E2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outbox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publishing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345936" y="4937760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messageId, destination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(customerId), payload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published, publishedAt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043416" y="4114800"/>
            <a:ext cx="2679192" cy="2377440"/>
          </a:xfrm>
          <a:prstGeom prst="roundRect">
            <a:avLst>
              <a:gd name="adj" fmla="val 2308"/>
            </a:avLst>
          </a:prstGeom>
          <a:solidFill>
            <a:srgbClr val="C5D9F1"/>
          </a:solidFill>
          <a:ln w="12700">
            <a:solidFill>
              <a:srgbClr val="8EA9DB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E2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idempotencyKey blocks duplicate runs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state change is a conditional update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change + outbox in one transaction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TTL on runs or approvals; kept for audit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Fargo Architecture + Personal Agents</dc:title>
  <dc:subject>PptxGenJS Presentation</dc:subject>
  <dc:creator>PptxGenJS</dc:creator>
  <cp:lastModifiedBy>PptxGenJS</cp:lastModifiedBy>
  <cp:revision>1</cp:revision>
  <dcterms:created xsi:type="dcterms:W3CDTF">2026-10-04T03:10:04Z</dcterms:created>
  <dcterms:modified xsi:type="dcterms:W3CDTF">2026-10-04T03:10:04Z</dcterms:modified>
</cp:coreProperties>
</file>