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7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Progress to Date: FARGO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21208" y="932688"/>
            <a:ext cx="4206240" cy="41148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4" name="Text 2"/>
          <p:cNvSpPr/>
          <p:nvPr/>
        </p:nvSpPr>
        <p:spPr>
          <a:xfrm>
            <a:off x="521208" y="10058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|  GenAI · Agentic Platform · Customer Experience Rollouts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0" y="384048"/>
            <a:ext cx="2057400" cy="384048"/>
          </a:xfrm>
          <a:prstGeom prst="rect">
            <a:avLst/>
          </a:prstGeom>
          <a:solidFill>
            <a:srgbClr val="FFFFFF"/>
          </a:solidFill>
          <a:ln w="15875">
            <a:solidFill>
              <a:srgbClr val="D71E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3840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JUN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670048" cy="749808"/>
          </a:xfrm>
          <a:prstGeom prst="rect">
            <a:avLst/>
          </a:prstGeom>
          <a:solidFill>
            <a:srgbClr val="F7F5F2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91440" cy="749808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435608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D7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746504" y="141732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2026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70048" cy="749808"/>
          </a:xfrm>
          <a:prstGeom prst="rect">
            <a:avLst/>
          </a:prstGeom>
          <a:solidFill>
            <a:srgbClr val="F7F5F2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417320"/>
            <a:ext cx="91440" cy="749808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13" name="Text 11"/>
          <p:cNvSpPr/>
          <p:nvPr/>
        </p:nvSpPr>
        <p:spPr>
          <a:xfrm>
            <a:off x="3483864" y="1435608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D7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4581144" y="141732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Active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Rollout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2670048" cy="749808"/>
          </a:xfrm>
          <a:prstGeom prst="rect">
            <a:avLst/>
          </a:prstGeom>
          <a:solidFill>
            <a:srgbClr val="F7F5F2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417320"/>
            <a:ext cx="91440" cy="749808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1435608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7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~88%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15784" y="141732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Pilot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417320"/>
            <a:ext cx="2670048" cy="749808"/>
          </a:xfrm>
          <a:prstGeom prst="rect">
            <a:avLst/>
          </a:prstGeom>
          <a:solidFill>
            <a:srgbClr val="F7F5F2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1417320"/>
            <a:ext cx="91440" cy="749808"/>
          </a:xfrm>
          <a:prstGeom prst="rect">
            <a:avLst/>
          </a:prstGeom>
          <a:solidFill>
            <a:srgbClr val="D71E2B"/>
          </a:solidFill>
          <a:ln/>
        </p:spPr>
      </p:sp>
      <p:sp>
        <p:nvSpPr>
          <p:cNvPr id="21" name="Text 19"/>
          <p:cNvSpPr/>
          <p:nvPr/>
        </p:nvSpPr>
        <p:spPr>
          <a:xfrm>
            <a:off x="9153144" y="1435608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7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0250424" y="1417320"/>
            <a:ext cx="1335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May '26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2395728"/>
            <a:ext cx="36576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395728"/>
            <a:ext cx="3657600" cy="73152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2633472"/>
            <a:ext cx="512064" cy="512064"/>
          </a:xfrm>
          <a:prstGeom prst="ellipse">
            <a:avLst/>
          </a:prstGeom>
          <a:solidFill>
            <a:srgbClr val="ECEAE7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734056"/>
            <a:ext cx="310896" cy="31089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25968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GenAI Core Experiences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2971800" y="2578608"/>
            <a:ext cx="10058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1E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71800" y="2578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40664" y="3218688"/>
            <a:ext cx="3218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Hub — 10% customer rollout (May 21)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Guru (GenAI TXN) — ~30% rollout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Pilot — 10% customers, ~88% positive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325112" y="2395728"/>
            <a:ext cx="36576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25112" y="2395728"/>
            <a:ext cx="3657600" cy="73152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33" name="Shape 30"/>
          <p:cNvSpPr/>
          <p:nvPr/>
        </p:nvSpPr>
        <p:spPr>
          <a:xfrm>
            <a:off x="4507992" y="2633472"/>
            <a:ext cx="512064" cy="512064"/>
          </a:xfrm>
          <a:prstGeom prst="ellipse">
            <a:avLst/>
          </a:prstGeom>
          <a:solidFill>
            <a:srgbClr val="ECEAE7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734056"/>
            <a:ext cx="310896" cy="31089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148072" y="25968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Proactive Intelligence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793992" y="2578608"/>
            <a:ext cx="10058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1E2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793992" y="2578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562856" y="3218688"/>
            <a:ext cx="3218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Deposits, Refunds, Spending in employee pilot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Charges &amp; Upcoming Activity phasing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cutover planned July (R26.07)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8147304" y="2395728"/>
            <a:ext cx="36576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147304" y="2395728"/>
            <a:ext cx="3657600" cy="73152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41" name="Shape 37"/>
          <p:cNvSpPr/>
          <p:nvPr/>
        </p:nvSpPr>
        <p:spPr>
          <a:xfrm>
            <a:off x="8330184" y="2633472"/>
            <a:ext cx="512064" cy="512064"/>
          </a:xfrm>
          <a:prstGeom prst="ellipse">
            <a:avLst/>
          </a:prstGeom>
          <a:solidFill>
            <a:srgbClr val="ECEAE7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734056"/>
            <a:ext cx="310896" cy="310896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970264" y="25968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Digest</a:t>
            </a:r>
            <a:endParaRPr lang="en-US" sz="1250" dirty="0"/>
          </a:p>
        </p:txBody>
      </p:sp>
      <p:sp>
        <p:nvSpPr>
          <p:cNvPr id="44" name="Shape 39"/>
          <p:cNvSpPr/>
          <p:nvPr/>
        </p:nvSpPr>
        <p:spPr>
          <a:xfrm>
            <a:off x="10616184" y="2578608"/>
            <a:ext cx="10058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1E2B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0616184" y="2578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8385048" y="3218688"/>
            <a:ext cx="3218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launched 2025 → expanding in 2026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rollout June–July 2026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rollout → 10% by Aug; CDF / Bill Pay / OPS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502920" y="3986784"/>
            <a:ext cx="36576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02920" y="3986784"/>
            <a:ext cx="3657600" cy="73152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49" name="Shape 44"/>
          <p:cNvSpPr/>
          <p:nvPr/>
        </p:nvSpPr>
        <p:spPr>
          <a:xfrm>
            <a:off x="685800" y="4224528"/>
            <a:ext cx="512064" cy="512064"/>
          </a:xfrm>
          <a:prstGeom prst="ellipse">
            <a:avLst/>
          </a:prstGeom>
          <a:solidFill>
            <a:srgbClr val="ECEAE7"/>
          </a:solidFill>
          <a:ln/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325112"/>
            <a:ext cx="310896" cy="310896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1325880" y="41879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Fargo / Platform</a:t>
            </a:r>
            <a:endParaRPr lang="en-US" sz="1250" dirty="0"/>
          </a:p>
        </p:txBody>
      </p:sp>
      <p:sp>
        <p:nvSpPr>
          <p:cNvPr id="52" name="Shape 46"/>
          <p:cNvSpPr/>
          <p:nvPr/>
        </p:nvSpPr>
        <p:spPr>
          <a:xfrm>
            <a:off x="2971800" y="4169664"/>
            <a:ext cx="10058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1E2B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2971800" y="4169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</a:t>
            </a:r>
            <a:endParaRPr lang="en-US" sz="850" dirty="0"/>
          </a:p>
        </p:txBody>
      </p:sp>
      <p:sp>
        <p:nvSpPr>
          <p:cNvPr id="54" name="Text 48"/>
          <p:cNvSpPr/>
          <p:nvPr/>
        </p:nvSpPr>
        <p:spPr>
          <a:xfrm>
            <a:off x="740664" y="4809744"/>
            <a:ext cx="3218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MVP live (May 2026)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+ RAG + traceability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Router, agent reuse &amp; evaluation frameworks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4325112" y="3986784"/>
            <a:ext cx="36576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4325112" y="3986784"/>
            <a:ext cx="3657600" cy="73152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57" name="Shape 51"/>
          <p:cNvSpPr/>
          <p:nvPr/>
        </p:nvSpPr>
        <p:spPr>
          <a:xfrm>
            <a:off x="4507992" y="4224528"/>
            <a:ext cx="512064" cy="512064"/>
          </a:xfrm>
          <a:prstGeom prst="ellipse">
            <a:avLst/>
          </a:prstGeom>
          <a:solidFill>
            <a:srgbClr val="ECEAE7"/>
          </a:solidFill>
          <a:ln/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325112"/>
            <a:ext cx="310896" cy="31089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5148072" y="41879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Experience / Use Cases</a:t>
            </a:r>
            <a:endParaRPr lang="en-US" sz="1250" dirty="0"/>
          </a:p>
        </p:txBody>
      </p:sp>
      <p:sp>
        <p:nvSpPr>
          <p:cNvPr id="60" name="Shape 53"/>
          <p:cNvSpPr/>
          <p:nvPr/>
        </p:nvSpPr>
        <p:spPr>
          <a:xfrm>
            <a:off x="6793992" y="4169664"/>
            <a:ext cx="10058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1E2B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6793992" y="4169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62" name="Text 55"/>
          <p:cNvSpPr/>
          <p:nvPr/>
        </p:nvSpPr>
        <p:spPr>
          <a:xfrm>
            <a:off x="4562856" y="4809744"/>
            <a:ext cx="3218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Financial Advice (Phase 1)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Affordance: payments, recurring, CC flows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Rewards, credit score, promos, loans &amp; goals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8147304" y="3986784"/>
            <a:ext cx="36576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8147304" y="3986784"/>
            <a:ext cx="3657600" cy="73152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65" name="Shape 58"/>
          <p:cNvSpPr/>
          <p:nvPr/>
        </p:nvSpPr>
        <p:spPr>
          <a:xfrm>
            <a:off x="8330184" y="4224528"/>
            <a:ext cx="512064" cy="512064"/>
          </a:xfrm>
          <a:prstGeom prst="ellipse">
            <a:avLst/>
          </a:prstGeom>
          <a:solidFill>
            <a:srgbClr val="ECEAE7"/>
          </a:solidFill>
          <a:ln/>
        </p:spPr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325112"/>
            <a:ext cx="310896" cy="310896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8970264" y="41879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2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/ Platform Enhancements</a:t>
            </a:r>
            <a:endParaRPr lang="en-US" sz="1250" dirty="0"/>
          </a:p>
        </p:txBody>
      </p:sp>
      <p:sp>
        <p:nvSpPr>
          <p:cNvPr id="68" name="Shape 60"/>
          <p:cNvSpPr/>
          <p:nvPr/>
        </p:nvSpPr>
        <p:spPr>
          <a:xfrm>
            <a:off x="10616184" y="4169664"/>
            <a:ext cx="10058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1E2B"/>
            </a:solidFill>
            <a:prstDash val="solid"/>
          </a:ln>
        </p:spPr>
      </p:sp>
      <p:sp>
        <p:nvSpPr>
          <p:cNvPr id="69" name="Text 61"/>
          <p:cNvSpPr/>
          <p:nvPr/>
        </p:nvSpPr>
        <p:spPr>
          <a:xfrm>
            <a:off x="10616184" y="4169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70" name="Text 62"/>
          <p:cNvSpPr/>
          <p:nvPr/>
        </p:nvSpPr>
        <p:spPr>
          <a:xfrm>
            <a:off x="8385048" y="4809744"/>
            <a:ext cx="3218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Feature-flag, prompt &amp; model upgrades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TSV compliance flows shipped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monitoring &amp; data validation</a:t>
            </a:r>
            <a:endParaRPr lang="en-US" sz="900" dirty="0"/>
          </a:p>
        </p:txBody>
      </p:sp>
      <p:sp>
        <p:nvSpPr>
          <p:cNvPr id="71" name="Shape 63"/>
          <p:cNvSpPr/>
          <p:nvPr/>
        </p:nvSpPr>
        <p:spPr>
          <a:xfrm>
            <a:off x="502920" y="5577840"/>
            <a:ext cx="11155680" cy="804672"/>
          </a:xfrm>
          <a:prstGeom prst="rect">
            <a:avLst/>
          </a:prstGeom>
          <a:solidFill>
            <a:srgbClr val="F7F5F2"/>
          </a:solidFill>
          <a:ln w="12700">
            <a:solidFill>
              <a:srgbClr val="D9D6D2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502920" y="5577840"/>
            <a:ext cx="109728" cy="804672"/>
          </a:xfrm>
          <a:prstGeom prst="rect">
            <a:avLst/>
          </a:prstGeom>
          <a:solidFill>
            <a:srgbClr val="E8A100"/>
          </a:solidFill>
          <a:ln/>
        </p:spPr>
      </p:sp>
      <p:sp>
        <p:nvSpPr>
          <p:cNvPr id="73" name="Shape 65"/>
          <p:cNvSpPr/>
          <p:nvPr/>
        </p:nvSpPr>
        <p:spPr>
          <a:xfrm>
            <a:off x="749808" y="5751576"/>
            <a:ext cx="457200" cy="457200"/>
          </a:xfrm>
          <a:prstGeom prst="ellipse">
            <a:avLst/>
          </a:prstGeom>
          <a:solidFill>
            <a:srgbClr val="ECEAE7"/>
          </a:solidFill>
          <a:ln/>
        </p:spPr>
      </p:sp>
      <p:pic>
        <p:nvPicPr>
          <p:cNvPr id="7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843016"/>
            <a:ext cx="256032" cy="256032"/>
          </a:xfrm>
          <a:prstGeom prst="rect">
            <a:avLst/>
          </a:prstGeom>
        </p:spPr>
      </p:pic>
      <p:sp>
        <p:nvSpPr>
          <p:cNvPr id="75" name="Text 66"/>
          <p:cNvSpPr/>
          <p:nvPr/>
        </p:nvSpPr>
        <p:spPr>
          <a:xfrm>
            <a:off x="1325880" y="564184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7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 In-Progress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D7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(Active in 2026)</a:t>
            </a:r>
            <a:endParaRPr lang="en-US" sz="1250" dirty="0"/>
          </a:p>
        </p:txBody>
      </p:sp>
      <p:sp>
        <p:nvSpPr>
          <p:cNvPr id="76" name="Text 67"/>
          <p:cNvSpPr/>
          <p:nvPr/>
        </p:nvSpPr>
        <p:spPr>
          <a:xfrm>
            <a:off x="3840480" y="557784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Fargo WIM Integration </a:t>
            </a:r>
            <a:pPr algn="l"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(pilot Jul)   ·   </a:t>
            </a:r>
            <a:pPr algn="l" indent="0" marL="0">
              <a:buNone/>
            </a:pPr>
            <a:r>
              <a:rPr lang="en-US" sz="110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</a:t>
            </a:r>
            <a:pPr algn="l"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(Sep)   ·   </a:t>
            </a:r>
            <a:pPr algn="l" indent="0" marL="0">
              <a:buNone/>
            </a:pPr>
            <a:r>
              <a:rPr lang="en-US" sz="1100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Forecast Insights   ·   </a:t>
            </a:r>
            <a:pPr algn="l" indent="0" marL="0">
              <a:buNone/>
            </a:pPr>
            <a:r>
              <a:rPr lang="en-US" sz="110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Daily Digest </a:t>
            </a:r>
            <a:pPr algn="l"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 later)   ·   </a:t>
            </a:r>
            <a:pPr algn="l" indent="0" marL="0">
              <a:buNone/>
            </a:pPr>
            <a:r>
              <a:rPr lang="en-US" sz="1100" b="1" dirty="0">
                <a:solidFill>
                  <a:srgbClr val="2E2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Conversational AI </a:t>
            </a:r>
            <a:pPr algn="l" indent="0" marL="0"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(Q4)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Fargo 2026 Executive Summary</dc:title>
  <dc:subject>PptxGenJS Presentation</dc:subject>
  <dc:creator>Sri</dc:creator>
  <cp:lastModifiedBy>Sri</cp:lastModifiedBy>
  <cp:revision>1</cp:revision>
  <dcterms:created xsi:type="dcterms:W3CDTF">2026-06-01T11:50:04Z</dcterms:created>
  <dcterms:modified xsi:type="dcterms:W3CDTF">2026-06-01T11:50:04Z</dcterms:modified>
</cp:coreProperties>
</file>