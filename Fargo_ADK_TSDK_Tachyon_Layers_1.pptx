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for this deck: Tachyon is the platform, TSDK is its client library, and Google ADK is the agent runtime that ships inside TSDK. We are not choosing between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from the outside in. Anything a team gets 'for free' by importing TSDK is in the purple band. The ADK box is what developers actually code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same E2E block diagram we used for the FMEA, minus the risk callouts. Step 9 is worth calling out: the agent talks to the MCP server directly, the platform is not in that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column = ADK primitives. Middle = wrapper behaviour. Right = platform services. If someone asks 'where does X live', this is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one request through. Most steps are ADK orchestration with the wrapper routing calls to the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the 'on construction' line: registration, Arize tracer and callbacks are installed when the agent object is created, not by the agent developer.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Short-term state goes through ADK Session/State; long-term through ADK MemoryService. TSDK adapters point both at Tachyon-managed stores.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calls always go through the Bridge. Tool calls go from the agent to the registered MCP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13 capabilities as the earlier comparison deck, now split by where the capability actually comes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adopt the library and you get the platform integration; upgrade ADK or Tachyon independently.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005840"/>
            <a:ext cx="10972800" cy="822960"/>
          </a:xfrm>
          <a:prstGeom prst="rect">
            <a:avLst/>
          </a:prstGeom>
          <a:noFill/>
          <a:ln/>
        </p:spPr>
        <p:txBody>
          <a:bodyPr wrap="square" lIns="508" tIns="508" rIns="508" bIns="508" rtlCol="0" anchor="t"/>
          <a:lstStyle/>
          <a:p>
            <a:pPr algn="l" indent="0" marL="0">
              <a:lnSpc>
                <a:spcPct val="105000"/>
              </a:lnSpc>
              <a:buNone/>
            </a:pPr>
            <a:r>
              <a:rPr lang="en-US" sz="3600" b="1" dirty="0">
                <a:solidFill>
                  <a:srgbClr val="1B1F3B"/>
                </a:solidFill>
                <a:latin typeface="Calibri" pitchFamily="34" charset="0"/>
                <a:ea typeface="Calibri" pitchFamily="34" charset="-122"/>
                <a:cs typeface="Calibri" pitchFamily="34" charset="-120"/>
              </a:rPr>
              <a:t>Fargo agent stack: Google ADK, TSDK and Tachyon</a:t>
            </a:r>
            <a:endParaRPr lang="en-US" sz="3600" dirty="0"/>
          </a:p>
        </p:txBody>
      </p:sp>
      <p:sp>
        <p:nvSpPr>
          <p:cNvPr id="3" name="Text 1"/>
          <p:cNvSpPr txBox="1"/>
          <p:nvPr/>
        </p:nvSpPr>
        <p:spPr>
          <a:xfrm>
            <a:off x="640080" y="1920240"/>
            <a:ext cx="10515600" cy="731520"/>
          </a:xfrm>
          <a:prstGeom prst="rect">
            <a:avLst/>
          </a:prstGeom>
          <a:noFill/>
          <a:ln/>
        </p:spPr>
        <p:txBody>
          <a:bodyPr wrap="square" lIns="508" tIns="508" rIns="508" bIns="508" rtlCol="0" anchor="t"/>
          <a:lstStyle/>
          <a:p>
            <a:pPr algn="l" indent="0" marL="0">
              <a:lnSpc>
                <a:spcPct val="105000"/>
              </a:lnSpc>
              <a:buNone/>
            </a:pPr>
            <a:r>
              <a:rPr lang="en-US" sz="1600" dirty="0">
                <a:solidFill>
                  <a:srgbClr val="5F6368"/>
                </a:solidFill>
                <a:latin typeface="Calibri" pitchFamily="34" charset="0"/>
                <a:ea typeface="Calibri" pitchFamily="34" charset="-122"/>
                <a:cs typeface="Calibri" pitchFamily="34" charset="-120"/>
              </a:rPr>
              <a:t>Which features come from the ADK core, which come from the TSDK library, and which come from the Tachyon platform</a:t>
            </a:r>
            <a:endParaRPr lang="en-US" sz="1600" dirty="0"/>
          </a:p>
        </p:txBody>
      </p:sp>
      <p:sp>
        <p:nvSpPr>
          <p:cNvPr id="4" name="Shape 2"/>
          <p:cNvSpPr/>
          <p:nvPr/>
        </p:nvSpPr>
        <p:spPr>
          <a:xfrm>
            <a:off x="640080" y="3063240"/>
            <a:ext cx="10881360" cy="2834640"/>
          </a:xfrm>
          <a:prstGeom prst="roundRect">
            <a:avLst>
              <a:gd name="adj" fmla="val 4516"/>
            </a:avLst>
          </a:prstGeom>
          <a:solidFill>
            <a:srgbClr val="FDEEE4"/>
          </a:solidFill>
          <a:ln w="19050">
            <a:solidFill>
              <a:srgbClr val="C2410C"/>
            </a:solidFill>
            <a:prstDash val="solid"/>
          </a:ln>
        </p:spPr>
      </p:sp>
      <p:sp>
        <p:nvSpPr>
          <p:cNvPr id="5" name="Text 3"/>
          <p:cNvSpPr txBox="1"/>
          <p:nvPr/>
        </p:nvSpPr>
        <p:spPr>
          <a:xfrm>
            <a:off x="914400" y="3200400"/>
            <a:ext cx="5486400" cy="320040"/>
          </a:xfrm>
          <a:prstGeom prst="rect">
            <a:avLst/>
          </a:prstGeom>
          <a:noFill/>
          <a:ln/>
        </p:spPr>
        <p:txBody>
          <a:bodyPr wrap="square" lIns="508" tIns="508" rIns="508" bIns="508" rtlCol="0" anchor="t"/>
          <a:lstStyle/>
          <a:p>
            <a:pPr algn="l" indent="0" marL="0">
              <a:lnSpc>
                <a:spcPct val="105000"/>
              </a:lnSpc>
              <a:buNone/>
            </a:pPr>
            <a:r>
              <a:rPr lang="en-US" sz="1200" b="1" dirty="0">
                <a:solidFill>
                  <a:srgbClr val="C2410C"/>
                </a:solidFill>
                <a:latin typeface="Calibri" pitchFamily="34" charset="0"/>
                <a:ea typeface="Calibri" pitchFamily="34" charset="-122"/>
                <a:cs typeface="Calibri" pitchFamily="34" charset="-120"/>
              </a:rPr>
              <a:t>Tachyon – enterprise platform</a:t>
            </a:r>
            <a:endParaRPr lang="en-US" sz="1200" dirty="0"/>
          </a:p>
        </p:txBody>
      </p:sp>
      <p:sp>
        <p:nvSpPr>
          <p:cNvPr id="6" name="Text 4"/>
          <p:cNvSpPr txBox="1"/>
          <p:nvPr/>
        </p:nvSpPr>
        <p:spPr>
          <a:xfrm>
            <a:off x="914400" y="3502152"/>
            <a:ext cx="7315200" cy="274320"/>
          </a:xfrm>
          <a:prstGeom prst="rect">
            <a:avLst/>
          </a:prstGeom>
          <a:noFill/>
          <a:ln/>
        </p:spPr>
        <p:txBody>
          <a:bodyPr wrap="square" lIns="508" tIns="508" rIns="508" bIns="508" rtlCol="0" anchor="t"/>
          <a:lstStyle/>
          <a:p>
            <a:pPr algn="l" indent="0" marL="0">
              <a:lnSpc>
                <a:spcPct val="105000"/>
              </a:lnSpc>
              <a:buNone/>
            </a:pPr>
            <a:r>
              <a:rPr lang="en-US" sz="1050" dirty="0">
                <a:solidFill>
                  <a:srgbClr val="5F6368"/>
                </a:solidFill>
                <a:latin typeface="Calibri" pitchFamily="34" charset="0"/>
                <a:ea typeface="Calibri" pitchFamily="34" charset="-122"/>
                <a:cs typeface="Calibri" pitchFamily="34" charset="-120"/>
              </a:rPr>
              <a:t>AI Bridge · Overwatch · Arize · registries · guardrails · evals · memory infra · OCP deployment · MMR</a:t>
            </a:r>
            <a:endParaRPr lang="en-US" sz="1050" dirty="0"/>
          </a:p>
        </p:txBody>
      </p:sp>
      <p:sp>
        <p:nvSpPr>
          <p:cNvPr id="7" name="Shape 5"/>
          <p:cNvSpPr/>
          <p:nvPr/>
        </p:nvSpPr>
        <p:spPr>
          <a:xfrm>
            <a:off x="914400" y="3886200"/>
            <a:ext cx="10332720" cy="1783080"/>
          </a:xfrm>
          <a:prstGeom prst="roundRect">
            <a:avLst>
              <a:gd name="adj" fmla="val 6154"/>
            </a:avLst>
          </a:prstGeom>
          <a:solidFill>
            <a:srgbClr val="EFE9F7"/>
          </a:solidFill>
          <a:ln w="19050">
            <a:solidFill>
              <a:srgbClr val="6B4C9A"/>
            </a:solidFill>
            <a:prstDash val="solid"/>
          </a:ln>
        </p:spPr>
      </p:sp>
      <p:sp>
        <p:nvSpPr>
          <p:cNvPr id="8" name="Text 6"/>
          <p:cNvSpPr txBox="1"/>
          <p:nvPr/>
        </p:nvSpPr>
        <p:spPr>
          <a:xfrm>
            <a:off x="1188720" y="4005072"/>
            <a:ext cx="5486400" cy="320040"/>
          </a:xfrm>
          <a:prstGeom prst="rect">
            <a:avLst/>
          </a:prstGeom>
          <a:noFill/>
          <a:ln/>
        </p:spPr>
        <p:txBody>
          <a:bodyPr wrap="square" lIns="508" tIns="508" rIns="508" bIns="508" rtlCol="0" anchor="t"/>
          <a:lstStyle/>
          <a:p>
            <a:pPr algn="l" indent="0" marL="0">
              <a:lnSpc>
                <a:spcPct val="105000"/>
              </a:lnSpc>
              <a:buNone/>
            </a:pPr>
            <a:r>
              <a:rPr lang="en-US" sz="1200" b="1" dirty="0">
                <a:solidFill>
                  <a:srgbClr val="6B4C9A"/>
                </a:solidFill>
                <a:latin typeface="Calibri" pitchFamily="34" charset="0"/>
                <a:ea typeface="Calibri" pitchFamily="34" charset="-122"/>
                <a:cs typeface="Calibri" pitchFamily="34" charset="-120"/>
              </a:rPr>
              <a:t>TSDK – client library for the platform</a:t>
            </a:r>
            <a:endParaRPr lang="en-US" sz="1200" dirty="0"/>
          </a:p>
        </p:txBody>
      </p:sp>
      <p:sp>
        <p:nvSpPr>
          <p:cNvPr id="9" name="Text 7"/>
          <p:cNvSpPr txBox="1"/>
          <p:nvPr/>
        </p:nvSpPr>
        <p:spPr>
          <a:xfrm>
            <a:off x="1188720" y="4297680"/>
            <a:ext cx="7772400" cy="274320"/>
          </a:xfrm>
          <a:prstGeom prst="rect">
            <a:avLst/>
          </a:prstGeom>
          <a:noFill/>
          <a:ln/>
        </p:spPr>
        <p:txBody>
          <a:bodyPr wrap="square" lIns="508" tIns="508" rIns="508" bIns="508" rtlCol="0" anchor="t"/>
          <a:lstStyle/>
          <a:p>
            <a:pPr algn="l" indent="0" marL="0">
              <a:lnSpc>
                <a:spcPct val="105000"/>
              </a:lnSpc>
              <a:buNone/>
            </a:pPr>
            <a:r>
              <a:rPr lang="en-US" sz="1050" dirty="0">
                <a:solidFill>
                  <a:srgbClr val="5F6368"/>
                </a:solidFill>
                <a:latin typeface="Calibri" pitchFamily="34" charset="0"/>
                <a:ea typeface="Calibri" pitchFamily="34" charset="-122"/>
                <a:cs typeface="Calibri" pitchFamily="34" charset="-120"/>
              </a:rPr>
              <a:t>Wrapper classes around ADK — every agent built with it is auto-registered with Tachyon and traced in Arize</a:t>
            </a:r>
            <a:endParaRPr lang="en-US" sz="1050" dirty="0"/>
          </a:p>
        </p:txBody>
      </p:sp>
      <p:sp>
        <p:nvSpPr>
          <p:cNvPr id="10" name="Shape 8"/>
          <p:cNvSpPr/>
          <p:nvPr/>
        </p:nvSpPr>
        <p:spPr>
          <a:xfrm>
            <a:off x="1188720" y="4663440"/>
            <a:ext cx="9784080" cy="822960"/>
          </a:xfrm>
          <a:prstGeom prst="roundRect">
            <a:avLst>
              <a:gd name="adj" fmla="val 11111"/>
            </a:avLst>
          </a:prstGeom>
          <a:solidFill>
            <a:srgbClr val="E8F0FE"/>
          </a:solidFill>
          <a:ln w="19050">
            <a:solidFill>
              <a:srgbClr val="1A73E8"/>
            </a:solidFill>
            <a:prstDash val="solid"/>
          </a:ln>
        </p:spPr>
      </p:sp>
      <p:sp>
        <p:nvSpPr>
          <p:cNvPr id="11" name="Text 9"/>
          <p:cNvSpPr txBox="1"/>
          <p:nvPr/>
        </p:nvSpPr>
        <p:spPr>
          <a:xfrm>
            <a:off x="1463040" y="4663440"/>
            <a:ext cx="9235440" cy="822960"/>
          </a:xfrm>
          <a:prstGeom prst="rect">
            <a:avLst/>
          </a:prstGeom>
          <a:noFill/>
          <a:ln/>
        </p:spPr>
        <p:txBody>
          <a:bodyPr wrap="square" lIns="508" tIns="508" rIns="508" bIns="508" rtlCol="0" anchor="ctr"/>
          <a:lstStyle/>
          <a:p>
            <a:pPr algn="l" indent="0" marL="0">
              <a:lnSpc>
                <a:spcPct val="105000"/>
              </a:lnSpc>
              <a:buNone/>
            </a:pPr>
            <a:r>
              <a:rPr lang="en-US" sz="1150" b="1" dirty="0">
                <a:solidFill>
                  <a:srgbClr val="1A73E8"/>
                </a:solidFill>
                <a:latin typeface="Calibri" pitchFamily="34" charset="0"/>
                <a:ea typeface="Calibri" pitchFamily="34" charset="-122"/>
                <a:cs typeface="Calibri" pitchFamily="34" charset="-120"/>
              </a:rPr>
              <a:t>TSDK wrapper classes over Google ADK core    </a:t>
            </a:r>
            <a:pPr algn="l" indent="0" marL="0">
              <a:lnSpc>
                <a:spcPct val="105000"/>
              </a:lnSpc>
              <a:buNone/>
            </a:pPr>
            <a:r>
              <a:rPr lang="en-US" sz="1150" dirty="0">
                <a:solidFill>
                  <a:srgbClr val="5F6368"/>
                </a:solidFill>
                <a:latin typeface="Calibri" pitchFamily="34" charset="0"/>
                <a:ea typeface="Calibri" pitchFamily="34" charset="-122"/>
                <a:cs typeface="Calibri" pitchFamily="34" charset="-120"/>
              </a:rPr>
              <a:t>agent · workflow · runner · callbacks · A2A · tools · session</a:t>
            </a:r>
            <a:endParaRPr lang="en-US" sz="1150" dirty="0"/>
          </a:p>
        </p:txBody>
      </p:sp>
      <p:sp>
        <p:nvSpPr>
          <p:cNvPr id="12" name="Text 10"/>
          <p:cNvSpPr txBox="1"/>
          <p:nvPr/>
        </p:nvSpPr>
        <p:spPr>
          <a:xfrm>
            <a:off x="640080" y="6126480"/>
            <a:ext cx="7315200" cy="365760"/>
          </a:xfrm>
          <a:prstGeom prst="rect">
            <a:avLst/>
          </a:prstGeom>
          <a:noFill/>
          <a:ln/>
        </p:spPr>
        <p:txBody>
          <a:bodyPr wrap="square" lIns="508" tIns="508" rIns="508" bIns="508" rtlCol="0" anchor="t"/>
          <a:lstStyle/>
          <a:p>
            <a:pPr algn="l" indent="0" marL="0">
              <a:lnSpc>
                <a:spcPct val="105000"/>
              </a:lnSpc>
              <a:buNone/>
            </a:pPr>
            <a:r>
              <a:rPr lang="en-US" sz="1100" dirty="0">
                <a:solidFill>
                  <a:srgbClr val="9AA0A6"/>
                </a:solidFill>
                <a:latin typeface="Calibri" pitchFamily="34" charset="0"/>
                <a:ea typeface="Calibri" pitchFamily="34" charset="-122"/>
                <a:cs typeface="Calibri" pitchFamily="34" charset="-120"/>
              </a:rPr>
              <a:t>Fargo Platform Engineering  |  Sept 2026  |  Draft for discussion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457200"/>
            <a:ext cx="11064240" cy="548640"/>
          </a:xfrm>
          <a:prstGeom prst="rect">
            <a:avLst/>
          </a:prstGeom>
          <a:noFill/>
          <a:ln/>
        </p:spPr>
        <p:txBody>
          <a:bodyPr wrap="square" lIns="508" tIns="508" rIns="508" bIns="508" rtlCol="0" anchor="t"/>
          <a:lstStyle/>
          <a:p>
            <a:pPr algn="l" indent="0" marL="0">
              <a:lnSpc>
                <a:spcPct val="105000"/>
              </a:lnSpc>
              <a:buNone/>
            </a:pPr>
            <a:r>
              <a:rPr lang="en-US" sz="2600" b="1" dirty="0">
                <a:solidFill>
                  <a:srgbClr val="1B1F3B"/>
                </a:solidFill>
                <a:latin typeface="Calibri" pitchFamily="34" charset="0"/>
                <a:ea typeface="Calibri" pitchFamily="34" charset="-122"/>
                <a:cs typeface="Calibri" pitchFamily="34" charset="-120"/>
              </a:rPr>
              <a:t>How the three layers fit together</a:t>
            </a:r>
            <a:endParaRPr lang="en-US" sz="2600" dirty="0"/>
          </a:p>
        </p:txBody>
      </p:sp>
      <p:sp>
        <p:nvSpPr>
          <p:cNvPr id="3" name="Text 1"/>
          <p:cNvSpPr txBox="1"/>
          <p:nvPr/>
        </p:nvSpPr>
        <p:spPr>
          <a:xfrm>
            <a:off x="548640" y="1051560"/>
            <a:ext cx="11064240" cy="457200"/>
          </a:xfrm>
          <a:prstGeom prst="rect">
            <a:avLst/>
          </a:prstGeom>
          <a:noFill/>
          <a:ln/>
        </p:spPr>
        <p:txBody>
          <a:bodyPr wrap="square" lIns="508" tIns="508" rIns="508" bIns="508" rtlCol="0" anchor="t"/>
          <a:lstStyle/>
          <a:p>
            <a:pPr algn="l" indent="0" marL="0">
              <a:lnSpc>
                <a:spcPct val="105000"/>
              </a:lnSpc>
              <a:buNone/>
            </a:pPr>
            <a:r>
              <a:rPr lang="en-US" sz="1300" dirty="0">
                <a:solidFill>
                  <a:srgbClr val="5F6368"/>
                </a:solidFill>
                <a:latin typeface="Calibri" pitchFamily="34" charset="0"/>
                <a:ea typeface="Calibri" pitchFamily="34" charset="-122"/>
                <a:cs typeface="Calibri" pitchFamily="34" charset="-120"/>
              </a:rPr>
              <a:t>Every ADK primitive Fargo uses comes through a TSDK wrapper class, so agents are registered, traced and guarded when created. Tachyon runs the services behind that.</a:t>
            </a:r>
            <a:endParaRPr lang="en-US" sz="1300" dirty="0"/>
          </a:p>
        </p:txBody>
      </p:sp>
      <p:sp>
        <p:nvSpPr>
          <p:cNvPr id="4" name="Shape 2"/>
          <p:cNvSpPr/>
          <p:nvPr/>
        </p:nvSpPr>
        <p:spPr>
          <a:xfrm>
            <a:off x="548640" y="1874520"/>
            <a:ext cx="11064240" cy="4251960"/>
          </a:xfrm>
          <a:prstGeom prst="roundRect">
            <a:avLst>
              <a:gd name="adj" fmla="val 2581"/>
            </a:avLst>
          </a:prstGeom>
          <a:solidFill>
            <a:srgbClr val="FDEEE4"/>
          </a:solidFill>
          <a:ln w="19050">
            <a:solidFill>
              <a:srgbClr val="C2410C"/>
            </a:solidFill>
            <a:prstDash val="solid"/>
          </a:ln>
        </p:spPr>
      </p:sp>
      <p:sp>
        <p:nvSpPr>
          <p:cNvPr id="5" name="Text 3"/>
          <p:cNvSpPr txBox="1"/>
          <p:nvPr/>
        </p:nvSpPr>
        <p:spPr>
          <a:xfrm>
            <a:off x="731520" y="1965960"/>
            <a:ext cx="5486400" cy="274320"/>
          </a:xfrm>
          <a:prstGeom prst="rect">
            <a:avLst/>
          </a:prstGeom>
          <a:noFill/>
          <a:ln/>
        </p:spPr>
        <p:txBody>
          <a:bodyPr wrap="square" lIns="508" tIns="508" rIns="508" bIns="508" rtlCol="0" anchor="t"/>
          <a:lstStyle/>
          <a:p>
            <a:pPr algn="l" indent="0" marL="0">
              <a:lnSpc>
                <a:spcPct val="105000"/>
              </a:lnSpc>
              <a:buNone/>
            </a:pPr>
            <a:r>
              <a:rPr lang="en-US" sz="1100" b="1" dirty="0">
                <a:solidFill>
                  <a:srgbClr val="C2410C"/>
                </a:solidFill>
                <a:latin typeface="Calibri" pitchFamily="34" charset="0"/>
                <a:ea typeface="Calibri" pitchFamily="34" charset="-122"/>
                <a:cs typeface="Calibri" pitchFamily="34" charset="-120"/>
              </a:rPr>
              <a:t>Tachyon platform (services)</a:t>
            </a:r>
            <a:endParaRPr lang="en-US" sz="1100" dirty="0"/>
          </a:p>
        </p:txBody>
      </p:sp>
      <p:sp>
        <p:nvSpPr>
          <p:cNvPr id="6" name="Shape 4"/>
          <p:cNvSpPr/>
          <p:nvPr/>
        </p:nvSpPr>
        <p:spPr>
          <a:xfrm>
            <a:off x="731520" y="2331720"/>
            <a:ext cx="2148840" cy="658368"/>
          </a:xfrm>
          <a:prstGeom prst="roundRect">
            <a:avLst>
              <a:gd name="adj" fmla="val 8333"/>
            </a:avLst>
          </a:prstGeom>
          <a:solidFill>
            <a:srgbClr val="FFFFFF"/>
          </a:solidFill>
          <a:ln w="12700">
            <a:solidFill>
              <a:srgbClr val="F5CDB4"/>
            </a:solidFill>
            <a:prstDash val="solid"/>
          </a:ln>
        </p:spPr>
      </p:sp>
      <p:sp>
        <p:nvSpPr>
          <p:cNvPr id="7" name="Text 5"/>
          <p:cNvSpPr txBox="1"/>
          <p:nvPr/>
        </p:nvSpPr>
        <p:spPr>
          <a:xfrm>
            <a:off x="841248" y="2404872"/>
            <a:ext cx="1929384" cy="274320"/>
          </a:xfrm>
          <a:prstGeom prst="rect">
            <a:avLst/>
          </a:prstGeom>
          <a:noFill/>
          <a:ln/>
        </p:spPr>
        <p:txBody>
          <a:bodyPr wrap="square" lIns="508" tIns="508" rIns="508" bIns="508" rtlCol="0" anchor="t"/>
          <a:lstStyle/>
          <a:p>
            <a:pPr algn="l" indent="0" marL="0">
              <a:lnSpc>
                <a:spcPct val="105000"/>
              </a:lnSpc>
              <a:buNone/>
            </a:pPr>
            <a:r>
              <a:rPr lang="en-US" sz="1050" b="1" dirty="0">
                <a:solidFill>
                  <a:srgbClr val="C2410C"/>
                </a:solidFill>
                <a:latin typeface="Calibri" pitchFamily="34" charset="0"/>
                <a:ea typeface="Calibri" pitchFamily="34" charset="-122"/>
                <a:cs typeface="Calibri" pitchFamily="34" charset="-120"/>
              </a:rPr>
              <a:t>AI Bridge</a:t>
            </a:r>
            <a:endParaRPr lang="en-US" sz="1050" dirty="0"/>
          </a:p>
        </p:txBody>
      </p:sp>
      <p:sp>
        <p:nvSpPr>
          <p:cNvPr id="8" name="Text 6"/>
          <p:cNvSpPr txBox="1"/>
          <p:nvPr/>
        </p:nvSpPr>
        <p:spPr>
          <a:xfrm>
            <a:off x="841248" y="2660904"/>
            <a:ext cx="1929384" cy="274320"/>
          </a:xfrm>
          <a:prstGeom prst="rect">
            <a:avLst/>
          </a:prstGeom>
          <a:noFill/>
          <a:ln/>
        </p:spPr>
        <p:txBody>
          <a:bodyPr wrap="square" lIns="508" tIns="508" rIns="508" bIns="508" rtlCol="0" anchor="t"/>
          <a:lstStyle/>
          <a:p>
            <a:pPr algn="l" indent="0" marL="0">
              <a:lnSpc>
                <a:spcPct val="110000"/>
              </a:lnSpc>
              <a:buNone/>
            </a:pPr>
            <a:r>
              <a:rPr lang="en-US" sz="900" dirty="0">
                <a:solidFill>
                  <a:srgbClr val="5F6368"/>
                </a:solidFill>
                <a:latin typeface="Calibri" pitchFamily="34" charset="0"/>
                <a:ea typeface="Calibri" pitchFamily="34" charset="-122"/>
                <a:cs typeface="Calibri" pitchFamily="34" charset="-120"/>
              </a:rPr>
              <a:t>Model registry, routing, failover, pairing &amp; fusion</a:t>
            </a:r>
            <a:endParaRPr lang="en-US" sz="900" dirty="0"/>
          </a:p>
        </p:txBody>
      </p:sp>
      <p:sp>
        <p:nvSpPr>
          <p:cNvPr id="9" name="Shape 7"/>
          <p:cNvSpPr/>
          <p:nvPr/>
        </p:nvSpPr>
        <p:spPr>
          <a:xfrm>
            <a:off x="731520" y="3081528"/>
            <a:ext cx="2148840" cy="658368"/>
          </a:xfrm>
          <a:prstGeom prst="roundRect">
            <a:avLst>
              <a:gd name="adj" fmla="val 8333"/>
            </a:avLst>
          </a:prstGeom>
          <a:solidFill>
            <a:srgbClr val="FFFFFF"/>
          </a:solidFill>
          <a:ln w="12700">
            <a:solidFill>
              <a:srgbClr val="F5CDB4"/>
            </a:solidFill>
            <a:prstDash val="solid"/>
          </a:ln>
        </p:spPr>
      </p:sp>
      <p:sp>
        <p:nvSpPr>
          <p:cNvPr id="10" name="Text 8"/>
          <p:cNvSpPr txBox="1"/>
          <p:nvPr/>
        </p:nvSpPr>
        <p:spPr>
          <a:xfrm>
            <a:off x="841248" y="3154680"/>
            <a:ext cx="1929384" cy="274320"/>
          </a:xfrm>
          <a:prstGeom prst="rect">
            <a:avLst/>
          </a:prstGeom>
          <a:noFill/>
          <a:ln/>
        </p:spPr>
        <p:txBody>
          <a:bodyPr wrap="square" lIns="508" tIns="508" rIns="508" bIns="508" rtlCol="0" anchor="t"/>
          <a:lstStyle/>
          <a:p>
            <a:pPr algn="l" indent="0" marL="0">
              <a:lnSpc>
                <a:spcPct val="105000"/>
              </a:lnSpc>
              <a:buNone/>
            </a:pPr>
            <a:r>
              <a:rPr lang="en-US" sz="1050" b="1" dirty="0">
                <a:solidFill>
                  <a:srgbClr val="C2410C"/>
                </a:solidFill>
                <a:latin typeface="Calibri" pitchFamily="34" charset="0"/>
                <a:ea typeface="Calibri" pitchFamily="34" charset="-122"/>
                <a:cs typeface="Calibri" pitchFamily="34" charset="-120"/>
              </a:rPr>
              <a:t>Guardrails</a:t>
            </a:r>
            <a:endParaRPr lang="en-US" sz="1050" dirty="0"/>
          </a:p>
        </p:txBody>
      </p:sp>
      <p:sp>
        <p:nvSpPr>
          <p:cNvPr id="11" name="Text 9"/>
          <p:cNvSpPr txBox="1"/>
          <p:nvPr/>
        </p:nvSpPr>
        <p:spPr>
          <a:xfrm>
            <a:off x="841248" y="3410712"/>
            <a:ext cx="1929384" cy="274320"/>
          </a:xfrm>
          <a:prstGeom prst="rect">
            <a:avLst/>
          </a:prstGeom>
          <a:noFill/>
          <a:ln/>
        </p:spPr>
        <p:txBody>
          <a:bodyPr wrap="square" lIns="508" tIns="508" rIns="508" bIns="508" rtlCol="0" anchor="t"/>
          <a:lstStyle/>
          <a:p>
            <a:pPr algn="l" indent="0" marL="0">
              <a:lnSpc>
                <a:spcPct val="110000"/>
              </a:lnSpc>
              <a:buNone/>
            </a:pPr>
            <a:r>
              <a:rPr lang="en-US" sz="900" dirty="0">
                <a:solidFill>
                  <a:srgbClr val="5F6368"/>
                </a:solidFill>
                <a:latin typeface="Calibri" pitchFamily="34" charset="0"/>
                <a:ea typeface="Calibri" pitchFamily="34" charset="-122"/>
                <a:cs typeface="Calibri" pitchFamily="34" charset="-120"/>
              </a:rPr>
              <a:t>Budgets, loop detection, safe-tool policy, goal drift</a:t>
            </a:r>
            <a:endParaRPr lang="en-US" sz="900" dirty="0"/>
          </a:p>
        </p:txBody>
      </p:sp>
      <p:sp>
        <p:nvSpPr>
          <p:cNvPr id="12" name="Shape 10"/>
          <p:cNvSpPr/>
          <p:nvPr/>
        </p:nvSpPr>
        <p:spPr>
          <a:xfrm>
            <a:off x="731520" y="3831336"/>
            <a:ext cx="2148840" cy="658368"/>
          </a:xfrm>
          <a:prstGeom prst="roundRect">
            <a:avLst>
              <a:gd name="adj" fmla="val 8333"/>
            </a:avLst>
          </a:prstGeom>
          <a:solidFill>
            <a:srgbClr val="FFFFFF"/>
          </a:solidFill>
          <a:ln w="12700">
            <a:solidFill>
              <a:srgbClr val="F5CDB4"/>
            </a:solidFill>
            <a:prstDash val="solid"/>
          </a:ln>
        </p:spPr>
      </p:sp>
      <p:sp>
        <p:nvSpPr>
          <p:cNvPr id="13" name="Text 11"/>
          <p:cNvSpPr txBox="1"/>
          <p:nvPr/>
        </p:nvSpPr>
        <p:spPr>
          <a:xfrm>
            <a:off x="841248" y="3904488"/>
            <a:ext cx="1929384" cy="274320"/>
          </a:xfrm>
          <a:prstGeom prst="rect">
            <a:avLst/>
          </a:prstGeom>
          <a:noFill/>
          <a:ln/>
        </p:spPr>
        <p:txBody>
          <a:bodyPr wrap="square" lIns="508" tIns="508" rIns="508" bIns="508" rtlCol="0" anchor="t"/>
          <a:lstStyle/>
          <a:p>
            <a:pPr algn="l" indent="0" marL="0">
              <a:lnSpc>
                <a:spcPct val="105000"/>
              </a:lnSpc>
              <a:buNone/>
            </a:pPr>
            <a:r>
              <a:rPr lang="en-US" sz="1050" b="1" dirty="0">
                <a:solidFill>
                  <a:srgbClr val="C2410C"/>
                </a:solidFill>
                <a:latin typeface="Calibri" pitchFamily="34" charset="0"/>
                <a:ea typeface="Calibri" pitchFamily="34" charset="-122"/>
                <a:cs typeface="Calibri" pitchFamily="34" charset="-120"/>
              </a:rPr>
              <a:t>Overwatch</a:t>
            </a:r>
            <a:endParaRPr lang="en-US" sz="1050" dirty="0"/>
          </a:p>
        </p:txBody>
      </p:sp>
      <p:sp>
        <p:nvSpPr>
          <p:cNvPr id="14" name="Text 12"/>
          <p:cNvSpPr txBox="1"/>
          <p:nvPr/>
        </p:nvSpPr>
        <p:spPr>
          <a:xfrm>
            <a:off x="841248" y="4160520"/>
            <a:ext cx="1929384" cy="274320"/>
          </a:xfrm>
          <a:prstGeom prst="rect">
            <a:avLst/>
          </a:prstGeom>
          <a:noFill/>
          <a:ln/>
        </p:spPr>
        <p:txBody>
          <a:bodyPr wrap="square" lIns="508" tIns="508" rIns="508" bIns="508" rtlCol="0" anchor="t"/>
          <a:lstStyle/>
          <a:p>
            <a:pPr algn="l" indent="0" marL="0">
              <a:lnSpc>
                <a:spcPct val="110000"/>
              </a:lnSpc>
              <a:buNone/>
            </a:pPr>
            <a:r>
              <a:rPr lang="en-US" sz="900" dirty="0">
                <a:solidFill>
                  <a:srgbClr val="5F6368"/>
                </a:solidFill>
                <a:latin typeface="Calibri" pitchFamily="34" charset="0"/>
                <a:ea typeface="Calibri" pitchFamily="34" charset="-122"/>
                <a:cs typeface="Calibri" pitchFamily="34" charset="-120"/>
              </a:rPr>
              <a:t>Monitoring, LLM metrics, goal validation</a:t>
            </a:r>
            <a:endParaRPr lang="en-US" sz="900" dirty="0"/>
          </a:p>
        </p:txBody>
      </p:sp>
      <p:sp>
        <p:nvSpPr>
          <p:cNvPr id="15" name="Shape 13"/>
          <p:cNvSpPr/>
          <p:nvPr/>
        </p:nvSpPr>
        <p:spPr>
          <a:xfrm>
            <a:off x="731520" y="4581144"/>
            <a:ext cx="2148840" cy="658368"/>
          </a:xfrm>
          <a:prstGeom prst="roundRect">
            <a:avLst>
              <a:gd name="adj" fmla="val 8333"/>
            </a:avLst>
          </a:prstGeom>
          <a:solidFill>
            <a:srgbClr val="FFFFFF"/>
          </a:solidFill>
          <a:ln w="12700">
            <a:solidFill>
              <a:srgbClr val="F5CDB4"/>
            </a:solidFill>
            <a:prstDash val="solid"/>
          </a:ln>
        </p:spPr>
      </p:sp>
      <p:sp>
        <p:nvSpPr>
          <p:cNvPr id="16" name="Text 14"/>
          <p:cNvSpPr txBox="1"/>
          <p:nvPr/>
        </p:nvSpPr>
        <p:spPr>
          <a:xfrm>
            <a:off x="841248" y="4654296"/>
            <a:ext cx="1929384" cy="274320"/>
          </a:xfrm>
          <a:prstGeom prst="rect">
            <a:avLst/>
          </a:prstGeom>
          <a:noFill/>
          <a:ln/>
        </p:spPr>
        <p:txBody>
          <a:bodyPr wrap="square" lIns="508" tIns="508" rIns="508" bIns="508" rtlCol="0" anchor="t"/>
          <a:lstStyle/>
          <a:p>
            <a:pPr algn="l" indent="0" marL="0">
              <a:lnSpc>
                <a:spcPct val="105000"/>
              </a:lnSpc>
              <a:buNone/>
            </a:pPr>
            <a:r>
              <a:rPr lang="en-US" sz="1050" b="1" dirty="0">
                <a:solidFill>
                  <a:srgbClr val="C2410C"/>
                </a:solidFill>
                <a:latin typeface="Calibri" pitchFamily="34" charset="0"/>
                <a:ea typeface="Calibri" pitchFamily="34" charset="-122"/>
                <a:cs typeface="Calibri" pitchFamily="34" charset="-120"/>
              </a:rPr>
              <a:t>Arize Phoenix</a:t>
            </a:r>
            <a:endParaRPr lang="en-US" sz="1050" dirty="0"/>
          </a:p>
        </p:txBody>
      </p:sp>
      <p:sp>
        <p:nvSpPr>
          <p:cNvPr id="17" name="Text 15"/>
          <p:cNvSpPr txBox="1"/>
          <p:nvPr/>
        </p:nvSpPr>
        <p:spPr>
          <a:xfrm>
            <a:off x="841248" y="4910328"/>
            <a:ext cx="1929384" cy="274320"/>
          </a:xfrm>
          <a:prstGeom prst="rect">
            <a:avLst/>
          </a:prstGeom>
          <a:noFill/>
          <a:ln/>
        </p:spPr>
        <p:txBody>
          <a:bodyPr wrap="square" lIns="508" tIns="508" rIns="508" bIns="508" rtlCol="0" anchor="t"/>
          <a:lstStyle/>
          <a:p>
            <a:pPr algn="l" indent="0" marL="0">
              <a:lnSpc>
                <a:spcPct val="110000"/>
              </a:lnSpc>
              <a:buNone/>
            </a:pPr>
            <a:r>
              <a:rPr lang="en-US" sz="900" dirty="0">
                <a:solidFill>
                  <a:srgbClr val="5F6368"/>
                </a:solidFill>
                <a:latin typeface="Calibri" pitchFamily="34" charset="0"/>
                <a:ea typeface="Calibri" pitchFamily="34" charset="-122"/>
                <a:cs typeface="Calibri" pitchFamily="34" charset="-120"/>
              </a:rPr>
              <a:t>Trace store; OpenTelemetry export</a:t>
            </a:r>
            <a:endParaRPr lang="en-US" sz="900" dirty="0"/>
          </a:p>
        </p:txBody>
      </p:sp>
      <p:sp>
        <p:nvSpPr>
          <p:cNvPr id="18" name="Shape 16"/>
          <p:cNvSpPr/>
          <p:nvPr/>
        </p:nvSpPr>
        <p:spPr>
          <a:xfrm>
            <a:off x="731520" y="5330952"/>
            <a:ext cx="2148840" cy="658368"/>
          </a:xfrm>
          <a:prstGeom prst="roundRect">
            <a:avLst>
              <a:gd name="adj" fmla="val 8333"/>
            </a:avLst>
          </a:prstGeom>
          <a:solidFill>
            <a:srgbClr val="FFFFFF"/>
          </a:solidFill>
          <a:ln w="12700">
            <a:solidFill>
              <a:srgbClr val="F5CDB4"/>
            </a:solidFill>
            <a:prstDash val="solid"/>
          </a:ln>
        </p:spPr>
      </p:sp>
      <p:sp>
        <p:nvSpPr>
          <p:cNvPr id="19" name="Text 17"/>
          <p:cNvSpPr txBox="1"/>
          <p:nvPr/>
        </p:nvSpPr>
        <p:spPr>
          <a:xfrm>
            <a:off x="841248" y="5404104"/>
            <a:ext cx="1929384" cy="274320"/>
          </a:xfrm>
          <a:prstGeom prst="rect">
            <a:avLst/>
          </a:prstGeom>
          <a:noFill/>
          <a:ln/>
        </p:spPr>
        <p:txBody>
          <a:bodyPr wrap="square" lIns="508" tIns="508" rIns="508" bIns="508" rtlCol="0" anchor="t"/>
          <a:lstStyle/>
          <a:p>
            <a:pPr algn="l" indent="0" marL="0">
              <a:lnSpc>
                <a:spcPct val="105000"/>
              </a:lnSpc>
              <a:buNone/>
            </a:pPr>
            <a:r>
              <a:rPr lang="en-US" sz="1050" b="1" dirty="0">
                <a:solidFill>
                  <a:srgbClr val="C2410C"/>
                </a:solidFill>
                <a:latin typeface="Calibri" pitchFamily="34" charset="0"/>
                <a:ea typeface="Calibri" pitchFamily="34" charset="-122"/>
                <a:cs typeface="Calibri" pitchFamily="34" charset="-120"/>
              </a:rPr>
              <a:t>Evals</a:t>
            </a:r>
            <a:endParaRPr lang="en-US" sz="1050" dirty="0"/>
          </a:p>
        </p:txBody>
      </p:sp>
      <p:sp>
        <p:nvSpPr>
          <p:cNvPr id="20" name="Text 18"/>
          <p:cNvSpPr txBox="1"/>
          <p:nvPr/>
        </p:nvSpPr>
        <p:spPr>
          <a:xfrm>
            <a:off x="841248" y="5660136"/>
            <a:ext cx="1929384" cy="274320"/>
          </a:xfrm>
          <a:prstGeom prst="rect">
            <a:avLst/>
          </a:prstGeom>
          <a:noFill/>
          <a:ln/>
        </p:spPr>
        <p:txBody>
          <a:bodyPr wrap="square" lIns="508" tIns="508" rIns="508" bIns="508" rtlCol="0" anchor="t"/>
          <a:lstStyle/>
          <a:p>
            <a:pPr algn="l" indent="0" marL="0">
              <a:lnSpc>
                <a:spcPct val="110000"/>
              </a:lnSpc>
              <a:buNone/>
            </a:pPr>
            <a:r>
              <a:rPr lang="en-US" sz="900" dirty="0">
                <a:solidFill>
                  <a:srgbClr val="5F6368"/>
                </a:solidFill>
                <a:latin typeface="Calibri" pitchFamily="34" charset="0"/>
                <a:ea typeface="Calibri" pitchFamily="34" charset="-122"/>
                <a:cs typeface="Calibri" pitchFamily="34" charset="-120"/>
              </a:rPr>
              <a:t>Guardrail evals, LLM-as-judge, pytest in CI</a:t>
            </a:r>
            <a:endParaRPr lang="en-US" sz="900" dirty="0"/>
          </a:p>
        </p:txBody>
      </p:sp>
      <p:sp>
        <p:nvSpPr>
          <p:cNvPr id="21" name="Shape 19"/>
          <p:cNvSpPr/>
          <p:nvPr/>
        </p:nvSpPr>
        <p:spPr>
          <a:xfrm>
            <a:off x="9281160" y="2331720"/>
            <a:ext cx="2148840" cy="658368"/>
          </a:xfrm>
          <a:prstGeom prst="roundRect">
            <a:avLst>
              <a:gd name="adj" fmla="val 8333"/>
            </a:avLst>
          </a:prstGeom>
          <a:solidFill>
            <a:srgbClr val="FFFFFF"/>
          </a:solidFill>
          <a:ln w="12700">
            <a:solidFill>
              <a:srgbClr val="F5CDB4"/>
            </a:solidFill>
            <a:prstDash val="solid"/>
          </a:ln>
        </p:spPr>
      </p:sp>
      <p:sp>
        <p:nvSpPr>
          <p:cNvPr id="22" name="Text 20"/>
          <p:cNvSpPr txBox="1"/>
          <p:nvPr/>
        </p:nvSpPr>
        <p:spPr>
          <a:xfrm>
            <a:off x="9390888" y="2404872"/>
            <a:ext cx="1929384" cy="274320"/>
          </a:xfrm>
          <a:prstGeom prst="rect">
            <a:avLst/>
          </a:prstGeom>
          <a:noFill/>
          <a:ln/>
        </p:spPr>
        <p:txBody>
          <a:bodyPr wrap="square" lIns="508" tIns="508" rIns="508" bIns="508" rtlCol="0" anchor="t"/>
          <a:lstStyle/>
          <a:p>
            <a:pPr algn="l" indent="0" marL="0">
              <a:lnSpc>
                <a:spcPct val="105000"/>
              </a:lnSpc>
              <a:buNone/>
            </a:pPr>
            <a:r>
              <a:rPr lang="en-US" sz="1050" b="1" dirty="0">
                <a:solidFill>
                  <a:srgbClr val="C2410C"/>
                </a:solidFill>
                <a:latin typeface="Calibri" pitchFamily="34" charset="0"/>
                <a:ea typeface="Calibri" pitchFamily="34" charset="-122"/>
                <a:cs typeface="Calibri" pitchFamily="34" charset="-120"/>
              </a:rPr>
              <a:t>MCP Tool Registry</a:t>
            </a:r>
            <a:endParaRPr lang="en-US" sz="1050" dirty="0"/>
          </a:p>
        </p:txBody>
      </p:sp>
      <p:sp>
        <p:nvSpPr>
          <p:cNvPr id="23" name="Text 21"/>
          <p:cNvSpPr txBox="1"/>
          <p:nvPr/>
        </p:nvSpPr>
        <p:spPr>
          <a:xfrm>
            <a:off x="9390888" y="2660904"/>
            <a:ext cx="1929384" cy="274320"/>
          </a:xfrm>
          <a:prstGeom prst="rect">
            <a:avLst/>
          </a:prstGeom>
          <a:noFill/>
          <a:ln/>
        </p:spPr>
        <p:txBody>
          <a:bodyPr wrap="square" lIns="508" tIns="508" rIns="508" bIns="508" rtlCol="0" anchor="t"/>
          <a:lstStyle/>
          <a:p>
            <a:pPr algn="l" indent="0" marL="0">
              <a:lnSpc>
                <a:spcPct val="110000"/>
              </a:lnSpc>
              <a:buNone/>
            </a:pPr>
            <a:r>
              <a:rPr lang="en-US" sz="900" dirty="0">
                <a:solidFill>
                  <a:srgbClr val="5F6368"/>
                </a:solidFill>
                <a:latin typeface="Calibri" pitchFamily="34" charset="0"/>
                <a:ea typeface="Calibri" pitchFamily="34" charset="-122"/>
                <a:cs typeface="Calibri" pitchFamily="34" charset="-120"/>
              </a:rPr>
              <a:t>Registered MCP servers &amp; tool schemas</a:t>
            </a:r>
            <a:endParaRPr lang="en-US" sz="900" dirty="0"/>
          </a:p>
        </p:txBody>
      </p:sp>
      <p:sp>
        <p:nvSpPr>
          <p:cNvPr id="24" name="Shape 22"/>
          <p:cNvSpPr/>
          <p:nvPr/>
        </p:nvSpPr>
        <p:spPr>
          <a:xfrm>
            <a:off x="9281160" y="3081528"/>
            <a:ext cx="2148840" cy="658368"/>
          </a:xfrm>
          <a:prstGeom prst="roundRect">
            <a:avLst>
              <a:gd name="adj" fmla="val 8333"/>
            </a:avLst>
          </a:prstGeom>
          <a:solidFill>
            <a:srgbClr val="FFFFFF"/>
          </a:solidFill>
          <a:ln w="12700">
            <a:solidFill>
              <a:srgbClr val="F5CDB4"/>
            </a:solidFill>
            <a:prstDash val="solid"/>
          </a:ln>
        </p:spPr>
      </p:sp>
      <p:sp>
        <p:nvSpPr>
          <p:cNvPr id="25" name="Text 23"/>
          <p:cNvSpPr txBox="1"/>
          <p:nvPr/>
        </p:nvSpPr>
        <p:spPr>
          <a:xfrm>
            <a:off x="9390888" y="3154680"/>
            <a:ext cx="1929384" cy="274320"/>
          </a:xfrm>
          <a:prstGeom prst="rect">
            <a:avLst/>
          </a:prstGeom>
          <a:noFill/>
          <a:ln/>
        </p:spPr>
        <p:txBody>
          <a:bodyPr wrap="square" lIns="508" tIns="508" rIns="508" bIns="508" rtlCol="0" anchor="t"/>
          <a:lstStyle/>
          <a:p>
            <a:pPr algn="l" indent="0" marL="0">
              <a:lnSpc>
                <a:spcPct val="105000"/>
              </a:lnSpc>
              <a:buNone/>
            </a:pPr>
            <a:r>
              <a:rPr lang="en-US" sz="1050" b="1" dirty="0">
                <a:solidFill>
                  <a:srgbClr val="C2410C"/>
                </a:solidFill>
                <a:latin typeface="Calibri" pitchFamily="34" charset="0"/>
                <a:ea typeface="Calibri" pitchFamily="34" charset="-122"/>
                <a:cs typeface="Calibri" pitchFamily="34" charset="-120"/>
              </a:rPr>
              <a:t>Memory infra</a:t>
            </a:r>
            <a:endParaRPr lang="en-US" sz="1050" dirty="0"/>
          </a:p>
        </p:txBody>
      </p:sp>
      <p:sp>
        <p:nvSpPr>
          <p:cNvPr id="26" name="Text 24"/>
          <p:cNvSpPr txBox="1"/>
          <p:nvPr/>
        </p:nvSpPr>
        <p:spPr>
          <a:xfrm>
            <a:off x="9390888" y="3410712"/>
            <a:ext cx="1929384" cy="274320"/>
          </a:xfrm>
          <a:prstGeom prst="rect">
            <a:avLst/>
          </a:prstGeom>
          <a:noFill/>
          <a:ln/>
        </p:spPr>
        <p:txBody>
          <a:bodyPr wrap="square" lIns="508" tIns="508" rIns="508" bIns="508" rtlCol="0" anchor="t"/>
          <a:lstStyle/>
          <a:p>
            <a:pPr algn="l" indent="0" marL="0">
              <a:lnSpc>
                <a:spcPct val="110000"/>
              </a:lnSpc>
              <a:buNone/>
            </a:pPr>
            <a:r>
              <a:rPr lang="en-US" sz="900" dirty="0">
                <a:solidFill>
                  <a:srgbClr val="5F6368"/>
                </a:solidFill>
                <a:latin typeface="Calibri" pitchFamily="34" charset="0"/>
                <a:ea typeface="Calibri" pitchFamily="34" charset="-122"/>
                <a:cs typeface="Calibri" pitchFamily="34" charset="-120"/>
              </a:rPr>
              <a:t>Redis (TTL, mTLS) · Mem0 long-term</a:t>
            </a:r>
            <a:endParaRPr lang="en-US" sz="900" dirty="0"/>
          </a:p>
        </p:txBody>
      </p:sp>
      <p:sp>
        <p:nvSpPr>
          <p:cNvPr id="27" name="Shape 25"/>
          <p:cNvSpPr/>
          <p:nvPr/>
        </p:nvSpPr>
        <p:spPr>
          <a:xfrm>
            <a:off x="9281160" y="3831336"/>
            <a:ext cx="2148840" cy="658368"/>
          </a:xfrm>
          <a:prstGeom prst="roundRect">
            <a:avLst>
              <a:gd name="adj" fmla="val 8333"/>
            </a:avLst>
          </a:prstGeom>
          <a:solidFill>
            <a:srgbClr val="FFFFFF"/>
          </a:solidFill>
          <a:ln w="12700">
            <a:solidFill>
              <a:srgbClr val="F5CDB4"/>
            </a:solidFill>
            <a:prstDash val="solid"/>
          </a:ln>
        </p:spPr>
      </p:sp>
      <p:sp>
        <p:nvSpPr>
          <p:cNvPr id="28" name="Text 26"/>
          <p:cNvSpPr txBox="1"/>
          <p:nvPr/>
        </p:nvSpPr>
        <p:spPr>
          <a:xfrm>
            <a:off x="9390888" y="3904488"/>
            <a:ext cx="1929384" cy="274320"/>
          </a:xfrm>
          <a:prstGeom prst="rect">
            <a:avLst/>
          </a:prstGeom>
          <a:noFill/>
          <a:ln/>
        </p:spPr>
        <p:txBody>
          <a:bodyPr wrap="square" lIns="508" tIns="508" rIns="508" bIns="508" rtlCol="0" anchor="t"/>
          <a:lstStyle/>
          <a:p>
            <a:pPr algn="l" indent="0" marL="0">
              <a:lnSpc>
                <a:spcPct val="105000"/>
              </a:lnSpc>
              <a:buNone/>
            </a:pPr>
            <a:r>
              <a:rPr lang="en-US" sz="1050" b="1" dirty="0">
                <a:solidFill>
                  <a:srgbClr val="C2410C"/>
                </a:solidFill>
                <a:latin typeface="Calibri" pitchFamily="34" charset="0"/>
                <a:ea typeface="Calibri" pitchFamily="34" charset="-122"/>
                <a:cs typeface="Calibri" pitchFamily="34" charset="-120"/>
              </a:rPr>
              <a:t>RAG pipeline</a:t>
            </a:r>
            <a:endParaRPr lang="en-US" sz="1050" dirty="0"/>
          </a:p>
        </p:txBody>
      </p:sp>
      <p:sp>
        <p:nvSpPr>
          <p:cNvPr id="29" name="Text 27"/>
          <p:cNvSpPr txBox="1"/>
          <p:nvPr/>
        </p:nvSpPr>
        <p:spPr>
          <a:xfrm>
            <a:off x="9390888" y="4160520"/>
            <a:ext cx="1929384" cy="274320"/>
          </a:xfrm>
          <a:prstGeom prst="rect">
            <a:avLst/>
          </a:prstGeom>
          <a:noFill/>
          <a:ln/>
        </p:spPr>
        <p:txBody>
          <a:bodyPr wrap="square" lIns="508" tIns="508" rIns="508" bIns="508" rtlCol="0" anchor="t"/>
          <a:lstStyle/>
          <a:p>
            <a:pPr algn="l" indent="0" marL="0">
              <a:lnSpc>
                <a:spcPct val="110000"/>
              </a:lnSpc>
              <a:buNone/>
            </a:pPr>
            <a:r>
              <a:rPr lang="en-US" sz="900" dirty="0">
                <a:solidFill>
                  <a:srgbClr val="5F6368"/>
                </a:solidFill>
                <a:latin typeface="Calibri" pitchFamily="34" charset="0"/>
                <a:ea typeface="Calibri" pitchFamily="34" charset="-122"/>
                <a:cs typeface="Calibri" pitchFamily="34" charset="-120"/>
              </a:rPr>
              <a:t>Chunking, hybrid search, re-rankers</a:t>
            </a:r>
            <a:endParaRPr lang="en-US" sz="900" dirty="0"/>
          </a:p>
        </p:txBody>
      </p:sp>
      <p:sp>
        <p:nvSpPr>
          <p:cNvPr id="30" name="Shape 28"/>
          <p:cNvSpPr/>
          <p:nvPr/>
        </p:nvSpPr>
        <p:spPr>
          <a:xfrm>
            <a:off x="9281160" y="4581144"/>
            <a:ext cx="2148840" cy="658368"/>
          </a:xfrm>
          <a:prstGeom prst="roundRect">
            <a:avLst>
              <a:gd name="adj" fmla="val 8333"/>
            </a:avLst>
          </a:prstGeom>
          <a:solidFill>
            <a:srgbClr val="FFFFFF"/>
          </a:solidFill>
          <a:ln w="12700">
            <a:solidFill>
              <a:srgbClr val="F5CDB4"/>
            </a:solidFill>
            <a:prstDash val="solid"/>
          </a:ln>
        </p:spPr>
      </p:sp>
      <p:sp>
        <p:nvSpPr>
          <p:cNvPr id="31" name="Text 29"/>
          <p:cNvSpPr txBox="1"/>
          <p:nvPr/>
        </p:nvSpPr>
        <p:spPr>
          <a:xfrm>
            <a:off x="9390888" y="4654296"/>
            <a:ext cx="1929384" cy="274320"/>
          </a:xfrm>
          <a:prstGeom prst="rect">
            <a:avLst/>
          </a:prstGeom>
          <a:noFill/>
          <a:ln/>
        </p:spPr>
        <p:txBody>
          <a:bodyPr wrap="square" lIns="508" tIns="508" rIns="508" bIns="508" rtlCol="0" anchor="t"/>
          <a:lstStyle/>
          <a:p>
            <a:pPr algn="l" indent="0" marL="0">
              <a:lnSpc>
                <a:spcPct val="105000"/>
              </a:lnSpc>
              <a:buNone/>
            </a:pPr>
            <a:r>
              <a:rPr lang="en-US" sz="1050" b="1" dirty="0">
                <a:solidFill>
                  <a:srgbClr val="C2410C"/>
                </a:solidFill>
                <a:latin typeface="Calibri" pitchFamily="34" charset="0"/>
                <a:ea typeface="Calibri" pitchFamily="34" charset="-122"/>
                <a:cs typeface="Calibri" pitchFamily="34" charset="-120"/>
              </a:rPr>
              <a:t>Deployment &amp; MMR</a:t>
            </a:r>
            <a:endParaRPr lang="en-US" sz="1050" dirty="0"/>
          </a:p>
        </p:txBody>
      </p:sp>
      <p:sp>
        <p:nvSpPr>
          <p:cNvPr id="32" name="Text 30"/>
          <p:cNvSpPr txBox="1"/>
          <p:nvPr/>
        </p:nvSpPr>
        <p:spPr>
          <a:xfrm>
            <a:off x="9390888" y="4910328"/>
            <a:ext cx="1929384" cy="274320"/>
          </a:xfrm>
          <a:prstGeom prst="rect">
            <a:avLst/>
          </a:prstGeom>
          <a:noFill/>
          <a:ln/>
        </p:spPr>
        <p:txBody>
          <a:bodyPr wrap="square" lIns="508" tIns="508" rIns="508" bIns="508" rtlCol="0" anchor="t"/>
          <a:lstStyle/>
          <a:p>
            <a:pPr algn="l" indent="0" marL="0">
              <a:lnSpc>
                <a:spcPct val="110000"/>
              </a:lnSpc>
              <a:buNone/>
            </a:pPr>
            <a:r>
              <a:rPr lang="en-US" sz="900" dirty="0">
                <a:solidFill>
                  <a:srgbClr val="5F6368"/>
                </a:solidFill>
                <a:latin typeface="Calibri" pitchFamily="34" charset="0"/>
                <a:ea typeface="Calibri" pitchFamily="34" charset="-122"/>
                <a:cs typeface="Calibri" pitchFamily="34" charset="-120"/>
              </a:rPr>
              <a:t>OCP via EPLX · single approval surface</a:t>
            </a:r>
            <a:endParaRPr lang="en-US" sz="900" dirty="0"/>
          </a:p>
        </p:txBody>
      </p:sp>
      <p:sp>
        <p:nvSpPr>
          <p:cNvPr id="33" name="Shape 31"/>
          <p:cNvSpPr/>
          <p:nvPr/>
        </p:nvSpPr>
        <p:spPr>
          <a:xfrm>
            <a:off x="3154680" y="2331720"/>
            <a:ext cx="5852160" cy="3611880"/>
          </a:xfrm>
          <a:prstGeom prst="roundRect">
            <a:avLst>
              <a:gd name="adj" fmla="val 2532"/>
            </a:avLst>
          </a:prstGeom>
          <a:solidFill>
            <a:srgbClr val="EFE9F7"/>
          </a:solidFill>
          <a:ln w="19050">
            <a:solidFill>
              <a:srgbClr val="6B4C9A"/>
            </a:solidFill>
            <a:prstDash val="solid"/>
          </a:ln>
        </p:spPr>
      </p:sp>
      <p:sp>
        <p:nvSpPr>
          <p:cNvPr id="34" name="Text 32"/>
          <p:cNvSpPr txBox="1"/>
          <p:nvPr/>
        </p:nvSpPr>
        <p:spPr>
          <a:xfrm>
            <a:off x="3337560" y="2423160"/>
            <a:ext cx="4572000" cy="274320"/>
          </a:xfrm>
          <a:prstGeom prst="rect">
            <a:avLst/>
          </a:prstGeom>
          <a:noFill/>
          <a:ln/>
        </p:spPr>
        <p:txBody>
          <a:bodyPr wrap="square" lIns="508" tIns="508" rIns="508" bIns="508" rtlCol="0" anchor="t"/>
          <a:lstStyle/>
          <a:p>
            <a:pPr algn="l" indent="0" marL="0">
              <a:lnSpc>
                <a:spcPct val="105000"/>
              </a:lnSpc>
              <a:buNone/>
            </a:pPr>
            <a:r>
              <a:rPr lang="en-US" sz="1100" b="1" dirty="0">
                <a:solidFill>
                  <a:srgbClr val="6B4C9A"/>
                </a:solidFill>
                <a:latin typeface="Calibri" pitchFamily="34" charset="0"/>
                <a:ea typeface="Calibri" pitchFamily="34" charset="-122"/>
                <a:cs typeface="Calibri" pitchFamily="34" charset="-120"/>
              </a:rPr>
              <a:t>TSDK library (wrapper classes)</a:t>
            </a:r>
            <a:endParaRPr lang="en-US" sz="1100" dirty="0"/>
          </a:p>
        </p:txBody>
      </p:sp>
      <p:sp>
        <p:nvSpPr>
          <p:cNvPr id="35" name="Shape 33"/>
          <p:cNvSpPr/>
          <p:nvPr/>
        </p:nvSpPr>
        <p:spPr>
          <a:xfrm>
            <a:off x="3337560" y="2743200"/>
            <a:ext cx="1767840" cy="566928"/>
          </a:xfrm>
          <a:prstGeom prst="roundRect">
            <a:avLst>
              <a:gd name="adj" fmla="val 8065"/>
            </a:avLst>
          </a:prstGeom>
          <a:solidFill>
            <a:srgbClr val="FFFFFF"/>
          </a:solidFill>
          <a:ln w="12700">
            <a:solidFill>
              <a:srgbClr val="D6C9EA"/>
            </a:solidFill>
            <a:prstDash val="solid"/>
          </a:ln>
        </p:spPr>
      </p:sp>
      <p:sp>
        <p:nvSpPr>
          <p:cNvPr id="36" name="Text 34"/>
          <p:cNvSpPr txBox="1"/>
          <p:nvPr/>
        </p:nvSpPr>
        <p:spPr>
          <a:xfrm>
            <a:off x="3410712" y="2770632"/>
            <a:ext cx="1621536" cy="228600"/>
          </a:xfrm>
          <a:prstGeom prst="rect">
            <a:avLst/>
          </a:prstGeom>
          <a:noFill/>
          <a:ln/>
        </p:spPr>
        <p:txBody>
          <a:bodyPr wrap="square" lIns="508" tIns="508" rIns="508" bIns="508" rtlCol="0" anchor="t"/>
          <a:lstStyle/>
          <a:p>
            <a:pPr algn="l" indent="0" marL="0">
              <a:lnSpc>
                <a:spcPct val="105000"/>
              </a:lnSpc>
              <a:buNone/>
            </a:pPr>
            <a:r>
              <a:rPr lang="en-US" sz="950" b="1" dirty="0">
                <a:solidFill>
                  <a:srgbClr val="6B4C9A"/>
                </a:solidFill>
                <a:latin typeface="Calibri" pitchFamily="34" charset="0"/>
                <a:ea typeface="Calibri" pitchFamily="34" charset="-122"/>
                <a:cs typeface="Calibri" pitchFamily="34" charset="-120"/>
              </a:rPr>
              <a:t>Auto-registration</a:t>
            </a:r>
            <a:endParaRPr lang="en-US" sz="950" dirty="0"/>
          </a:p>
        </p:txBody>
      </p:sp>
      <p:sp>
        <p:nvSpPr>
          <p:cNvPr id="37" name="Text 35"/>
          <p:cNvSpPr txBox="1"/>
          <p:nvPr/>
        </p:nvSpPr>
        <p:spPr>
          <a:xfrm>
            <a:off x="3410712" y="2990088"/>
            <a:ext cx="1621536" cy="320040"/>
          </a:xfrm>
          <a:prstGeom prst="rect">
            <a:avLst/>
          </a:prstGeom>
          <a:noFill/>
          <a:ln/>
        </p:spPr>
        <p:txBody>
          <a:bodyPr wrap="square" lIns="508" tIns="508" rIns="508" bIns="508" rtlCol="0" anchor="t"/>
          <a:lstStyle/>
          <a:p>
            <a:pPr algn="l" indent="0" marL="0">
              <a:lnSpc>
                <a:spcPct val="105000"/>
              </a:lnSpc>
              <a:buNone/>
            </a:pPr>
            <a:r>
              <a:rPr lang="en-US" sz="850" dirty="0">
                <a:solidFill>
                  <a:srgbClr val="5F6368"/>
                </a:solidFill>
                <a:latin typeface="Calibri" pitchFamily="34" charset="0"/>
                <a:ea typeface="Calibri" pitchFamily="34" charset="-122"/>
                <a:cs typeface="Calibri" pitchFamily="34" charset="-120"/>
              </a:rPr>
              <a:t>agent registered with Tachyon on construction</a:t>
            </a:r>
            <a:endParaRPr lang="en-US" sz="850" dirty="0"/>
          </a:p>
        </p:txBody>
      </p:sp>
      <p:sp>
        <p:nvSpPr>
          <p:cNvPr id="38" name="Shape 36"/>
          <p:cNvSpPr/>
          <p:nvPr/>
        </p:nvSpPr>
        <p:spPr>
          <a:xfrm>
            <a:off x="5196840" y="2743200"/>
            <a:ext cx="1767840" cy="566928"/>
          </a:xfrm>
          <a:prstGeom prst="roundRect">
            <a:avLst>
              <a:gd name="adj" fmla="val 8065"/>
            </a:avLst>
          </a:prstGeom>
          <a:solidFill>
            <a:srgbClr val="FFFFFF"/>
          </a:solidFill>
          <a:ln w="12700">
            <a:solidFill>
              <a:srgbClr val="D6C9EA"/>
            </a:solidFill>
            <a:prstDash val="solid"/>
          </a:ln>
        </p:spPr>
      </p:sp>
      <p:sp>
        <p:nvSpPr>
          <p:cNvPr id="39" name="Text 37"/>
          <p:cNvSpPr txBox="1"/>
          <p:nvPr/>
        </p:nvSpPr>
        <p:spPr>
          <a:xfrm>
            <a:off x="5269992" y="2770632"/>
            <a:ext cx="1621536" cy="228600"/>
          </a:xfrm>
          <a:prstGeom prst="rect">
            <a:avLst/>
          </a:prstGeom>
          <a:noFill/>
          <a:ln/>
        </p:spPr>
        <p:txBody>
          <a:bodyPr wrap="square" lIns="508" tIns="508" rIns="508" bIns="508" rtlCol="0" anchor="t"/>
          <a:lstStyle/>
          <a:p>
            <a:pPr algn="l" indent="0" marL="0">
              <a:lnSpc>
                <a:spcPct val="105000"/>
              </a:lnSpc>
              <a:buNone/>
            </a:pPr>
            <a:r>
              <a:rPr lang="en-US" sz="950" b="1" dirty="0">
                <a:solidFill>
                  <a:srgbClr val="6B4C9A"/>
                </a:solidFill>
                <a:latin typeface="Calibri" pitchFamily="34" charset="0"/>
                <a:ea typeface="Calibri" pitchFamily="34" charset="-122"/>
                <a:cs typeface="Calibri" pitchFamily="34" charset="-120"/>
              </a:rPr>
              <a:t>Arize instrumentation</a:t>
            </a:r>
            <a:endParaRPr lang="en-US" sz="950" dirty="0"/>
          </a:p>
        </p:txBody>
      </p:sp>
      <p:sp>
        <p:nvSpPr>
          <p:cNvPr id="40" name="Text 38"/>
          <p:cNvSpPr txBox="1"/>
          <p:nvPr/>
        </p:nvSpPr>
        <p:spPr>
          <a:xfrm>
            <a:off x="5269992" y="2990088"/>
            <a:ext cx="1621536" cy="320040"/>
          </a:xfrm>
          <a:prstGeom prst="rect">
            <a:avLst/>
          </a:prstGeom>
          <a:noFill/>
          <a:ln/>
        </p:spPr>
        <p:txBody>
          <a:bodyPr wrap="square" lIns="508" tIns="508" rIns="508" bIns="508" rtlCol="0" anchor="t"/>
          <a:lstStyle/>
          <a:p>
            <a:pPr algn="l" indent="0" marL="0">
              <a:lnSpc>
                <a:spcPct val="105000"/>
              </a:lnSpc>
              <a:buNone/>
            </a:pPr>
            <a:r>
              <a:rPr lang="en-US" sz="850" dirty="0">
                <a:solidFill>
                  <a:srgbClr val="5F6368"/>
                </a:solidFill>
                <a:latin typeface="Calibri" pitchFamily="34" charset="0"/>
                <a:ea typeface="Calibri" pitchFamily="34" charset="-122"/>
                <a:cs typeface="Calibri" pitchFamily="34" charset="-120"/>
              </a:rPr>
              <a:t>OTel tracer attached automatically</a:t>
            </a:r>
            <a:endParaRPr lang="en-US" sz="850" dirty="0"/>
          </a:p>
        </p:txBody>
      </p:sp>
      <p:sp>
        <p:nvSpPr>
          <p:cNvPr id="41" name="Shape 39"/>
          <p:cNvSpPr/>
          <p:nvPr/>
        </p:nvSpPr>
        <p:spPr>
          <a:xfrm>
            <a:off x="7056120" y="2743200"/>
            <a:ext cx="1767840" cy="566928"/>
          </a:xfrm>
          <a:prstGeom prst="roundRect">
            <a:avLst>
              <a:gd name="adj" fmla="val 8065"/>
            </a:avLst>
          </a:prstGeom>
          <a:solidFill>
            <a:srgbClr val="FFFFFF"/>
          </a:solidFill>
          <a:ln w="12700">
            <a:solidFill>
              <a:srgbClr val="D6C9EA"/>
            </a:solidFill>
            <a:prstDash val="solid"/>
          </a:ln>
        </p:spPr>
      </p:sp>
      <p:sp>
        <p:nvSpPr>
          <p:cNvPr id="42" name="Text 40"/>
          <p:cNvSpPr txBox="1"/>
          <p:nvPr/>
        </p:nvSpPr>
        <p:spPr>
          <a:xfrm>
            <a:off x="7129272" y="2770632"/>
            <a:ext cx="1621536" cy="228600"/>
          </a:xfrm>
          <a:prstGeom prst="rect">
            <a:avLst/>
          </a:prstGeom>
          <a:noFill/>
          <a:ln/>
        </p:spPr>
        <p:txBody>
          <a:bodyPr wrap="square" lIns="508" tIns="508" rIns="508" bIns="508" rtlCol="0" anchor="t"/>
          <a:lstStyle/>
          <a:p>
            <a:pPr algn="l" indent="0" marL="0">
              <a:lnSpc>
                <a:spcPct val="105000"/>
              </a:lnSpc>
              <a:buNone/>
            </a:pPr>
            <a:r>
              <a:rPr lang="en-US" sz="950" b="1" dirty="0">
                <a:solidFill>
                  <a:srgbClr val="6B4C9A"/>
                </a:solidFill>
                <a:latin typeface="Calibri" pitchFamily="34" charset="0"/>
                <a:ea typeface="Calibri" pitchFamily="34" charset="-122"/>
                <a:cs typeface="Calibri" pitchFamily="34" charset="-120"/>
              </a:rPr>
              <a:t>Pre-wired callbacks</a:t>
            </a:r>
            <a:endParaRPr lang="en-US" sz="950" dirty="0"/>
          </a:p>
        </p:txBody>
      </p:sp>
      <p:sp>
        <p:nvSpPr>
          <p:cNvPr id="43" name="Text 41"/>
          <p:cNvSpPr txBox="1"/>
          <p:nvPr/>
        </p:nvSpPr>
        <p:spPr>
          <a:xfrm>
            <a:off x="7129272" y="2990088"/>
            <a:ext cx="1621536" cy="320040"/>
          </a:xfrm>
          <a:prstGeom prst="rect">
            <a:avLst/>
          </a:prstGeom>
          <a:noFill/>
          <a:ln/>
        </p:spPr>
        <p:txBody>
          <a:bodyPr wrap="square" lIns="508" tIns="508" rIns="508" bIns="508" rtlCol="0" anchor="t"/>
          <a:lstStyle/>
          <a:p>
            <a:pPr algn="l" indent="0" marL="0">
              <a:lnSpc>
                <a:spcPct val="105000"/>
              </a:lnSpc>
              <a:buNone/>
            </a:pPr>
            <a:r>
              <a:rPr lang="en-US" sz="850" dirty="0">
                <a:solidFill>
                  <a:srgbClr val="5F6368"/>
                </a:solidFill>
                <a:latin typeface="Calibri" pitchFamily="34" charset="0"/>
                <a:ea typeface="Calibri" pitchFamily="34" charset="-122"/>
                <a:cs typeface="Calibri" pitchFamily="34" charset="-120"/>
              </a:rPr>
              <a:t>Bridge, guardrails, Overwatch hooked in</a:t>
            </a:r>
            <a:endParaRPr lang="en-US" sz="850" dirty="0"/>
          </a:p>
        </p:txBody>
      </p:sp>
      <p:sp>
        <p:nvSpPr>
          <p:cNvPr id="44" name="Shape 42"/>
          <p:cNvSpPr/>
          <p:nvPr/>
        </p:nvSpPr>
        <p:spPr>
          <a:xfrm>
            <a:off x="3337560" y="3429000"/>
            <a:ext cx="2674620" cy="2331720"/>
          </a:xfrm>
          <a:prstGeom prst="roundRect">
            <a:avLst>
              <a:gd name="adj" fmla="val 3922"/>
            </a:avLst>
          </a:prstGeom>
          <a:solidFill>
            <a:srgbClr val="E8F0FE"/>
          </a:solidFill>
          <a:ln w="19050">
            <a:solidFill>
              <a:srgbClr val="1A73E8"/>
            </a:solidFill>
            <a:prstDash val="solid"/>
          </a:ln>
        </p:spPr>
      </p:sp>
      <p:sp>
        <p:nvSpPr>
          <p:cNvPr id="45" name="Text 43"/>
          <p:cNvSpPr txBox="1"/>
          <p:nvPr/>
        </p:nvSpPr>
        <p:spPr>
          <a:xfrm>
            <a:off x="3474720" y="3502152"/>
            <a:ext cx="2400300" cy="274320"/>
          </a:xfrm>
          <a:prstGeom prst="rect">
            <a:avLst/>
          </a:prstGeom>
          <a:noFill/>
          <a:ln/>
        </p:spPr>
        <p:txBody>
          <a:bodyPr wrap="square" lIns="508" tIns="508" rIns="508" bIns="508" rtlCol="0" anchor="t"/>
          <a:lstStyle/>
          <a:p>
            <a:pPr algn="l" indent="0" marL="0">
              <a:lnSpc>
                <a:spcPct val="105000"/>
              </a:lnSpc>
              <a:buNone/>
            </a:pPr>
            <a:r>
              <a:rPr lang="en-US" sz="1050" b="1" dirty="0">
                <a:solidFill>
                  <a:srgbClr val="1A73E8"/>
                </a:solidFill>
                <a:latin typeface="Calibri" pitchFamily="34" charset="0"/>
                <a:ea typeface="Calibri" pitchFamily="34" charset="-122"/>
                <a:cs typeface="Calibri" pitchFamily="34" charset="-120"/>
              </a:rPr>
              <a:t>TSDK wrapper classes (over ADK primitives)</a:t>
            </a:r>
            <a:endParaRPr lang="en-US" sz="1050" dirty="0"/>
          </a:p>
        </p:txBody>
      </p:sp>
      <p:sp>
        <p:nvSpPr>
          <p:cNvPr id="46" name="Shape 44"/>
          <p:cNvSpPr/>
          <p:nvPr/>
        </p:nvSpPr>
        <p:spPr>
          <a:xfrm>
            <a:off x="3447288" y="3813048"/>
            <a:ext cx="2455164" cy="228600"/>
          </a:xfrm>
          <a:prstGeom prst="roundRect">
            <a:avLst>
              <a:gd name="adj" fmla="val 16000"/>
            </a:avLst>
          </a:prstGeom>
          <a:solidFill>
            <a:srgbClr val="FFFFFF"/>
          </a:solidFill>
          <a:ln w="12700">
            <a:solidFill>
              <a:srgbClr val="C6DAFC"/>
            </a:solidFill>
            <a:prstDash val="solid"/>
          </a:ln>
        </p:spPr>
      </p:sp>
      <p:sp>
        <p:nvSpPr>
          <p:cNvPr id="47" name="Text 45"/>
          <p:cNvSpPr txBox="1"/>
          <p:nvPr/>
        </p:nvSpPr>
        <p:spPr>
          <a:xfrm>
            <a:off x="3520440" y="3813048"/>
            <a:ext cx="2308860" cy="228600"/>
          </a:xfrm>
          <a:prstGeom prst="rect">
            <a:avLst/>
          </a:prstGeom>
          <a:noFill/>
          <a:ln/>
        </p:spPr>
        <p:txBody>
          <a:bodyPr wrap="square" lIns="508" tIns="508" rIns="508" bIns="508" rtlCol="0" anchor="ctr"/>
          <a:lstStyle/>
          <a:p>
            <a:pPr algn="l" indent="0" marL="0">
              <a:lnSpc>
                <a:spcPct val="105000"/>
              </a:lnSpc>
              <a:buNone/>
            </a:pPr>
            <a:r>
              <a:rPr lang="en-US" sz="850" b="1" dirty="0">
                <a:solidFill>
                  <a:srgbClr val="174EA6"/>
                </a:solidFill>
                <a:latin typeface="Calibri" pitchFamily="34" charset="0"/>
                <a:ea typeface="Calibri" pitchFamily="34" charset="-122"/>
                <a:cs typeface="Calibri" pitchFamily="34" charset="-120"/>
              </a:rPr>
              <a:t>Agent wrapper  </a:t>
            </a:r>
            <a:pPr algn="l" indent="0" marL="0">
              <a:lnSpc>
                <a:spcPct val="105000"/>
              </a:lnSpc>
              <a:buNone/>
            </a:pPr>
            <a:r>
              <a:rPr lang="en-US" sz="850" dirty="0">
                <a:solidFill>
                  <a:srgbClr val="5F6368"/>
                </a:solidFill>
                <a:latin typeface="Calibri" pitchFamily="34" charset="0"/>
                <a:ea typeface="Calibri" pitchFamily="34" charset="-122"/>
                <a:cs typeface="Calibri" pitchFamily="34" charset="-120"/>
              </a:rPr>
              <a:t>over LlmAgent</a:t>
            </a:r>
            <a:endParaRPr lang="en-US" sz="850" dirty="0"/>
          </a:p>
        </p:txBody>
      </p:sp>
      <p:sp>
        <p:nvSpPr>
          <p:cNvPr id="48" name="Shape 46"/>
          <p:cNvSpPr/>
          <p:nvPr/>
        </p:nvSpPr>
        <p:spPr>
          <a:xfrm>
            <a:off x="3447288" y="4087368"/>
            <a:ext cx="2455164" cy="228600"/>
          </a:xfrm>
          <a:prstGeom prst="roundRect">
            <a:avLst>
              <a:gd name="adj" fmla="val 16000"/>
            </a:avLst>
          </a:prstGeom>
          <a:solidFill>
            <a:srgbClr val="FFFFFF"/>
          </a:solidFill>
          <a:ln w="12700">
            <a:solidFill>
              <a:srgbClr val="C6DAFC"/>
            </a:solidFill>
            <a:prstDash val="solid"/>
          </a:ln>
        </p:spPr>
      </p:sp>
      <p:sp>
        <p:nvSpPr>
          <p:cNvPr id="49" name="Text 47"/>
          <p:cNvSpPr txBox="1"/>
          <p:nvPr/>
        </p:nvSpPr>
        <p:spPr>
          <a:xfrm>
            <a:off x="3520440" y="4087368"/>
            <a:ext cx="2308860" cy="228600"/>
          </a:xfrm>
          <a:prstGeom prst="rect">
            <a:avLst/>
          </a:prstGeom>
          <a:noFill/>
          <a:ln/>
        </p:spPr>
        <p:txBody>
          <a:bodyPr wrap="square" lIns="508" tIns="508" rIns="508" bIns="508" rtlCol="0" anchor="ctr"/>
          <a:lstStyle/>
          <a:p>
            <a:pPr algn="l" indent="0" marL="0">
              <a:lnSpc>
                <a:spcPct val="105000"/>
              </a:lnSpc>
              <a:buNone/>
            </a:pPr>
            <a:r>
              <a:rPr lang="en-US" sz="850" b="1" dirty="0">
                <a:solidFill>
                  <a:srgbClr val="174EA6"/>
                </a:solidFill>
                <a:latin typeface="Calibri" pitchFamily="34" charset="0"/>
                <a:ea typeface="Calibri" pitchFamily="34" charset="-122"/>
                <a:cs typeface="Calibri" pitchFamily="34" charset="-120"/>
              </a:rPr>
              <a:t>Workflow wrappers  </a:t>
            </a:r>
            <a:pPr algn="l" indent="0" marL="0">
              <a:lnSpc>
                <a:spcPct val="105000"/>
              </a:lnSpc>
              <a:buNone/>
            </a:pPr>
            <a:r>
              <a:rPr lang="en-US" sz="850" dirty="0">
                <a:solidFill>
                  <a:srgbClr val="5F6368"/>
                </a:solidFill>
                <a:latin typeface="Calibri" pitchFamily="34" charset="0"/>
                <a:ea typeface="Calibri" pitchFamily="34" charset="-122"/>
                <a:cs typeface="Calibri" pitchFamily="34" charset="-120"/>
              </a:rPr>
              <a:t>Sequential · Parallel · Loop</a:t>
            </a:r>
            <a:endParaRPr lang="en-US" sz="850" dirty="0"/>
          </a:p>
        </p:txBody>
      </p:sp>
      <p:sp>
        <p:nvSpPr>
          <p:cNvPr id="50" name="Shape 48"/>
          <p:cNvSpPr/>
          <p:nvPr/>
        </p:nvSpPr>
        <p:spPr>
          <a:xfrm>
            <a:off x="3447288" y="4361688"/>
            <a:ext cx="2455164" cy="228600"/>
          </a:xfrm>
          <a:prstGeom prst="roundRect">
            <a:avLst>
              <a:gd name="adj" fmla="val 16000"/>
            </a:avLst>
          </a:prstGeom>
          <a:solidFill>
            <a:srgbClr val="FFFFFF"/>
          </a:solidFill>
          <a:ln w="12700">
            <a:solidFill>
              <a:srgbClr val="C6DAFC"/>
            </a:solidFill>
            <a:prstDash val="solid"/>
          </a:ln>
        </p:spPr>
      </p:sp>
      <p:sp>
        <p:nvSpPr>
          <p:cNvPr id="51" name="Text 49"/>
          <p:cNvSpPr txBox="1"/>
          <p:nvPr/>
        </p:nvSpPr>
        <p:spPr>
          <a:xfrm>
            <a:off x="3520440" y="4361688"/>
            <a:ext cx="2308860" cy="228600"/>
          </a:xfrm>
          <a:prstGeom prst="rect">
            <a:avLst/>
          </a:prstGeom>
          <a:noFill/>
          <a:ln/>
        </p:spPr>
        <p:txBody>
          <a:bodyPr wrap="square" lIns="508" tIns="508" rIns="508" bIns="508" rtlCol="0" anchor="ctr"/>
          <a:lstStyle/>
          <a:p>
            <a:pPr algn="l" indent="0" marL="0">
              <a:lnSpc>
                <a:spcPct val="105000"/>
              </a:lnSpc>
              <a:buNone/>
            </a:pPr>
            <a:r>
              <a:rPr lang="en-US" sz="850" b="1" dirty="0">
                <a:solidFill>
                  <a:srgbClr val="174EA6"/>
                </a:solidFill>
                <a:latin typeface="Calibri" pitchFamily="34" charset="0"/>
                <a:ea typeface="Calibri" pitchFamily="34" charset="-122"/>
                <a:cs typeface="Calibri" pitchFamily="34" charset="-120"/>
              </a:rPr>
              <a:t>Runner wrapper  </a:t>
            </a:r>
            <a:pPr algn="l" indent="0" marL="0">
              <a:lnSpc>
                <a:spcPct val="105000"/>
              </a:lnSpc>
              <a:buNone/>
            </a:pPr>
            <a:r>
              <a:rPr lang="en-US" sz="850" dirty="0">
                <a:solidFill>
                  <a:srgbClr val="5F6368"/>
                </a:solidFill>
                <a:latin typeface="Calibri" pitchFamily="34" charset="0"/>
                <a:ea typeface="Calibri" pitchFamily="34" charset="-122"/>
                <a:cs typeface="Calibri" pitchFamily="34" charset="-120"/>
              </a:rPr>
              <a:t>over Runner &amp; events</a:t>
            </a:r>
            <a:endParaRPr lang="en-US" sz="850" dirty="0"/>
          </a:p>
        </p:txBody>
      </p:sp>
      <p:sp>
        <p:nvSpPr>
          <p:cNvPr id="52" name="Shape 50"/>
          <p:cNvSpPr/>
          <p:nvPr/>
        </p:nvSpPr>
        <p:spPr>
          <a:xfrm>
            <a:off x="3447288" y="4636008"/>
            <a:ext cx="2455164" cy="228600"/>
          </a:xfrm>
          <a:prstGeom prst="roundRect">
            <a:avLst>
              <a:gd name="adj" fmla="val 16000"/>
            </a:avLst>
          </a:prstGeom>
          <a:solidFill>
            <a:srgbClr val="FFFFFF"/>
          </a:solidFill>
          <a:ln w="12700">
            <a:solidFill>
              <a:srgbClr val="C6DAFC"/>
            </a:solidFill>
            <a:prstDash val="solid"/>
          </a:ln>
        </p:spPr>
      </p:sp>
      <p:sp>
        <p:nvSpPr>
          <p:cNvPr id="53" name="Text 51"/>
          <p:cNvSpPr txBox="1"/>
          <p:nvPr/>
        </p:nvSpPr>
        <p:spPr>
          <a:xfrm>
            <a:off x="3520440" y="4636008"/>
            <a:ext cx="2308860" cy="228600"/>
          </a:xfrm>
          <a:prstGeom prst="rect">
            <a:avLst/>
          </a:prstGeom>
          <a:noFill/>
          <a:ln/>
        </p:spPr>
        <p:txBody>
          <a:bodyPr wrap="square" lIns="508" tIns="508" rIns="508" bIns="508" rtlCol="0" anchor="ctr"/>
          <a:lstStyle/>
          <a:p>
            <a:pPr algn="l" indent="0" marL="0">
              <a:lnSpc>
                <a:spcPct val="105000"/>
              </a:lnSpc>
              <a:buNone/>
            </a:pPr>
            <a:r>
              <a:rPr lang="en-US" sz="850" b="1" dirty="0">
                <a:solidFill>
                  <a:srgbClr val="174EA6"/>
                </a:solidFill>
                <a:latin typeface="Calibri" pitchFamily="34" charset="0"/>
                <a:ea typeface="Calibri" pitchFamily="34" charset="-122"/>
                <a:cs typeface="Calibri" pitchFamily="34" charset="-120"/>
              </a:rPr>
              <a:t>Callback wrappers  </a:t>
            </a:r>
            <a:pPr algn="l" indent="0" marL="0">
              <a:lnSpc>
                <a:spcPct val="105000"/>
              </a:lnSpc>
              <a:buNone/>
            </a:pPr>
            <a:r>
              <a:rPr lang="en-US" sz="850" dirty="0">
                <a:solidFill>
                  <a:srgbClr val="5F6368"/>
                </a:solidFill>
                <a:latin typeface="Calibri" pitchFamily="34" charset="0"/>
                <a:ea typeface="Calibri" pitchFamily="34" charset="-122"/>
                <a:cs typeface="Calibri" pitchFamily="34" charset="-120"/>
              </a:rPr>
              <a:t>model · tool · agent hooks</a:t>
            </a:r>
            <a:endParaRPr lang="en-US" sz="850" dirty="0"/>
          </a:p>
        </p:txBody>
      </p:sp>
      <p:sp>
        <p:nvSpPr>
          <p:cNvPr id="54" name="Shape 52"/>
          <p:cNvSpPr/>
          <p:nvPr/>
        </p:nvSpPr>
        <p:spPr>
          <a:xfrm>
            <a:off x="3447288" y="4910328"/>
            <a:ext cx="2455164" cy="228600"/>
          </a:xfrm>
          <a:prstGeom prst="roundRect">
            <a:avLst>
              <a:gd name="adj" fmla="val 16000"/>
            </a:avLst>
          </a:prstGeom>
          <a:solidFill>
            <a:srgbClr val="FFFFFF"/>
          </a:solidFill>
          <a:ln w="12700">
            <a:solidFill>
              <a:srgbClr val="C6DAFC"/>
            </a:solidFill>
            <a:prstDash val="solid"/>
          </a:ln>
        </p:spPr>
      </p:sp>
      <p:sp>
        <p:nvSpPr>
          <p:cNvPr id="55" name="Text 53"/>
          <p:cNvSpPr txBox="1"/>
          <p:nvPr/>
        </p:nvSpPr>
        <p:spPr>
          <a:xfrm>
            <a:off x="3520440" y="4910328"/>
            <a:ext cx="2308860" cy="228600"/>
          </a:xfrm>
          <a:prstGeom prst="rect">
            <a:avLst/>
          </a:prstGeom>
          <a:noFill/>
          <a:ln/>
        </p:spPr>
        <p:txBody>
          <a:bodyPr wrap="square" lIns="508" tIns="508" rIns="508" bIns="508" rtlCol="0" anchor="ctr"/>
          <a:lstStyle/>
          <a:p>
            <a:pPr algn="l" indent="0" marL="0">
              <a:lnSpc>
                <a:spcPct val="105000"/>
              </a:lnSpc>
              <a:buNone/>
            </a:pPr>
            <a:r>
              <a:rPr lang="en-US" sz="850" b="1" dirty="0">
                <a:solidFill>
                  <a:srgbClr val="174EA6"/>
                </a:solidFill>
                <a:latin typeface="Calibri" pitchFamily="34" charset="0"/>
                <a:ea typeface="Calibri" pitchFamily="34" charset="-122"/>
                <a:cs typeface="Calibri" pitchFamily="34" charset="-120"/>
              </a:rPr>
              <a:t>A2A wrapper  </a:t>
            </a:r>
            <a:pPr algn="l" indent="0" marL="0">
              <a:lnSpc>
                <a:spcPct val="105000"/>
              </a:lnSpc>
              <a:buNone/>
            </a:pPr>
            <a:r>
              <a:rPr lang="en-US" sz="850" dirty="0">
                <a:solidFill>
                  <a:srgbClr val="5F6368"/>
                </a:solidFill>
                <a:latin typeface="Calibri" pitchFamily="34" charset="0"/>
                <a:ea typeface="Calibri" pitchFamily="34" charset="-122"/>
                <a:cs typeface="Calibri" pitchFamily="34" charset="-120"/>
              </a:rPr>
              <a:t>over RemoteA2aAgent</a:t>
            </a:r>
            <a:endParaRPr lang="en-US" sz="850" dirty="0"/>
          </a:p>
        </p:txBody>
      </p:sp>
      <p:sp>
        <p:nvSpPr>
          <p:cNvPr id="56" name="Shape 54"/>
          <p:cNvSpPr/>
          <p:nvPr/>
        </p:nvSpPr>
        <p:spPr>
          <a:xfrm>
            <a:off x="3447288" y="5184648"/>
            <a:ext cx="2455164" cy="228600"/>
          </a:xfrm>
          <a:prstGeom prst="roundRect">
            <a:avLst>
              <a:gd name="adj" fmla="val 16000"/>
            </a:avLst>
          </a:prstGeom>
          <a:solidFill>
            <a:srgbClr val="FFFFFF"/>
          </a:solidFill>
          <a:ln w="12700">
            <a:solidFill>
              <a:srgbClr val="C6DAFC"/>
            </a:solidFill>
            <a:prstDash val="solid"/>
          </a:ln>
        </p:spPr>
      </p:sp>
      <p:sp>
        <p:nvSpPr>
          <p:cNvPr id="57" name="Text 55"/>
          <p:cNvSpPr txBox="1"/>
          <p:nvPr/>
        </p:nvSpPr>
        <p:spPr>
          <a:xfrm>
            <a:off x="3520440" y="5184648"/>
            <a:ext cx="2308860" cy="228600"/>
          </a:xfrm>
          <a:prstGeom prst="rect">
            <a:avLst/>
          </a:prstGeom>
          <a:noFill/>
          <a:ln/>
        </p:spPr>
        <p:txBody>
          <a:bodyPr wrap="square" lIns="508" tIns="508" rIns="508" bIns="508" rtlCol="0" anchor="ctr"/>
          <a:lstStyle/>
          <a:p>
            <a:pPr algn="l" indent="0" marL="0">
              <a:lnSpc>
                <a:spcPct val="105000"/>
              </a:lnSpc>
              <a:buNone/>
            </a:pPr>
            <a:r>
              <a:rPr lang="en-US" sz="850" b="1" dirty="0">
                <a:solidFill>
                  <a:srgbClr val="174EA6"/>
                </a:solidFill>
                <a:latin typeface="Calibri" pitchFamily="34" charset="0"/>
                <a:ea typeface="Calibri" pitchFamily="34" charset="-122"/>
                <a:cs typeface="Calibri" pitchFamily="34" charset="-120"/>
              </a:rPr>
              <a:t>Tool wrappers  </a:t>
            </a:r>
            <a:pPr algn="l" indent="0" marL="0">
              <a:lnSpc>
                <a:spcPct val="105000"/>
              </a:lnSpc>
              <a:buNone/>
            </a:pPr>
            <a:r>
              <a:rPr lang="en-US" sz="850" dirty="0">
                <a:solidFill>
                  <a:srgbClr val="5F6368"/>
                </a:solidFill>
                <a:latin typeface="Calibri" pitchFamily="34" charset="0"/>
                <a:ea typeface="Calibri" pitchFamily="34" charset="-122"/>
                <a:cs typeface="Calibri" pitchFamily="34" charset="-120"/>
              </a:rPr>
              <a:t>Function · Agent · MCPToolset</a:t>
            </a:r>
            <a:endParaRPr lang="en-US" sz="850" dirty="0"/>
          </a:p>
        </p:txBody>
      </p:sp>
      <p:sp>
        <p:nvSpPr>
          <p:cNvPr id="58" name="Shape 56"/>
          <p:cNvSpPr/>
          <p:nvPr/>
        </p:nvSpPr>
        <p:spPr>
          <a:xfrm>
            <a:off x="3447288" y="5458968"/>
            <a:ext cx="2455164" cy="228600"/>
          </a:xfrm>
          <a:prstGeom prst="roundRect">
            <a:avLst>
              <a:gd name="adj" fmla="val 16000"/>
            </a:avLst>
          </a:prstGeom>
          <a:solidFill>
            <a:srgbClr val="FFFFFF"/>
          </a:solidFill>
          <a:ln w="12700">
            <a:solidFill>
              <a:srgbClr val="C6DAFC"/>
            </a:solidFill>
            <a:prstDash val="solid"/>
          </a:ln>
        </p:spPr>
      </p:sp>
      <p:sp>
        <p:nvSpPr>
          <p:cNvPr id="59" name="Text 57"/>
          <p:cNvSpPr txBox="1"/>
          <p:nvPr/>
        </p:nvSpPr>
        <p:spPr>
          <a:xfrm>
            <a:off x="3520440" y="5458968"/>
            <a:ext cx="2308860" cy="228600"/>
          </a:xfrm>
          <a:prstGeom prst="rect">
            <a:avLst/>
          </a:prstGeom>
          <a:noFill/>
          <a:ln/>
        </p:spPr>
        <p:txBody>
          <a:bodyPr wrap="square" lIns="508" tIns="508" rIns="508" bIns="508" rtlCol="0" anchor="ctr"/>
          <a:lstStyle/>
          <a:p>
            <a:pPr algn="l" indent="0" marL="0">
              <a:lnSpc>
                <a:spcPct val="105000"/>
              </a:lnSpc>
              <a:buNone/>
            </a:pPr>
            <a:r>
              <a:rPr lang="en-US" sz="850" b="1" dirty="0">
                <a:solidFill>
                  <a:srgbClr val="174EA6"/>
                </a:solidFill>
                <a:latin typeface="Calibri" pitchFamily="34" charset="0"/>
                <a:ea typeface="Calibri" pitchFamily="34" charset="-122"/>
                <a:cs typeface="Calibri" pitchFamily="34" charset="-120"/>
              </a:rPr>
              <a:t>Session wrapper  </a:t>
            </a:r>
            <a:pPr algn="l" indent="0" marL="0">
              <a:lnSpc>
                <a:spcPct val="105000"/>
              </a:lnSpc>
              <a:buNone/>
            </a:pPr>
            <a:r>
              <a:rPr lang="en-US" sz="850" dirty="0">
                <a:solidFill>
                  <a:srgbClr val="5F6368"/>
                </a:solidFill>
                <a:latin typeface="Calibri" pitchFamily="34" charset="0"/>
                <a:ea typeface="Calibri" pitchFamily="34" charset="-122"/>
                <a:cs typeface="Calibri" pitchFamily="34" charset="-120"/>
              </a:rPr>
              <a:t>over Session &amp; State</a:t>
            </a:r>
            <a:endParaRPr lang="en-US" sz="850" dirty="0"/>
          </a:p>
        </p:txBody>
      </p:sp>
      <p:sp>
        <p:nvSpPr>
          <p:cNvPr id="60" name="Shape 58"/>
          <p:cNvSpPr/>
          <p:nvPr/>
        </p:nvSpPr>
        <p:spPr>
          <a:xfrm>
            <a:off x="6149340" y="3429000"/>
            <a:ext cx="2674620" cy="2331720"/>
          </a:xfrm>
          <a:prstGeom prst="roundRect">
            <a:avLst>
              <a:gd name="adj" fmla="val 3922"/>
            </a:avLst>
          </a:prstGeom>
          <a:solidFill>
            <a:srgbClr val="E6F4EA"/>
          </a:solidFill>
          <a:ln w="19050">
            <a:solidFill>
              <a:srgbClr val="1E8E3E"/>
            </a:solidFill>
            <a:prstDash val="solid"/>
          </a:ln>
        </p:spPr>
      </p:sp>
      <p:sp>
        <p:nvSpPr>
          <p:cNvPr id="61" name="Text 59"/>
          <p:cNvSpPr txBox="1"/>
          <p:nvPr/>
        </p:nvSpPr>
        <p:spPr>
          <a:xfrm>
            <a:off x="6286500" y="3502152"/>
            <a:ext cx="2400300" cy="274320"/>
          </a:xfrm>
          <a:prstGeom prst="rect">
            <a:avLst/>
          </a:prstGeom>
          <a:noFill/>
          <a:ln/>
        </p:spPr>
        <p:txBody>
          <a:bodyPr wrap="square" lIns="508" tIns="508" rIns="508" bIns="508" rtlCol="0" anchor="t"/>
          <a:lstStyle/>
          <a:p>
            <a:pPr algn="l" indent="0" marL="0">
              <a:lnSpc>
                <a:spcPct val="105000"/>
              </a:lnSpc>
              <a:buNone/>
            </a:pPr>
            <a:r>
              <a:rPr lang="en-US" sz="1050" b="1" dirty="0">
                <a:solidFill>
                  <a:srgbClr val="1E8E3E"/>
                </a:solidFill>
                <a:latin typeface="Calibri" pitchFamily="34" charset="0"/>
                <a:ea typeface="Calibri" pitchFamily="34" charset="-122"/>
                <a:cs typeface="Calibri" pitchFamily="34" charset="-120"/>
              </a:rPr>
              <a:t>Fargo core (built with the wrappers)</a:t>
            </a:r>
            <a:endParaRPr lang="en-US" sz="1050" dirty="0"/>
          </a:p>
        </p:txBody>
      </p:sp>
      <p:sp>
        <p:nvSpPr>
          <p:cNvPr id="62" name="Shape 60"/>
          <p:cNvSpPr/>
          <p:nvPr/>
        </p:nvSpPr>
        <p:spPr>
          <a:xfrm>
            <a:off x="6259068" y="3813048"/>
            <a:ext cx="2455164" cy="274320"/>
          </a:xfrm>
          <a:prstGeom prst="roundRect">
            <a:avLst>
              <a:gd name="adj" fmla="val 13333"/>
            </a:avLst>
          </a:prstGeom>
          <a:solidFill>
            <a:srgbClr val="FFFFFF"/>
          </a:solidFill>
          <a:ln w="12700">
            <a:solidFill>
              <a:srgbClr val="BFE3C8"/>
            </a:solidFill>
            <a:prstDash val="solid"/>
          </a:ln>
        </p:spPr>
      </p:sp>
      <p:sp>
        <p:nvSpPr>
          <p:cNvPr id="63" name="Text 61"/>
          <p:cNvSpPr txBox="1"/>
          <p:nvPr/>
        </p:nvSpPr>
        <p:spPr>
          <a:xfrm>
            <a:off x="6332220" y="3813048"/>
            <a:ext cx="2308860" cy="274320"/>
          </a:xfrm>
          <a:prstGeom prst="rect">
            <a:avLst/>
          </a:prstGeom>
          <a:noFill/>
          <a:ln/>
        </p:spPr>
        <p:txBody>
          <a:bodyPr wrap="square" lIns="508" tIns="508" rIns="508" bIns="508" rtlCol="0" anchor="ctr"/>
          <a:lstStyle/>
          <a:p>
            <a:pPr algn="l" indent="0" marL="0">
              <a:lnSpc>
                <a:spcPct val="100000"/>
              </a:lnSpc>
              <a:buNone/>
            </a:pPr>
            <a:r>
              <a:rPr lang="en-US" sz="850" b="1" dirty="0">
                <a:solidFill>
                  <a:srgbClr val="146C2E"/>
                </a:solidFill>
                <a:latin typeface="Calibri" pitchFamily="34" charset="0"/>
                <a:ea typeface="Calibri" pitchFamily="34" charset="-122"/>
                <a:cs typeface="Calibri" pitchFamily="34" charset="-120"/>
              </a:rPr>
              <a:t>Context engineering  </a:t>
            </a:r>
            <a:pPr algn="l" indent="0" marL="0">
              <a:lnSpc>
                <a:spcPct val="100000"/>
              </a:lnSpc>
              <a:buNone/>
            </a:pPr>
            <a:r>
              <a:rPr lang="en-US" sz="850" dirty="0">
                <a:solidFill>
                  <a:srgbClr val="5F6368"/>
                </a:solidFill>
                <a:latin typeface="Calibri" pitchFamily="34" charset="0"/>
                <a:ea typeface="Calibri" pitchFamily="34" charset="-122"/>
                <a:cs typeface="Calibri" pitchFamily="34" charset="-120"/>
              </a:rPr>
              <a:t>compaction, dynamic retrieval – on callbacks + session state</a:t>
            </a:r>
            <a:endParaRPr lang="en-US" sz="850" dirty="0"/>
          </a:p>
        </p:txBody>
      </p:sp>
      <p:sp>
        <p:nvSpPr>
          <p:cNvPr id="64" name="Shape 62"/>
          <p:cNvSpPr/>
          <p:nvPr/>
        </p:nvSpPr>
        <p:spPr>
          <a:xfrm>
            <a:off x="6259068" y="4133088"/>
            <a:ext cx="2455164" cy="274320"/>
          </a:xfrm>
          <a:prstGeom prst="roundRect">
            <a:avLst>
              <a:gd name="adj" fmla="val 13333"/>
            </a:avLst>
          </a:prstGeom>
          <a:solidFill>
            <a:srgbClr val="FFFFFF"/>
          </a:solidFill>
          <a:ln w="12700">
            <a:solidFill>
              <a:srgbClr val="BFE3C8"/>
            </a:solidFill>
            <a:prstDash val="solid"/>
          </a:ln>
        </p:spPr>
      </p:sp>
      <p:sp>
        <p:nvSpPr>
          <p:cNvPr id="65" name="Text 63"/>
          <p:cNvSpPr txBox="1"/>
          <p:nvPr/>
        </p:nvSpPr>
        <p:spPr>
          <a:xfrm>
            <a:off x="6332220" y="4133088"/>
            <a:ext cx="2308860" cy="274320"/>
          </a:xfrm>
          <a:prstGeom prst="rect">
            <a:avLst/>
          </a:prstGeom>
          <a:noFill/>
          <a:ln/>
        </p:spPr>
        <p:txBody>
          <a:bodyPr wrap="square" lIns="508" tIns="508" rIns="508" bIns="508" rtlCol="0" anchor="ctr"/>
          <a:lstStyle/>
          <a:p>
            <a:pPr algn="l" indent="0" marL="0">
              <a:lnSpc>
                <a:spcPct val="100000"/>
              </a:lnSpc>
              <a:buNone/>
            </a:pPr>
            <a:r>
              <a:rPr lang="en-US" sz="850" b="1" dirty="0">
                <a:solidFill>
                  <a:srgbClr val="146C2E"/>
                </a:solidFill>
                <a:latin typeface="Calibri" pitchFamily="34" charset="0"/>
                <a:ea typeface="Calibri" pitchFamily="34" charset="-122"/>
                <a:cs typeface="Calibri" pitchFamily="34" charset="-120"/>
              </a:rPr>
              <a:t>Authentication  </a:t>
            </a:r>
            <a:pPr algn="l" indent="0" marL="0">
              <a:lnSpc>
                <a:spcPct val="100000"/>
              </a:lnSpc>
              <a:buNone/>
            </a:pPr>
            <a:r>
              <a:rPr lang="en-US" sz="850" dirty="0">
                <a:solidFill>
                  <a:srgbClr val="5F6368"/>
                </a:solidFill>
                <a:latin typeface="Calibri" pitchFamily="34" charset="0"/>
                <a:ea typeface="Calibri" pitchFamily="34" charset="-122"/>
                <a:cs typeface="Calibri" pitchFamily="34" charset="-120"/>
              </a:rPr>
              <a:t>custom – no OAuth 2.0 support in ADK/A2A, so token handling is ours</a:t>
            </a:r>
            <a:endParaRPr lang="en-US" sz="850" dirty="0"/>
          </a:p>
        </p:txBody>
      </p:sp>
      <p:sp>
        <p:nvSpPr>
          <p:cNvPr id="66" name="Shape 64"/>
          <p:cNvSpPr/>
          <p:nvPr/>
        </p:nvSpPr>
        <p:spPr>
          <a:xfrm>
            <a:off x="6259068" y="4453128"/>
            <a:ext cx="2455164" cy="274320"/>
          </a:xfrm>
          <a:prstGeom prst="roundRect">
            <a:avLst>
              <a:gd name="adj" fmla="val 13333"/>
            </a:avLst>
          </a:prstGeom>
          <a:solidFill>
            <a:srgbClr val="FFFFFF"/>
          </a:solidFill>
          <a:ln w="12700">
            <a:solidFill>
              <a:srgbClr val="BFE3C8"/>
            </a:solidFill>
            <a:prstDash val="solid"/>
          </a:ln>
        </p:spPr>
      </p:sp>
      <p:sp>
        <p:nvSpPr>
          <p:cNvPr id="67" name="Text 65"/>
          <p:cNvSpPr txBox="1"/>
          <p:nvPr/>
        </p:nvSpPr>
        <p:spPr>
          <a:xfrm>
            <a:off x="6332220" y="4453128"/>
            <a:ext cx="2308860" cy="274320"/>
          </a:xfrm>
          <a:prstGeom prst="rect">
            <a:avLst/>
          </a:prstGeom>
          <a:noFill/>
          <a:ln/>
        </p:spPr>
        <p:txBody>
          <a:bodyPr wrap="square" lIns="508" tIns="508" rIns="508" bIns="508" rtlCol="0" anchor="ctr"/>
          <a:lstStyle/>
          <a:p>
            <a:pPr algn="l" indent="0" marL="0">
              <a:lnSpc>
                <a:spcPct val="100000"/>
              </a:lnSpc>
              <a:buNone/>
            </a:pPr>
            <a:r>
              <a:rPr lang="en-US" sz="850" b="1" dirty="0">
                <a:solidFill>
                  <a:srgbClr val="146C2E"/>
                </a:solidFill>
                <a:latin typeface="Calibri" pitchFamily="34" charset="0"/>
                <a:ea typeface="Calibri" pitchFamily="34" charset="-122"/>
                <a:cs typeface="Calibri" pitchFamily="34" charset="-120"/>
              </a:rPr>
              <a:t>Supervisor ↔ sub-agent resiliency  </a:t>
            </a:r>
            <a:pPr algn="l" indent="0" marL="0">
              <a:lnSpc>
                <a:spcPct val="100000"/>
              </a:lnSpc>
              <a:buNone/>
            </a:pPr>
            <a:r>
              <a:rPr lang="en-US" sz="850" dirty="0">
                <a:solidFill>
                  <a:srgbClr val="5F6368"/>
                </a:solidFill>
                <a:latin typeface="Calibri" pitchFamily="34" charset="0"/>
                <a:ea typeface="Calibri" pitchFamily="34" charset="-122"/>
                <a:cs typeface="Calibri" pitchFamily="34" charset="-120"/>
              </a:rPr>
              <a:t>retries, timeouts, fallback routing on LlmAgent / sub_agents</a:t>
            </a:r>
            <a:endParaRPr lang="en-US" sz="850" dirty="0"/>
          </a:p>
        </p:txBody>
      </p:sp>
      <p:sp>
        <p:nvSpPr>
          <p:cNvPr id="68" name="Shape 66"/>
          <p:cNvSpPr/>
          <p:nvPr/>
        </p:nvSpPr>
        <p:spPr>
          <a:xfrm>
            <a:off x="6259068" y="4773168"/>
            <a:ext cx="2455164" cy="274320"/>
          </a:xfrm>
          <a:prstGeom prst="roundRect">
            <a:avLst>
              <a:gd name="adj" fmla="val 13333"/>
            </a:avLst>
          </a:prstGeom>
          <a:solidFill>
            <a:srgbClr val="FFFFFF"/>
          </a:solidFill>
          <a:ln w="12700">
            <a:solidFill>
              <a:srgbClr val="BFE3C8"/>
            </a:solidFill>
            <a:prstDash val="solid"/>
          </a:ln>
        </p:spPr>
      </p:sp>
      <p:sp>
        <p:nvSpPr>
          <p:cNvPr id="69" name="Text 67"/>
          <p:cNvSpPr txBox="1"/>
          <p:nvPr/>
        </p:nvSpPr>
        <p:spPr>
          <a:xfrm>
            <a:off x="6332220" y="4773168"/>
            <a:ext cx="2308860" cy="274320"/>
          </a:xfrm>
          <a:prstGeom prst="rect">
            <a:avLst/>
          </a:prstGeom>
          <a:noFill/>
          <a:ln/>
        </p:spPr>
        <p:txBody>
          <a:bodyPr wrap="square" lIns="508" tIns="508" rIns="508" bIns="508" rtlCol="0" anchor="ctr"/>
          <a:lstStyle/>
          <a:p>
            <a:pPr algn="l" indent="0" marL="0">
              <a:lnSpc>
                <a:spcPct val="100000"/>
              </a:lnSpc>
              <a:buNone/>
            </a:pPr>
            <a:r>
              <a:rPr lang="en-US" sz="850" b="1" dirty="0">
                <a:solidFill>
                  <a:srgbClr val="146C2E"/>
                </a:solidFill>
                <a:latin typeface="Calibri" pitchFamily="34" charset="0"/>
                <a:ea typeface="Calibri" pitchFamily="34" charset="-122"/>
                <a:cs typeface="Calibri" pitchFamily="34" charset="-120"/>
              </a:rPr>
              <a:t>Intent routing &amp; hand-off  </a:t>
            </a:r>
            <a:pPr algn="l" indent="0" marL="0">
              <a:lnSpc>
                <a:spcPct val="100000"/>
              </a:lnSpc>
              <a:buNone/>
            </a:pPr>
            <a:r>
              <a:rPr lang="en-US" sz="850" dirty="0">
                <a:solidFill>
                  <a:srgbClr val="5F6368"/>
                </a:solidFill>
                <a:latin typeface="Calibri" pitchFamily="34" charset="0"/>
                <a:ea typeface="Calibri" pitchFamily="34" charset="-122"/>
                <a:cs typeface="Calibri" pitchFamily="34" charset="-120"/>
              </a:rPr>
              <a:t>supervisor classifies, transfers to specialized agents</a:t>
            </a:r>
            <a:endParaRPr lang="en-US" sz="850" dirty="0"/>
          </a:p>
        </p:txBody>
      </p:sp>
      <p:sp>
        <p:nvSpPr>
          <p:cNvPr id="70" name="Shape 68"/>
          <p:cNvSpPr/>
          <p:nvPr/>
        </p:nvSpPr>
        <p:spPr>
          <a:xfrm>
            <a:off x="6259068" y="5093208"/>
            <a:ext cx="2455164" cy="274320"/>
          </a:xfrm>
          <a:prstGeom prst="roundRect">
            <a:avLst>
              <a:gd name="adj" fmla="val 13333"/>
            </a:avLst>
          </a:prstGeom>
          <a:solidFill>
            <a:srgbClr val="FFFFFF"/>
          </a:solidFill>
          <a:ln w="12700">
            <a:solidFill>
              <a:srgbClr val="BFE3C8"/>
            </a:solidFill>
            <a:prstDash val="solid"/>
          </a:ln>
        </p:spPr>
      </p:sp>
      <p:sp>
        <p:nvSpPr>
          <p:cNvPr id="71" name="Text 69"/>
          <p:cNvSpPr txBox="1"/>
          <p:nvPr/>
        </p:nvSpPr>
        <p:spPr>
          <a:xfrm>
            <a:off x="6332220" y="5093208"/>
            <a:ext cx="2308860" cy="274320"/>
          </a:xfrm>
          <a:prstGeom prst="rect">
            <a:avLst/>
          </a:prstGeom>
          <a:noFill/>
          <a:ln/>
        </p:spPr>
        <p:txBody>
          <a:bodyPr wrap="square" lIns="508" tIns="508" rIns="508" bIns="508" rtlCol="0" anchor="ctr"/>
          <a:lstStyle/>
          <a:p>
            <a:pPr algn="l" indent="0" marL="0">
              <a:lnSpc>
                <a:spcPct val="100000"/>
              </a:lnSpc>
              <a:buNone/>
            </a:pPr>
            <a:r>
              <a:rPr lang="en-US" sz="850" b="1" dirty="0">
                <a:solidFill>
                  <a:srgbClr val="146C2E"/>
                </a:solidFill>
                <a:latin typeface="Calibri" pitchFamily="34" charset="0"/>
                <a:ea typeface="Calibri" pitchFamily="34" charset="-122"/>
                <a:cs typeface="Calibri" pitchFamily="34" charset="-120"/>
              </a:rPr>
              <a:t>Structured responses  </a:t>
            </a:r>
            <a:pPr algn="l" indent="0" marL="0">
              <a:lnSpc>
                <a:spcPct val="100000"/>
              </a:lnSpc>
              <a:buNone/>
            </a:pPr>
            <a:r>
              <a:rPr lang="en-US" sz="850" dirty="0">
                <a:solidFill>
                  <a:srgbClr val="5F6368"/>
                </a:solidFill>
                <a:latin typeface="Calibri" pitchFamily="34" charset="0"/>
                <a:ea typeface="Calibri" pitchFamily="34" charset="-122"/>
                <a:cs typeface="Calibri" pitchFamily="34" charset="-120"/>
              </a:rPr>
              <a:t>output_schema via SetModelResponseTool workaround</a:t>
            </a:r>
            <a:endParaRPr lang="en-US" sz="850" dirty="0"/>
          </a:p>
        </p:txBody>
      </p:sp>
      <p:sp>
        <p:nvSpPr>
          <p:cNvPr id="72" name="Shape 70"/>
          <p:cNvSpPr/>
          <p:nvPr/>
        </p:nvSpPr>
        <p:spPr>
          <a:xfrm>
            <a:off x="6259068" y="5413248"/>
            <a:ext cx="2455164" cy="274320"/>
          </a:xfrm>
          <a:prstGeom prst="roundRect">
            <a:avLst>
              <a:gd name="adj" fmla="val 13333"/>
            </a:avLst>
          </a:prstGeom>
          <a:solidFill>
            <a:srgbClr val="FFFFFF"/>
          </a:solidFill>
          <a:ln w="12700">
            <a:solidFill>
              <a:srgbClr val="BFE3C8"/>
            </a:solidFill>
            <a:prstDash val="solid"/>
          </a:ln>
        </p:spPr>
      </p:sp>
      <p:sp>
        <p:nvSpPr>
          <p:cNvPr id="73" name="Text 71"/>
          <p:cNvSpPr txBox="1"/>
          <p:nvPr/>
        </p:nvSpPr>
        <p:spPr>
          <a:xfrm>
            <a:off x="6332220" y="5413248"/>
            <a:ext cx="2308860" cy="274320"/>
          </a:xfrm>
          <a:prstGeom prst="rect">
            <a:avLst/>
          </a:prstGeom>
          <a:noFill/>
          <a:ln/>
        </p:spPr>
        <p:txBody>
          <a:bodyPr wrap="square" lIns="508" tIns="508" rIns="508" bIns="508" rtlCol="0" anchor="ctr"/>
          <a:lstStyle/>
          <a:p>
            <a:pPr algn="l" indent="0" marL="0">
              <a:lnSpc>
                <a:spcPct val="100000"/>
              </a:lnSpc>
              <a:buNone/>
            </a:pPr>
            <a:r>
              <a:rPr lang="en-US" sz="850" b="1" dirty="0">
                <a:solidFill>
                  <a:srgbClr val="146C2E"/>
                </a:solidFill>
                <a:latin typeface="Calibri" pitchFamily="34" charset="0"/>
                <a:ea typeface="Calibri" pitchFamily="34" charset="-122"/>
                <a:cs typeface="Calibri" pitchFamily="34" charset="-120"/>
              </a:rPr>
              <a:t>Tool execution  </a:t>
            </a:r>
            <a:pPr algn="l" indent="0" marL="0">
              <a:lnSpc>
                <a:spcPct val="100000"/>
              </a:lnSpc>
              <a:buNone/>
            </a:pPr>
            <a:r>
              <a:rPr lang="en-US" sz="850" dirty="0">
                <a:solidFill>
                  <a:srgbClr val="5F6368"/>
                </a:solidFill>
                <a:latin typeface="Calibri" pitchFamily="34" charset="0"/>
                <a:ea typeface="Calibri" pitchFamily="34" charset="-122"/>
                <a:cs typeface="Calibri" pitchFamily="34" charset="-120"/>
              </a:rPr>
              <a:t>MCPToolset against Tachyon-registered MCP servers</a:t>
            </a:r>
            <a:endParaRPr lang="en-US" sz="850" dirty="0"/>
          </a:p>
        </p:txBody>
      </p:sp>
      <p:sp>
        <p:nvSpPr>
          <p:cNvPr id="74" name="Shape 72"/>
          <p:cNvSpPr/>
          <p:nvPr/>
        </p:nvSpPr>
        <p:spPr>
          <a:xfrm>
            <a:off x="6012180" y="4594860"/>
            <a:ext cx="137160" cy="914"/>
          </a:xfrm>
          <a:prstGeom prst="line">
            <a:avLst/>
          </a:prstGeom>
          <a:noFill/>
          <a:ln w="19050">
            <a:solidFill>
              <a:srgbClr val="1E8E3E"/>
            </a:solidFill>
            <a:prstDash val="solid"/>
            <a:tailEnd type="triangle"/>
          </a:ln>
        </p:spPr>
      </p:sp>
      <p:sp>
        <p:nvSpPr>
          <p:cNvPr id="75" name="Shape 73"/>
          <p:cNvSpPr/>
          <p:nvPr/>
        </p:nvSpPr>
        <p:spPr>
          <a:xfrm>
            <a:off x="548640" y="6428232"/>
            <a:ext cx="164592" cy="164592"/>
          </a:xfrm>
          <a:prstGeom prst="roundRect">
            <a:avLst>
              <a:gd name="adj" fmla="val 16667"/>
            </a:avLst>
          </a:prstGeom>
          <a:solidFill>
            <a:srgbClr val="1A73E8"/>
          </a:solidFill>
          <a:ln w="12700">
            <a:solidFill>
              <a:srgbClr val="1A73E8"/>
            </a:solidFill>
            <a:prstDash val="solid"/>
          </a:ln>
        </p:spPr>
      </p:sp>
      <p:sp>
        <p:nvSpPr>
          <p:cNvPr id="76" name="Text 74"/>
          <p:cNvSpPr txBox="1"/>
          <p:nvPr/>
        </p:nvSpPr>
        <p:spPr>
          <a:xfrm>
            <a:off x="768096" y="6355080"/>
            <a:ext cx="1645920" cy="310896"/>
          </a:xfrm>
          <a:prstGeom prst="rect">
            <a:avLst/>
          </a:prstGeom>
          <a:noFill/>
          <a:ln/>
        </p:spPr>
        <p:txBody>
          <a:bodyPr wrap="square" lIns="508" tIns="508" rIns="508" bIns="508" rtlCol="0" anchor="ctr"/>
          <a:lstStyle/>
          <a:p>
            <a:pPr algn="l" indent="0" marL="0">
              <a:lnSpc>
                <a:spcPct val="105000"/>
              </a:lnSpc>
              <a:buNone/>
            </a:pPr>
            <a:r>
              <a:rPr lang="en-US" sz="950" dirty="0">
                <a:solidFill>
                  <a:srgbClr val="5F6368"/>
                </a:solidFill>
                <a:latin typeface="Calibri" pitchFamily="34" charset="0"/>
                <a:ea typeface="Calibri" pitchFamily="34" charset="-122"/>
                <a:cs typeface="Calibri" pitchFamily="34" charset="-120"/>
              </a:rPr>
              <a:t>TSDK wrappers over ADK</a:t>
            </a:r>
            <a:endParaRPr lang="en-US" sz="950" dirty="0"/>
          </a:p>
        </p:txBody>
      </p:sp>
      <p:sp>
        <p:nvSpPr>
          <p:cNvPr id="77" name="Shape 75"/>
          <p:cNvSpPr/>
          <p:nvPr/>
        </p:nvSpPr>
        <p:spPr>
          <a:xfrm>
            <a:off x="2331720" y="6428232"/>
            <a:ext cx="164592" cy="164592"/>
          </a:xfrm>
          <a:prstGeom prst="roundRect">
            <a:avLst>
              <a:gd name="adj" fmla="val 16667"/>
            </a:avLst>
          </a:prstGeom>
          <a:solidFill>
            <a:srgbClr val="1E8E3E"/>
          </a:solidFill>
          <a:ln w="12700">
            <a:solidFill>
              <a:srgbClr val="1E8E3E"/>
            </a:solidFill>
            <a:prstDash val="solid"/>
          </a:ln>
        </p:spPr>
      </p:sp>
      <p:sp>
        <p:nvSpPr>
          <p:cNvPr id="78" name="Text 76"/>
          <p:cNvSpPr txBox="1"/>
          <p:nvPr/>
        </p:nvSpPr>
        <p:spPr>
          <a:xfrm>
            <a:off x="2551176" y="6355080"/>
            <a:ext cx="1645920" cy="310896"/>
          </a:xfrm>
          <a:prstGeom prst="rect">
            <a:avLst/>
          </a:prstGeom>
          <a:noFill/>
          <a:ln/>
        </p:spPr>
        <p:txBody>
          <a:bodyPr wrap="square" lIns="508" tIns="508" rIns="508" bIns="508" rtlCol="0" anchor="ctr"/>
          <a:lstStyle/>
          <a:p>
            <a:pPr algn="l" indent="0" marL="0">
              <a:lnSpc>
                <a:spcPct val="105000"/>
              </a:lnSpc>
              <a:buNone/>
            </a:pPr>
            <a:r>
              <a:rPr lang="en-US" sz="950" dirty="0">
                <a:solidFill>
                  <a:srgbClr val="5F6368"/>
                </a:solidFill>
                <a:latin typeface="Calibri" pitchFamily="34" charset="0"/>
                <a:ea typeface="Calibri" pitchFamily="34" charset="-122"/>
                <a:cs typeface="Calibri" pitchFamily="34" charset="-120"/>
              </a:rPr>
              <a:t>Fargo core</a:t>
            </a:r>
            <a:endParaRPr lang="en-US" sz="950" dirty="0"/>
          </a:p>
        </p:txBody>
      </p:sp>
      <p:sp>
        <p:nvSpPr>
          <p:cNvPr id="79" name="Shape 77"/>
          <p:cNvSpPr/>
          <p:nvPr/>
        </p:nvSpPr>
        <p:spPr>
          <a:xfrm>
            <a:off x="4114800" y="6428232"/>
            <a:ext cx="164592" cy="164592"/>
          </a:xfrm>
          <a:prstGeom prst="roundRect">
            <a:avLst>
              <a:gd name="adj" fmla="val 16667"/>
            </a:avLst>
          </a:prstGeom>
          <a:solidFill>
            <a:srgbClr val="6B4C9A"/>
          </a:solidFill>
          <a:ln w="12700">
            <a:solidFill>
              <a:srgbClr val="6B4C9A"/>
            </a:solidFill>
            <a:prstDash val="solid"/>
          </a:ln>
        </p:spPr>
      </p:sp>
      <p:sp>
        <p:nvSpPr>
          <p:cNvPr id="80" name="Text 78"/>
          <p:cNvSpPr txBox="1"/>
          <p:nvPr/>
        </p:nvSpPr>
        <p:spPr>
          <a:xfrm>
            <a:off x="4334256" y="6355080"/>
            <a:ext cx="1645920" cy="310896"/>
          </a:xfrm>
          <a:prstGeom prst="rect">
            <a:avLst/>
          </a:prstGeom>
          <a:noFill/>
          <a:ln/>
        </p:spPr>
        <p:txBody>
          <a:bodyPr wrap="square" lIns="508" tIns="508" rIns="508" bIns="508" rtlCol="0" anchor="ctr"/>
          <a:lstStyle/>
          <a:p>
            <a:pPr algn="l" indent="0" marL="0">
              <a:lnSpc>
                <a:spcPct val="105000"/>
              </a:lnSpc>
              <a:buNone/>
            </a:pPr>
            <a:r>
              <a:rPr lang="en-US" sz="950" dirty="0">
                <a:solidFill>
                  <a:srgbClr val="5F6368"/>
                </a:solidFill>
                <a:latin typeface="Calibri" pitchFamily="34" charset="0"/>
                <a:ea typeface="Calibri" pitchFamily="34" charset="-122"/>
                <a:cs typeface="Calibri" pitchFamily="34" charset="-120"/>
              </a:rPr>
              <a:t>TSDK library</a:t>
            </a:r>
            <a:endParaRPr lang="en-US" sz="950" dirty="0"/>
          </a:p>
        </p:txBody>
      </p:sp>
      <p:sp>
        <p:nvSpPr>
          <p:cNvPr id="81" name="Shape 79"/>
          <p:cNvSpPr/>
          <p:nvPr/>
        </p:nvSpPr>
        <p:spPr>
          <a:xfrm>
            <a:off x="5897880" y="6428232"/>
            <a:ext cx="164592" cy="164592"/>
          </a:xfrm>
          <a:prstGeom prst="roundRect">
            <a:avLst>
              <a:gd name="adj" fmla="val 16667"/>
            </a:avLst>
          </a:prstGeom>
          <a:solidFill>
            <a:srgbClr val="C2410C"/>
          </a:solidFill>
          <a:ln w="12700">
            <a:solidFill>
              <a:srgbClr val="C2410C"/>
            </a:solidFill>
            <a:prstDash val="solid"/>
          </a:ln>
        </p:spPr>
      </p:sp>
      <p:sp>
        <p:nvSpPr>
          <p:cNvPr id="82" name="Text 80"/>
          <p:cNvSpPr txBox="1"/>
          <p:nvPr/>
        </p:nvSpPr>
        <p:spPr>
          <a:xfrm>
            <a:off x="6117336" y="6355080"/>
            <a:ext cx="1645920" cy="310896"/>
          </a:xfrm>
          <a:prstGeom prst="rect">
            <a:avLst/>
          </a:prstGeom>
          <a:noFill/>
          <a:ln/>
        </p:spPr>
        <p:txBody>
          <a:bodyPr wrap="square" lIns="508" tIns="508" rIns="508" bIns="508" rtlCol="0" anchor="ctr"/>
          <a:lstStyle/>
          <a:p>
            <a:pPr algn="l" indent="0" marL="0">
              <a:lnSpc>
                <a:spcPct val="105000"/>
              </a:lnSpc>
              <a:buNone/>
            </a:pPr>
            <a:r>
              <a:rPr lang="en-US" sz="950" dirty="0">
                <a:solidFill>
                  <a:srgbClr val="5F6368"/>
                </a:solidFill>
                <a:latin typeface="Calibri" pitchFamily="34" charset="0"/>
                <a:ea typeface="Calibri" pitchFamily="34" charset="-122"/>
                <a:cs typeface="Calibri" pitchFamily="34" charset="-120"/>
              </a:rPr>
              <a:t>Tachyon platform</a:t>
            </a:r>
            <a:endParaRPr lang="en-US" sz="950" dirty="0"/>
          </a:p>
        </p:txBody>
      </p:sp>
      <p:sp>
        <p:nvSpPr>
          <p:cNvPr id="83" name="Text 81"/>
          <p:cNvSpPr txBox="1"/>
          <p:nvPr/>
        </p:nvSpPr>
        <p:spPr>
          <a:xfrm>
            <a:off x="7863840" y="6355080"/>
            <a:ext cx="3749040" cy="310896"/>
          </a:xfrm>
          <a:prstGeom prst="rect">
            <a:avLst/>
          </a:prstGeom>
          <a:noFill/>
          <a:ln/>
        </p:spPr>
        <p:txBody>
          <a:bodyPr wrap="square" lIns="508" tIns="508" rIns="508" bIns="508" rtlCol="0" anchor="ctr"/>
          <a:lstStyle/>
          <a:p>
            <a:pPr algn="r" indent="0" marL="0">
              <a:lnSpc>
                <a:spcPct val="105000"/>
              </a:lnSpc>
              <a:buNone/>
            </a:pPr>
            <a:r>
              <a:rPr lang="en-US" sz="900" dirty="0">
                <a:solidFill>
                  <a:srgbClr val="9AA0A6"/>
                </a:solidFill>
                <a:latin typeface="Calibri" pitchFamily="34" charset="0"/>
                <a:ea typeface="Calibri" pitchFamily="34" charset="-122"/>
                <a:cs typeface="Calibri" pitchFamily="34" charset="-120"/>
              </a:rPr>
              <a:t>Fargo platform – internal</a:t>
            </a:r>
            <a:endParaRPr lang="en-US" sz="900" dirty="0"/>
          </a:p>
        </p:txBody>
      </p:sp>
      <p:sp>
        <p:nvSpPr>
          <p:cNvPr id="84" name="Text 82"/>
          <p:cNvSpPr txBox="1"/>
          <p:nvPr/>
        </p:nvSpPr>
        <p:spPr>
          <a:xfrm>
            <a:off x="11658600" y="6355080"/>
            <a:ext cx="365760" cy="310896"/>
          </a:xfrm>
          <a:prstGeom prst="rect">
            <a:avLst/>
          </a:prstGeom>
          <a:noFill/>
          <a:ln/>
        </p:spPr>
        <p:txBody>
          <a:bodyPr wrap="square" lIns="508" tIns="508" rIns="508" bIns="508" rtlCol="0" anchor="ctr"/>
          <a:lstStyle/>
          <a:p>
            <a:pPr algn="r" indent="0" marL="0">
              <a:lnSpc>
                <a:spcPct val="105000"/>
              </a:lnSpc>
              <a:buNone/>
            </a:pPr>
            <a:r>
              <a:rPr lang="en-US" sz="900" dirty="0">
                <a:solidFill>
                  <a:srgbClr val="9AA0A6"/>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457200"/>
            <a:ext cx="11064240" cy="548640"/>
          </a:xfrm>
          <a:prstGeom prst="rect">
            <a:avLst/>
          </a:prstGeom>
          <a:noFill/>
          <a:ln/>
        </p:spPr>
        <p:txBody>
          <a:bodyPr wrap="square" lIns="508" tIns="508" rIns="508" bIns="508" rtlCol="0" anchor="t"/>
          <a:lstStyle/>
          <a:p>
            <a:pPr algn="l" indent="0" marL="0">
              <a:lnSpc>
                <a:spcPct val="105000"/>
              </a:lnSpc>
              <a:buNone/>
            </a:pPr>
            <a:r>
              <a:rPr lang="en-US" sz="2600" b="1" dirty="0">
                <a:solidFill>
                  <a:srgbClr val="1B1F3B"/>
                </a:solidFill>
                <a:latin typeface="Calibri" pitchFamily="34" charset="0"/>
                <a:ea typeface="Calibri" pitchFamily="34" charset="-122"/>
                <a:cs typeface="Calibri" pitchFamily="34" charset="-120"/>
              </a:rPr>
              <a:t>E2E agent flow – which layer each component comes from</a:t>
            </a:r>
            <a:endParaRPr lang="en-US" sz="2600" dirty="0"/>
          </a:p>
        </p:txBody>
      </p:sp>
      <p:sp>
        <p:nvSpPr>
          <p:cNvPr id="3" name="Text 1"/>
          <p:cNvSpPr txBox="1"/>
          <p:nvPr/>
        </p:nvSpPr>
        <p:spPr>
          <a:xfrm>
            <a:off x="548640" y="1051560"/>
            <a:ext cx="11064240" cy="457200"/>
          </a:xfrm>
          <a:prstGeom prst="rect">
            <a:avLst/>
          </a:prstGeom>
          <a:noFill/>
          <a:ln/>
        </p:spPr>
        <p:txBody>
          <a:bodyPr wrap="square" lIns="508" tIns="508" rIns="508" bIns="508" rtlCol="0" anchor="t"/>
          <a:lstStyle/>
          <a:p>
            <a:pPr algn="l" indent="0" marL="0">
              <a:lnSpc>
                <a:spcPct val="105000"/>
              </a:lnSpc>
              <a:buNone/>
            </a:pPr>
            <a:r>
              <a:rPr lang="en-US" sz="1300" dirty="0">
                <a:solidFill>
                  <a:srgbClr val="5F6368"/>
                </a:solidFill>
                <a:latin typeface="Calibri" pitchFamily="34" charset="0"/>
                <a:ea typeface="Calibri" pitchFamily="34" charset="-122"/>
                <a:cs typeface="Calibri" pitchFamily="34" charset="-120"/>
              </a:rPr>
              <a:t>Same block diagram as the FMEA deck, colored by the layers on the previous slide. Lettered badges mark where each Fargo core feature applies.</a:t>
            </a:r>
            <a:endParaRPr lang="en-US" sz="1300" dirty="0"/>
          </a:p>
        </p:txBody>
      </p:sp>
      <p:sp>
        <p:nvSpPr>
          <p:cNvPr id="4" name="Shape 2"/>
          <p:cNvSpPr/>
          <p:nvPr/>
        </p:nvSpPr>
        <p:spPr>
          <a:xfrm>
            <a:off x="548640" y="2011680"/>
            <a:ext cx="3429000" cy="3794760"/>
          </a:xfrm>
          <a:prstGeom prst="roundRect">
            <a:avLst>
              <a:gd name="adj" fmla="val 2667"/>
            </a:avLst>
          </a:prstGeom>
          <a:solidFill>
            <a:srgbClr val="F1F3F4"/>
          </a:solidFill>
          <a:ln w="12700">
            <a:solidFill>
              <a:srgbClr val="F1F3F4"/>
            </a:solidFill>
            <a:prstDash val="solid"/>
          </a:ln>
        </p:spPr>
      </p:sp>
      <p:sp>
        <p:nvSpPr>
          <p:cNvPr id="5" name="Text 3"/>
          <p:cNvSpPr txBox="1"/>
          <p:nvPr/>
        </p:nvSpPr>
        <p:spPr>
          <a:xfrm>
            <a:off x="658368" y="2066544"/>
            <a:ext cx="3246120" cy="274320"/>
          </a:xfrm>
          <a:prstGeom prst="rect">
            <a:avLst/>
          </a:prstGeom>
          <a:noFill/>
          <a:ln/>
        </p:spPr>
        <p:txBody>
          <a:bodyPr wrap="square" lIns="508" tIns="508" rIns="508" bIns="508" rtlCol="0" anchor="t"/>
          <a:lstStyle/>
          <a:p>
            <a:pPr algn="l" indent="0" marL="0">
              <a:lnSpc>
                <a:spcPct val="105000"/>
              </a:lnSpc>
              <a:buNone/>
            </a:pPr>
            <a:r>
              <a:rPr lang="en-US" sz="1000" b="1" dirty="0">
                <a:solidFill>
                  <a:srgbClr val="5F6368"/>
                </a:solidFill>
                <a:latin typeface="Calibri" pitchFamily="34" charset="0"/>
                <a:ea typeface="Calibri" pitchFamily="34" charset="-122"/>
                <a:cs typeface="Calibri" pitchFamily="34" charset="-120"/>
              </a:rPr>
              <a:t>Entry Layer  (WF developed)</a:t>
            </a:r>
            <a:endParaRPr lang="en-US" sz="1000" dirty="0"/>
          </a:p>
        </p:txBody>
      </p:sp>
      <p:sp>
        <p:nvSpPr>
          <p:cNvPr id="6" name="Shape 4"/>
          <p:cNvSpPr/>
          <p:nvPr/>
        </p:nvSpPr>
        <p:spPr>
          <a:xfrm>
            <a:off x="4160520" y="2011680"/>
            <a:ext cx="2926080" cy="3794760"/>
          </a:xfrm>
          <a:prstGeom prst="roundRect">
            <a:avLst>
              <a:gd name="adj" fmla="val 3125"/>
            </a:avLst>
          </a:prstGeom>
          <a:solidFill>
            <a:srgbClr val="E6F4EA"/>
          </a:solidFill>
          <a:ln w="12700">
            <a:solidFill>
              <a:srgbClr val="E6F4EA"/>
            </a:solidFill>
            <a:prstDash val="solid"/>
          </a:ln>
        </p:spPr>
      </p:sp>
      <p:sp>
        <p:nvSpPr>
          <p:cNvPr id="7" name="Text 5"/>
          <p:cNvSpPr txBox="1"/>
          <p:nvPr/>
        </p:nvSpPr>
        <p:spPr>
          <a:xfrm>
            <a:off x="4270248" y="2066544"/>
            <a:ext cx="2743200" cy="274320"/>
          </a:xfrm>
          <a:prstGeom prst="rect">
            <a:avLst/>
          </a:prstGeom>
          <a:noFill/>
          <a:ln/>
        </p:spPr>
        <p:txBody>
          <a:bodyPr wrap="square" lIns="508" tIns="508" rIns="508" bIns="508" rtlCol="0" anchor="t"/>
          <a:lstStyle/>
          <a:p>
            <a:pPr algn="l" indent="0" marL="0">
              <a:lnSpc>
                <a:spcPct val="105000"/>
              </a:lnSpc>
              <a:buNone/>
            </a:pPr>
            <a:r>
              <a:rPr lang="en-US" sz="1000" b="1" dirty="0">
                <a:solidFill>
                  <a:srgbClr val="1E8E3E"/>
                </a:solidFill>
                <a:latin typeface="Calibri" pitchFamily="34" charset="0"/>
                <a:ea typeface="Calibri" pitchFamily="34" charset="-122"/>
                <a:cs typeface="Calibri" pitchFamily="34" charset="-120"/>
              </a:rPr>
              <a:t>Agent Layer (Fargo core on TSDK wrappers)</a:t>
            </a:r>
            <a:endParaRPr lang="en-US" sz="1000" dirty="0"/>
          </a:p>
        </p:txBody>
      </p:sp>
      <p:sp>
        <p:nvSpPr>
          <p:cNvPr id="8" name="Shape 6"/>
          <p:cNvSpPr/>
          <p:nvPr/>
        </p:nvSpPr>
        <p:spPr>
          <a:xfrm>
            <a:off x="7269480" y="2011680"/>
            <a:ext cx="2148840" cy="3794760"/>
          </a:xfrm>
          <a:prstGeom prst="roundRect">
            <a:avLst>
              <a:gd name="adj" fmla="val 4255"/>
            </a:avLst>
          </a:prstGeom>
          <a:solidFill>
            <a:srgbClr val="FDEEE4"/>
          </a:solidFill>
          <a:ln w="12700">
            <a:solidFill>
              <a:srgbClr val="FDEEE4"/>
            </a:solidFill>
            <a:prstDash val="solid"/>
          </a:ln>
        </p:spPr>
      </p:sp>
      <p:sp>
        <p:nvSpPr>
          <p:cNvPr id="9" name="Text 7"/>
          <p:cNvSpPr txBox="1"/>
          <p:nvPr/>
        </p:nvSpPr>
        <p:spPr>
          <a:xfrm>
            <a:off x="7379208" y="2066544"/>
            <a:ext cx="1965960" cy="274320"/>
          </a:xfrm>
          <a:prstGeom prst="rect">
            <a:avLst/>
          </a:prstGeom>
          <a:noFill/>
          <a:ln/>
        </p:spPr>
        <p:txBody>
          <a:bodyPr wrap="square" lIns="508" tIns="508" rIns="508" bIns="508" rtlCol="0" anchor="t"/>
          <a:lstStyle/>
          <a:p>
            <a:pPr algn="l" indent="0" marL="0">
              <a:lnSpc>
                <a:spcPct val="105000"/>
              </a:lnSpc>
              <a:buNone/>
            </a:pPr>
            <a:r>
              <a:rPr lang="en-US" sz="1000" b="1" dirty="0">
                <a:solidFill>
                  <a:srgbClr val="C2410C"/>
                </a:solidFill>
                <a:latin typeface="Calibri" pitchFamily="34" charset="0"/>
                <a:ea typeface="Calibri" pitchFamily="34" charset="-122"/>
                <a:cs typeface="Calibri" pitchFamily="34" charset="-120"/>
              </a:rPr>
              <a:t>Tachyon Platform</a:t>
            </a:r>
            <a:endParaRPr lang="en-US" sz="1000" dirty="0"/>
          </a:p>
        </p:txBody>
      </p:sp>
      <p:sp>
        <p:nvSpPr>
          <p:cNvPr id="10" name="Shape 8"/>
          <p:cNvSpPr/>
          <p:nvPr/>
        </p:nvSpPr>
        <p:spPr>
          <a:xfrm>
            <a:off x="9601200" y="2011680"/>
            <a:ext cx="2011680" cy="3794760"/>
          </a:xfrm>
          <a:prstGeom prst="roundRect">
            <a:avLst>
              <a:gd name="adj" fmla="val 4545"/>
            </a:avLst>
          </a:prstGeom>
          <a:solidFill>
            <a:srgbClr val="EFE9F7"/>
          </a:solidFill>
          <a:ln w="12700">
            <a:solidFill>
              <a:srgbClr val="EFE9F7"/>
            </a:solidFill>
            <a:prstDash val="solid"/>
          </a:ln>
        </p:spPr>
      </p:sp>
      <p:sp>
        <p:nvSpPr>
          <p:cNvPr id="11" name="Text 9"/>
          <p:cNvSpPr txBox="1"/>
          <p:nvPr/>
        </p:nvSpPr>
        <p:spPr>
          <a:xfrm>
            <a:off x="9710928" y="2066544"/>
            <a:ext cx="1828800" cy="274320"/>
          </a:xfrm>
          <a:prstGeom prst="rect">
            <a:avLst/>
          </a:prstGeom>
          <a:noFill/>
          <a:ln/>
        </p:spPr>
        <p:txBody>
          <a:bodyPr wrap="square" lIns="508" tIns="508" rIns="508" bIns="508" rtlCol="0" anchor="t"/>
          <a:lstStyle/>
          <a:p>
            <a:pPr algn="l" indent="0" marL="0">
              <a:lnSpc>
                <a:spcPct val="105000"/>
              </a:lnSpc>
              <a:buNone/>
            </a:pPr>
            <a:r>
              <a:rPr lang="en-US" sz="1000" b="1" dirty="0">
                <a:solidFill>
                  <a:srgbClr val="6B4C9A"/>
                </a:solidFill>
                <a:latin typeface="Calibri" pitchFamily="34" charset="0"/>
                <a:ea typeface="Calibri" pitchFamily="34" charset="-122"/>
                <a:cs typeface="Calibri" pitchFamily="34" charset="-120"/>
              </a:rPr>
              <a:t>MCP Layer / Backend</a:t>
            </a:r>
            <a:endParaRPr lang="en-US" sz="1000" dirty="0"/>
          </a:p>
        </p:txBody>
      </p:sp>
      <p:sp>
        <p:nvSpPr>
          <p:cNvPr id="12" name="Shape 10"/>
          <p:cNvSpPr/>
          <p:nvPr/>
        </p:nvSpPr>
        <p:spPr>
          <a:xfrm>
            <a:off x="685800" y="2834640"/>
            <a:ext cx="914400" cy="868680"/>
          </a:xfrm>
          <a:prstGeom prst="roundRect">
            <a:avLst>
              <a:gd name="adj" fmla="val 7368"/>
            </a:avLst>
          </a:prstGeom>
          <a:solidFill>
            <a:srgbClr val="5F6368"/>
          </a:solidFill>
          <a:ln w="12700">
            <a:solidFill>
              <a:srgbClr val="5F6368"/>
            </a:solidFill>
            <a:prstDash val="solid"/>
          </a:ln>
          <a:effectLst>
            <a:outerShdw sx="100000" sy="100000" kx="0" ky="0" algn="bl" rotWithShape="0" blurRad="50800" dist="19050" dir="5400000">
              <a:srgbClr val="000000">
                <a:alpha val="12000"/>
              </a:srgbClr>
            </a:outerShdw>
          </a:effectLst>
        </p:spPr>
      </p:sp>
      <p:sp>
        <p:nvSpPr>
          <p:cNvPr id="13" name="Text 11"/>
          <p:cNvSpPr txBox="1"/>
          <p:nvPr/>
        </p:nvSpPr>
        <p:spPr>
          <a:xfrm>
            <a:off x="731520" y="2889504"/>
            <a:ext cx="822960" cy="502920"/>
          </a:xfrm>
          <a:prstGeom prst="rect">
            <a:avLst/>
          </a:prstGeom>
          <a:noFill/>
          <a:ln/>
        </p:spPr>
        <p:txBody>
          <a:bodyPr wrap="square" lIns="508" tIns="508" rIns="508" bIns="508"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Customer</a:t>
            </a:r>
            <a:endParaRPr lang="en-US" sz="1000" dirty="0"/>
          </a:p>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iOS | Android</a:t>
            </a:r>
            <a:endParaRPr lang="en-US" sz="1000" dirty="0"/>
          </a:p>
        </p:txBody>
      </p:sp>
      <p:sp>
        <p:nvSpPr>
          <p:cNvPr id="14" name="Shape 12"/>
          <p:cNvSpPr/>
          <p:nvPr/>
        </p:nvSpPr>
        <p:spPr>
          <a:xfrm>
            <a:off x="1783080" y="2834640"/>
            <a:ext cx="1005840" cy="868680"/>
          </a:xfrm>
          <a:prstGeom prst="roundRect">
            <a:avLst>
              <a:gd name="adj" fmla="val 7368"/>
            </a:avLst>
          </a:prstGeom>
          <a:solidFill>
            <a:srgbClr val="5F6368"/>
          </a:solidFill>
          <a:ln w="12700">
            <a:solidFill>
              <a:srgbClr val="5F6368"/>
            </a:solidFill>
            <a:prstDash val="solid"/>
          </a:ln>
          <a:effectLst>
            <a:outerShdw sx="100000" sy="100000" kx="0" ky="0" algn="bl" rotWithShape="0" blurRad="50800" dist="19050" dir="5400000">
              <a:srgbClr val="000000">
                <a:alpha val="12000"/>
              </a:srgbClr>
            </a:outerShdw>
          </a:effectLst>
        </p:spPr>
      </p:sp>
      <p:sp>
        <p:nvSpPr>
          <p:cNvPr id="15" name="Text 13"/>
          <p:cNvSpPr txBox="1"/>
          <p:nvPr/>
        </p:nvSpPr>
        <p:spPr>
          <a:xfrm>
            <a:off x="1828800" y="2889504"/>
            <a:ext cx="914400" cy="502920"/>
          </a:xfrm>
          <a:prstGeom prst="rect">
            <a:avLst/>
          </a:prstGeom>
          <a:noFill/>
          <a:ln/>
        </p:spPr>
        <p:txBody>
          <a:bodyPr wrap="square" lIns="508" tIns="508" rIns="508" bIns="508"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Chat API</a:t>
            </a:r>
            <a:endParaRPr lang="en-US" sz="1000" dirty="0"/>
          </a:p>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(PAA)</a:t>
            </a:r>
            <a:endParaRPr lang="en-US" sz="1000" dirty="0"/>
          </a:p>
        </p:txBody>
      </p:sp>
      <p:sp>
        <p:nvSpPr>
          <p:cNvPr id="16" name="Shape 14"/>
          <p:cNvSpPr/>
          <p:nvPr/>
        </p:nvSpPr>
        <p:spPr>
          <a:xfrm>
            <a:off x="2880360" y="2834640"/>
            <a:ext cx="1005840" cy="868680"/>
          </a:xfrm>
          <a:prstGeom prst="roundRect">
            <a:avLst>
              <a:gd name="adj" fmla="val 7368"/>
            </a:avLst>
          </a:prstGeom>
          <a:solidFill>
            <a:srgbClr val="5F6368"/>
          </a:solidFill>
          <a:ln w="12700">
            <a:solidFill>
              <a:srgbClr val="5F6368"/>
            </a:solidFill>
            <a:prstDash val="solid"/>
          </a:ln>
          <a:effectLst>
            <a:outerShdw sx="100000" sy="100000" kx="0" ky="0" algn="bl" rotWithShape="0" blurRad="50800" dist="19050" dir="5400000">
              <a:srgbClr val="000000">
                <a:alpha val="12000"/>
              </a:srgbClr>
            </a:outerShdw>
          </a:effectLst>
        </p:spPr>
      </p:sp>
      <p:sp>
        <p:nvSpPr>
          <p:cNvPr id="17" name="Text 15"/>
          <p:cNvSpPr txBox="1"/>
          <p:nvPr/>
        </p:nvSpPr>
        <p:spPr>
          <a:xfrm>
            <a:off x="2926080" y="2889504"/>
            <a:ext cx="914400" cy="502920"/>
          </a:xfrm>
          <a:prstGeom prst="rect">
            <a:avLst/>
          </a:prstGeom>
          <a:noFill/>
          <a:ln/>
        </p:spPr>
        <p:txBody>
          <a:bodyPr wrap="square" lIns="508" tIns="508" rIns="508" bIns="508"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Digital Svc</a:t>
            </a:r>
            <a:endParaRPr lang="en-US" sz="1000" dirty="0"/>
          </a:p>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(Filtering)</a:t>
            </a:r>
            <a:endParaRPr lang="en-US" sz="1000" dirty="0"/>
          </a:p>
        </p:txBody>
      </p:sp>
      <p:sp>
        <p:nvSpPr>
          <p:cNvPr id="18" name="Shape 16"/>
          <p:cNvSpPr/>
          <p:nvPr/>
        </p:nvSpPr>
        <p:spPr>
          <a:xfrm>
            <a:off x="1783080" y="4343400"/>
            <a:ext cx="2103120" cy="868680"/>
          </a:xfrm>
          <a:prstGeom prst="roundRect">
            <a:avLst>
              <a:gd name="adj" fmla="val 7368"/>
            </a:avLst>
          </a:prstGeom>
          <a:solidFill>
            <a:srgbClr val="5F6368"/>
          </a:solidFill>
          <a:ln w="12700">
            <a:solidFill>
              <a:srgbClr val="5F6368"/>
            </a:solidFill>
            <a:prstDash val="solid"/>
          </a:ln>
          <a:effectLst>
            <a:outerShdw sx="100000" sy="100000" kx="0" ky="0" algn="bl" rotWithShape="0" blurRad="50800" dist="19050" dir="5400000">
              <a:srgbClr val="000000">
                <a:alpha val="12000"/>
              </a:srgbClr>
            </a:outerShdw>
          </a:effectLst>
        </p:spPr>
      </p:sp>
      <p:sp>
        <p:nvSpPr>
          <p:cNvPr id="19" name="Text 17"/>
          <p:cNvSpPr txBox="1"/>
          <p:nvPr/>
        </p:nvSpPr>
        <p:spPr>
          <a:xfrm>
            <a:off x="1828800" y="4398264"/>
            <a:ext cx="2011680" cy="502920"/>
          </a:xfrm>
          <a:prstGeom prst="rect">
            <a:avLst/>
          </a:prstGeom>
          <a:noFill/>
          <a:ln/>
        </p:spPr>
        <p:txBody>
          <a:bodyPr wrap="square" lIns="508" tIns="508" rIns="508" bIns="508"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Orchestrator (Flink)</a:t>
            </a:r>
            <a:endParaRPr lang="en-US" sz="1000" dirty="0"/>
          </a:p>
        </p:txBody>
      </p:sp>
      <p:sp>
        <p:nvSpPr>
          <p:cNvPr id="20" name="Text 18"/>
          <p:cNvSpPr txBox="1"/>
          <p:nvPr/>
        </p:nvSpPr>
        <p:spPr>
          <a:xfrm>
            <a:off x="1828800" y="4919472"/>
            <a:ext cx="2011680" cy="256032"/>
          </a:xfrm>
          <a:prstGeom prst="rect">
            <a:avLst/>
          </a:prstGeom>
          <a:noFill/>
          <a:ln/>
        </p:spPr>
        <p:txBody>
          <a:bodyPr wrap="square" lIns="508" tIns="508" rIns="508" bIns="508" rtlCol="0" anchor="ctr"/>
          <a:lstStyle/>
          <a:p>
            <a:pPr algn="ctr" indent="0" marL="0">
              <a:lnSpc>
                <a:spcPct val="100000"/>
              </a:lnSpc>
              <a:buNone/>
            </a:pPr>
            <a:r>
              <a:rPr lang="en-US" sz="750" dirty="0">
                <a:solidFill>
                  <a:srgbClr val="E8EAED"/>
                </a:solidFill>
                <a:latin typeface="Calibri" pitchFamily="34" charset="0"/>
                <a:ea typeface="Calibri" pitchFamily="34" charset="-122"/>
                <a:cs typeface="Calibri" pitchFamily="34" charset="-120"/>
              </a:rPr>
              <a:t>stream orchestration, WF-built</a:t>
            </a:r>
            <a:endParaRPr lang="en-US" sz="750" dirty="0"/>
          </a:p>
        </p:txBody>
      </p:sp>
      <p:sp>
        <p:nvSpPr>
          <p:cNvPr id="21" name="Shape 19"/>
          <p:cNvSpPr/>
          <p:nvPr/>
        </p:nvSpPr>
        <p:spPr>
          <a:xfrm>
            <a:off x="1600200" y="3264408"/>
            <a:ext cx="182880" cy="914"/>
          </a:xfrm>
          <a:prstGeom prst="line">
            <a:avLst/>
          </a:prstGeom>
          <a:noFill/>
          <a:ln w="19050">
            <a:solidFill>
              <a:srgbClr val="5F6368"/>
            </a:solidFill>
            <a:prstDash val="solid"/>
            <a:tailEnd type="triangle"/>
          </a:ln>
        </p:spPr>
      </p:sp>
      <p:sp>
        <p:nvSpPr>
          <p:cNvPr id="22" name="Shape 20"/>
          <p:cNvSpPr/>
          <p:nvPr/>
        </p:nvSpPr>
        <p:spPr>
          <a:xfrm>
            <a:off x="2788920" y="3264408"/>
            <a:ext cx="91440" cy="914"/>
          </a:xfrm>
          <a:prstGeom prst="line">
            <a:avLst/>
          </a:prstGeom>
          <a:noFill/>
          <a:ln w="19050">
            <a:solidFill>
              <a:srgbClr val="5F6368"/>
            </a:solidFill>
            <a:prstDash val="solid"/>
            <a:tailEnd type="triangle"/>
          </a:ln>
        </p:spPr>
      </p:sp>
      <p:sp>
        <p:nvSpPr>
          <p:cNvPr id="23" name="Shape 21"/>
          <p:cNvSpPr/>
          <p:nvPr/>
        </p:nvSpPr>
        <p:spPr>
          <a:xfrm>
            <a:off x="3383280" y="3703320"/>
            <a:ext cx="914" cy="640080"/>
          </a:xfrm>
          <a:prstGeom prst="line">
            <a:avLst/>
          </a:prstGeom>
          <a:noFill/>
          <a:ln w="19050">
            <a:solidFill>
              <a:srgbClr val="5F6368"/>
            </a:solidFill>
            <a:prstDash val="solid"/>
            <a:tailEnd type="triangle"/>
          </a:ln>
        </p:spPr>
      </p:sp>
      <p:sp>
        <p:nvSpPr>
          <p:cNvPr id="24" name="Text 22"/>
          <p:cNvSpPr txBox="1"/>
          <p:nvPr/>
        </p:nvSpPr>
        <p:spPr>
          <a:xfrm>
            <a:off x="685800" y="3749040"/>
            <a:ext cx="1097280" cy="228600"/>
          </a:xfrm>
          <a:prstGeom prst="rect">
            <a:avLst/>
          </a:prstGeom>
          <a:noFill/>
          <a:ln/>
        </p:spPr>
        <p:txBody>
          <a:bodyPr wrap="square" lIns="508" tIns="508" rIns="508" bIns="508" rtlCol="0" anchor="t"/>
          <a:lstStyle/>
          <a:p>
            <a:pPr algn="l" indent="0" marL="0">
              <a:lnSpc>
                <a:spcPct val="105000"/>
              </a:lnSpc>
              <a:buNone/>
            </a:pPr>
            <a:r>
              <a:rPr lang="en-US" sz="800" i="1" dirty="0">
                <a:solidFill>
                  <a:srgbClr val="5F6368"/>
                </a:solidFill>
                <a:latin typeface="Calibri" pitchFamily="34" charset="0"/>
                <a:ea typeface="Calibri" pitchFamily="34" charset="-122"/>
                <a:cs typeface="Calibri" pitchFamily="34" charset="-120"/>
              </a:rPr>
              <a:t>1 · message</a:t>
            </a:r>
            <a:endParaRPr lang="en-US" sz="800" dirty="0"/>
          </a:p>
        </p:txBody>
      </p:sp>
      <p:sp>
        <p:nvSpPr>
          <p:cNvPr id="25" name="Text 23"/>
          <p:cNvSpPr txBox="1"/>
          <p:nvPr/>
        </p:nvSpPr>
        <p:spPr>
          <a:xfrm>
            <a:off x="1783080" y="2560320"/>
            <a:ext cx="1280160" cy="228600"/>
          </a:xfrm>
          <a:prstGeom prst="rect">
            <a:avLst/>
          </a:prstGeom>
          <a:noFill/>
          <a:ln/>
        </p:spPr>
        <p:txBody>
          <a:bodyPr wrap="square" lIns="508" tIns="508" rIns="508" bIns="508" rtlCol="0" anchor="t"/>
          <a:lstStyle/>
          <a:p>
            <a:pPr algn="l" indent="0" marL="0">
              <a:lnSpc>
                <a:spcPct val="105000"/>
              </a:lnSpc>
              <a:buNone/>
            </a:pPr>
            <a:r>
              <a:rPr lang="en-US" sz="800" i="1" dirty="0">
                <a:solidFill>
                  <a:srgbClr val="5F6368"/>
                </a:solidFill>
                <a:latin typeface="Calibri" pitchFamily="34" charset="0"/>
                <a:ea typeface="Calibri" pitchFamily="34" charset="-122"/>
                <a:cs typeface="Calibri" pitchFamily="34" charset="-120"/>
              </a:rPr>
              <a:t>2 · forward (auth)</a:t>
            </a:r>
            <a:endParaRPr lang="en-US" sz="800" dirty="0"/>
          </a:p>
        </p:txBody>
      </p:sp>
      <p:sp>
        <p:nvSpPr>
          <p:cNvPr id="26" name="Text 24"/>
          <p:cNvSpPr txBox="1"/>
          <p:nvPr/>
        </p:nvSpPr>
        <p:spPr>
          <a:xfrm>
            <a:off x="3520440" y="3931920"/>
            <a:ext cx="731520" cy="228600"/>
          </a:xfrm>
          <a:prstGeom prst="rect">
            <a:avLst/>
          </a:prstGeom>
          <a:noFill/>
          <a:ln/>
        </p:spPr>
        <p:txBody>
          <a:bodyPr wrap="square" lIns="508" tIns="508" rIns="508" bIns="508" rtlCol="0" anchor="t"/>
          <a:lstStyle/>
          <a:p>
            <a:pPr algn="l" indent="0" marL="0">
              <a:lnSpc>
                <a:spcPct val="105000"/>
              </a:lnSpc>
              <a:buNone/>
            </a:pPr>
            <a:r>
              <a:rPr lang="en-US" sz="800" i="1" dirty="0">
                <a:solidFill>
                  <a:srgbClr val="5F6368"/>
                </a:solidFill>
                <a:latin typeface="Calibri" pitchFamily="34" charset="0"/>
                <a:ea typeface="Calibri" pitchFamily="34" charset="-122"/>
                <a:cs typeface="Calibri" pitchFamily="34" charset="-120"/>
              </a:rPr>
              <a:t>3 · route</a:t>
            </a:r>
            <a:endParaRPr lang="en-US" sz="800" dirty="0"/>
          </a:p>
        </p:txBody>
      </p:sp>
      <p:sp>
        <p:nvSpPr>
          <p:cNvPr id="27" name="Shape 25"/>
          <p:cNvSpPr/>
          <p:nvPr/>
        </p:nvSpPr>
        <p:spPr>
          <a:xfrm>
            <a:off x="4343400" y="2606040"/>
            <a:ext cx="1234440" cy="1097280"/>
          </a:xfrm>
          <a:prstGeom prst="roundRect">
            <a:avLst>
              <a:gd name="adj" fmla="val 5833"/>
            </a:avLst>
          </a:prstGeom>
          <a:solidFill>
            <a:srgbClr val="1E8E3E"/>
          </a:solidFill>
          <a:ln w="12700">
            <a:solidFill>
              <a:srgbClr val="1E8E3E"/>
            </a:solidFill>
            <a:prstDash val="solid"/>
          </a:ln>
          <a:effectLst>
            <a:outerShdw sx="100000" sy="100000" kx="0" ky="0" algn="bl" rotWithShape="0" blurRad="50800" dist="19050" dir="5400000">
              <a:srgbClr val="000000">
                <a:alpha val="12000"/>
              </a:srgbClr>
            </a:outerShdw>
          </a:effectLst>
        </p:spPr>
      </p:sp>
      <p:sp>
        <p:nvSpPr>
          <p:cNvPr id="28" name="Text 26"/>
          <p:cNvSpPr txBox="1"/>
          <p:nvPr/>
        </p:nvSpPr>
        <p:spPr>
          <a:xfrm>
            <a:off x="4389120" y="2660904"/>
            <a:ext cx="1143000" cy="731520"/>
          </a:xfrm>
          <a:prstGeom prst="rect">
            <a:avLst/>
          </a:prstGeom>
          <a:noFill/>
          <a:ln/>
        </p:spPr>
        <p:txBody>
          <a:bodyPr wrap="square" lIns="508" tIns="508" rIns="508" bIns="508"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Supervisor</a:t>
            </a:r>
            <a:endParaRPr lang="en-US" sz="1000" dirty="0"/>
          </a:p>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Agent</a:t>
            </a:r>
            <a:endParaRPr lang="en-US" sz="1000" dirty="0"/>
          </a:p>
        </p:txBody>
      </p:sp>
      <p:sp>
        <p:nvSpPr>
          <p:cNvPr id="29" name="Text 27"/>
          <p:cNvSpPr txBox="1"/>
          <p:nvPr/>
        </p:nvSpPr>
        <p:spPr>
          <a:xfrm>
            <a:off x="4389120" y="3191256"/>
            <a:ext cx="1143000" cy="475488"/>
          </a:xfrm>
          <a:prstGeom prst="rect">
            <a:avLst/>
          </a:prstGeom>
          <a:noFill/>
          <a:ln/>
        </p:spPr>
        <p:txBody>
          <a:bodyPr wrap="square" lIns="508" tIns="508" rIns="508" bIns="508" rtlCol="0" anchor="ctr"/>
          <a:lstStyle/>
          <a:p>
            <a:pPr algn="ctr" indent="0" marL="0">
              <a:lnSpc>
                <a:spcPct val="100000"/>
              </a:lnSpc>
              <a:buNone/>
            </a:pPr>
            <a:r>
              <a:rPr lang="en-US" sz="750" dirty="0">
                <a:solidFill>
                  <a:srgbClr val="E8EAED"/>
                </a:solidFill>
                <a:latin typeface="Calibri" pitchFamily="34" charset="0"/>
                <a:ea typeface="Calibri" pitchFamily="34" charset="-122"/>
                <a:cs typeface="Calibri" pitchFamily="34" charset="-120"/>
              </a:rPr>
              <a:t>Agent · Callback · A2A wrappers</a:t>
            </a:r>
            <a:endParaRPr lang="en-US" sz="750" dirty="0"/>
          </a:p>
        </p:txBody>
      </p:sp>
      <p:sp>
        <p:nvSpPr>
          <p:cNvPr id="30" name="Shape 28"/>
          <p:cNvSpPr/>
          <p:nvPr/>
        </p:nvSpPr>
        <p:spPr>
          <a:xfrm>
            <a:off x="5010912" y="2496312"/>
            <a:ext cx="548640" cy="201168"/>
          </a:xfrm>
          <a:prstGeom prst="roundRect">
            <a:avLst>
              <a:gd name="adj" fmla="val 50000"/>
            </a:avLst>
          </a:prstGeom>
          <a:solidFill>
            <a:srgbClr val="146C2E"/>
          </a:solidFill>
          <a:ln w="12700">
            <a:solidFill>
              <a:srgbClr val="FFFFFF"/>
            </a:solidFill>
            <a:prstDash val="solid"/>
          </a:ln>
        </p:spPr>
      </p:sp>
      <p:sp>
        <p:nvSpPr>
          <p:cNvPr id="31" name="Text 29"/>
          <p:cNvSpPr txBox="1"/>
          <p:nvPr/>
        </p:nvSpPr>
        <p:spPr>
          <a:xfrm>
            <a:off x="5010912" y="2496312"/>
            <a:ext cx="548640" cy="201168"/>
          </a:xfrm>
          <a:prstGeom prst="rect">
            <a:avLst/>
          </a:prstGeom>
          <a:noFill/>
          <a:ln/>
        </p:spPr>
        <p:txBody>
          <a:bodyPr wrap="square" lIns="508" tIns="508" rIns="508" bIns="508" rtlCol="0" anchor="ctr"/>
          <a:lstStyle/>
          <a:p>
            <a:pPr algn="ctr" indent="0" marL="0">
              <a:lnSpc>
                <a:spcPct val="105000"/>
              </a:lnSpc>
              <a:buNone/>
            </a:pPr>
            <a:r>
              <a:rPr lang="en-US" sz="700" b="1" dirty="0">
                <a:solidFill>
                  <a:srgbClr val="FFFFFF"/>
                </a:solidFill>
                <a:latin typeface="Calibri" pitchFamily="34" charset="0"/>
                <a:ea typeface="Calibri" pitchFamily="34" charset="-122"/>
                <a:cs typeface="Calibri" pitchFamily="34" charset="-120"/>
              </a:rPr>
              <a:t>FARGO</a:t>
            </a:r>
            <a:endParaRPr lang="en-US" sz="700" dirty="0"/>
          </a:p>
        </p:txBody>
      </p:sp>
      <p:sp>
        <p:nvSpPr>
          <p:cNvPr id="32" name="Shape 30"/>
          <p:cNvSpPr/>
          <p:nvPr/>
        </p:nvSpPr>
        <p:spPr>
          <a:xfrm>
            <a:off x="5760720" y="2606040"/>
            <a:ext cx="1188720" cy="1097280"/>
          </a:xfrm>
          <a:prstGeom prst="roundRect">
            <a:avLst>
              <a:gd name="adj" fmla="val 5833"/>
            </a:avLst>
          </a:prstGeom>
          <a:solidFill>
            <a:srgbClr val="1E8E3E"/>
          </a:solidFill>
          <a:ln w="12700">
            <a:solidFill>
              <a:srgbClr val="1E8E3E"/>
            </a:solidFill>
            <a:prstDash val="solid"/>
          </a:ln>
          <a:effectLst>
            <a:outerShdw sx="100000" sy="100000" kx="0" ky="0" algn="bl" rotWithShape="0" blurRad="50800" dist="19050" dir="5400000">
              <a:srgbClr val="000000">
                <a:alpha val="12000"/>
              </a:srgbClr>
            </a:outerShdw>
          </a:effectLst>
        </p:spPr>
      </p:sp>
      <p:sp>
        <p:nvSpPr>
          <p:cNvPr id="33" name="Text 31"/>
          <p:cNvSpPr txBox="1"/>
          <p:nvPr/>
        </p:nvSpPr>
        <p:spPr>
          <a:xfrm>
            <a:off x="5806440" y="2660904"/>
            <a:ext cx="1097280" cy="731520"/>
          </a:xfrm>
          <a:prstGeom prst="rect">
            <a:avLst/>
          </a:prstGeom>
          <a:noFill/>
          <a:ln/>
        </p:spPr>
        <p:txBody>
          <a:bodyPr wrap="square" lIns="508" tIns="508" rIns="508" bIns="508"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Specialized</a:t>
            </a:r>
            <a:endParaRPr lang="en-US" sz="1000" dirty="0"/>
          </a:p>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Agent</a:t>
            </a:r>
            <a:endParaRPr lang="en-US" sz="1000" dirty="0"/>
          </a:p>
        </p:txBody>
      </p:sp>
      <p:sp>
        <p:nvSpPr>
          <p:cNvPr id="34" name="Text 32"/>
          <p:cNvSpPr txBox="1"/>
          <p:nvPr/>
        </p:nvSpPr>
        <p:spPr>
          <a:xfrm>
            <a:off x="5806440" y="3191256"/>
            <a:ext cx="1097280" cy="475488"/>
          </a:xfrm>
          <a:prstGeom prst="rect">
            <a:avLst/>
          </a:prstGeom>
          <a:noFill/>
          <a:ln/>
        </p:spPr>
        <p:txBody>
          <a:bodyPr wrap="square" lIns="508" tIns="508" rIns="508" bIns="508" rtlCol="0" anchor="ctr"/>
          <a:lstStyle/>
          <a:p>
            <a:pPr algn="ctr" indent="0" marL="0">
              <a:lnSpc>
                <a:spcPct val="100000"/>
              </a:lnSpc>
              <a:buNone/>
            </a:pPr>
            <a:r>
              <a:rPr lang="en-US" sz="750" dirty="0">
                <a:solidFill>
                  <a:srgbClr val="E8EAED"/>
                </a:solidFill>
                <a:latin typeface="Calibri" pitchFamily="34" charset="0"/>
                <a:ea typeface="Calibri" pitchFamily="34" charset="-122"/>
                <a:cs typeface="Calibri" pitchFamily="34" charset="-120"/>
              </a:rPr>
              <a:t>Agent · Tool · Session wrappers</a:t>
            </a:r>
            <a:endParaRPr lang="en-US" sz="750" dirty="0"/>
          </a:p>
        </p:txBody>
      </p:sp>
      <p:sp>
        <p:nvSpPr>
          <p:cNvPr id="35" name="Shape 33"/>
          <p:cNvSpPr/>
          <p:nvPr/>
        </p:nvSpPr>
        <p:spPr>
          <a:xfrm>
            <a:off x="6382512" y="2496312"/>
            <a:ext cx="548640" cy="201168"/>
          </a:xfrm>
          <a:prstGeom prst="roundRect">
            <a:avLst>
              <a:gd name="adj" fmla="val 50000"/>
            </a:avLst>
          </a:prstGeom>
          <a:solidFill>
            <a:srgbClr val="146C2E"/>
          </a:solidFill>
          <a:ln w="12700">
            <a:solidFill>
              <a:srgbClr val="FFFFFF"/>
            </a:solidFill>
            <a:prstDash val="solid"/>
          </a:ln>
        </p:spPr>
      </p:sp>
      <p:sp>
        <p:nvSpPr>
          <p:cNvPr id="36" name="Text 34"/>
          <p:cNvSpPr txBox="1"/>
          <p:nvPr/>
        </p:nvSpPr>
        <p:spPr>
          <a:xfrm>
            <a:off x="6382512" y="2496312"/>
            <a:ext cx="548640" cy="201168"/>
          </a:xfrm>
          <a:prstGeom prst="rect">
            <a:avLst/>
          </a:prstGeom>
          <a:noFill/>
          <a:ln/>
        </p:spPr>
        <p:txBody>
          <a:bodyPr wrap="square" lIns="508" tIns="508" rIns="508" bIns="508" rtlCol="0" anchor="ctr"/>
          <a:lstStyle/>
          <a:p>
            <a:pPr algn="ctr" indent="0" marL="0">
              <a:lnSpc>
                <a:spcPct val="105000"/>
              </a:lnSpc>
              <a:buNone/>
            </a:pPr>
            <a:r>
              <a:rPr lang="en-US" sz="700" b="1" dirty="0">
                <a:solidFill>
                  <a:srgbClr val="FFFFFF"/>
                </a:solidFill>
                <a:latin typeface="Calibri" pitchFamily="34" charset="0"/>
                <a:ea typeface="Calibri" pitchFamily="34" charset="-122"/>
                <a:cs typeface="Calibri" pitchFamily="34" charset="-120"/>
              </a:rPr>
              <a:t>FARGO</a:t>
            </a:r>
            <a:endParaRPr lang="en-US" sz="700" dirty="0"/>
          </a:p>
        </p:txBody>
      </p:sp>
      <p:sp>
        <p:nvSpPr>
          <p:cNvPr id="37" name="Shape 35"/>
          <p:cNvSpPr/>
          <p:nvPr/>
        </p:nvSpPr>
        <p:spPr>
          <a:xfrm>
            <a:off x="4343400" y="4160520"/>
            <a:ext cx="1234440" cy="822960"/>
          </a:xfrm>
          <a:prstGeom prst="roundRect">
            <a:avLst>
              <a:gd name="adj" fmla="val 7778"/>
            </a:avLst>
          </a:prstGeom>
          <a:solidFill>
            <a:srgbClr val="1A73E8"/>
          </a:solidFill>
          <a:ln w="12700">
            <a:solidFill>
              <a:srgbClr val="1A73E8"/>
            </a:solidFill>
            <a:prstDash val="solid"/>
          </a:ln>
          <a:effectLst>
            <a:outerShdw sx="100000" sy="100000" kx="0" ky="0" algn="bl" rotWithShape="0" blurRad="50800" dist="19050" dir="5400000">
              <a:srgbClr val="000000">
                <a:alpha val="12000"/>
              </a:srgbClr>
            </a:outerShdw>
          </a:effectLst>
        </p:spPr>
      </p:sp>
      <p:sp>
        <p:nvSpPr>
          <p:cNvPr id="38" name="Text 36"/>
          <p:cNvSpPr txBox="1"/>
          <p:nvPr/>
        </p:nvSpPr>
        <p:spPr>
          <a:xfrm>
            <a:off x="4389120" y="4215384"/>
            <a:ext cx="1143000" cy="457200"/>
          </a:xfrm>
          <a:prstGeom prst="rect">
            <a:avLst/>
          </a:prstGeom>
          <a:noFill/>
          <a:ln/>
        </p:spPr>
        <p:txBody>
          <a:bodyPr wrap="square" lIns="508" tIns="508" rIns="508" bIns="508"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Redis</a:t>
            </a:r>
            <a:endParaRPr lang="en-US" sz="1000" dirty="0"/>
          </a:p>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State Store</a:t>
            </a:r>
            <a:endParaRPr lang="en-US" sz="1000" dirty="0"/>
          </a:p>
        </p:txBody>
      </p:sp>
      <p:sp>
        <p:nvSpPr>
          <p:cNvPr id="39" name="Text 37"/>
          <p:cNvSpPr txBox="1"/>
          <p:nvPr/>
        </p:nvSpPr>
        <p:spPr>
          <a:xfrm>
            <a:off x="4389120" y="4690872"/>
            <a:ext cx="1143000" cy="256032"/>
          </a:xfrm>
          <a:prstGeom prst="rect">
            <a:avLst/>
          </a:prstGeom>
          <a:noFill/>
          <a:ln/>
        </p:spPr>
        <p:txBody>
          <a:bodyPr wrap="square" lIns="508" tIns="508" rIns="508" bIns="508" rtlCol="0" anchor="ctr"/>
          <a:lstStyle/>
          <a:p>
            <a:pPr algn="ctr" indent="0" marL="0">
              <a:lnSpc>
                <a:spcPct val="100000"/>
              </a:lnSpc>
              <a:buNone/>
            </a:pPr>
            <a:r>
              <a:rPr lang="en-US" sz="750" dirty="0">
                <a:solidFill>
                  <a:srgbClr val="E8EAED"/>
                </a:solidFill>
                <a:latin typeface="Calibri" pitchFamily="34" charset="0"/>
                <a:ea typeface="Calibri" pitchFamily="34" charset="-122"/>
                <a:cs typeface="Calibri" pitchFamily="34" charset="-120"/>
              </a:rPr>
              <a:t>Session wrapper · TTL, mTLS</a:t>
            </a:r>
            <a:endParaRPr lang="en-US" sz="750" dirty="0"/>
          </a:p>
        </p:txBody>
      </p:sp>
      <p:sp>
        <p:nvSpPr>
          <p:cNvPr id="40" name="Shape 38"/>
          <p:cNvSpPr/>
          <p:nvPr/>
        </p:nvSpPr>
        <p:spPr>
          <a:xfrm>
            <a:off x="5010912" y="4050792"/>
            <a:ext cx="548640" cy="201168"/>
          </a:xfrm>
          <a:prstGeom prst="roundRect">
            <a:avLst>
              <a:gd name="adj" fmla="val 50000"/>
            </a:avLst>
          </a:prstGeom>
          <a:solidFill>
            <a:srgbClr val="174EA6"/>
          </a:solidFill>
          <a:ln w="12700">
            <a:solidFill>
              <a:srgbClr val="FFFFFF"/>
            </a:solidFill>
            <a:prstDash val="solid"/>
          </a:ln>
        </p:spPr>
      </p:sp>
      <p:sp>
        <p:nvSpPr>
          <p:cNvPr id="41" name="Text 39"/>
          <p:cNvSpPr txBox="1"/>
          <p:nvPr/>
        </p:nvSpPr>
        <p:spPr>
          <a:xfrm>
            <a:off x="5010912" y="4050792"/>
            <a:ext cx="548640" cy="201168"/>
          </a:xfrm>
          <a:prstGeom prst="rect">
            <a:avLst/>
          </a:prstGeom>
          <a:noFill/>
          <a:ln/>
        </p:spPr>
        <p:txBody>
          <a:bodyPr wrap="square" lIns="508" tIns="508" rIns="508" bIns="508" rtlCol="0" anchor="ctr"/>
          <a:lstStyle/>
          <a:p>
            <a:pPr algn="ctr" indent="0" marL="0">
              <a:lnSpc>
                <a:spcPct val="105000"/>
              </a:lnSpc>
              <a:buNone/>
            </a:pPr>
            <a:r>
              <a:rPr lang="en-US" sz="700" b="1" dirty="0">
                <a:solidFill>
                  <a:srgbClr val="FFFFFF"/>
                </a:solidFill>
                <a:latin typeface="Calibri" pitchFamily="34" charset="0"/>
                <a:ea typeface="Calibri" pitchFamily="34" charset="-122"/>
                <a:cs typeface="Calibri" pitchFamily="34" charset="-120"/>
              </a:rPr>
              <a:t>TSDK</a:t>
            </a:r>
            <a:endParaRPr lang="en-US" sz="700" dirty="0"/>
          </a:p>
        </p:txBody>
      </p:sp>
      <p:sp>
        <p:nvSpPr>
          <p:cNvPr id="42" name="Shape 40"/>
          <p:cNvSpPr/>
          <p:nvPr/>
        </p:nvSpPr>
        <p:spPr>
          <a:xfrm>
            <a:off x="5760720" y="4160520"/>
            <a:ext cx="1188720" cy="822960"/>
          </a:xfrm>
          <a:prstGeom prst="roundRect">
            <a:avLst>
              <a:gd name="adj" fmla="val 7778"/>
            </a:avLst>
          </a:prstGeom>
          <a:solidFill>
            <a:srgbClr val="1A73E8"/>
          </a:solidFill>
          <a:ln w="12700">
            <a:solidFill>
              <a:srgbClr val="1A73E8"/>
            </a:solidFill>
            <a:prstDash val="solid"/>
          </a:ln>
          <a:effectLst>
            <a:outerShdw sx="100000" sy="100000" kx="0" ky="0" algn="bl" rotWithShape="0" blurRad="50800" dist="19050" dir="5400000">
              <a:srgbClr val="000000">
                <a:alpha val="12000"/>
              </a:srgbClr>
            </a:outerShdw>
          </a:effectLst>
        </p:spPr>
      </p:sp>
      <p:sp>
        <p:nvSpPr>
          <p:cNvPr id="43" name="Text 41"/>
          <p:cNvSpPr txBox="1"/>
          <p:nvPr/>
        </p:nvSpPr>
        <p:spPr>
          <a:xfrm>
            <a:off x="5806440" y="4215384"/>
            <a:ext cx="1097280" cy="457200"/>
          </a:xfrm>
          <a:prstGeom prst="rect">
            <a:avLst/>
          </a:prstGeom>
          <a:noFill/>
          <a:ln/>
        </p:spPr>
        <p:txBody>
          <a:bodyPr wrap="square" lIns="508" tIns="508" rIns="508" bIns="508"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A2A</a:t>
            </a:r>
            <a:endParaRPr lang="en-US" sz="1000" dirty="0"/>
          </a:p>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hand-off</a:t>
            </a:r>
            <a:endParaRPr lang="en-US" sz="1000" dirty="0"/>
          </a:p>
        </p:txBody>
      </p:sp>
      <p:sp>
        <p:nvSpPr>
          <p:cNvPr id="44" name="Text 42"/>
          <p:cNvSpPr txBox="1"/>
          <p:nvPr/>
        </p:nvSpPr>
        <p:spPr>
          <a:xfrm>
            <a:off x="5806440" y="4690872"/>
            <a:ext cx="1097280" cy="256032"/>
          </a:xfrm>
          <a:prstGeom prst="rect">
            <a:avLst/>
          </a:prstGeom>
          <a:noFill/>
          <a:ln/>
        </p:spPr>
        <p:txBody>
          <a:bodyPr wrap="square" lIns="508" tIns="508" rIns="508" bIns="508" rtlCol="0" anchor="ctr"/>
          <a:lstStyle/>
          <a:p>
            <a:pPr algn="ctr" indent="0" marL="0">
              <a:lnSpc>
                <a:spcPct val="100000"/>
              </a:lnSpc>
              <a:buNone/>
            </a:pPr>
            <a:r>
              <a:rPr lang="en-US" sz="750" dirty="0">
                <a:solidFill>
                  <a:srgbClr val="E8EAED"/>
                </a:solidFill>
                <a:latin typeface="Calibri" pitchFamily="34" charset="0"/>
                <a:ea typeface="Calibri" pitchFamily="34" charset="-122"/>
                <a:cs typeface="Calibri" pitchFamily="34" charset="-120"/>
              </a:rPr>
              <a:t>A2A wrapper · custom auth (Fargo)</a:t>
            </a:r>
            <a:endParaRPr lang="en-US" sz="750" dirty="0"/>
          </a:p>
        </p:txBody>
      </p:sp>
      <p:sp>
        <p:nvSpPr>
          <p:cNvPr id="45" name="Shape 43"/>
          <p:cNvSpPr/>
          <p:nvPr/>
        </p:nvSpPr>
        <p:spPr>
          <a:xfrm>
            <a:off x="6382512" y="4050792"/>
            <a:ext cx="548640" cy="201168"/>
          </a:xfrm>
          <a:prstGeom prst="roundRect">
            <a:avLst>
              <a:gd name="adj" fmla="val 50000"/>
            </a:avLst>
          </a:prstGeom>
          <a:solidFill>
            <a:srgbClr val="174EA6"/>
          </a:solidFill>
          <a:ln w="12700">
            <a:solidFill>
              <a:srgbClr val="FFFFFF"/>
            </a:solidFill>
            <a:prstDash val="solid"/>
          </a:ln>
        </p:spPr>
      </p:sp>
      <p:sp>
        <p:nvSpPr>
          <p:cNvPr id="46" name="Text 44"/>
          <p:cNvSpPr txBox="1"/>
          <p:nvPr/>
        </p:nvSpPr>
        <p:spPr>
          <a:xfrm>
            <a:off x="6382512" y="4050792"/>
            <a:ext cx="548640" cy="201168"/>
          </a:xfrm>
          <a:prstGeom prst="rect">
            <a:avLst/>
          </a:prstGeom>
          <a:noFill/>
          <a:ln/>
        </p:spPr>
        <p:txBody>
          <a:bodyPr wrap="square" lIns="508" tIns="508" rIns="508" bIns="508" rtlCol="0" anchor="ctr"/>
          <a:lstStyle/>
          <a:p>
            <a:pPr algn="ctr" indent="0" marL="0">
              <a:lnSpc>
                <a:spcPct val="105000"/>
              </a:lnSpc>
              <a:buNone/>
            </a:pPr>
            <a:r>
              <a:rPr lang="en-US" sz="700" b="1" dirty="0">
                <a:solidFill>
                  <a:srgbClr val="FFFFFF"/>
                </a:solidFill>
                <a:latin typeface="Calibri" pitchFamily="34" charset="0"/>
                <a:ea typeface="Calibri" pitchFamily="34" charset="-122"/>
                <a:cs typeface="Calibri" pitchFamily="34" charset="-120"/>
              </a:rPr>
              <a:t>TSDK</a:t>
            </a:r>
            <a:endParaRPr lang="en-US" sz="700" dirty="0"/>
          </a:p>
        </p:txBody>
      </p:sp>
      <p:sp>
        <p:nvSpPr>
          <p:cNvPr id="47" name="Shape 45"/>
          <p:cNvSpPr/>
          <p:nvPr/>
        </p:nvSpPr>
        <p:spPr>
          <a:xfrm>
            <a:off x="4389120" y="2505456"/>
            <a:ext cx="219456" cy="219456"/>
          </a:xfrm>
          <a:prstGeom prst="roundRect">
            <a:avLst>
              <a:gd name="adj" fmla="val 50000"/>
            </a:avLst>
          </a:prstGeom>
          <a:solidFill>
            <a:srgbClr val="FFFFFF"/>
          </a:solidFill>
          <a:ln w="19050">
            <a:solidFill>
              <a:srgbClr val="1E8E3E"/>
            </a:solidFill>
            <a:prstDash val="solid"/>
          </a:ln>
        </p:spPr>
      </p:sp>
      <p:sp>
        <p:nvSpPr>
          <p:cNvPr id="48" name="Text 46"/>
          <p:cNvSpPr txBox="1"/>
          <p:nvPr/>
        </p:nvSpPr>
        <p:spPr>
          <a:xfrm>
            <a:off x="4389120" y="2505456"/>
            <a:ext cx="219456" cy="219456"/>
          </a:xfrm>
          <a:prstGeom prst="rect">
            <a:avLst/>
          </a:prstGeom>
          <a:noFill/>
          <a:ln/>
        </p:spPr>
        <p:txBody>
          <a:bodyPr wrap="square" lIns="0" tIns="0" rIns="0" bIns="0" rtlCol="0" anchor="ctr"/>
          <a:lstStyle/>
          <a:p>
            <a:pPr algn="ctr" indent="0" marL="0">
              <a:lnSpc>
                <a:spcPct val="105000"/>
              </a:lnSpc>
              <a:buNone/>
            </a:pPr>
            <a:r>
              <a:rPr lang="en-US" sz="800" b="1" dirty="0">
                <a:solidFill>
                  <a:srgbClr val="146C2E"/>
                </a:solidFill>
                <a:latin typeface="Calibri" pitchFamily="34" charset="0"/>
                <a:ea typeface="Calibri" pitchFamily="34" charset="-122"/>
                <a:cs typeface="Calibri" pitchFamily="34" charset="-120"/>
              </a:rPr>
              <a:t>C</a:t>
            </a:r>
            <a:endParaRPr lang="en-US" sz="800" dirty="0"/>
          </a:p>
        </p:txBody>
      </p:sp>
      <p:sp>
        <p:nvSpPr>
          <p:cNvPr id="49" name="Shape 47"/>
          <p:cNvSpPr/>
          <p:nvPr/>
        </p:nvSpPr>
        <p:spPr>
          <a:xfrm>
            <a:off x="4645152" y="2505456"/>
            <a:ext cx="219456" cy="219456"/>
          </a:xfrm>
          <a:prstGeom prst="roundRect">
            <a:avLst>
              <a:gd name="adj" fmla="val 50000"/>
            </a:avLst>
          </a:prstGeom>
          <a:solidFill>
            <a:srgbClr val="FFFFFF"/>
          </a:solidFill>
          <a:ln w="19050">
            <a:solidFill>
              <a:srgbClr val="1E8E3E"/>
            </a:solidFill>
            <a:prstDash val="solid"/>
          </a:ln>
        </p:spPr>
      </p:sp>
      <p:sp>
        <p:nvSpPr>
          <p:cNvPr id="50" name="Text 48"/>
          <p:cNvSpPr txBox="1"/>
          <p:nvPr/>
        </p:nvSpPr>
        <p:spPr>
          <a:xfrm>
            <a:off x="4645152" y="2505456"/>
            <a:ext cx="219456" cy="219456"/>
          </a:xfrm>
          <a:prstGeom prst="rect">
            <a:avLst/>
          </a:prstGeom>
          <a:noFill/>
          <a:ln/>
        </p:spPr>
        <p:txBody>
          <a:bodyPr wrap="square" lIns="0" tIns="0" rIns="0" bIns="0" rtlCol="0" anchor="ctr"/>
          <a:lstStyle/>
          <a:p>
            <a:pPr algn="ctr" indent="0" marL="0">
              <a:lnSpc>
                <a:spcPct val="105000"/>
              </a:lnSpc>
              <a:buNone/>
            </a:pPr>
            <a:r>
              <a:rPr lang="en-US" sz="800" b="1" dirty="0">
                <a:solidFill>
                  <a:srgbClr val="146C2E"/>
                </a:solidFill>
                <a:latin typeface="Calibri" pitchFamily="34" charset="0"/>
                <a:ea typeface="Calibri" pitchFamily="34" charset="-122"/>
                <a:cs typeface="Calibri" pitchFamily="34" charset="-120"/>
              </a:rPr>
              <a:t>D</a:t>
            </a:r>
            <a:endParaRPr lang="en-US" sz="800" dirty="0"/>
          </a:p>
        </p:txBody>
      </p:sp>
      <p:sp>
        <p:nvSpPr>
          <p:cNvPr id="51" name="Shape 49"/>
          <p:cNvSpPr/>
          <p:nvPr/>
        </p:nvSpPr>
        <p:spPr>
          <a:xfrm>
            <a:off x="5806440" y="2505456"/>
            <a:ext cx="219456" cy="219456"/>
          </a:xfrm>
          <a:prstGeom prst="roundRect">
            <a:avLst>
              <a:gd name="adj" fmla="val 50000"/>
            </a:avLst>
          </a:prstGeom>
          <a:solidFill>
            <a:srgbClr val="FFFFFF"/>
          </a:solidFill>
          <a:ln w="19050">
            <a:solidFill>
              <a:srgbClr val="1E8E3E"/>
            </a:solidFill>
            <a:prstDash val="solid"/>
          </a:ln>
        </p:spPr>
      </p:sp>
      <p:sp>
        <p:nvSpPr>
          <p:cNvPr id="52" name="Text 50"/>
          <p:cNvSpPr txBox="1"/>
          <p:nvPr/>
        </p:nvSpPr>
        <p:spPr>
          <a:xfrm>
            <a:off x="5806440" y="2505456"/>
            <a:ext cx="219456" cy="219456"/>
          </a:xfrm>
          <a:prstGeom prst="rect">
            <a:avLst/>
          </a:prstGeom>
          <a:noFill/>
          <a:ln/>
        </p:spPr>
        <p:txBody>
          <a:bodyPr wrap="square" lIns="0" tIns="0" rIns="0" bIns="0" rtlCol="0" anchor="ctr"/>
          <a:lstStyle/>
          <a:p>
            <a:pPr algn="ctr" indent="0" marL="0">
              <a:lnSpc>
                <a:spcPct val="105000"/>
              </a:lnSpc>
              <a:buNone/>
            </a:pPr>
            <a:r>
              <a:rPr lang="en-US" sz="800" b="1" dirty="0">
                <a:solidFill>
                  <a:srgbClr val="146C2E"/>
                </a:solidFill>
                <a:latin typeface="Calibri" pitchFamily="34" charset="0"/>
                <a:ea typeface="Calibri" pitchFamily="34" charset="-122"/>
                <a:cs typeface="Calibri" pitchFamily="34" charset="-120"/>
              </a:rPr>
              <a:t>A</a:t>
            </a:r>
            <a:endParaRPr lang="en-US" sz="800" dirty="0"/>
          </a:p>
        </p:txBody>
      </p:sp>
      <p:sp>
        <p:nvSpPr>
          <p:cNvPr id="53" name="Shape 51"/>
          <p:cNvSpPr/>
          <p:nvPr/>
        </p:nvSpPr>
        <p:spPr>
          <a:xfrm>
            <a:off x="6062472" y="2505456"/>
            <a:ext cx="219456" cy="219456"/>
          </a:xfrm>
          <a:prstGeom prst="roundRect">
            <a:avLst>
              <a:gd name="adj" fmla="val 50000"/>
            </a:avLst>
          </a:prstGeom>
          <a:solidFill>
            <a:srgbClr val="FFFFFF"/>
          </a:solidFill>
          <a:ln w="19050">
            <a:solidFill>
              <a:srgbClr val="1E8E3E"/>
            </a:solidFill>
            <a:prstDash val="solid"/>
          </a:ln>
        </p:spPr>
      </p:sp>
      <p:sp>
        <p:nvSpPr>
          <p:cNvPr id="54" name="Text 52"/>
          <p:cNvSpPr txBox="1"/>
          <p:nvPr/>
        </p:nvSpPr>
        <p:spPr>
          <a:xfrm>
            <a:off x="6062472" y="2505456"/>
            <a:ext cx="219456" cy="219456"/>
          </a:xfrm>
          <a:prstGeom prst="rect">
            <a:avLst/>
          </a:prstGeom>
          <a:noFill/>
          <a:ln/>
        </p:spPr>
        <p:txBody>
          <a:bodyPr wrap="square" lIns="0" tIns="0" rIns="0" bIns="0" rtlCol="0" anchor="ctr"/>
          <a:lstStyle/>
          <a:p>
            <a:pPr algn="ctr" indent="0" marL="0">
              <a:lnSpc>
                <a:spcPct val="105000"/>
              </a:lnSpc>
              <a:buNone/>
            </a:pPr>
            <a:r>
              <a:rPr lang="en-US" sz="800" b="1" dirty="0">
                <a:solidFill>
                  <a:srgbClr val="146C2E"/>
                </a:solidFill>
                <a:latin typeface="Calibri" pitchFamily="34" charset="0"/>
                <a:ea typeface="Calibri" pitchFamily="34" charset="-122"/>
                <a:cs typeface="Calibri" pitchFamily="34" charset="-120"/>
              </a:rPr>
              <a:t>E</a:t>
            </a:r>
            <a:endParaRPr lang="en-US" sz="800" dirty="0"/>
          </a:p>
        </p:txBody>
      </p:sp>
      <p:sp>
        <p:nvSpPr>
          <p:cNvPr id="55" name="Shape 53"/>
          <p:cNvSpPr/>
          <p:nvPr/>
        </p:nvSpPr>
        <p:spPr>
          <a:xfrm>
            <a:off x="5806440" y="4059936"/>
            <a:ext cx="219456" cy="219456"/>
          </a:xfrm>
          <a:prstGeom prst="roundRect">
            <a:avLst>
              <a:gd name="adj" fmla="val 50000"/>
            </a:avLst>
          </a:prstGeom>
          <a:solidFill>
            <a:srgbClr val="FFFFFF"/>
          </a:solidFill>
          <a:ln w="19050">
            <a:solidFill>
              <a:srgbClr val="1E8E3E"/>
            </a:solidFill>
            <a:prstDash val="solid"/>
          </a:ln>
        </p:spPr>
      </p:sp>
      <p:sp>
        <p:nvSpPr>
          <p:cNvPr id="56" name="Text 54"/>
          <p:cNvSpPr txBox="1"/>
          <p:nvPr/>
        </p:nvSpPr>
        <p:spPr>
          <a:xfrm>
            <a:off x="5806440" y="4059936"/>
            <a:ext cx="219456" cy="219456"/>
          </a:xfrm>
          <a:prstGeom prst="rect">
            <a:avLst/>
          </a:prstGeom>
          <a:noFill/>
          <a:ln/>
        </p:spPr>
        <p:txBody>
          <a:bodyPr wrap="square" lIns="0" tIns="0" rIns="0" bIns="0" rtlCol="0" anchor="ctr"/>
          <a:lstStyle/>
          <a:p>
            <a:pPr algn="ctr" indent="0" marL="0">
              <a:lnSpc>
                <a:spcPct val="105000"/>
              </a:lnSpc>
              <a:buNone/>
            </a:pPr>
            <a:r>
              <a:rPr lang="en-US" sz="800" b="1" dirty="0">
                <a:solidFill>
                  <a:srgbClr val="146C2E"/>
                </a:solidFill>
                <a:latin typeface="Calibri" pitchFamily="34" charset="0"/>
                <a:ea typeface="Calibri" pitchFamily="34" charset="-122"/>
                <a:cs typeface="Calibri" pitchFamily="34" charset="-120"/>
              </a:rPr>
              <a:t>B</a:t>
            </a:r>
            <a:endParaRPr lang="en-US" sz="800" dirty="0"/>
          </a:p>
        </p:txBody>
      </p:sp>
      <p:sp>
        <p:nvSpPr>
          <p:cNvPr id="57" name="Shape 55"/>
          <p:cNvSpPr/>
          <p:nvPr/>
        </p:nvSpPr>
        <p:spPr>
          <a:xfrm>
            <a:off x="4389120" y="4059936"/>
            <a:ext cx="219456" cy="219456"/>
          </a:xfrm>
          <a:prstGeom prst="roundRect">
            <a:avLst>
              <a:gd name="adj" fmla="val 50000"/>
            </a:avLst>
          </a:prstGeom>
          <a:solidFill>
            <a:srgbClr val="FFFFFF"/>
          </a:solidFill>
          <a:ln w="19050">
            <a:solidFill>
              <a:srgbClr val="1E8E3E"/>
            </a:solidFill>
            <a:prstDash val="solid"/>
          </a:ln>
        </p:spPr>
      </p:sp>
      <p:sp>
        <p:nvSpPr>
          <p:cNvPr id="58" name="Text 56"/>
          <p:cNvSpPr txBox="1"/>
          <p:nvPr/>
        </p:nvSpPr>
        <p:spPr>
          <a:xfrm>
            <a:off x="4389120" y="4059936"/>
            <a:ext cx="219456" cy="219456"/>
          </a:xfrm>
          <a:prstGeom prst="rect">
            <a:avLst/>
          </a:prstGeom>
          <a:noFill/>
          <a:ln/>
        </p:spPr>
        <p:txBody>
          <a:bodyPr wrap="square" lIns="0" tIns="0" rIns="0" bIns="0" rtlCol="0" anchor="ctr"/>
          <a:lstStyle/>
          <a:p>
            <a:pPr algn="ctr" indent="0" marL="0">
              <a:lnSpc>
                <a:spcPct val="105000"/>
              </a:lnSpc>
              <a:buNone/>
            </a:pPr>
            <a:r>
              <a:rPr lang="en-US" sz="800" b="1" dirty="0">
                <a:solidFill>
                  <a:srgbClr val="146C2E"/>
                </a:solidFill>
                <a:latin typeface="Calibri" pitchFamily="34" charset="0"/>
                <a:ea typeface="Calibri" pitchFamily="34" charset="-122"/>
                <a:cs typeface="Calibri" pitchFamily="34" charset="-120"/>
              </a:rPr>
              <a:t>A</a:t>
            </a:r>
            <a:endParaRPr lang="en-US" sz="800" dirty="0"/>
          </a:p>
        </p:txBody>
      </p:sp>
      <p:sp>
        <p:nvSpPr>
          <p:cNvPr id="59" name="Shape 57"/>
          <p:cNvSpPr/>
          <p:nvPr/>
        </p:nvSpPr>
        <p:spPr>
          <a:xfrm>
            <a:off x="4343400" y="5166360"/>
            <a:ext cx="2606040" cy="502920"/>
          </a:xfrm>
          <a:prstGeom prst="roundRect">
            <a:avLst>
              <a:gd name="adj" fmla="val 9091"/>
            </a:avLst>
          </a:prstGeom>
          <a:solidFill>
            <a:srgbClr val="FFFFFF"/>
          </a:solidFill>
          <a:ln w="12700">
            <a:solidFill>
              <a:srgbClr val="6B4C9A"/>
            </a:solidFill>
            <a:prstDash val="dash"/>
          </a:ln>
        </p:spPr>
      </p:sp>
      <p:sp>
        <p:nvSpPr>
          <p:cNvPr id="60" name="Text 58"/>
          <p:cNvSpPr txBox="1"/>
          <p:nvPr/>
        </p:nvSpPr>
        <p:spPr>
          <a:xfrm>
            <a:off x="4389120" y="5166360"/>
            <a:ext cx="2514600" cy="502920"/>
          </a:xfrm>
          <a:prstGeom prst="rect">
            <a:avLst/>
          </a:prstGeom>
          <a:noFill/>
          <a:ln/>
        </p:spPr>
        <p:txBody>
          <a:bodyPr wrap="square" lIns="508" tIns="508" rIns="508" bIns="508" rtlCol="0" anchor="ctr"/>
          <a:lstStyle/>
          <a:p>
            <a:pPr algn="l" indent="0" marL="0">
              <a:lnSpc>
                <a:spcPct val="105000"/>
              </a:lnSpc>
              <a:buNone/>
            </a:pPr>
            <a:r>
              <a:rPr lang="en-US" sz="800" dirty="0">
                <a:solidFill>
                  <a:srgbClr val="6B4C9A"/>
                </a:solidFill>
                <a:latin typeface="Calibri" pitchFamily="34" charset="0"/>
                <a:ea typeface="Calibri" pitchFamily="34" charset="-122"/>
                <a:cs typeface="Calibri" pitchFamily="34" charset="-120"/>
              </a:rPr>
              <a:t>TSDK library: wrappers auto-register agents with Tachyon, attach Arize tracing and pre-wire Bridge, guardrails &amp; Overwatch</a:t>
            </a:r>
            <a:endParaRPr lang="en-US" sz="800" dirty="0"/>
          </a:p>
        </p:txBody>
      </p:sp>
      <p:sp>
        <p:nvSpPr>
          <p:cNvPr id="61" name="Shape 59"/>
          <p:cNvSpPr/>
          <p:nvPr/>
        </p:nvSpPr>
        <p:spPr>
          <a:xfrm flipV="1">
            <a:off x="3886200" y="4572000"/>
            <a:ext cx="457200" cy="201168"/>
          </a:xfrm>
          <a:prstGeom prst="line">
            <a:avLst/>
          </a:prstGeom>
          <a:noFill/>
          <a:ln w="19050">
            <a:solidFill>
              <a:srgbClr val="5F6368"/>
            </a:solidFill>
            <a:prstDash val="solid"/>
            <a:tailEnd type="triangle"/>
          </a:ln>
        </p:spPr>
      </p:sp>
      <p:sp>
        <p:nvSpPr>
          <p:cNvPr id="62" name="Text 60"/>
          <p:cNvSpPr txBox="1"/>
          <p:nvPr/>
        </p:nvSpPr>
        <p:spPr>
          <a:xfrm>
            <a:off x="4005072" y="4434840"/>
            <a:ext cx="274320" cy="228600"/>
          </a:xfrm>
          <a:prstGeom prst="rect">
            <a:avLst/>
          </a:prstGeom>
          <a:noFill/>
          <a:ln/>
        </p:spPr>
        <p:txBody>
          <a:bodyPr wrap="square" lIns="508" tIns="508" rIns="508" bIns="508" rtlCol="0" anchor="t"/>
          <a:lstStyle/>
          <a:p>
            <a:pPr algn="l" indent="0" marL="0">
              <a:lnSpc>
                <a:spcPct val="105000"/>
              </a:lnSpc>
              <a:buNone/>
            </a:pPr>
            <a:r>
              <a:rPr lang="en-US" sz="800" b="1" dirty="0">
                <a:solidFill>
                  <a:srgbClr val="5F6368"/>
                </a:solidFill>
                <a:latin typeface="Calibri" pitchFamily="34" charset="0"/>
                <a:ea typeface="Calibri" pitchFamily="34" charset="-122"/>
                <a:cs typeface="Calibri" pitchFamily="34" charset="-120"/>
              </a:rPr>
              <a:t>4</a:t>
            </a:r>
            <a:endParaRPr lang="en-US" sz="800" dirty="0"/>
          </a:p>
        </p:txBody>
      </p:sp>
      <p:sp>
        <p:nvSpPr>
          <p:cNvPr id="63" name="Shape 61"/>
          <p:cNvSpPr/>
          <p:nvPr/>
        </p:nvSpPr>
        <p:spPr>
          <a:xfrm>
            <a:off x="5577840" y="3017520"/>
            <a:ext cx="182880" cy="914"/>
          </a:xfrm>
          <a:prstGeom prst="line">
            <a:avLst/>
          </a:prstGeom>
          <a:noFill/>
          <a:ln w="19050">
            <a:solidFill>
              <a:srgbClr val="1A73E8"/>
            </a:solidFill>
            <a:prstDash val="solid"/>
            <a:tailEnd type="triangle"/>
          </a:ln>
        </p:spPr>
      </p:sp>
      <p:sp>
        <p:nvSpPr>
          <p:cNvPr id="64" name="Text 62"/>
          <p:cNvSpPr txBox="1"/>
          <p:nvPr/>
        </p:nvSpPr>
        <p:spPr>
          <a:xfrm>
            <a:off x="5596128" y="2761488"/>
            <a:ext cx="182880" cy="182880"/>
          </a:xfrm>
          <a:prstGeom prst="rect">
            <a:avLst/>
          </a:prstGeom>
          <a:noFill/>
          <a:ln/>
        </p:spPr>
        <p:txBody>
          <a:bodyPr wrap="square" lIns="508" tIns="508" rIns="508" bIns="508" rtlCol="0" anchor="t"/>
          <a:lstStyle/>
          <a:p>
            <a:pPr algn="l" indent="0" marL="0">
              <a:lnSpc>
                <a:spcPct val="105000"/>
              </a:lnSpc>
              <a:buNone/>
            </a:pPr>
            <a:r>
              <a:rPr lang="en-US" sz="800" b="1" dirty="0">
                <a:solidFill>
                  <a:srgbClr val="1A73E8"/>
                </a:solidFill>
                <a:latin typeface="Calibri" pitchFamily="34" charset="0"/>
                <a:ea typeface="Calibri" pitchFamily="34" charset="-122"/>
                <a:cs typeface="Calibri" pitchFamily="34" charset="-120"/>
              </a:rPr>
              <a:t>6</a:t>
            </a:r>
            <a:endParaRPr lang="en-US" sz="800" dirty="0"/>
          </a:p>
        </p:txBody>
      </p:sp>
      <p:sp>
        <p:nvSpPr>
          <p:cNvPr id="65" name="Shape 63"/>
          <p:cNvSpPr/>
          <p:nvPr/>
        </p:nvSpPr>
        <p:spPr>
          <a:xfrm>
            <a:off x="4956048" y="3703320"/>
            <a:ext cx="914" cy="457200"/>
          </a:xfrm>
          <a:prstGeom prst="line">
            <a:avLst/>
          </a:prstGeom>
          <a:noFill/>
          <a:ln w="19050">
            <a:solidFill>
              <a:srgbClr val="6B4C9A"/>
            </a:solidFill>
            <a:prstDash val="solid"/>
            <a:tailEnd type="triangle"/>
          </a:ln>
        </p:spPr>
      </p:sp>
      <p:sp>
        <p:nvSpPr>
          <p:cNvPr id="66" name="Text 64"/>
          <p:cNvSpPr txBox="1"/>
          <p:nvPr/>
        </p:nvSpPr>
        <p:spPr>
          <a:xfrm>
            <a:off x="5029200" y="3840480"/>
            <a:ext cx="822960" cy="228600"/>
          </a:xfrm>
          <a:prstGeom prst="rect">
            <a:avLst/>
          </a:prstGeom>
          <a:noFill/>
          <a:ln/>
        </p:spPr>
        <p:txBody>
          <a:bodyPr wrap="square" lIns="508" tIns="508" rIns="508" bIns="508" rtlCol="0" anchor="t"/>
          <a:lstStyle/>
          <a:p>
            <a:pPr algn="l" indent="0" marL="0">
              <a:lnSpc>
                <a:spcPct val="105000"/>
              </a:lnSpc>
              <a:buNone/>
            </a:pPr>
            <a:r>
              <a:rPr lang="en-US" sz="800" i="1" dirty="0">
                <a:solidFill>
                  <a:srgbClr val="6B4C9A"/>
                </a:solidFill>
                <a:latin typeface="Calibri" pitchFamily="34" charset="0"/>
                <a:ea typeface="Calibri" pitchFamily="34" charset="-122"/>
                <a:cs typeface="Calibri" pitchFamily="34" charset="-120"/>
              </a:rPr>
              <a:t>7 · context</a:t>
            </a:r>
            <a:endParaRPr lang="en-US" sz="800" dirty="0"/>
          </a:p>
        </p:txBody>
      </p:sp>
      <p:sp>
        <p:nvSpPr>
          <p:cNvPr id="67" name="Shape 65"/>
          <p:cNvSpPr/>
          <p:nvPr/>
        </p:nvSpPr>
        <p:spPr>
          <a:xfrm>
            <a:off x="7452360" y="2606040"/>
            <a:ext cx="1783080" cy="914400"/>
          </a:xfrm>
          <a:prstGeom prst="roundRect">
            <a:avLst>
              <a:gd name="adj" fmla="val 7000"/>
            </a:avLst>
          </a:prstGeom>
          <a:solidFill>
            <a:srgbClr val="C2410C"/>
          </a:solidFill>
          <a:ln w="12700">
            <a:solidFill>
              <a:srgbClr val="C2410C"/>
            </a:solidFill>
            <a:prstDash val="solid"/>
          </a:ln>
          <a:effectLst>
            <a:outerShdw sx="100000" sy="100000" kx="0" ky="0" algn="bl" rotWithShape="0" blurRad="50800" dist="19050" dir="5400000">
              <a:srgbClr val="000000">
                <a:alpha val="12000"/>
              </a:srgbClr>
            </a:outerShdw>
          </a:effectLst>
        </p:spPr>
      </p:sp>
      <p:sp>
        <p:nvSpPr>
          <p:cNvPr id="68" name="Text 66"/>
          <p:cNvSpPr txBox="1"/>
          <p:nvPr/>
        </p:nvSpPr>
        <p:spPr>
          <a:xfrm>
            <a:off x="7498080" y="2660904"/>
            <a:ext cx="1691640" cy="548640"/>
          </a:xfrm>
          <a:prstGeom prst="rect">
            <a:avLst/>
          </a:prstGeom>
          <a:noFill/>
          <a:ln/>
        </p:spPr>
        <p:txBody>
          <a:bodyPr wrap="square" lIns="508" tIns="508" rIns="508" bIns="508"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Tachyon AI Bridge</a:t>
            </a:r>
            <a:endParaRPr lang="en-US" sz="1000" dirty="0"/>
          </a:p>
        </p:txBody>
      </p:sp>
      <p:sp>
        <p:nvSpPr>
          <p:cNvPr id="69" name="Text 67"/>
          <p:cNvSpPr txBox="1"/>
          <p:nvPr/>
        </p:nvSpPr>
        <p:spPr>
          <a:xfrm>
            <a:off x="7498080" y="3227832"/>
            <a:ext cx="1691640" cy="256032"/>
          </a:xfrm>
          <a:prstGeom prst="rect">
            <a:avLst/>
          </a:prstGeom>
          <a:noFill/>
          <a:ln/>
        </p:spPr>
        <p:txBody>
          <a:bodyPr wrap="square" lIns="508" tIns="508" rIns="508" bIns="508" rtlCol="0" anchor="ctr"/>
          <a:lstStyle/>
          <a:p>
            <a:pPr algn="ctr" indent="0" marL="0">
              <a:lnSpc>
                <a:spcPct val="100000"/>
              </a:lnSpc>
              <a:buNone/>
            </a:pPr>
            <a:r>
              <a:rPr lang="en-US" sz="750" dirty="0">
                <a:solidFill>
                  <a:srgbClr val="E8EAED"/>
                </a:solidFill>
                <a:latin typeface="Calibri" pitchFamily="34" charset="0"/>
                <a:ea typeface="Calibri" pitchFamily="34" charset="-122"/>
                <a:cs typeface="Calibri" pitchFamily="34" charset="-120"/>
              </a:rPr>
              <a:t>model routing · failover · fusion</a:t>
            </a:r>
            <a:endParaRPr lang="en-US" sz="750" dirty="0"/>
          </a:p>
        </p:txBody>
      </p:sp>
      <p:sp>
        <p:nvSpPr>
          <p:cNvPr id="70" name="Shape 68"/>
          <p:cNvSpPr/>
          <p:nvPr/>
        </p:nvSpPr>
        <p:spPr>
          <a:xfrm>
            <a:off x="8554212" y="2496312"/>
            <a:ext cx="662940" cy="201168"/>
          </a:xfrm>
          <a:prstGeom prst="roundRect">
            <a:avLst>
              <a:gd name="adj" fmla="val 50000"/>
            </a:avLst>
          </a:prstGeom>
          <a:solidFill>
            <a:srgbClr val="8A2C06"/>
          </a:solidFill>
          <a:ln w="12700">
            <a:solidFill>
              <a:srgbClr val="FFFFFF"/>
            </a:solidFill>
            <a:prstDash val="solid"/>
          </a:ln>
        </p:spPr>
      </p:sp>
      <p:sp>
        <p:nvSpPr>
          <p:cNvPr id="71" name="Text 69"/>
          <p:cNvSpPr txBox="1"/>
          <p:nvPr/>
        </p:nvSpPr>
        <p:spPr>
          <a:xfrm>
            <a:off x="8554212" y="2496312"/>
            <a:ext cx="662940" cy="201168"/>
          </a:xfrm>
          <a:prstGeom prst="rect">
            <a:avLst/>
          </a:prstGeom>
          <a:noFill/>
          <a:ln/>
        </p:spPr>
        <p:txBody>
          <a:bodyPr wrap="square" lIns="508" tIns="508" rIns="508" bIns="508" rtlCol="0" anchor="ctr"/>
          <a:lstStyle/>
          <a:p>
            <a:pPr algn="ctr" indent="0" marL="0">
              <a:lnSpc>
                <a:spcPct val="105000"/>
              </a:lnSpc>
              <a:buNone/>
            </a:pPr>
            <a:r>
              <a:rPr lang="en-US" sz="700" b="1" dirty="0">
                <a:solidFill>
                  <a:srgbClr val="FFFFFF"/>
                </a:solidFill>
                <a:latin typeface="Calibri" pitchFamily="34" charset="0"/>
                <a:ea typeface="Calibri" pitchFamily="34" charset="-122"/>
                <a:cs typeface="Calibri" pitchFamily="34" charset="-120"/>
              </a:rPr>
              <a:t>TACHYON</a:t>
            </a:r>
            <a:endParaRPr lang="en-US" sz="700" dirty="0"/>
          </a:p>
        </p:txBody>
      </p:sp>
      <p:sp>
        <p:nvSpPr>
          <p:cNvPr id="72" name="Shape 70"/>
          <p:cNvSpPr/>
          <p:nvPr/>
        </p:nvSpPr>
        <p:spPr>
          <a:xfrm>
            <a:off x="7452360" y="4069080"/>
            <a:ext cx="1783080" cy="685800"/>
          </a:xfrm>
          <a:prstGeom prst="roundRect">
            <a:avLst>
              <a:gd name="adj" fmla="val 9333"/>
            </a:avLst>
          </a:prstGeom>
          <a:solidFill>
            <a:srgbClr val="C2410C"/>
          </a:solidFill>
          <a:ln w="12700">
            <a:solidFill>
              <a:srgbClr val="C2410C"/>
            </a:solidFill>
            <a:prstDash val="solid"/>
          </a:ln>
          <a:effectLst>
            <a:outerShdw sx="100000" sy="100000" kx="0" ky="0" algn="bl" rotWithShape="0" blurRad="50800" dist="19050" dir="5400000">
              <a:srgbClr val="000000">
                <a:alpha val="12000"/>
              </a:srgbClr>
            </a:outerShdw>
          </a:effectLst>
        </p:spPr>
      </p:sp>
      <p:sp>
        <p:nvSpPr>
          <p:cNvPr id="73" name="Text 71"/>
          <p:cNvSpPr txBox="1"/>
          <p:nvPr/>
        </p:nvSpPr>
        <p:spPr>
          <a:xfrm>
            <a:off x="7498080" y="4123944"/>
            <a:ext cx="1691640" cy="320040"/>
          </a:xfrm>
          <a:prstGeom prst="rect">
            <a:avLst/>
          </a:prstGeom>
          <a:noFill/>
          <a:ln/>
        </p:spPr>
        <p:txBody>
          <a:bodyPr wrap="square" lIns="508" tIns="508" rIns="508" bIns="508"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Overwatch</a:t>
            </a:r>
            <a:endParaRPr lang="en-US" sz="1000" dirty="0"/>
          </a:p>
        </p:txBody>
      </p:sp>
      <p:sp>
        <p:nvSpPr>
          <p:cNvPr id="74" name="Text 72"/>
          <p:cNvSpPr txBox="1"/>
          <p:nvPr/>
        </p:nvSpPr>
        <p:spPr>
          <a:xfrm>
            <a:off x="7498080" y="4462272"/>
            <a:ext cx="1691640" cy="256032"/>
          </a:xfrm>
          <a:prstGeom prst="rect">
            <a:avLst/>
          </a:prstGeom>
          <a:noFill/>
          <a:ln/>
        </p:spPr>
        <p:txBody>
          <a:bodyPr wrap="square" lIns="508" tIns="508" rIns="508" bIns="508" rtlCol="0" anchor="ctr"/>
          <a:lstStyle/>
          <a:p>
            <a:pPr algn="ctr" indent="0" marL="0">
              <a:lnSpc>
                <a:spcPct val="100000"/>
              </a:lnSpc>
              <a:buNone/>
            </a:pPr>
            <a:r>
              <a:rPr lang="en-US" sz="750" dirty="0">
                <a:solidFill>
                  <a:srgbClr val="E8EAED"/>
                </a:solidFill>
                <a:latin typeface="Calibri" pitchFamily="34" charset="0"/>
                <a:ea typeface="Calibri" pitchFamily="34" charset="-122"/>
                <a:cs typeface="Calibri" pitchFamily="34" charset="-120"/>
              </a:rPr>
              <a:t>monitoring · goal validation</a:t>
            </a:r>
            <a:endParaRPr lang="en-US" sz="750" dirty="0"/>
          </a:p>
        </p:txBody>
      </p:sp>
      <p:sp>
        <p:nvSpPr>
          <p:cNvPr id="75" name="Shape 73"/>
          <p:cNvSpPr/>
          <p:nvPr/>
        </p:nvSpPr>
        <p:spPr>
          <a:xfrm>
            <a:off x="8554212" y="3959352"/>
            <a:ext cx="662940" cy="201168"/>
          </a:xfrm>
          <a:prstGeom prst="roundRect">
            <a:avLst>
              <a:gd name="adj" fmla="val 50000"/>
            </a:avLst>
          </a:prstGeom>
          <a:solidFill>
            <a:srgbClr val="8A2C06"/>
          </a:solidFill>
          <a:ln w="12700">
            <a:solidFill>
              <a:srgbClr val="FFFFFF"/>
            </a:solidFill>
            <a:prstDash val="solid"/>
          </a:ln>
        </p:spPr>
      </p:sp>
      <p:sp>
        <p:nvSpPr>
          <p:cNvPr id="76" name="Text 74"/>
          <p:cNvSpPr txBox="1"/>
          <p:nvPr/>
        </p:nvSpPr>
        <p:spPr>
          <a:xfrm>
            <a:off x="8554212" y="3959352"/>
            <a:ext cx="662940" cy="201168"/>
          </a:xfrm>
          <a:prstGeom prst="rect">
            <a:avLst/>
          </a:prstGeom>
          <a:noFill/>
          <a:ln/>
        </p:spPr>
        <p:txBody>
          <a:bodyPr wrap="square" lIns="508" tIns="508" rIns="508" bIns="508" rtlCol="0" anchor="ctr"/>
          <a:lstStyle/>
          <a:p>
            <a:pPr algn="ctr" indent="0" marL="0">
              <a:lnSpc>
                <a:spcPct val="105000"/>
              </a:lnSpc>
              <a:buNone/>
            </a:pPr>
            <a:r>
              <a:rPr lang="en-US" sz="700" b="1" dirty="0">
                <a:solidFill>
                  <a:srgbClr val="FFFFFF"/>
                </a:solidFill>
                <a:latin typeface="Calibri" pitchFamily="34" charset="0"/>
                <a:ea typeface="Calibri" pitchFamily="34" charset="-122"/>
                <a:cs typeface="Calibri" pitchFamily="34" charset="-120"/>
              </a:rPr>
              <a:t>TACHYON</a:t>
            </a:r>
            <a:endParaRPr lang="en-US" sz="700" dirty="0"/>
          </a:p>
        </p:txBody>
      </p:sp>
      <p:sp>
        <p:nvSpPr>
          <p:cNvPr id="77" name="Shape 75"/>
          <p:cNvSpPr/>
          <p:nvPr/>
        </p:nvSpPr>
        <p:spPr>
          <a:xfrm>
            <a:off x="7452360" y="4983480"/>
            <a:ext cx="1783080" cy="731520"/>
          </a:xfrm>
          <a:prstGeom prst="roundRect">
            <a:avLst>
              <a:gd name="adj" fmla="val 8750"/>
            </a:avLst>
          </a:prstGeom>
          <a:solidFill>
            <a:srgbClr val="C2410C"/>
          </a:solidFill>
          <a:ln w="12700">
            <a:solidFill>
              <a:srgbClr val="C2410C"/>
            </a:solidFill>
            <a:prstDash val="solid"/>
          </a:ln>
          <a:effectLst>
            <a:outerShdw sx="100000" sy="100000" kx="0" ky="0" algn="bl" rotWithShape="0" blurRad="50800" dist="19050" dir="5400000">
              <a:srgbClr val="000000">
                <a:alpha val="12000"/>
              </a:srgbClr>
            </a:outerShdw>
          </a:effectLst>
        </p:spPr>
      </p:sp>
      <p:sp>
        <p:nvSpPr>
          <p:cNvPr id="78" name="Text 76"/>
          <p:cNvSpPr txBox="1"/>
          <p:nvPr/>
        </p:nvSpPr>
        <p:spPr>
          <a:xfrm>
            <a:off x="7498080" y="5038344"/>
            <a:ext cx="1691640" cy="365760"/>
          </a:xfrm>
          <a:prstGeom prst="rect">
            <a:avLst/>
          </a:prstGeom>
          <a:noFill/>
          <a:ln/>
        </p:spPr>
        <p:txBody>
          <a:bodyPr wrap="square" lIns="508" tIns="508" rIns="508" bIns="508"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Guardrails &amp; Evals</a:t>
            </a:r>
            <a:endParaRPr lang="en-US" sz="1000" dirty="0"/>
          </a:p>
        </p:txBody>
      </p:sp>
      <p:sp>
        <p:nvSpPr>
          <p:cNvPr id="79" name="Text 77"/>
          <p:cNvSpPr txBox="1"/>
          <p:nvPr/>
        </p:nvSpPr>
        <p:spPr>
          <a:xfrm>
            <a:off x="7498080" y="5422392"/>
            <a:ext cx="1691640" cy="256032"/>
          </a:xfrm>
          <a:prstGeom prst="rect">
            <a:avLst/>
          </a:prstGeom>
          <a:noFill/>
          <a:ln/>
        </p:spPr>
        <p:txBody>
          <a:bodyPr wrap="square" lIns="508" tIns="508" rIns="508" bIns="508" rtlCol="0" anchor="ctr"/>
          <a:lstStyle/>
          <a:p>
            <a:pPr algn="ctr" indent="0" marL="0">
              <a:lnSpc>
                <a:spcPct val="100000"/>
              </a:lnSpc>
              <a:buNone/>
            </a:pPr>
            <a:r>
              <a:rPr lang="en-US" sz="750" dirty="0">
                <a:solidFill>
                  <a:srgbClr val="E8EAED"/>
                </a:solidFill>
                <a:latin typeface="Calibri" pitchFamily="34" charset="0"/>
                <a:ea typeface="Calibri" pitchFamily="34" charset="-122"/>
                <a:cs typeface="Calibri" pitchFamily="34" charset="-120"/>
              </a:rPr>
              <a:t>budgets · loops · drift</a:t>
            </a:r>
            <a:endParaRPr lang="en-US" sz="750" dirty="0"/>
          </a:p>
        </p:txBody>
      </p:sp>
      <p:sp>
        <p:nvSpPr>
          <p:cNvPr id="80" name="Shape 78"/>
          <p:cNvSpPr/>
          <p:nvPr/>
        </p:nvSpPr>
        <p:spPr>
          <a:xfrm>
            <a:off x="8554212" y="4873752"/>
            <a:ext cx="662940" cy="201168"/>
          </a:xfrm>
          <a:prstGeom prst="roundRect">
            <a:avLst>
              <a:gd name="adj" fmla="val 50000"/>
            </a:avLst>
          </a:prstGeom>
          <a:solidFill>
            <a:srgbClr val="8A2C06"/>
          </a:solidFill>
          <a:ln w="12700">
            <a:solidFill>
              <a:srgbClr val="FFFFFF"/>
            </a:solidFill>
            <a:prstDash val="solid"/>
          </a:ln>
        </p:spPr>
      </p:sp>
      <p:sp>
        <p:nvSpPr>
          <p:cNvPr id="81" name="Text 79"/>
          <p:cNvSpPr txBox="1"/>
          <p:nvPr/>
        </p:nvSpPr>
        <p:spPr>
          <a:xfrm>
            <a:off x="8554212" y="4873752"/>
            <a:ext cx="662940" cy="201168"/>
          </a:xfrm>
          <a:prstGeom prst="rect">
            <a:avLst/>
          </a:prstGeom>
          <a:noFill/>
          <a:ln/>
        </p:spPr>
        <p:txBody>
          <a:bodyPr wrap="square" lIns="508" tIns="508" rIns="508" bIns="508" rtlCol="0" anchor="ctr"/>
          <a:lstStyle/>
          <a:p>
            <a:pPr algn="ctr" indent="0" marL="0">
              <a:lnSpc>
                <a:spcPct val="105000"/>
              </a:lnSpc>
              <a:buNone/>
            </a:pPr>
            <a:r>
              <a:rPr lang="en-US" sz="700" b="1" dirty="0">
                <a:solidFill>
                  <a:srgbClr val="FFFFFF"/>
                </a:solidFill>
                <a:latin typeface="Calibri" pitchFamily="34" charset="0"/>
                <a:ea typeface="Calibri" pitchFamily="34" charset="-122"/>
                <a:cs typeface="Calibri" pitchFamily="34" charset="-120"/>
              </a:rPr>
              <a:t>TACHYON</a:t>
            </a:r>
            <a:endParaRPr lang="en-US" sz="700" dirty="0"/>
          </a:p>
        </p:txBody>
      </p:sp>
      <p:sp>
        <p:nvSpPr>
          <p:cNvPr id="82" name="Shape 80"/>
          <p:cNvSpPr/>
          <p:nvPr/>
        </p:nvSpPr>
        <p:spPr>
          <a:xfrm>
            <a:off x="6949440" y="2926080"/>
            <a:ext cx="502920" cy="914"/>
          </a:xfrm>
          <a:prstGeom prst="line">
            <a:avLst/>
          </a:prstGeom>
          <a:noFill/>
          <a:ln w="19050">
            <a:solidFill>
              <a:srgbClr val="C2410C"/>
            </a:solidFill>
            <a:prstDash val="solid"/>
            <a:tailEnd type="triangle"/>
          </a:ln>
        </p:spPr>
      </p:sp>
      <p:sp>
        <p:nvSpPr>
          <p:cNvPr id="83" name="Text 81"/>
          <p:cNvSpPr txBox="1"/>
          <p:nvPr/>
        </p:nvSpPr>
        <p:spPr>
          <a:xfrm>
            <a:off x="5486400" y="2212848"/>
            <a:ext cx="1600200" cy="274320"/>
          </a:xfrm>
          <a:prstGeom prst="rect">
            <a:avLst/>
          </a:prstGeom>
          <a:noFill/>
          <a:ln/>
        </p:spPr>
        <p:txBody>
          <a:bodyPr wrap="square" lIns="508" tIns="508" rIns="508" bIns="508" rtlCol="0" anchor="t"/>
          <a:lstStyle/>
          <a:p>
            <a:pPr algn="r" indent="0" marL="0">
              <a:lnSpc>
                <a:spcPct val="105000"/>
              </a:lnSpc>
              <a:buNone/>
            </a:pPr>
            <a:r>
              <a:rPr lang="en-US" sz="750" i="1" dirty="0">
                <a:solidFill>
                  <a:srgbClr val="C2410C"/>
                </a:solidFill>
                <a:latin typeface="Calibri" pitchFamily="34" charset="0"/>
                <a:ea typeface="Calibri" pitchFamily="34" charset="-122"/>
                <a:cs typeface="Calibri" pitchFamily="34" charset="-120"/>
              </a:rPr>
              <a:t>5 classify · 8 plan · 11 generate →</a:t>
            </a:r>
            <a:endParaRPr lang="en-US" sz="750" dirty="0"/>
          </a:p>
        </p:txBody>
      </p:sp>
      <p:sp>
        <p:nvSpPr>
          <p:cNvPr id="84" name="Shape 82"/>
          <p:cNvSpPr/>
          <p:nvPr/>
        </p:nvSpPr>
        <p:spPr>
          <a:xfrm>
            <a:off x="6949440" y="4434840"/>
            <a:ext cx="502920" cy="914"/>
          </a:xfrm>
          <a:prstGeom prst="line">
            <a:avLst/>
          </a:prstGeom>
          <a:noFill/>
          <a:ln w="19050">
            <a:solidFill>
              <a:srgbClr val="C2410C"/>
            </a:solidFill>
            <a:prstDash val="solid"/>
            <a:tailEnd type="triangle"/>
          </a:ln>
        </p:spPr>
      </p:sp>
      <p:sp>
        <p:nvSpPr>
          <p:cNvPr id="85" name="Text 83"/>
          <p:cNvSpPr txBox="1"/>
          <p:nvPr/>
        </p:nvSpPr>
        <p:spPr>
          <a:xfrm>
            <a:off x="7452360" y="4773168"/>
            <a:ext cx="1783080" cy="201168"/>
          </a:xfrm>
          <a:prstGeom prst="rect">
            <a:avLst/>
          </a:prstGeom>
          <a:noFill/>
          <a:ln/>
        </p:spPr>
        <p:txBody>
          <a:bodyPr wrap="square" lIns="508" tIns="508" rIns="508" bIns="508" rtlCol="0" anchor="t"/>
          <a:lstStyle/>
          <a:p>
            <a:pPr algn="ctr" indent="0" marL="0">
              <a:lnSpc>
                <a:spcPct val="105000"/>
              </a:lnSpc>
              <a:buNone/>
            </a:pPr>
            <a:r>
              <a:rPr lang="en-US" sz="700" i="1" dirty="0">
                <a:solidFill>
                  <a:srgbClr val="C2410C"/>
                </a:solidFill>
                <a:latin typeface="Calibri" pitchFamily="34" charset="0"/>
                <a:ea typeface="Calibri" pitchFamily="34" charset="-122"/>
                <a:cs typeface="Calibri" pitchFamily="34" charset="-120"/>
              </a:rPr>
              <a:t>12 · validate goal, log LLM metrics</a:t>
            </a:r>
            <a:endParaRPr lang="en-US" sz="700" dirty="0"/>
          </a:p>
        </p:txBody>
      </p:sp>
      <p:sp>
        <p:nvSpPr>
          <p:cNvPr id="86" name="Shape 84"/>
          <p:cNvSpPr/>
          <p:nvPr/>
        </p:nvSpPr>
        <p:spPr>
          <a:xfrm>
            <a:off x="9784080" y="3337560"/>
            <a:ext cx="1645920" cy="822960"/>
          </a:xfrm>
          <a:prstGeom prst="roundRect">
            <a:avLst>
              <a:gd name="adj" fmla="val 7778"/>
            </a:avLst>
          </a:prstGeom>
          <a:solidFill>
            <a:srgbClr val="C2410C"/>
          </a:solidFill>
          <a:ln w="12700">
            <a:solidFill>
              <a:srgbClr val="C2410C"/>
            </a:solidFill>
            <a:prstDash val="solid"/>
          </a:ln>
          <a:effectLst>
            <a:outerShdw sx="100000" sy="100000" kx="0" ky="0" algn="bl" rotWithShape="0" blurRad="50800" dist="19050" dir="5400000">
              <a:srgbClr val="000000">
                <a:alpha val="12000"/>
              </a:srgbClr>
            </a:outerShdw>
          </a:effectLst>
        </p:spPr>
      </p:sp>
      <p:sp>
        <p:nvSpPr>
          <p:cNvPr id="87" name="Text 85"/>
          <p:cNvSpPr txBox="1"/>
          <p:nvPr/>
        </p:nvSpPr>
        <p:spPr>
          <a:xfrm>
            <a:off x="9829800" y="3392424"/>
            <a:ext cx="1554480" cy="457200"/>
          </a:xfrm>
          <a:prstGeom prst="rect">
            <a:avLst/>
          </a:prstGeom>
          <a:noFill/>
          <a:ln/>
        </p:spPr>
        <p:txBody>
          <a:bodyPr wrap="square" lIns="508" tIns="508" rIns="508" bIns="508"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MCP Server</a:t>
            </a:r>
            <a:endParaRPr lang="en-US" sz="1000" dirty="0"/>
          </a:p>
        </p:txBody>
      </p:sp>
      <p:sp>
        <p:nvSpPr>
          <p:cNvPr id="88" name="Text 86"/>
          <p:cNvSpPr txBox="1"/>
          <p:nvPr/>
        </p:nvSpPr>
        <p:spPr>
          <a:xfrm>
            <a:off x="9829800" y="3867912"/>
            <a:ext cx="1554480" cy="256032"/>
          </a:xfrm>
          <a:prstGeom prst="rect">
            <a:avLst/>
          </a:prstGeom>
          <a:noFill/>
          <a:ln/>
        </p:spPr>
        <p:txBody>
          <a:bodyPr wrap="square" lIns="508" tIns="508" rIns="508" bIns="508" rtlCol="0" anchor="ctr"/>
          <a:lstStyle/>
          <a:p>
            <a:pPr algn="ctr" indent="0" marL="0">
              <a:lnSpc>
                <a:spcPct val="100000"/>
              </a:lnSpc>
              <a:buNone/>
            </a:pPr>
            <a:r>
              <a:rPr lang="en-US" sz="750" dirty="0">
                <a:solidFill>
                  <a:srgbClr val="E8EAED"/>
                </a:solidFill>
                <a:latin typeface="Calibri" pitchFamily="34" charset="0"/>
                <a:ea typeface="Calibri" pitchFamily="34" charset="-122"/>
                <a:cs typeface="Calibri" pitchFamily="34" charset="-120"/>
              </a:rPr>
              <a:t>Tool Registry · via Tool wrappers</a:t>
            </a:r>
            <a:endParaRPr lang="en-US" sz="750" dirty="0"/>
          </a:p>
        </p:txBody>
      </p:sp>
      <p:sp>
        <p:nvSpPr>
          <p:cNvPr id="89" name="Shape 87"/>
          <p:cNvSpPr/>
          <p:nvPr/>
        </p:nvSpPr>
        <p:spPr>
          <a:xfrm>
            <a:off x="10748772" y="3227832"/>
            <a:ext cx="662940" cy="201168"/>
          </a:xfrm>
          <a:prstGeom prst="roundRect">
            <a:avLst>
              <a:gd name="adj" fmla="val 50000"/>
            </a:avLst>
          </a:prstGeom>
          <a:solidFill>
            <a:srgbClr val="8A2C06"/>
          </a:solidFill>
          <a:ln w="12700">
            <a:solidFill>
              <a:srgbClr val="FFFFFF"/>
            </a:solidFill>
            <a:prstDash val="solid"/>
          </a:ln>
        </p:spPr>
      </p:sp>
      <p:sp>
        <p:nvSpPr>
          <p:cNvPr id="90" name="Text 88"/>
          <p:cNvSpPr txBox="1"/>
          <p:nvPr/>
        </p:nvSpPr>
        <p:spPr>
          <a:xfrm>
            <a:off x="10748772" y="3227832"/>
            <a:ext cx="662940" cy="201168"/>
          </a:xfrm>
          <a:prstGeom prst="rect">
            <a:avLst/>
          </a:prstGeom>
          <a:noFill/>
          <a:ln/>
        </p:spPr>
        <p:txBody>
          <a:bodyPr wrap="square" lIns="508" tIns="508" rIns="508" bIns="508" rtlCol="0" anchor="ctr"/>
          <a:lstStyle/>
          <a:p>
            <a:pPr algn="ctr" indent="0" marL="0">
              <a:lnSpc>
                <a:spcPct val="105000"/>
              </a:lnSpc>
              <a:buNone/>
            </a:pPr>
            <a:r>
              <a:rPr lang="en-US" sz="700" b="1" dirty="0">
                <a:solidFill>
                  <a:srgbClr val="FFFFFF"/>
                </a:solidFill>
                <a:latin typeface="Calibri" pitchFamily="34" charset="0"/>
                <a:ea typeface="Calibri" pitchFamily="34" charset="-122"/>
                <a:cs typeface="Calibri" pitchFamily="34" charset="-120"/>
              </a:rPr>
              <a:t>TACHYON</a:t>
            </a:r>
            <a:endParaRPr lang="en-US" sz="700" dirty="0"/>
          </a:p>
        </p:txBody>
      </p:sp>
      <p:sp>
        <p:nvSpPr>
          <p:cNvPr id="91" name="Shape 89"/>
          <p:cNvSpPr/>
          <p:nvPr/>
        </p:nvSpPr>
        <p:spPr>
          <a:xfrm>
            <a:off x="9829800" y="3236976"/>
            <a:ext cx="219456" cy="219456"/>
          </a:xfrm>
          <a:prstGeom prst="roundRect">
            <a:avLst>
              <a:gd name="adj" fmla="val 50000"/>
            </a:avLst>
          </a:prstGeom>
          <a:solidFill>
            <a:srgbClr val="FFFFFF"/>
          </a:solidFill>
          <a:ln w="19050">
            <a:solidFill>
              <a:srgbClr val="1E8E3E"/>
            </a:solidFill>
            <a:prstDash val="solid"/>
          </a:ln>
        </p:spPr>
      </p:sp>
      <p:sp>
        <p:nvSpPr>
          <p:cNvPr id="92" name="Text 90"/>
          <p:cNvSpPr txBox="1"/>
          <p:nvPr/>
        </p:nvSpPr>
        <p:spPr>
          <a:xfrm>
            <a:off x="9829800" y="3236976"/>
            <a:ext cx="219456" cy="219456"/>
          </a:xfrm>
          <a:prstGeom prst="rect">
            <a:avLst/>
          </a:prstGeom>
          <a:noFill/>
          <a:ln/>
        </p:spPr>
        <p:txBody>
          <a:bodyPr wrap="square" lIns="0" tIns="0" rIns="0" bIns="0" rtlCol="0" anchor="ctr"/>
          <a:lstStyle/>
          <a:p>
            <a:pPr algn="ctr" indent="0" marL="0">
              <a:lnSpc>
                <a:spcPct val="105000"/>
              </a:lnSpc>
              <a:buNone/>
            </a:pPr>
            <a:r>
              <a:rPr lang="en-US" sz="800" b="1" dirty="0">
                <a:solidFill>
                  <a:srgbClr val="146C2E"/>
                </a:solidFill>
                <a:latin typeface="Calibri" pitchFamily="34" charset="0"/>
                <a:ea typeface="Calibri" pitchFamily="34" charset="-122"/>
                <a:cs typeface="Calibri" pitchFamily="34" charset="-120"/>
              </a:rPr>
              <a:t>F</a:t>
            </a:r>
            <a:endParaRPr lang="en-US" sz="800" dirty="0"/>
          </a:p>
        </p:txBody>
      </p:sp>
      <p:sp>
        <p:nvSpPr>
          <p:cNvPr id="93" name="Shape 91"/>
          <p:cNvSpPr/>
          <p:nvPr/>
        </p:nvSpPr>
        <p:spPr>
          <a:xfrm>
            <a:off x="9784080" y="4343400"/>
            <a:ext cx="1645920" cy="640080"/>
          </a:xfrm>
          <a:prstGeom prst="roundRect">
            <a:avLst>
              <a:gd name="adj" fmla="val 10000"/>
            </a:avLst>
          </a:prstGeom>
          <a:solidFill>
            <a:srgbClr val="5F6368"/>
          </a:solidFill>
          <a:ln w="12700">
            <a:solidFill>
              <a:srgbClr val="5F6368"/>
            </a:solidFill>
            <a:prstDash val="solid"/>
          </a:ln>
          <a:effectLst>
            <a:outerShdw sx="100000" sy="100000" kx="0" ky="0" algn="bl" rotWithShape="0" blurRad="50800" dist="19050" dir="5400000">
              <a:srgbClr val="000000">
                <a:alpha val="12000"/>
              </a:srgbClr>
            </a:outerShdw>
          </a:effectLst>
        </p:spPr>
      </p:sp>
      <p:sp>
        <p:nvSpPr>
          <p:cNvPr id="94" name="Text 92"/>
          <p:cNvSpPr txBox="1"/>
          <p:nvPr/>
        </p:nvSpPr>
        <p:spPr>
          <a:xfrm>
            <a:off x="9829800" y="4398264"/>
            <a:ext cx="1554480" cy="274320"/>
          </a:xfrm>
          <a:prstGeom prst="rect">
            <a:avLst/>
          </a:prstGeom>
          <a:noFill/>
          <a:ln/>
        </p:spPr>
        <p:txBody>
          <a:bodyPr wrap="square" lIns="508" tIns="508" rIns="508" bIns="508"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Tools</a:t>
            </a:r>
            <a:endParaRPr lang="en-US" sz="1000" dirty="0"/>
          </a:p>
        </p:txBody>
      </p:sp>
      <p:sp>
        <p:nvSpPr>
          <p:cNvPr id="95" name="Text 93"/>
          <p:cNvSpPr txBox="1"/>
          <p:nvPr/>
        </p:nvSpPr>
        <p:spPr>
          <a:xfrm>
            <a:off x="9829800" y="4690872"/>
            <a:ext cx="1554480" cy="256032"/>
          </a:xfrm>
          <a:prstGeom prst="rect">
            <a:avLst/>
          </a:prstGeom>
          <a:noFill/>
          <a:ln/>
        </p:spPr>
        <p:txBody>
          <a:bodyPr wrap="square" lIns="508" tIns="508" rIns="508" bIns="508" rtlCol="0" anchor="ctr"/>
          <a:lstStyle/>
          <a:p>
            <a:pPr algn="ctr" indent="0" marL="0">
              <a:lnSpc>
                <a:spcPct val="100000"/>
              </a:lnSpc>
              <a:buNone/>
            </a:pPr>
            <a:r>
              <a:rPr lang="en-US" sz="750" dirty="0">
                <a:solidFill>
                  <a:srgbClr val="E8EAED"/>
                </a:solidFill>
                <a:latin typeface="Calibri" pitchFamily="34" charset="0"/>
                <a:ea typeface="Calibri" pitchFamily="34" charset="-122"/>
                <a:cs typeface="Calibri" pitchFamily="34" charset="-120"/>
              </a:rPr>
              <a:t>WF-built MCP tools</a:t>
            </a:r>
            <a:endParaRPr lang="en-US" sz="750" dirty="0"/>
          </a:p>
        </p:txBody>
      </p:sp>
      <p:sp>
        <p:nvSpPr>
          <p:cNvPr id="96" name="Shape 94"/>
          <p:cNvSpPr/>
          <p:nvPr/>
        </p:nvSpPr>
        <p:spPr>
          <a:xfrm>
            <a:off x="9784080" y="5166360"/>
            <a:ext cx="1645920" cy="594360"/>
          </a:xfrm>
          <a:prstGeom prst="roundRect">
            <a:avLst>
              <a:gd name="adj" fmla="val 10769"/>
            </a:avLst>
          </a:prstGeom>
          <a:solidFill>
            <a:srgbClr val="5F6368"/>
          </a:solidFill>
          <a:ln w="12700">
            <a:solidFill>
              <a:srgbClr val="5F6368"/>
            </a:solidFill>
            <a:prstDash val="solid"/>
          </a:ln>
          <a:effectLst>
            <a:outerShdw sx="100000" sy="100000" kx="0" ky="0" algn="bl" rotWithShape="0" blurRad="50800" dist="19050" dir="5400000">
              <a:srgbClr val="000000">
                <a:alpha val="12000"/>
              </a:srgbClr>
            </a:outerShdw>
          </a:effectLst>
        </p:spPr>
      </p:sp>
      <p:sp>
        <p:nvSpPr>
          <p:cNvPr id="97" name="Text 95"/>
          <p:cNvSpPr txBox="1"/>
          <p:nvPr/>
        </p:nvSpPr>
        <p:spPr>
          <a:xfrm>
            <a:off x="9829800" y="5221224"/>
            <a:ext cx="1554480" cy="228600"/>
          </a:xfrm>
          <a:prstGeom prst="rect">
            <a:avLst/>
          </a:prstGeom>
          <a:noFill/>
          <a:ln/>
        </p:spPr>
        <p:txBody>
          <a:bodyPr wrap="square" lIns="508" tIns="508" rIns="508" bIns="508"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chat-data-service</a:t>
            </a:r>
            <a:endParaRPr lang="en-US" sz="1000" dirty="0"/>
          </a:p>
        </p:txBody>
      </p:sp>
      <p:sp>
        <p:nvSpPr>
          <p:cNvPr id="98" name="Text 96"/>
          <p:cNvSpPr txBox="1"/>
          <p:nvPr/>
        </p:nvSpPr>
        <p:spPr>
          <a:xfrm>
            <a:off x="9829800" y="5468112"/>
            <a:ext cx="1554480" cy="256032"/>
          </a:xfrm>
          <a:prstGeom prst="rect">
            <a:avLst/>
          </a:prstGeom>
          <a:noFill/>
          <a:ln/>
        </p:spPr>
        <p:txBody>
          <a:bodyPr wrap="square" lIns="508" tIns="508" rIns="508" bIns="508" rtlCol="0" anchor="ctr"/>
          <a:lstStyle/>
          <a:p>
            <a:pPr algn="ctr" indent="0" marL="0">
              <a:lnSpc>
                <a:spcPct val="100000"/>
              </a:lnSpc>
              <a:buNone/>
            </a:pPr>
            <a:r>
              <a:rPr lang="en-US" sz="750" dirty="0">
                <a:solidFill>
                  <a:srgbClr val="E8EAED"/>
                </a:solidFill>
                <a:latin typeface="Calibri" pitchFamily="34" charset="0"/>
                <a:ea typeface="Calibri" pitchFamily="34" charset="-122"/>
                <a:cs typeface="Calibri" pitchFamily="34" charset="-120"/>
              </a:rPr>
              <a:t>backend services</a:t>
            </a:r>
            <a:endParaRPr lang="en-US" sz="750" dirty="0"/>
          </a:p>
        </p:txBody>
      </p:sp>
      <p:sp>
        <p:nvSpPr>
          <p:cNvPr id="99" name="Shape 97"/>
          <p:cNvSpPr/>
          <p:nvPr/>
        </p:nvSpPr>
        <p:spPr>
          <a:xfrm>
            <a:off x="10607040" y="4160520"/>
            <a:ext cx="914" cy="182880"/>
          </a:xfrm>
          <a:prstGeom prst="line">
            <a:avLst/>
          </a:prstGeom>
          <a:noFill/>
          <a:ln w="19050">
            <a:solidFill>
              <a:srgbClr val="5F6368"/>
            </a:solidFill>
            <a:prstDash val="solid"/>
            <a:tailEnd type="triangle"/>
          </a:ln>
        </p:spPr>
      </p:sp>
      <p:sp>
        <p:nvSpPr>
          <p:cNvPr id="100" name="Shape 98"/>
          <p:cNvSpPr/>
          <p:nvPr/>
        </p:nvSpPr>
        <p:spPr>
          <a:xfrm>
            <a:off x="10607040" y="4983480"/>
            <a:ext cx="914" cy="182880"/>
          </a:xfrm>
          <a:prstGeom prst="line">
            <a:avLst/>
          </a:prstGeom>
          <a:noFill/>
          <a:ln w="19050">
            <a:solidFill>
              <a:srgbClr val="5F6368"/>
            </a:solidFill>
            <a:prstDash val="solid"/>
            <a:tailEnd type="triangle"/>
          </a:ln>
        </p:spPr>
      </p:sp>
      <p:sp>
        <p:nvSpPr>
          <p:cNvPr id="101" name="Shape 99"/>
          <p:cNvSpPr/>
          <p:nvPr/>
        </p:nvSpPr>
        <p:spPr>
          <a:xfrm>
            <a:off x="6355080" y="3703320"/>
            <a:ext cx="914" cy="137160"/>
          </a:xfrm>
          <a:prstGeom prst="line">
            <a:avLst/>
          </a:prstGeom>
          <a:noFill/>
          <a:ln w="19050">
            <a:solidFill>
              <a:srgbClr val="6B4C9A"/>
            </a:solidFill>
            <a:prstDash val="dash"/>
          </a:ln>
        </p:spPr>
      </p:sp>
      <p:sp>
        <p:nvSpPr>
          <p:cNvPr id="102" name="Shape 100"/>
          <p:cNvSpPr/>
          <p:nvPr/>
        </p:nvSpPr>
        <p:spPr>
          <a:xfrm>
            <a:off x="6355080" y="3840480"/>
            <a:ext cx="3429000" cy="914"/>
          </a:xfrm>
          <a:prstGeom prst="line">
            <a:avLst/>
          </a:prstGeom>
          <a:noFill/>
          <a:ln w="19050">
            <a:solidFill>
              <a:srgbClr val="6B4C9A"/>
            </a:solidFill>
            <a:prstDash val="dash"/>
            <a:tailEnd type="triangle"/>
          </a:ln>
        </p:spPr>
      </p:sp>
      <p:sp>
        <p:nvSpPr>
          <p:cNvPr id="103" name="Text 101"/>
          <p:cNvSpPr txBox="1"/>
          <p:nvPr/>
        </p:nvSpPr>
        <p:spPr>
          <a:xfrm>
            <a:off x="7452360" y="3858768"/>
            <a:ext cx="2194560" cy="228600"/>
          </a:xfrm>
          <a:prstGeom prst="rect">
            <a:avLst/>
          </a:prstGeom>
          <a:noFill/>
          <a:ln/>
        </p:spPr>
        <p:txBody>
          <a:bodyPr wrap="square" lIns="508" tIns="508" rIns="508" bIns="508" rtlCol="0" anchor="t"/>
          <a:lstStyle/>
          <a:p>
            <a:pPr algn="l" indent="0" marL="0">
              <a:lnSpc>
                <a:spcPct val="105000"/>
              </a:lnSpc>
              <a:buNone/>
            </a:pPr>
            <a:r>
              <a:rPr lang="en-US" sz="700" i="1" dirty="0">
                <a:solidFill>
                  <a:srgbClr val="6B4C9A"/>
                </a:solidFill>
                <a:latin typeface="Calibri" pitchFamily="34" charset="0"/>
                <a:ea typeface="Calibri" pitchFamily="34" charset="-122"/>
                <a:cs typeface="Calibri" pitchFamily="34" charset="-120"/>
              </a:rPr>
              <a:t>9 · discover / execute tool (agent → MCP direct)</a:t>
            </a:r>
            <a:endParaRPr lang="en-US" sz="700" dirty="0"/>
          </a:p>
        </p:txBody>
      </p:sp>
      <p:sp>
        <p:nvSpPr>
          <p:cNvPr id="104" name="Text 102"/>
          <p:cNvSpPr txBox="1"/>
          <p:nvPr/>
        </p:nvSpPr>
        <p:spPr>
          <a:xfrm>
            <a:off x="10716768" y="4956048"/>
            <a:ext cx="731520" cy="201168"/>
          </a:xfrm>
          <a:prstGeom prst="rect">
            <a:avLst/>
          </a:prstGeom>
          <a:noFill/>
          <a:ln/>
        </p:spPr>
        <p:txBody>
          <a:bodyPr wrap="square" lIns="508" tIns="508" rIns="508" bIns="508" rtlCol="0" anchor="t"/>
          <a:lstStyle/>
          <a:p>
            <a:pPr algn="l" indent="0" marL="0">
              <a:lnSpc>
                <a:spcPct val="105000"/>
              </a:lnSpc>
              <a:buNone/>
            </a:pPr>
            <a:r>
              <a:rPr lang="en-US" sz="700" i="1" dirty="0">
                <a:solidFill>
                  <a:srgbClr val="5F6368"/>
                </a:solidFill>
                <a:latin typeface="Calibri" pitchFamily="34" charset="0"/>
                <a:ea typeface="Calibri" pitchFamily="34" charset="-122"/>
                <a:cs typeface="Calibri" pitchFamily="34" charset="-120"/>
              </a:rPr>
              <a:t>10 · query</a:t>
            </a:r>
            <a:endParaRPr lang="en-US" sz="700" dirty="0"/>
          </a:p>
        </p:txBody>
      </p:sp>
      <p:sp>
        <p:nvSpPr>
          <p:cNvPr id="105" name="Text 103"/>
          <p:cNvSpPr txBox="1"/>
          <p:nvPr/>
        </p:nvSpPr>
        <p:spPr>
          <a:xfrm>
            <a:off x="685800" y="5349240"/>
            <a:ext cx="3017520" cy="228600"/>
          </a:xfrm>
          <a:prstGeom prst="rect">
            <a:avLst/>
          </a:prstGeom>
          <a:noFill/>
          <a:ln/>
        </p:spPr>
        <p:txBody>
          <a:bodyPr wrap="square" lIns="508" tIns="508" rIns="508" bIns="508" rtlCol="0" anchor="t"/>
          <a:lstStyle/>
          <a:p>
            <a:pPr algn="l" indent="0" marL="0">
              <a:lnSpc>
                <a:spcPct val="105000"/>
              </a:lnSpc>
              <a:buNone/>
            </a:pPr>
            <a:r>
              <a:rPr lang="en-US" sz="800" i="1" dirty="0">
                <a:solidFill>
                  <a:srgbClr val="5F6368"/>
                </a:solidFill>
                <a:latin typeface="Calibri" pitchFamily="34" charset="0"/>
                <a:ea typeface="Calibri" pitchFamily="34" charset="-122"/>
                <a:cs typeface="Calibri" pitchFamily="34" charset="-120"/>
              </a:rPr>
              <a:t>13 · response returns the same path</a:t>
            </a:r>
            <a:endParaRPr lang="en-US" sz="800" dirty="0"/>
          </a:p>
        </p:txBody>
      </p:sp>
      <p:sp>
        <p:nvSpPr>
          <p:cNvPr id="106" name="Shape 104"/>
          <p:cNvSpPr/>
          <p:nvPr/>
        </p:nvSpPr>
        <p:spPr>
          <a:xfrm>
            <a:off x="548640" y="5870448"/>
            <a:ext cx="11064240" cy="438912"/>
          </a:xfrm>
          <a:prstGeom prst="roundRect">
            <a:avLst>
              <a:gd name="adj" fmla="val 12500"/>
            </a:avLst>
          </a:prstGeom>
          <a:solidFill>
            <a:srgbClr val="E6F4EA"/>
          </a:solidFill>
          <a:ln w="12700">
            <a:solidFill>
              <a:srgbClr val="1E8E3E"/>
            </a:solidFill>
            <a:prstDash val="solid"/>
          </a:ln>
        </p:spPr>
      </p:sp>
      <p:sp>
        <p:nvSpPr>
          <p:cNvPr id="107" name="Text 105"/>
          <p:cNvSpPr txBox="1"/>
          <p:nvPr/>
        </p:nvSpPr>
        <p:spPr>
          <a:xfrm>
            <a:off x="621792" y="5870448"/>
            <a:ext cx="685800" cy="438912"/>
          </a:xfrm>
          <a:prstGeom prst="rect">
            <a:avLst/>
          </a:prstGeom>
          <a:noFill/>
          <a:ln/>
        </p:spPr>
        <p:txBody>
          <a:bodyPr wrap="square" lIns="508" tIns="508" rIns="508" bIns="508" rtlCol="0" anchor="ctr"/>
          <a:lstStyle/>
          <a:p>
            <a:pPr algn="l" indent="0" marL="0">
              <a:lnSpc>
                <a:spcPct val="105000"/>
              </a:lnSpc>
              <a:buNone/>
            </a:pPr>
            <a:r>
              <a:rPr lang="en-US" sz="850" b="1" dirty="0">
                <a:solidFill>
                  <a:srgbClr val="1E8E3E"/>
                </a:solidFill>
                <a:latin typeface="Calibri" pitchFamily="34" charset="0"/>
                <a:ea typeface="Calibri" pitchFamily="34" charset="-122"/>
                <a:cs typeface="Calibri" pitchFamily="34" charset="-120"/>
              </a:rPr>
              <a:t>Fargo core</a:t>
            </a:r>
            <a:endParaRPr lang="en-US" sz="850" dirty="0"/>
          </a:p>
        </p:txBody>
      </p:sp>
      <p:sp>
        <p:nvSpPr>
          <p:cNvPr id="108" name="Shape 106"/>
          <p:cNvSpPr/>
          <p:nvPr/>
        </p:nvSpPr>
        <p:spPr>
          <a:xfrm>
            <a:off x="1280160" y="5980176"/>
            <a:ext cx="219456" cy="219456"/>
          </a:xfrm>
          <a:prstGeom prst="roundRect">
            <a:avLst>
              <a:gd name="adj" fmla="val 50000"/>
            </a:avLst>
          </a:prstGeom>
          <a:solidFill>
            <a:srgbClr val="FFFFFF"/>
          </a:solidFill>
          <a:ln w="19050">
            <a:solidFill>
              <a:srgbClr val="1E8E3E"/>
            </a:solidFill>
            <a:prstDash val="solid"/>
          </a:ln>
        </p:spPr>
      </p:sp>
      <p:sp>
        <p:nvSpPr>
          <p:cNvPr id="109" name="Text 107"/>
          <p:cNvSpPr txBox="1"/>
          <p:nvPr/>
        </p:nvSpPr>
        <p:spPr>
          <a:xfrm>
            <a:off x="1280160" y="5980176"/>
            <a:ext cx="219456" cy="219456"/>
          </a:xfrm>
          <a:prstGeom prst="rect">
            <a:avLst/>
          </a:prstGeom>
          <a:noFill/>
          <a:ln/>
        </p:spPr>
        <p:txBody>
          <a:bodyPr wrap="square" lIns="0" tIns="0" rIns="0" bIns="0" rtlCol="0" anchor="ctr"/>
          <a:lstStyle/>
          <a:p>
            <a:pPr algn="ctr" indent="0" marL="0">
              <a:lnSpc>
                <a:spcPct val="105000"/>
              </a:lnSpc>
              <a:buNone/>
            </a:pPr>
            <a:r>
              <a:rPr lang="en-US" sz="800" b="1" dirty="0">
                <a:solidFill>
                  <a:srgbClr val="146C2E"/>
                </a:solidFill>
                <a:latin typeface="Calibri" pitchFamily="34" charset="0"/>
                <a:ea typeface="Calibri" pitchFamily="34" charset="-122"/>
                <a:cs typeface="Calibri" pitchFamily="34" charset="-120"/>
              </a:rPr>
              <a:t>A</a:t>
            </a:r>
            <a:endParaRPr lang="en-US" sz="800" dirty="0"/>
          </a:p>
        </p:txBody>
      </p:sp>
      <p:sp>
        <p:nvSpPr>
          <p:cNvPr id="110" name="Text 108"/>
          <p:cNvSpPr txBox="1"/>
          <p:nvPr/>
        </p:nvSpPr>
        <p:spPr>
          <a:xfrm>
            <a:off x="1527048" y="5870448"/>
            <a:ext cx="2258568" cy="438912"/>
          </a:xfrm>
          <a:prstGeom prst="rect">
            <a:avLst/>
          </a:prstGeom>
          <a:noFill/>
          <a:ln/>
        </p:spPr>
        <p:txBody>
          <a:bodyPr wrap="square" lIns="254" tIns="254" rIns="254" bIns="254" rtlCol="0" anchor="ctr"/>
          <a:lstStyle/>
          <a:p>
            <a:pPr algn="l" indent="0" marL="0">
              <a:lnSpc>
                <a:spcPct val="105000"/>
              </a:lnSpc>
              <a:buNone/>
            </a:pPr>
            <a:r>
              <a:rPr lang="en-US" sz="750" dirty="0">
                <a:solidFill>
                  <a:srgbClr val="202124"/>
                </a:solidFill>
                <a:latin typeface="Calibri" pitchFamily="34" charset="0"/>
                <a:ea typeface="Calibri" pitchFamily="34" charset="-122"/>
                <a:cs typeface="Calibri" pitchFamily="34" charset="-120"/>
              </a:rPr>
              <a:t>Context engineering (compaction, dynamic retrieval)</a:t>
            </a:r>
            <a:endParaRPr lang="en-US" sz="750" dirty="0"/>
          </a:p>
        </p:txBody>
      </p:sp>
      <p:sp>
        <p:nvSpPr>
          <p:cNvPr id="111" name="Shape 109"/>
          <p:cNvSpPr/>
          <p:nvPr/>
        </p:nvSpPr>
        <p:spPr>
          <a:xfrm>
            <a:off x="3794760" y="5980176"/>
            <a:ext cx="219456" cy="219456"/>
          </a:xfrm>
          <a:prstGeom prst="roundRect">
            <a:avLst>
              <a:gd name="adj" fmla="val 50000"/>
            </a:avLst>
          </a:prstGeom>
          <a:solidFill>
            <a:srgbClr val="FFFFFF"/>
          </a:solidFill>
          <a:ln w="19050">
            <a:solidFill>
              <a:srgbClr val="1E8E3E"/>
            </a:solidFill>
            <a:prstDash val="solid"/>
          </a:ln>
        </p:spPr>
      </p:sp>
      <p:sp>
        <p:nvSpPr>
          <p:cNvPr id="112" name="Text 110"/>
          <p:cNvSpPr txBox="1"/>
          <p:nvPr/>
        </p:nvSpPr>
        <p:spPr>
          <a:xfrm>
            <a:off x="3794760" y="5980176"/>
            <a:ext cx="219456" cy="219456"/>
          </a:xfrm>
          <a:prstGeom prst="rect">
            <a:avLst/>
          </a:prstGeom>
          <a:noFill/>
          <a:ln/>
        </p:spPr>
        <p:txBody>
          <a:bodyPr wrap="square" lIns="0" tIns="0" rIns="0" bIns="0" rtlCol="0" anchor="ctr"/>
          <a:lstStyle/>
          <a:p>
            <a:pPr algn="ctr" indent="0" marL="0">
              <a:lnSpc>
                <a:spcPct val="105000"/>
              </a:lnSpc>
              <a:buNone/>
            </a:pPr>
            <a:r>
              <a:rPr lang="en-US" sz="800" b="1" dirty="0">
                <a:solidFill>
                  <a:srgbClr val="146C2E"/>
                </a:solidFill>
                <a:latin typeface="Calibri" pitchFamily="34" charset="0"/>
                <a:ea typeface="Calibri" pitchFamily="34" charset="-122"/>
                <a:cs typeface="Calibri" pitchFamily="34" charset="-120"/>
              </a:rPr>
              <a:t>B</a:t>
            </a:r>
            <a:endParaRPr lang="en-US" sz="800" dirty="0"/>
          </a:p>
        </p:txBody>
      </p:sp>
      <p:sp>
        <p:nvSpPr>
          <p:cNvPr id="113" name="Text 111"/>
          <p:cNvSpPr txBox="1"/>
          <p:nvPr/>
        </p:nvSpPr>
        <p:spPr>
          <a:xfrm>
            <a:off x="4041648" y="5870448"/>
            <a:ext cx="1755648" cy="438912"/>
          </a:xfrm>
          <a:prstGeom prst="rect">
            <a:avLst/>
          </a:prstGeom>
          <a:noFill/>
          <a:ln/>
        </p:spPr>
        <p:txBody>
          <a:bodyPr wrap="square" lIns="254" tIns="254" rIns="254" bIns="254" rtlCol="0" anchor="ctr"/>
          <a:lstStyle/>
          <a:p>
            <a:pPr algn="l" indent="0" marL="0">
              <a:lnSpc>
                <a:spcPct val="105000"/>
              </a:lnSpc>
              <a:buNone/>
            </a:pPr>
            <a:r>
              <a:rPr lang="en-US" sz="750" dirty="0">
                <a:solidFill>
                  <a:srgbClr val="202124"/>
                </a:solidFill>
                <a:latin typeface="Calibri" pitchFamily="34" charset="0"/>
                <a:ea typeface="Calibri" pitchFamily="34" charset="-122"/>
                <a:cs typeface="Calibri" pitchFamily="34" charset="-120"/>
              </a:rPr>
              <a:t>Custom auth (no OAuth 2.0 in ADK/A2A)</a:t>
            </a:r>
            <a:endParaRPr lang="en-US" sz="750" dirty="0"/>
          </a:p>
        </p:txBody>
      </p:sp>
      <p:sp>
        <p:nvSpPr>
          <p:cNvPr id="114" name="Shape 112"/>
          <p:cNvSpPr/>
          <p:nvPr/>
        </p:nvSpPr>
        <p:spPr>
          <a:xfrm>
            <a:off x="5806440" y="5980176"/>
            <a:ext cx="219456" cy="219456"/>
          </a:xfrm>
          <a:prstGeom prst="roundRect">
            <a:avLst>
              <a:gd name="adj" fmla="val 50000"/>
            </a:avLst>
          </a:prstGeom>
          <a:solidFill>
            <a:srgbClr val="FFFFFF"/>
          </a:solidFill>
          <a:ln w="19050">
            <a:solidFill>
              <a:srgbClr val="1E8E3E"/>
            </a:solidFill>
            <a:prstDash val="solid"/>
          </a:ln>
        </p:spPr>
      </p:sp>
      <p:sp>
        <p:nvSpPr>
          <p:cNvPr id="115" name="Text 113"/>
          <p:cNvSpPr txBox="1"/>
          <p:nvPr/>
        </p:nvSpPr>
        <p:spPr>
          <a:xfrm>
            <a:off x="5806440" y="5980176"/>
            <a:ext cx="219456" cy="219456"/>
          </a:xfrm>
          <a:prstGeom prst="rect">
            <a:avLst/>
          </a:prstGeom>
          <a:noFill/>
          <a:ln/>
        </p:spPr>
        <p:txBody>
          <a:bodyPr wrap="square" lIns="0" tIns="0" rIns="0" bIns="0" rtlCol="0" anchor="ctr"/>
          <a:lstStyle/>
          <a:p>
            <a:pPr algn="ctr" indent="0" marL="0">
              <a:lnSpc>
                <a:spcPct val="105000"/>
              </a:lnSpc>
              <a:buNone/>
            </a:pPr>
            <a:r>
              <a:rPr lang="en-US" sz="800" b="1" dirty="0">
                <a:solidFill>
                  <a:srgbClr val="146C2E"/>
                </a:solidFill>
                <a:latin typeface="Calibri" pitchFamily="34" charset="0"/>
                <a:ea typeface="Calibri" pitchFamily="34" charset="-122"/>
                <a:cs typeface="Calibri" pitchFamily="34" charset="-120"/>
              </a:rPr>
              <a:t>C</a:t>
            </a:r>
            <a:endParaRPr lang="en-US" sz="800" dirty="0"/>
          </a:p>
        </p:txBody>
      </p:sp>
      <p:sp>
        <p:nvSpPr>
          <p:cNvPr id="116" name="Text 114"/>
          <p:cNvSpPr txBox="1"/>
          <p:nvPr/>
        </p:nvSpPr>
        <p:spPr>
          <a:xfrm>
            <a:off x="6053328" y="5870448"/>
            <a:ext cx="1527048" cy="438912"/>
          </a:xfrm>
          <a:prstGeom prst="rect">
            <a:avLst/>
          </a:prstGeom>
          <a:noFill/>
          <a:ln/>
        </p:spPr>
        <p:txBody>
          <a:bodyPr wrap="square" lIns="254" tIns="254" rIns="254" bIns="254" rtlCol="0" anchor="ctr"/>
          <a:lstStyle/>
          <a:p>
            <a:pPr algn="l" indent="0" marL="0">
              <a:lnSpc>
                <a:spcPct val="105000"/>
              </a:lnSpc>
              <a:buNone/>
            </a:pPr>
            <a:r>
              <a:rPr lang="en-US" sz="750" dirty="0">
                <a:solidFill>
                  <a:srgbClr val="202124"/>
                </a:solidFill>
                <a:latin typeface="Calibri" pitchFamily="34" charset="0"/>
                <a:ea typeface="Calibri" pitchFamily="34" charset="-122"/>
                <a:cs typeface="Calibri" pitchFamily="34" charset="-120"/>
              </a:rPr>
              <a:t>Supervisor ↔ sub-agent resiliency</a:t>
            </a:r>
            <a:endParaRPr lang="en-US" sz="750" dirty="0"/>
          </a:p>
        </p:txBody>
      </p:sp>
      <p:sp>
        <p:nvSpPr>
          <p:cNvPr id="117" name="Shape 115"/>
          <p:cNvSpPr/>
          <p:nvPr/>
        </p:nvSpPr>
        <p:spPr>
          <a:xfrm>
            <a:off x="7589520" y="5980176"/>
            <a:ext cx="219456" cy="219456"/>
          </a:xfrm>
          <a:prstGeom prst="roundRect">
            <a:avLst>
              <a:gd name="adj" fmla="val 50000"/>
            </a:avLst>
          </a:prstGeom>
          <a:solidFill>
            <a:srgbClr val="FFFFFF"/>
          </a:solidFill>
          <a:ln w="19050">
            <a:solidFill>
              <a:srgbClr val="1E8E3E"/>
            </a:solidFill>
            <a:prstDash val="solid"/>
          </a:ln>
        </p:spPr>
      </p:sp>
      <p:sp>
        <p:nvSpPr>
          <p:cNvPr id="118" name="Text 116"/>
          <p:cNvSpPr txBox="1"/>
          <p:nvPr/>
        </p:nvSpPr>
        <p:spPr>
          <a:xfrm>
            <a:off x="7589520" y="5980176"/>
            <a:ext cx="219456" cy="219456"/>
          </a:xfrm>
          <a:prstGeom prst="rect">
            <a:avLst/>
          </a:prstGeom>
          <a:noFill/>
          <a:ln/>
        </p:spPr>
        <p:txBody>
          <a:bodyPr wrap="square" lIns="0" tIns="0" rIns="0" bIns="0" rtlCol="0" anchor="ctr"/>
          <a:lstStyle/>
          <a:p>
            <a:pPr algn="ctr" indent="0" marL="0">
              <a:lnSpc>
                <a:spcPct val="105000"/>
              </a:lnSpc>
              <a:buNone/>
            </a:pPr>
            <a:r>
              <a:rPr lang="en-US" sz="800" b="1" dirty="0">
                <a:solidFill>
                  <a:srgbClr val="146C2E"/>
                </a:solidFill>
                <a:latin typeface="Calibri" pitchFamily="34" charset="0"/>
                <a:ea typeface="Calibri" pitchFamily="34" charset="-122"/>
                <a:cs typeface="Calibri" pitchFamily="34" charset="-120"/>
              </a:rPr>
              <a:t>D</a:t>
            </a:r>
            <a:endParaRPr lang="en-US" sz="800" dirty="0"/>
          </a:p>
        </p:txBody>
      </p:sp>
      <p:sp>
        <p:nvSpPr>
          <p:cNvPr id="119" name="Text 117"/>
          <p:cNvSpPr txBox="1"/>
          <p:nvPr/>
        </p:nvSpPr>
        <p:spPr>
          <a:xfrm>
            <a:off x="7836408" y="5870448"/>
            <a:ext cx="1161288" cy="438912"/>
          </a:xfrm>
          <a:prstGeom prst="rect">
            <a:avLst/>
          </a:prstGeom>
          <a:noFill/>
          <a:ln/>
        </p:spPr>
        <p:txBody>
          <a:bodyPr wrap="square" lIns="254" tIns="254" rIns="254" bIns="254" rtlCol="0" anchor="ctr"/>
          <a:lstStyle/>
          <a:p>
            <a:pPr algn="l" indent="0" marL="0">
              <a:lnSpc>
                <a:spcPct val="105000"/>
              </a:lnSpc>
              <a:buNone/>
            </a:pPr>
            <a:r>
              <a:rPr lang="en-US" sz="750" dirty="0">
                <a:solidFill>
                  <a:srgbClr val="202124"/>
                </a:solidFill>
                <a:latin typeface="Calibri" pitchFamily="34" charset="0"/>
                <a:ea typeface="Calibri" pitchFamily="34" charset="-122"/>
                <a:cs typeface="Calibri" pitchFamily="34" charset="-120"/>
              </a:rPr>
              <a:t>Intent routing &amp; hand-off</a:t>
            </a:r>
            <a:endParaRPr lang="en-US" sz="750" dirty="0"/>
          </a:p>
        </p:txBody>
      </p:sp>
      <p:sp>
        <p:nvSpPr>
          <p:cNvPr id="120" name="Shape 118"/>
          <p:cNvSpPr/>
          <p:nvPr/>
        </p:nvSpPr>
        <p:spPr>
          <a:xfrm>
            <a:off x="9006840" y="5980176"/>
            <a:ext cx="219456" cy="219456"/>
          </a:xfrm>
          <a:prstGeom prst="roundRect">
            <a:avLst>
              <a:gd name="adj" fmla="val 50000"/>
            </a:avLst>
          </a:prstGeom>
          <a:solidFill>
            <a:srgbClr val="FFFFFF"/>
          </a:solidFill>
          <a:ln w="19050">
            <a:solidFill>
              <a:srgbClr val="1E8E3E"/>
            </a:solidFill>
            <a:prstDash val="solid"/>
          </a:ln>
        </p:spPr>
      </p:sp>
      <p:sp>
        <p:nvSpPr>
          <p:cNvPr id="121" name="Text 119"/>
          <p:cNvSpPr txBox="1"/>
          <p:nvPr/>
        </p:nvSpPr>
        <p:spPr>
          <a:xfrm>
            <a:off x="9006840" y="5980176"/>
            <a:ext cx="219456" cy="219456"/>
          </a:xfrm>
          <a:prstGeom prst="rect">
            <a:avLst/>
          </a:prstGeom>
          <a:noFill/>
          <a:ln/>
        </p:spPr>
        <p:txBody>
          <a:bodyPr wrap="square" lIns="0" tIns="0" rIns="0" bIns="0" rtlCol="0" anchor="ctr"/>
          <a:lstStyle/>
          <a:p>
            <a:pPr algn="ctr" indent="0" marL="0">
              <a:lnSpc>
                <a:spcPct val="105000"/>
              </a:lnSpc>
              <a:buNone/>
            </a:pPr>
            <a:r>
              <a:rPr lang="en-US" sz="800" b="1" dirty="0">
                <a:solidFill>
                  <a:srgbClr val="146C2E"/>
                </a:solidFill>
                <a:latin typeface="Calibri" pitchFamily="34" charset="0"/>
                <a:ea typeface="Calibri" pitchFamily="34" charset="-122"/>
                <a:cs typeface="Calibri" pitchFamily="34" charset="-120"/>
              </a:rPr>
              <a:t>E</a:t>
            </a:r>
            <a:endParaRPr lang="en-US" sz="800" dirty="0"/>
          </a:p>
        </p:txBody>
      </p:sp>
      <p:sp>
        <p:nvSpPr>
          <p:cNvPr id="122" name="Text 120"/>
          <p:cNvSpPr txBox="1"/>
          <p:nvPr/>
        </p:nvSpPr>
        <p:spPr>
          <a:xfrm>
            <a:off x="9253728" y="5870448"/>
            <a:ext cx="978408" cy="438912"/>
          </a:xfrm>
          <a:prstGeom prst="rect">
            <a:avLst/>
          </a:prstGeom>
          <a:noFill/>
          <a:ln/>
        </p:spPr>
        <p:txBody>
          <a:bodyPr wrap="square" lIns="254" tIns="254" rIns="254" bIns="254" rtlCol="0" anchor="ctr"/>
          <a:lstStyle/>
          <a:p>
            <a:pPr algn="l" indent="0" marL="0">
              <a:lnSpc>
                <a:spcPct val="105000"/>
              </a:lnSpc>
              <a:buNone/>
            </a:pPr>
            <a:r>
              <a:rPr lang="en-US" sz="750" dirty="0">
                <a:solidFill>
                  <a:srgbClr val="202124"/>
                </a:solidFill>
                <a:latin typeface="Calibri" pitchFamily="34" charset="0"/>
                <a:ea typeface="Calibri" pitchFamily="34" charset="-122"/>
                <a:cs typeface="Calibri" pitchFamily="34" charset="-120"/>
              </a:rPr>
              <a:t>Structured responses</a:t>
            </a:r>
            <a:endParaRPr lang="en-US" sz="750" dirty="0"/>
          </a:p>
        </p:txBody>
      </p:sp>
      <p:sp>
        <p:nvSpPr>
          <p:cNvPr id="123" name="Shape 121"/>
          <p:cNvSpPr/>
          <p:nvPr/>
        </p:nvSpPr>
        <p:spPr>
          <a:xfrm>
            <a:off x="10241280" y="5980176"/>
            <a:ext cx="219456" cy="219456"/>
          </a:xfrm>
          <a:prstGeom prst="roundRect">
            <a:avLst>
              <a:gd name="adj" fmla="val 50000"/>
            </a:avLst>
          </a:prstGeom>
          <a:solidFill>
            <a:srgbClr val="FFFFFF"/>
          </a:solidFill>
          <a:ln w="19050">
            <a:solidFill>
              <a:srgbClr val="1E8E3E"/>
            </a:solidFill>
            <a:prstDash val="solid"/>
          </a:ln>
        </p:spPr>
      </p:sp>
      <p:sp>
        <p:nvSpPr>
          <p:cNvPr id="124" name="Text 122"/>
          <p:cNvSpPr txBox="1"/>
          <p:nvPr/>
        </p:nvSpPr>
        <p:spPr>
          <a:xfrm>
            <a:off x="10241280" y="5980176"/>
            <a:ext cx="219456" cy="219456"/>
          </a:xfrm>
          <a:prstGeom prst="rect">
            <a:avLst/>
          </a:prstGeom>
          <a:noFill/>
          <a:ln/>
        </p:spPr>
        <p:txBody>
          <a:bodyPr wrap="square" lIns="0" tIns="0" rIns="0" bIns="0" rtlCol="0" anchor="ctr"/>
          <a:lstStyle/>
          <a:p>
            <a:pPr algn="ctr" indent="0" marL="0">
              <a:lnSpc>
                <a:spcPct val="105000"/>
              </a:lnSpc>
              <a:buNone/>
            </a:pPr>
            <a:r>
              <a:rPr lang="en-US" sz="800" b="1" dirty="0">
                <a:solidFill>
                  <a:srgbClr val="146C2E"/>
                </a:solidFill>
                <a:latin typeface="Calibri" pitchFamily="34" charset="0"/>
                <a:ea typeface="Calibri" pitchFamily="34" charset="-122"/>
                <a:cs typeface="Calibri" pitchFamily="34" charset="-120"/>
              </a:rPr>
              <a:t>F</a:t>
            </a:r>
            <a:endParaRPr lang="en-US" sz="800" dirty="0"/>
          </a:p>
        </p:txBody>
      </p:sp>
      <p:sp>
        <p:nvSpPr>
          <p:cNvPr id="125" name="Text 123"/>
          <p:cNvSpPr txBox="1"/>
          <p:nvPr/>
        </p:nvSpPr>
        <p:spPr>
          <a:xfrm>
            <a:off x="10488168" y="5870448"/>
            <a:ext cx="1115568" cy="438912"/>
          </a:xfrm>
          <a:prstGeom prst="rect">
            <a:avLst/>
          </a:prstGeom>
          <a:noFill/>
          <a:ln/>
        </p:spPr>
        <p:txBody>
          <a:bodyPr wrap="square" lIns="254" tIns="254" rIns="254" bIns="254" rtlCol="0" anchor="ctr"/>
          <a:lstStyle/>
          <a:p>
            <a:pPr algn="l" indent="0" marL="0">
              <a:lnSpc>
                <a:spcPct val="105000"/>
              </a:lnSpc>
              <a:buNone/>
            </a:pPr>
            <a:r>
              <a:rPr lang="en-US" sz="750" dirty="0">
                <a:solidFill>
                  <a:srgbClr val="202124"/>
                </a:solidFill>
                <a:latin typeface="Calibri" pitchFamily="34" charset="0"/>
                <a:ea typeface="Calibri" pitchFamily="34" charset="-122"/>
                <a:cs typeface="Calibri" pitchFamily="34" charset="-120"/>
              </a:rPr>
              <a:t>Tool execution (MCPToolset)</a:t>
            </a:r>
            <a:endParaRPr lang="en-US" sz="750" dirty="0"/>
          </a:p>
        </p:txBody>
      </p:sp>
      <p:sp>
        <p:nvSpPr>
          <p:cNvPr id="126" name="Shape 124"/>
          <p:cNvSpPr/>
          <p:nvPr/>
        </p:nvSpPr>
        <p:spPr>
          <a:xfrm>
            <a:off x="548640" y="6473952"/>
            <a:ext cx="164592" cy="164592"/>
          </a:xfrm>
          <a:prstGeom prst="roundRect">
            <a:avLst>
              <a:gd name="adj" fmla="val 16667"/>
            </a:avLst>
          </a:prstGeom>
          <a:solidFill>
            <a:srgbClr val="1A73E8"/>
          </a:solidFill>
          <a:ln w="12700">
            <a:solidFill>
              <a:srgbClr val="1A73E8"/>
            </a:solidFill>
            <a:prstDash val="solid"/>
          </a:ln>
        </p:spPr>
      </p:sp>
      <p:sp>
        <p:nvSpPr>
          <p:cNvPr id="127" name="Text 125"/>
          <p:cNvSpPr txBox="1"/>
          <p:nvPr/>
        </p:nvSpPr>
        <p:spPr>
          <a:xfrm>
            <a:off x="768096" y="6400800"/>
            <a:ext cx="1645920" cy="310896"/>
          </a:xfrm>
          <a:prstGeom prst="rect">
            <a:avLst/>
          </a:prstGeom>
          <a:noFill/>
          <a:ln/>
        </p:spPr>
        <p:txBody>
          <a:bodyPr wrap="square" lIns="508" tIns="508" rIns="508" bIns="508" rtlCol="0" anchor="ctr"/>
          <a:lstStyle/>
          <a:p>
            <a:pPr algn="l" indent="0" marL="0">
              <a:lnSpc>
                <a:spcPct val="105000"/>
              </a:lnSpc>
              <a:buNone/>
            </a:pPr>
            <a:r>
              <a:rPr lang="en-US" sz="950" dirty="0">
                <a:solidFill>
                  <a:srgbClr val="5F6368"/>
                </a:solidFill>
                <a:latin typeface="Calibri" pitchFamily="34" charset="0"/>
                <a:ea typeface="Calibri" pitchFamily="34" charset="-122"/>
                <a:cs typeface="Calibri" pitchFamily="34" charset="-120"/>
              </a:rPr>
              <a:t>TSDK wrappers over ADK</a:t>
            </a:r>
            <a:endParaRPr lang="en-US" sz="950" dirty="0"/>
          </a:p>
        </p:txBody>
      </p:sp>
      <p:sp>
        <p:nvSpPr>
          <p:cNvPr id="128" name="Shape 126"/>
          <p:cNvSpPr/>
          <p:nvPr/>
        </p:nvSpPr>
        <p:spPr>
          <a:xfrm>
            <a:off x="2331720" y="6473952"/>
            <a:ext cx="164592" cy="164592"/>
          </a:xfrm>
          <a:prstGeom prst="roundRect">
            <a:avLst>
              <a:gd name="adj" fmla="val 16667"/>
            </a:avLst>
          </a:prstGeom>
          <a:solidFill>
            <a:srgbClr val="1E8E3E"/>
          </a:solidFill>
          <a:ln w="12700">
            <a:solidFill>
              <a:srgbClr val="1E8E3E"/>
            </a:solidFill>
            <a:prstDash val="solid"/>
          </a:ln>
        </p:spPr>
      </p:sp>
      <p:sp>
        <p:nvSpPr>
          <p:cNvPr id="129" name="Text 127"/>
          <p:cNvSpPr txBox="1"/>
          <p:nvPr/>
        </p:nvSpPr>
        <p:spPr>
          <a:xfrm>
            <a:off x="2551176" y="6400800"/>
            <a:ext cx="1645920" cy="310896"/>
          </a:xfrm>
          <a:prstGeom prst="rect">
            <a:avLst/>
          </a:prstGeom>
          <a:noFill/>
          <a:ln/>
        </p:spPr>
        <p:txBody>
          <a:bodyPr wrap="square" lIns="508" tIns="508" rIns="508" bIns="508" rtlCol="0" anchor="ctr"/>
          <a:lstStyle/>
          <a:p>
            <a:pPr algn="l" indent="0" marL="0">
              <a:lnSpc>
                <a:spcPct val="105000"/>
              </a:lnSpc>
              <a:buNone/>
            </a:pPr>
            <a:r>
              <a:rPr lang="en-US" sz="950" dirty="0">
                <a:solidFill>
                  <a:srgbClr val="5F6368"/>
                </a:solidFill>
                <a:latin typeface="Calibri" pitchFamily="34" charset="0"/>
                <a:ea typeface="Calibri" pitchFamily="34" charset="-122"/>
                <a:cs typeface="Calibri" pitchFamily="34" charset="-120"/>
              </a:rPr>
              <a:t>Fargo core</a:t>
            </a:r>
            <a:endParaRPr lang="en-US" sz="950" dirty="0"/>
          </a:p>
        </p:txBody>
      </p:sp>
      <p:sp>
        <p:nvSpPr>
          <p:cNvPr id="130" name="Shape 128"/>
          <p:cNvSpPr/>
          <p:nvPr/>
        </p:nvSpPr>
        <p:spPr>
          <a:xfrm>
            <a:off x="4114800" y="6473952"/>
            <a:ext cx="164592" cy="164592"/>
          </a:xfrm>
          <a:prstGeom prst="roundRect">
            <a:avLst>
              <a:gd name="adj" fmla="val 16667"/>
            </a:avLst>
          </a:prstGeom>
          <a:solidFill>
            <a:srgbClr val="6B4C9A"/>
          </a:solidFill>
          <a:ln w="12700">
            <a:solidFill>
              <a:srgbClr val="6B4C9A"/>
            </a:solidFill>
            <a:prstDash val="solid"/>
          </a:ln>
        </p:spPr>
      </p:sp>
      <p:sp>
        <p:nvSpPr>
          <p:cNvPr id="131" name="Text 129"/>
          <p:cNvSpPr txBox="1"/>
          <p:nvPr/>
        </p:nvSpPr>
        <p:spPr>
          <a:xfrm>
            <a:off x="4334256" y="6400800"/>
            <a:ext cx="1645920" cy="310896"/>
          </a:xfrm>
          <a:prstGeom prst="rect">
            <a:avLst/>
          </a:prstGeom>
          <a:noFill/>
          <a:ln/>
        </p:spPr>
        <p:txBody>
          <a:bodyPr wrap="square" lIns="508" tIns="508" rIns="508" bIns="508" rtlCol="0" anchor="ctr"/>
          <a:lstStyle/>
          <a:p>
            <a:pPr algn="l" indent="0" marL="0">
              <a:lnSpc>
                <a:spcPct val="105000"/>
              </a:lnSpc>
              <a:buNone/>
            </a:pPr>
            <a:r>
              <a:rPr lang="en-US" sz="950" dirty="0">
                <a:solidFill>
                  <a:srgbClr val="5F6368"/>
                </a:solidFill>
                <a:latin typeface="Calibri" pitchFamily="34" charset="0"/>
                <a:ea typeface="Calibri" pitchFamily="34" charset="-122"/>
                <a:cs typeface="Calibri" pitchFamily="34" charset="-120"/>
              </a:rPr>
              <a:t>TSDK library</a:t>
            </a:r>
            <a:endParaRPr lang="en-US" sz="950" dirty="0"/>
          </a:p>
        </p:txBody>
      </p:sp>
      <p:sp>
        <p:nvSpPr>
          <p:cNvPr id="132" name="Shape 130"/>
          <p:cNvSpPr/>
          <p:nvPr/>
        </p:nvSpPr>
        <p:spPr>
          <a:xfrm>
            <a:off x="5897880" y="6473952"/>
            <a:ext cx="164592" cy="164592"/>
          </a:xfrm>
          <a:prstGeom prst="roundRect">
            <a:avLst>
              <a:gd name="adj" fmla="val 16667"/>
            </a:avLst>
          </a:prstGeom>
          <a:solidFill>
            <a:srgbClr val="C2410C"/>
          </a:solidFill>
          <a:ln w="12700">
            <a:solidFill>
              <a:srgbClr val="C2410C"/>
            </a:solidFill>
            <a:prstDash val="solid"/>
          </a:ln>
        </p:spPr>
      </p:sp>
      <p:sp>
        <p:nvSpPr>
          <p:cNvPr id="133" name="Text 131"/>
          <p:cNvSpPr txBox="1"/>
          <p:nvPr/>
        </p:nvSpPr>
        <p:spPr>
          <a:xfrm>
            <a:off x="6117336" y="6400800"/>
            <a:ext cx="1645920" cy="310896"/>
          </a:xfrm>
          <a:prstGeom prst="rect">
            <a:avLst/>
          </a:prstGeom>
          <a:noFill/>
          <a:ln/>
        </p:spPr>
        <p:txBody>
          <a:bodyPr wrap="square" lIns="508" tIns="508" rIns="508" bIns="508" rtlCol="0" anchor="ctr"/>
          <a:lstStyle/>
          <a:p>
            <a:pPr algn="l" indent="0" marL="0">
              <a:lnSpc>
                <a:spcPct val="105000"/>
              </a:lnSpc>
              <a:buNone/>
            </a:pPr>
            <a:r>
              <a:rPr lang="en-US" sz="950" dirty="0">
                <a:solidFill>
                  <a:srgbClr val="5F6368"/>
                </a:solidFill>
                <a:latin typeface="Calibri" pitchFamily="34" charset="0"/>
                <a:ea typeface="Calibri" pitchFamily="34" charset="-122"/>
                <a:cs typeface="Calibri" pitchFamily="34" charset="-120"/>
              </a:rPr>
              <a:t>Tachyon platform</a:t>
            </a:r>
            <a:endParaRPr lang="en-US" sz="950" dirty="0"/>
          </a:p>
        </p:txBody>
      </p:sp>
      <p:sp>
        <p:nvSpPr>
          <p:cNvPr id="134" name="Shape 132"/>
          <p:cNvSpPr/>
          <p:nvPr/>
        </p:nvSpPr>
        <p:spPr>
          <a:xfrm>
            <a:off x="7680960" y="6473952"/>
            <a:ext cx="164592" cy="164592"/>
          </a:xfrm>
          <a:prstGeom prst="roundRect">
            <a:avLst>
              <a:gd name="adj" fmla="val 16667"/>
            </a:avLst>
          </a:prstGeom>
          <a:solidFill>
            <a:srgbClr val="5F6368"/>
          </a:solidFill>
          <a:ln w="12700">
            <a:solidFill>
              <a:srgbClr val="5F6368"/>
            </a:solidFill>
            <a:prstDash val="solid"/>
          </a:ln>
        </p:spPr>
      </p:sp>
      <p:sp>
        <p:nvSpPr>
          <p:cNvPr id="135" name="Text 133"/>
          <p:cNvSpPr txBox="1"/>
          <p:nvPr/>
        </p:nvSpPr>
        <p:spPr>
          <a:xfrm>
            <a:off x="7900416" y="6400800"/>
            <a:ext cx="1645920" cy="310896"/>
          </a:xfrm>
          <a:prstGeom prst="rect">
            <a:avLst/>
          </a:prstGeom>
          <a:noFill/>
          <a:ln/>
        </p:spPr>
        <p:txBody>
          <a:bodyPr wrap="square" lIns="508" tIns="508" rIns="508" bIns="508" rtlCol="0" anchor="ctr"/>
          <a:lstStyle/>
          <a:p>
            <a:pPr algn="l" indent="0" marL="0">
              <a:lnSpc>
                <a:spcPct val="105000"/>
              </a:lnSpc>
              <a:buNone/>
            </a:pPr>
            <a:r>
              <a:rPr lang="en-US" sz="950" dirty="0">
                <a:solidFill>
                  <a:srgbClr val="5F6368"/>
                </a:solidFill>
                <a:latin typeface="Calibri" pitchFamily="34" charset="0"/>
                <a:ea typeface="Calibri" pitchFamily="34" charset="-122"/>
                <a:cs typeface="Calibri" pitchFamily="34" charset="-120"/>
              </a:rPr>
              <a:t>WF-built / other</a:t>
            </a:r>
            <a:endParaRPr lang="en-US" sz="950" dirty="0"/>
          </a:p>
        </p:txBody>
      </p:sp>
      <p:sp>
        <p:nvSpPr>
          <p:cNvPr id="136" name="Text 134"/>
          <p:cNvSpPr txBox="1"/>
          <p:nvPr/>
        </p:nvSpPr>
        <p:spPr>
          <a:xfrm>
            <a:off x="7863840" y="6355080"/>
            <a:ext cx="3749040" cy="310896"/>
          </a:xfrm>
          <a:prstGeom prst="rect">
            <a:avLst/>
          </a:prstGeom>
          <a:noFill/>
          <a:ln/>
        </p:spPr>
        <p:txBody>
          <a:bodyPr wrap="square" lIns="508" tIns="508" rIns="508" bIns="508" rtlCol="0" anchor="ctr"/>
          <a:lstStyle/>
          <a:p>
            <a:pPr algn="r" indent="0" marL="0">
              <a:lnSpc>
                <a:spcPct val="105000"/>
              </a:lnSpc>
              <a:buNone/>
            </a:pPr>
            <a:r>
              <a:rPr lang="en-US" sz="900" dirty="0">
                <a:solidFill>
                  <a:srgbClr val="9AA0A6"/>
                </a:solidFill>
                <a:latin typeface="Calibri" pitchFamily="34" charset="0"/>
                <a:ea typeface="Calibri" pitchFamily="34" charset="-122"/>
                <a:cs typeface="Calibri" pitchFamily="34" charset="-120"/>
              </a:rPr>
              <a:t>Fargo platform – internal</a:t>
            </a:r>
            <a:endParaRPr lang="en-US" sz="900" dirty="0"/>
          </a:p>
        </p:txBody>
      </p:sp>
      <p:sp>
        <p:nvSpPr>
          <p:cNvPr id="137" name="Text 135"/>
          <p:cNvSpPr txBox="1"/>
          <p:nvPr/>
        </p:nvSpPr>
        <p:spPr>
          <a:xfrm>
            <a:off x="11658600" y="6355080"/>
            <a:ext cx="365760" cy="310896"/>
          </a:xfrm>
          <a:prstGeom prst="rect">
            <a:avLst/>
          </a:prstGeom>
          <a:noFill/>
          <a:ln/>
        </p:spPr>
        <p:txBody>
          <a:bodyPr wrap="square" lIns="508" tIns="508" rIns="508" bIns="508" rtlCol="0" anchor="ctr"/>
          <a:lstStyle/>
          <a:p>
            <a:pPr algn="r" indent="0" marL="0">
              <a:lnSpc>
                <a:spcPct val="105000"/>
              </a:lnSpc>
              <a:buNone/>
            </a:pPr>
            <a:r>
              <a:rPr lang="en-US" sz="900" dirty="0">
                <a:solidFill>
                  <a:srgbClr val="9AA0A6"/>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457200"/>
            <a:ext cx="11064240" cy="548640"/>
          </a:xfrm>
          <a:prstGeom prst="rect">
            <a:avLst/>
          </a:prstGeom>
          <a:noFill/>
          <a:ln/>
        </p:spPr>
        <p:txBody>
          <a:bodyPr wrap="square" lIns="508" tIns="508" rIns="508" bIns="508" rtlCol="0" anchor="t"/>
          <a:lstStyle/>
          <a:p>
            <a:pPr algn="l" indent="0" marL="0">
              <a:lnSpc>
                <a:spcPct val="105000"/>
              </a:lnSpc>
              <a:buNone/>
            </a:pPr>
            <a:r>
              <a:rPr lang="en-US" sz="2600" b="1" dirty="0">
                <a:solidFill>
                  <a:srgbClr val="1B1F3B"/>
                </a:solidFill>
                <a:latin typeface="Calibri" pitchFamily="34" charset="0"/>
                <a:ea typeface="Calibri" pitchFamily="34" charset="-122"/>
                <a:cs typeface="Calibri" pitchFamily="34" charset="-120"/>
              </a:rPr>
              <a:t>Feature list by layer</a:t>
            </a:r>
            <a:endParaRPr lang="en-US" sz="2600" dirty="0"/>
          </a:p>
        </p:txBody>
      </p:sp>
      <p:sp>
        <p:nvSpPr>
          <p:cNvPr id="3" name="Text 1"/>
          <p:cNvSpPr txBox="1"/>
          <p:nvPr/>
        </p:nvSpPr>
        <p:spPr>
          <a:xfrm>
            <a:off x="548640" y="1051560"/>
            <a:ext cx="11064240" cy="457200"/>
          </a:xfrm>
          <a:prstGeom prst="rect">
            <a:avLst/>
          </a:prstGeom>
          <a:noFill/>
          <a:ln/>
        </p:spPr>
        <p:txBody>
          <a:bodyPr wrap="square" lIns="508" tIns="508" rIns="508" bIns="508" rtlCol="0" anchor="t"/>
          <a:lstStyle/>
          <a:p>
            <a:pPr algn="l" indent="0" marL="0">
              <a:lnSpc>
                <a:spcPct val="105000"/>
              </a:lnSpc>
              <a:buNone/>
            </a:pPr>
            <a:r>
              <a:rPr lang="en-US" sz="1300" dirty="0">
                <a:solidFill>
                  <a:srgbClr val="5F6368"/>
                </a:solidFill>
                <a:latin typeface="Calibri" pitchFamily="34" charset="0"/>
                <a:ea typeface="Calibri" pitchFamily="34" charset="-122"/>
                <a:cs typeface="Calibri" pitchFamily="34" charset="-120"/>
              </a:rPr>
              <a:t>The middle column is what the TSDK library adds around the ADK core to connect it to the platform.</a:t>
            </a:r>
            <a:endParaRPr lang="en-US" sz="1300" dirty="0"/>
          </a:p>
        </p:txBody>
      </p:sp>
      <p:sp>
        <p:nvSpPr>
          <p:cNvPr id="4" name="Shape 2"/>
          <p:cNvSpPr/>
          <p:nvPr/>
        </p:nvSpPr>
        <p:spPr>
          <a:xfrm>
            <a:off x="548640" y="1874520"/>
            <a:ext cx="3566160" cy="4343400"/>
          </a:xfrm>
          <a:prstGeom prst="roundRect">
            <a:avLst>
              <a:gd name="adj" fmla="val 2564"/>
            </a:avLst>
          </a:prstGeom>
          <a:solidFill>
            <a:srgbClr val="E8F0FE"/>
          </a:solidFill>
          <a:ln w="12700">
            <a:solidFill>
              <a:srgbClr val="E8F0FE"/>
            </a:solidFill>
            <a:prstDash val="solid"/>
          </a:ln>
        </p:spPr>
      </p:sp>
      <p:sp>
        <p:nvSpPr>
          <p:cNvPr id="5" name="Text 3"/>
          <p:cNvSpPr txBox="1"/>
          <p:nvPr/>
        </p:nvSpPr>
        <p:spPr>
          <a:xfrm>
            <a:off x="713232" y="1984248"/>
            <a:ext cx="3291840" cy="274320"/>
          </a:xfrm>
          <a:prstGeom prst="rect">
            <a:avLst/>
          </a:prstGeom>
          <a:noFill/>
          <a:ln/>
        </p:spPr>
        <p:txBody>
          <a:bodyPr wrap="square" lIns="508" tIns="508" rIns="508" bIns="508" rtlCol="0" anchor="t"/>
          <a:lstStyle/>
          <a:p>
            <a:pPr algn="l" indent="0" marL="0">
              <a:lnSpc>
                <a:spcPct val="105000"/>
              </a:lnSpc>
              <a:buNone/>
            </a:pPr>
            <a:r>
              <a:rPr lang="en-US" sz="1100" b="1" dirty="0">
                <a:solidFill>
                  <a:srgbClr val="1A73E8"/>
                </a:solidFill>
                <a:latin typeface="Calibri" pitchFamily="34" charset="0"/>
                <a:ea typeface="Calibri" pitchFamily="34" charset="-122"/>
                <a:cs typeface="Calibri" pitchFamily="34" charset="-120"/>
              </a:rPr>
              <a:t>Google ADK core</a:t>
            </a:r>
            <a:endParaRPr lang="en-US" sz="1100" dirty="0"/>
          </a:p>
        </p:txBody>
      </p:sp>
      <p:sp>
        <p:nvSpPr>
          <p:cNvPr id="6" name="Text 4"/>
          <p:cNvSpPr txBox="1"/>
          <p:nvPr/>
        </p:nvSpPr>
        <p:spPr>
          <a:xfrm>
            <a:off x="713232" y="2240280"/>
            <a:ext cx="3291840" cy="256032"/>
          </a:xfrm>
          <a:prstGeom prst="rect">
            <a:avLst/>
          </a:prstGeom>
          <a:noFill/>
          <a:ln/>
        </p:spPr>
        <p:txBody>
          <a:bodyPr wrap="square" lIns="508" tIns="508" rIns="508" bIns="508" rtlCol="0" anchor="t"/>
          <a:lstStyle/>
          <a:p>
            <a:pPr algn="l" indent="0" marL="0">
              <a:lnSpc>
                <a:spcPct val="105000"/>
              </a:lnSpc>
              <a:buNone/>
            </a:pPr>
            <a:r>
              <a:rPr lang="en-US" sz="950" i="1" dirty="0">
                <a:solidFill>
                  <a:srgbClr val="5F6368"/>
                </a:solidFill>
                <a:latin typeface="Calibri" pitchFamily="34" charset="0"/>
                <a:ea typeface="Calibri" pitchFamily="34" charset="-122"/>
                <a:cs typeface="Calibri" pitchFamily="34" charset="-120"/>
              </a:rPr>
              <a:t>Agent runtime primitives, shipped inside TSDK</a:t>
            </a:r>
            <a:endParaRPr lang="en-US" sz="950" dirty="0"/>
          </a:p>
        </p:txBody>
      </p:sp>
      <p:sp>
        <p:nvSpPr>
          <p:cNvPr id="7" name="Shape 5"/>
          <p:cNvSpPr/>
          <p:nvPr/>
        </p:nvSpPr>
        <p:spPr>
          <a:xfrm>
            <a:off x="685800" y="2560320"/>
            <a:ext cx="3291840" cy="454587"/>
          </a:xfrm>
          <a:prstGeom prst="roundRect">
            <a:avLst>
              <a:gd name="adj" fmla="val 10057"/>
            </a:avLst>
          </a:prstGeom>
          <a:solidFill>
            <a:srgbClr val="FFFFFF"/>
          </a:solidFill>
          <a:ln w="12700">
            <a:solidFill>
              <a:srgbClr val="FFFFFF"/>
            </a:solidFill>
            <a:prstDash val="solid"/>
          </a:ln>
        </p:spPr>
      </p:sp>
      <p:sp>
        <p:nvSpPr>
          <p:cNvPr id="8" name="Shape 6"/>
          <p:cNvSpPr/>
          <p:nvPr/>
        </p:nvSpPr>
        <p:spPr>
          <a:xfrm>
            <a:off x="685800" y="2560320"/>
            <a:ext cx="73152" cy="454587"/>
          </a:xfrm>
          <a:prstGeom prst="rect">
            <a:avLst>
              <a:gd name="adj" fmla="val 100000"/>
            </a:avLst>
          </a:prstGeom>
          <a:solidFill>
            <a:srgbClr val="1A73E8"/>
          </a:solidFill>
          <a:ln w="12700">
            <a:solidFill>
              <a:srgbClr val="1A73E8"/>
            </a:solidFill>
            <a:prstDash val="solid"/>
          </a:ln>
        </p:spPr>
      </p:sp>
      <p:sp>
        <p:nvSpPr>
          <p:cNvPr id="9" name="Text 7"/>
          <p:cNvSpPr txBox="1"/>
          <p:nvPr/>
        </p:nvSpPr>
        <p:spPr>
          <a:xfrm>
            <a:off x="822960" y="2560320"/>
            <a:ext cx="3108960" cy="454587"/>
          </a:xfrm>
          <a:prstGeom prst="rect">
            <a:avLst/>
          </a:prstGeom>
          <a:noFill/>
          <a:ln/>
        </p:spPr>
        <p:txBody>
          <a:bodyPr wrap="square" lIns="508" tIns="508" rIns="508" bIns="508" rtlCol="0" anchor="ctr"/>
          <a:lstStyle/>
          <a:p>
            <a:pPr algn="l" indent="0" marL="0">
              <a:lnSpc>
                <a:spcPct val="105000"/>
              </a:lnSpc>
              <a:buNone/>
            </a:pPr>
            <a:r>
              <a:rPr lang="en-US" sz="900" b="1" dirty="0">
                <a:solidFill>
                  <a:srgbClr val="174EA6"/>
                </a:solidFill>
                <a:latin typeface="Calibri" pitchFamily="34" charset="0"/>
                <a:ea typeface="Calibri" pitchFamily="34" charset="-122"/>
                <a:cs typeface="Calibri" pitchFamily="34" charset="-120"/>
              </a:rPr>
              <a:t>LlmAgent  </a:t>
            </a:r>
            <a:pPr algn="l" indent="0" marL="0">
              <a:lnSpc>
                <a:spcPct val="105000"/>
              </a:lnSpc>
              <a:buNone/>
            </a:pPr>
            <a:r>
              <a:rPr lang="en-US" sz="900" dirty="0">
                <a:solidFill>
                  <a:srgbClr val="5F6368"/>
                </a:solidFill>
                <a:latin typeface="Calibri" pitchFamily="34" charset="0"/>
                <a:ea typeface="Calibri" pitchFamily="34" charset="-122"/>
                <a:cs typeface="Calibri" pitchFamily="34" charset="-120"/>
              </a:rPr>
              <a:t>instruction, model, tools, sub_agents — the unit every Fargo agent is built from</a:t>
            </a:r>
            <a:endParaRPr lang="en-US" sz="900" dirty="0"/>
          </a:p>
        </p:txBody>
      </p:sp>
      <p:sp>
        <p:nvSpPr>
          <p:cNvPr id="10" name="Shape 8"/>
          <p:cNvSpPr/>
          <p:nvPr/>
        </p:nvSpPr>
        <p:spPr>
          <a:xfrm>
            <a:off x="685800" y="3078915"/>
            <a:ext cx="3291840" cy="454587"/>
          </a:xfrm>
          <a:prstGeom prst="roundRect">
            <a:avLst>
              <a:gd name="adj" fmla="val 10057"/>
            </a:avLst>
          </a:prstGeom>
          <a:solidFill>
            <a:srgbClr val="FFFFFF"/>
          </a:solidFill>
          <a:ln w="12700">
            <a:solidFill>
              <a:srgbClr val="FFFFFF"/>
            </a:solidFill>
            <a:prstDash val="solid"/>
          </a:ln>
        </p:spPr>
      </p:sp>
      <p:sp>
        <p:nvSpPr>
          <p:cNvPr id="11" name="Shape 9"/>
          <p:cNvSpPr/>
          <p:nvPr/>
        </p:nvSpPr>
        <p:spPr>
          <a:xfrm>
            <a:off x="685800" y="3078915"/>
            <a:ext cx="73152" cy="454587"/>
          </a:xfrm>
          <a:prstGeom prst="rect">
            <a:avLst>
              <a:gd name="adj" fmla="val 100000"/>
            </a:avLst>
          </a:prstGeom>
          <a:solidFill>
            <a:srgbClr val="1A73E8"/>
          </a:solidFill>
          <a:ln w="12700">
            <a:solidFill>
              <a:srgbClr val="1A73E8"/>
            </a:solidFill>
            <a:prstDash val="solid"/>
          </a:ln>
        </p:spPr>
      </p:sp>
      <p:sp>
        <p:nvSpPr>
          <p:cNvPr id="12" name="Text 10"/>
          <p:cNvSpPr txBox="1"/>
          <p:nvPr/>
        </p:nvSpPr>
        <p:spPr>
          <a:xfrm>
            <a:off x="822960" y="3078915"/>
            <a:ext cx="3108960" cy="454587"/>
          </a:xfrm>
          <a:prstGeom prst="rect">
            <a:avLst/>
          </a:prstGeom>
          <a:noFill/>
          <a:ln/>
        </p:spPr>
        <p:txBody>
          <a:bodyPr wrap="square" lIns="508" tIns="508" rIns="508" bIns="508" rtlCol="0" anchor="ctr"/>
          <a:lstStyle/>
          <a:p>
            <a:pPr algn="l" indent="0" marL="0">
              <a:lnSpc>
                <a:spcPct val="105000"/>
              </a:lnSpc>
              <a:buNone/>
            </a:pPr>
            <a:r>
              <a:rPr lang="en-US" sz="900" b="1" dirty="0">
                <a:solidFill>
                  <a:srgbClr val="174EA6"/>
                </a:solidFill>
                <a:latin typeface="Calibri" pitchFamily="34" charset="0"/>
                <a:ea typeface="Calibri" pitchFamily="34" charset="-122"/>
                <a:cs typeface="Calibri" pitchFamily="34" charset="-120"/>
              </a:rPr>
              <a:t>Workflow agents  </a:t>
            </a:r>
            <a:pPr algn="l" indent="0" marL="0">
              <a:lnSpc>
                <a:spcPct val="105000"/>
              </a:lnSpc>
              <a:buNone/>
            </a:pPr>
            <a:r>
              <a:rPr lang="en-US" sz="900" dirty="0">
                <a:solidFill>
                  <a:srgbClr val="5F6368"/>
                </a:solidFill>
                <a:latin typeface="Calibri" pitchFamily="34" charset="0"/>
                <a:ea typeface="Calibri" pitchFamily="34" charset="-122"/>
                <a:cs typeface="Calibri" pitchFamily="34" charset="-120"/>
              </a:rPr>
              <a:t>SequentialAgent / ParallelAgent / LoopAgent for plan → execute → report flows</a:t>
            </a:r>
            <a:endParaRPr lang="en-US" sz="900" dirty="0"/>
          </a:p>
        </p:txBody>
      </p:sp>
      <p:sp>
        <p:nvSpPr>
          <p:cNvPr id="13" name="Shape 11"/>
          <p:cNvSpPr/>
          <p:nvPr/>
        </p:nvSpPr>
        <p:spPr>
          <a:xfrm>
            <a:off x="685800" y="3597511"/>
            <a:ext cx="3291840" cy="454587"/>
          </a:xfrm>
          <a:prstGeom prst="roundRect">
            <a:avLst>
              <a:gd name="adj" fmla="val 10057"/>
            </a:avLst>
          </a:prstGeom>
          <a:solidFill>
            <a:srgbClr val="FFFFFF"/>
          </a:solidFill>
          <a:ln w="12700">
            <a:solidFill>
              <a:srgbClr val="FFFFFF"/>
            </a:solidFill>
            <a:prstDash val="solid"/>
          </a:ln>
        </p:spPr>
      </p:sp>
      <p:sp>
        <p:nvSpPr>
          <p:cNvPr id="14" name="Shape 12"/>
          <p:cNvSpPr/>
          <p:nvPr/>
        </p:nvSpPr>
        <p:spPr>
          <a:xfrm>
            <a:off x="685800" y="3597511"/>
            <a:ext cx="73152" cy="454587"/>
          </a:xfrm>
          <a:prstGeom prst="rect">
            <a:avLst>
              <a:gd name="adj" fmla="val 100000"/>
            </a:avLst>
          </a:prstGeom>
          <a:solidFill>
            <a:srgbClr val="1A73E8"/>
          </a:solidFill>
          <a:ln w="12700">
            <a:solidFill>
              <a:srgbClr val="1A73E8"/>
            </a:solidFill>
            <a:prstDash val="solid"/>
          </a:ln>
        </p:spPr>
      </p:sp>
      <p:sp>
        <p:nvSpPr>
          <p:cNvPr id="15" name="Text 13"/>
          <p:cNvSpPr txBox="1"/>
          <p:nvPr/>
        </p:nvSpPr>
        <p:spPr>
          <a:xfrm>
            <a:off x="822960" y="3597511"/>
            <a:ext cx="3108960" cy="454587"/>
          </a:xfrm>
          <a:prstGeom prst="rect">
            <a:avLst/>
          </a:prstGeom>
          <a:noFill/>
          <a:ln/>
        </p:spPr>
        <p:txBody>
          <a:bodyPr wrap="square" lIns="508" tIns="508" rIns="508" bIns="508" rtlCol="0" anchor="ctr"/>
          <a:lstStyle/>
          <a:p>
            <a:pPr algn="l" indent="0" marL="0">
              <a:lnSpc>
                <a:spcPct val="105000"/>
              </a:lnSpc>
              <a:buNone/>
            </a:pPr>
            <a:r>
              <a:rPr lang="en-US" sz="900" b="1" dirty="0">
                <a:solidFill>
                  <a:srgbClr val="174EA6"/>
                </a:solidFill>
                <a:latin typeface="Calibri" pitchFamily="34" charset="0"/>
                <a:ea typeface="Calibri" pitchFamily="34" charset="-122"/>
                <a:cs typeface="Calibri" pitchFamily="34" charset="-120"/>
              </a:rPr>
              <a:t>Tool abstractions  </a:t>
            </a:r>
            <a:pPr algn="l" indent="0" marL="0">
              <a:lnSpc>
                <a:spcPct val="105000"/>
              </a:lnSpc>
              <a:buNone/>
            </a:pPr>
            <a:r>
              <a:rPr lang="en-US" sz="900" dirty="0">
                <a:solidFill>
                  <a:srgbClr val="5F6368"/>
                </a:solidFill>
                <a:latin typeface="Calibri" pitchFamily="34" charset="0"/>
                <a:ea typeface="Calibri" pitchFamily="34" charset="-122"/>
                <a:cs typeface="Calibri" pitchFamily="34" charset="-120"/>
              </a:rPr>
              <a:t>FunctionTool, AgentTool, MCPToolset (agent calls MCP directly)</a:t>
            </a:r>
            <a:endParaRPr lang="en-US" sz="900" dirty="0"/>
          </a:p>
        </p:txBody>
      </p:sp>
      <p:sp>
        <p:nvSpPr>
          <p:cNvPr id="16" name="Shape 14"/>
          <p:cNvSpPr/>
          <p:nvPr/>
        </p:nvSpPr>
        <p:spPr>
          <a:xfrm>
            <a:off x="685800" y="4116106"/>
            <a:ext cx="3291840" cy="454587"/>
          </a:xfrm>
          <a:prstGeom prst="roundRect">
            <a:avLst>
              <a:gd name="adj" fmla="val 10057"/>
            </a:avLst>
          </a:prstGeom>
          <a:solidFill>
            <a:srgbClr val="FFFFFF"/>
          </a:solidFill>
          <a:ln w="12700">
            <a:solidFill>
              <a:srgbClr val="FFFFFF"/>
            </a:solidFill>
            <a:prstDash val="solid"/>
          </a:ln>
        </p:spPr>
      </p:sp>
      <p:sp>
        <p:nvSpPr>
          <p:cNvPr id="17" name="Shape 15"/>
          <p:cNvSpPr/>
          <p:nvPr/>
        </p:nvSpPr>
        <p:spPr>
          <a:xfrm>
            <a:off x="685800" y="4116106"/>
            <a:ext cx="73152" cy="454587"/>
          </a:xfrm>
          <a:prstGeom prst="rect">
            <a:avLst>
              <a:gd name="adj" fmla="val 100000"/>
            </a:avLst>
          </a:prstGeom>
          <a:solidFill>
            <a:srgbClr val="1A73E8"/>
          </a:solidFill>
          <a:ln w="12700">
            <a:solidFill>
              <a:srgbClr val="1A73E8"/>
            </a:solidFill>
            <a:prstDash val="solid"/>
          </a:ln>
        </p:spPr>
      </p:sp>
      <p:sp>
        <p:nvSpPr>
          <p:cNvPr id="18" name="Text 16"/>
          <p:cNvSpPr txBox="1"/>
          <p:nvPr/>
        </p:nvSpPr>
        <p:spPr>
          <a:xfrm>
            <a:off x="822960" y="4116106"/>
            <a:ext cx="3108960" cy="454587"/>
          </a:xfrm>
          <a:prstGeom prst="rect">
            <a:avLst/>
          </a:prstGeom>
          <a:noFill/>
          <a:ln/>
        </p:spPr>
        <p:txBody>
          <a:bodyPr wrap="square" lIns="508" tIns="508" rIns="508" bIns="508" rtlCol="0" anchor="ctr"/>
          <a:lstStyle/>
          <a:p>
            <a:pPr algn="l" indent="0" marL="0">
              <a:lnSpc>
                <a:spcPct val="105000"/>
              </a:lnSpc>
              <a:buNone/>
            </a:pPr>
            <a:r>
              <a:rPr lang="en-US" sz="900" b="1" dirty="0">
                <a:solidFill>
                  <a:srgbClr val="174EA6"/>
                </a:solidFill>
                <a:latin typeface="Calibri" pitchFamily="34" charset="0"/>
                <a:ea typeface="Calibri" pitchFamily="34" charset="-122"/>
                <a:cs typeface="Calibri" pitchFamily="34" charset="-120"/>
              </a:rPr>
              <a:t>Session, State, Events  </a:t>
            </a:r>
            <a:pPr algn="l" indent="0" marL="0">
              <a:lnSpc>
                <a:spcPct val="105000"/>
              </a:lnSpc>
              <a:buNone/>
            </a:pPr>
            <a:r>
              <a:rPr lang="en-US" sz="900" dirty="0">
                <a:solidFill>
                  <a:srgbClr val="5F6368"/>
                </a:solidFill>
                <a:latin typeface="Calibri" pitchFamily="34" charset="0"/>
                <a:ea typeface="Calibri" pitchFamily="34" charset="-122"/>
                <a:cs typeface="Calibri" pitchFamily="34" charset="-120"/>
              </a:rPr>
              <a:t>SessionService + state scopes; Runner emits the event stream</a:t>
            </a:r>
            <a:endParaRPr lang="en-US" sz="900" dirty="0"/>
          </a:p>
        </p:txBody>
      </p:sp>
      <p:sp>
        <p:nvSpPr>
          <p:cNvPr id="19" name="Shape 17"/>
          <p:cNvSpPr/>
          <p:nvPr/>
        </p:nvSpPr>
        <p:spPr>
          <a:xfrm>
            <a:off x="685800" y="4634702"/>
            <a:ext cx="3291840" cy="454587"/>
          </a:xfrm>
          <a:prstGeom prst="roundRect">
            <a:avLst>
              <a:gd name="adj" fmla="val 10057"/>
            </a:avLst>
          </a:prstGeom>
          <a:solidFill>
            <a:srgbClr val="FFFFFF"/>
          </a:solidFill>
          <a:ln w="12700">
            <a:solidFill>
              <a:srgbClr val="FFFFFF"/>
            </a:solidFill>
            <a:prstDash val="solid"/>
          </a:ln>
        </p:spPr>
      </p:sp>
      <p:sp>
        <p:nvSpPr>
          <p:cNvPr id="20" name="Shape 18"/>
          <p:cNvSpPr/>
          <p:nvPr/>
        </p:nvSpPr>
        <p:spPr>
          <a:xfrm>
            <a:off x="685800" y="4634702"/>
            <a:ext cx="73152" cy="454587"/>
          </a:xfrm>
          <a:prstGeom prst="rect">
            <a:avLst>
              <a:gd name="adj" fmla="val 100000"/>
            </a:avLst>
          </a:prstGeom>
          <a:solidFill>
            <a:srgbClr val="1A73E8"/>
          </a:solidFill>
          <a:ln w="12700">
            <a:solidFill>
              <a:srgbClr val="1A73E8"/>
            </a:solidFill>
            <a:prstDash val="solid"/>
          </a:ln>
        </p:spPr>
      </p:sp>
      <p:sp>
        <p:nvSpPr>
          <p:cNvPr id="21" name="Text 19"/>
          <p:cNvSpPr txBox="1"/>
          <p:nvPr/>
        </p:nvSpPr>
        <p:spPr>
          <a:xfrm>
            <a:off x="822960" y="4634702"/>
            <a:ext cx="3108960" cy="454587"/>
          </a:xfrm>
          <a:prstGeom prst="rect">
            <a:avLst/>
          </a:prstGeom>
          <a:noFill/>
          <a:ln/>
        </p:spPr>
        <p:txBody>
          <a:bodyPr wrap="square" lIns="508" tIns="508" rIns="508" bIns="508" rtlCol="0" anchor="ctr"/>
          <a:lstStyle/>
          <a:p>
            <a:pPr algn="l" indent="0" marL="0">
              <a:lnSpc>
                <a:spcPct val="105000"/>
              </a:lnSpc>
              <a:buNone/>
            </a:pPr>
            <a:r>
              <a:rPr lang="en-US" sz="900" b="1" dirty="0">
                <a:solidFill>
                  <a:srgbClr val="174EA6"/>
                </a:solidFill>
                <a:latin typeface="Calibri" pitchFamily="34" charset="0"/>
                <a:ea typeface="Calibri" pitchFamily="34" charset="-122"/>
                <a:cs typeface="Calibri" pitchFamily="34" charset="-120"/>
              </a:rPr>
              <a:t>Callbacks  </a:t>
            </a:r>
            <a:pPr algn="l" indent="0" marL="0">
              <a:lnSpc>
                <a:spcPct val="105000"/>
              </a:lnSpc>
              <a:buNone/>
            </a:pPr>
            <a:r>
              <a:rPr lang="en-US" sz="900" dirty="0">
                <a:solidFill>
                  <a:srgbClr val="5F6368"/>
                </a:solidFill>
                <a:latin typeface="Calibri" pitchFamily="34" charset="0"/>
                <a:ea typeface="Calibri" pitchFamily="34" charset="-122"/>
                <a:cs typeface="Calibri" pitchFamily="34" charset="-120"/>
              </a:rPr>
              <a:t>before/after agent · model · tool — the extension seam</a:t>
            </a:r>
            <a:endParaRPr lang="en-US" sz="900" dirty="0"/>
          </a:p>
        </p:txBody>
      </p:sp>
      <p:sp>
        <p:nvSpPr>
          <p:cNvPr id="22" name="Shape 20"/>
          <p:cNvSpPr/>
          <p:nvPr/>
        </p:nvSpPr>
        <p:spPr>
          <a:xfrm>
            <a:off x="685800" y="5153297"/>
            <a:ext cx="3291840" cy="454587"/>
          </a:xfrm>
          <a:prstGeom prst="roundRect">
            <a:avLst>
              <a:gd name="adj" fmla="val 10057"/>
            </a:avLst>
          </a:prstGeom>
          <a:solidFill>
            <a:srgbClr val="FFFFFF"/>
          </a:solidFill>
          <a:ln w="12700">
            <a:solidFill>
              <a:srgbClr val="FFFFFF"/>
            </a:solidFill>
            <a:prstDash val="solid"/>
          </a:ln>
        </p:spPr>
      </p:sp>
      <p:sp>
        <p:nvSpPr>
          <p:cNvPr id="23" name="Shape 21"/>
          <p:cNvSpPr/>
          <p:nvPr/>
        </p:nvSpPr>
        <p:spPr>
          <a:xfrm>
            <a:off x="685800" y="5153297"/>
            <a:ext cx="73152" cy="454587"/>
          </a:xfrm>
          <a:prstGeom prst="rect">
            <a:avLst>
              <a:gd name="adj" fmla="val 100000"/>
            </a:avLst>
          </a:prstGeom>
          <a:solidFill>
            <a:srgbClr val="1A73E8"/>
          </a:solidFill>
          <a:ln w="12700">
            <a:solidFill>
              <a:srgbClr val="1A73E8"/>
            </a:solidFill>
            <a:prstDash val="solid"/>
          </a:ln>
        </p:spPr>
      </p:sp>
      <p:sp>
        <p:nvSpPr>
          <p:cNvPr id="24" name="Text 22"/>
          <p:cNvSpPr txBox="1"/>
          <p:nvPr/>
        </p:nvSpPr>
        <p:spPr>
          <a:xfrm>
            <a:off x="822960" y="5153297"/>
            <a:ext cx="3108960" cy="454587"/>
          </a:xfrm>
          <a:prstGeom prst="rect">
            <a:avLst/>
          </a:prstGeom>
          <a:noFill/>
          <a:ln/>
        </p:spPr>
        <p:txBody>
          <a:bodyPr wrap="square" lIns="508" tIns="508" rIns="508" bIns="508" rtlCol="0" anchor="ctr"/>
          <a:lstStyle/>
          <a:p>
            <a:pPr algn="l" indent="0" marL="0">
              <a:lnSpc>
                <a:spcPct val="105000"/>
              </a:lnSpc>
              <a:buNone/>
            </a:pPr>
            <a:r>
              <a:rPr lang="en-US" sz="900" b="1" dirty="0">
                <a:solidFill>
                  <a:srgbClr val="174EA6"/>
                </a:solidFill>
                <a:latin typeface="Calibri" pitchFamily="34" charset="0"/>
                <a:ea typeface="Calibri" pitchFamily="34" charset="-122"/>
                <a:cs typeface="Calibri" pitchFamily="34" charset="-120"/>
              </a:rPr>
              <a:t>A2A primitives  </a:t>
            </a:r>
            <a:pPr algn="l" indent="0" marL="0">
              <a:lnSpc>
                <a:spcPct val="105000"/>
              </a:lnSpc>
              <a:buNone/>
            </a:pPr>
            <a:r>
              <a:rPr lang="en-US" sz="900" dirty="0">
                <a:solidFill>
                  <a:srgbClr val="5F6368"/>
                </a:solidFill>
                <a:latin typeface="Calibri" pitchFamily="34" charset="0"/>
                <a:ea typeface="Calibri" pitchFamily="34" charset="-122"/>
                <a:cs typeface="Calibri" pitchFamily="34" charset="-120"/>
              </a:rPr>
              <a:t>to_a2a() server, RemoteA2aAgent client, agent cards</a:t>
            </a:r>
            <a:endParaRPr lang="en-US" sz="900" dirty="0"/>
          </a:p>
        </p:txBody>
      </p:sp>
      <p:sp>
        <p:nvSpPr>
          <p:cNvPr id="25" name="Shape 23"/>
          <p:cNvSpPr/>
          <p:nvPr/>
        </p:nvSpPr>
        <p:spPr>
          <a:xfrm>
            <a:off x="685800" y="5671893"/>
            <a:ext cx="3291840" cy="454587"/>
          </a:xfrm>
          <a:prstGeom prst="roundRect">
            <a:avLst>
              <a:gd name="adj" fmla="val 10057"/>
            </a:avLst>
          </a:prstGeom>
          <a:solidFill>
            <a:srgbClr val="FFFFFF"/>
          </a:solidFill>
          <a:ln w="12700">
            <a:solidFill>
              <a:srgbClr val="FFFFFF"/>
            </a:solidFill>
            <a:prstDash val="solid"/>
          </a:ln>
        </p:spPr>
      </p:sp>
      <p:sp>
        <p:nvSpPr>
          <p:cNvPr id="26" name="Shape 24"/>
          <p:cNvSpPr/>
          <p:nvPr/>
        </p:nvSpPr>
        <p:spPr>
          <a:xfrm>
            <a:off x="685800" y="5671893"/>
            <a:ext cx="73152" cy="454587"/>
          </a:xfrm>
          <a:prstGeom prst="rect">
            <a:avLst>
              <a:gd name="adj" fmla="val 100000"/>
            </a:avLst>
          </a:prstGeom>
          <a:solidFill>
            <a:srgbClr val="1A73E8"/>
          </a:solidFill>
          <a:ln w="12700">
            <a:solidFill>
              <a:srgbClr val="1A73E8"/>
            </a:solidFill>
            <a:prstDash val="solid"/>
          </a:ln>
        </p:spPr>
      </p:sp>
      <p:sp>
        <p:nvSpPr>
          <p:cNvPr id="27" name="Text 25"/>
          <p:cNvSpPr txBox="1"/>
          <p:nvPr/>
        </p:nvSpPr>
        <p:spPr>
          <a:xfrm>
            <a:off x="822960" y="5671893"/>
            <a:ext cx="3108960" cy="454587"/>
          </a:xfrm>
          <a:prstGeom prst="rect">
            <a:avLst/>
          </a:prstGeom>
          <a:noFill/>
          <a:ln/>
        </p:spPr>
        <p:txBody>
          <a:bodyPr wrap="square" lIns="508" tIns="508" rIns="508" bIns="508" rtlCol="0" anchor="ctr"/>
          <a:lstStyle/>
          <a:p>
            <a:pPr algn="l" indent="0" marL="0">
              <a:lnSpc>
                <a:spcPct val="105000"/>
              </a:lnSpc>
              <a:buNone/>
            </a:pPr>
            <a:r>
              <a:rPr lang="en-US" sz="900" b="1" dirty="0">
                <a:solidFill>
                  <a:srgbClr val="174EA6"/>
                </a:solidFill>
                <a:latin typeface="Calibri" pitchFamily="34" charset="0"/>
                <a:ea typeface="Calibri" pitchFamily="34" charset="-122"/>
                <a:cs typeface="Calibri" pitchFamily="34" charset="-120"/>
              </a:rPr>
              <a:t>Structured output &amp; streaming  </a:t>
            </a:r>
            <a:pPr algn="l" indent="0" marL="0">
              <a:lnSpc>
                <a:spcPct val="105000"/>
              </a:lnSpc>
              <a:buNone/>
            </a:pPr>
            <a:r>
              <a:rPr lang="en-US" sz="900" dirty="0">
                <a:solidFill>
                  <a:srgbClr val="5F6368"/>
                </a:solidFill>
                <a:latin typeface="Calibri" pitchFamily="34" charset="0"/>
                <a:ea typeface="Calibri" pitchFamily="34" charset="-122"/>
                <a:cs typeface="Calibri" pitchFamily="34" charset="-120"/>
              </a:rPr>
              <a:t>output_schema, SSE / bidi streaming, Dev UI for local debugging</a:t>
            </a:r>
            <a:endParaRPr lang="en-US" sz="900" dirty="0"/>
          </a:p>
        </p:txBody>
      </p:sp>
      <p:sp>
        <p:nvSpPr>
          <p:cNvPr id="28" name="Shape 26"/>
          <p:cNvSpPr/>
          <p:nvPr/>
        </p:nvSpPr>
        <p:spPr>
          <a:xfrm>
            <a:off x="4315968" y="1874520"/>
            <a:ext cx="3566160" cy="4343400"/>
          </a:xfrm>
          <a:prstGeom prst="roundRect">
            <a:avLst>
              <a:gd name="adj" fmla="val 2564"/>
            </a:avLst>
          </a:prstGeom>
          <a:solidFill>
            <a:srgbClr val="EFE9F7"/>
          </a:solidFill>
          <a:ln w="12700">
            <a:solidFill>
              <a:srgbClr val="EFE9F7"/>
            </a:solidFill>
            <a:prstDash val="solid"/>
          </a:ln>
        </p:spPr>
      </p:sp>
      <p:sp>
        <p:nvSpPr>
          <p:cNvPr id="29" name="Text 27"/>
          <p:cNvSpPr txBox="1"/>
          <p:nvPr/>
        </p:nvSpPr>
        <p:spPr>
          <a:xfrm>
            <a:off x="4480560" y="1984248"/>
            <a:ext cx="3291840" cy="274320"/>
          </a:xfrm>
          <a:prstGeom prst="rect">
            <a:avLst/>
          </a:prstGeom>
          <a:noFill/>
          <a:ln/>
        </p:spPr>
        <p:txBody>
          <a:bodyPr wrap="square" lIns="508" tIns="508" rIns="508" bIns="508" rtlCol="0" anchor="t"/>
          <a:lstStyle/>
          <a:p>
            <a:pPr algn="l" indent="0" marL="0">
              <a:lnSpc>
                <a:spcPct val="105000"/>
              </a:lnSpc>
              <a:buNone/>
            </a:pPr>
            <a:r>
              <a:rPr lang="en-US" sz="1100" b="1" dirty="0">
                <a:solidFill>
                  <a:srgbClr val="6B4C9A"/>
                </a:solidFill>
                <a:latin typeface="Calibri" pitchFamily="34" charset="0"/>
                <a:ea typeface="Calibri" pitchFamily="34" charset="-122"/>
                <a:cs typeface="Calibri" pitchFamily="34" charset="-120"/>
              </a:rPr>
              <a:t>TSDK library (wrappers)</a:t>
            </a:r>
            <a:endParaRPr lang="en-US" sz="1100" dirty="0"/>
          </a:p>
        </p:txBody>
      </p:sp>
      <p:sp>
        <p:nvSpPr>
          <p:cNvPr id="30" name="Text 28"/>
          <p:cNvSpPr txBox="1"/>
          <p:nvPr/>
        </p:nvSpPr>
        <p:spPr>
          <a:xfrm>
            <a:off x="4480560" y="2240280"/>
            <a:ext cx="3291840" cy="256032"/>
          </a:xfrm>
          <a:prstGeom prst="rect">
            <a:avLst/>
          </a:prstGeom>
          <a:noFill/>
          <a:ln/>
        </p:spPr>
        <p:txBody>
          <a:bodyPr wrap="square" lIns="508" tIns="508" rIns="508" bIns="508" rtlCol="0" anchor="t"/>
          <a:lstStyle/>
          <a:p>
            <a:pPr algn="l" indent="0" marL="0">
              <a:lnSpc>
                <a:spcPct val="105000"/>
              </a:lnSpc>
              <a:buNone/>
            </a:pPr>
            <a:r>
              <a:rPr lang="en-US" sz="950" i="1" dirty="0">
                <a:solidFill>
                  <a:srgbClr val="5F6368"/>
                </a:solidFill>
                <a:latin typeface="Calibri" pitchFamily="34" charset="0"/>
                <a:ea typeface="Calibri" pitchFamily="34" charset="-122"/>
                <a:cs typeface="Calibri" pitchFamily="34" charset="-120"/>
              </a:rPr>
              <a:t>What the library adds on top of ADK</a:t>
            </a:r>
            <a:endParaRPr lang="en-US" sz="950" dirty="0"/>
          </a:p>
        </p:txBody>
      </p:sp>
      <p:sp>
        <p:nvSpPr>
          <p:cNvPr id="31" name="Shape 29"/>
          <p:cNvSpPr/>
          <p:nvPr/>
        </p:nvSpPr>
        <p:spPr>
          <a:xfrm>
            <a:off x="4453128" y="2560320"/>
            <a:ext cx="3291840" cy="541020"/>
          </a:xfrm>
          <a:prstGeom prst="roundRect">
            <a:avLst>
              <a:gd name="adj" fmla="val 8451"/>
            </a:avLst>
          </a:prstGeom>
          <a:solidFill>
            <a:srgbClr val="FFFFFF"/>
          </a:solidFill>
          <a:ln w="12700">
            <a:solidFill>
              <a:srgbClr val="FFFFFF"/>
            </a:solidFill>
            <a:prstDash val="solid"/>
          </a:ln>
        </p:spPr>
      </p:sp>
      <p:sp>
        <p:nvSpPr>
          <p:cNvPr id="32" name="Shape 30"/>
          <p:cNvSpPr/>
          <p:nvPr/>
        </p:nvSpPr>
        <p:spPr>
          <a:xfrm>
            <a:off x="4453128" y="2560320"/>
            <a:ext cx="73152" cy="541020"/>
          </a:xfrm>
          <a:prstGeom prst="rect">
            <a:avLst>
              <a:gd name="adj" fmla="val 100000"/>
            </a:avLst>
          </a:prstGeom>
          <a:solidFill>
            <a:srgbClr val="6B4C9A"/>
          </a:solidFill>
          <a:ln w="12700">
            <a:solidFill>
              <a:srgbClr val="6B4C9A"/>
            </a:solidFill>
            <a:prstDash val="solid"/>
          </a:ln>
        </p:spPr>
      </p:sp>
      <p:sp>
        <p:nvSpPr>
          <p:cNvPr id="33" name="Text 31"/>
          <p:cNvSpPr txBox="1"/>
          <p:nvPr/>
        </p:nvSpPr>
        <p:spPr>
          <a:xfrm>
            <a:off x="4590288" y="2560320"/>
            <a:ext cx="3108960" cy="541020"/>
          </a:xfrm>
          <a:prstGeom prst="rect">
            <a:avLst/>
          </a:prstGeom>
          <a:noFill/>
          <a:ln/>
        </p:spPr>
        <p:txBody>
          <a:bodyPr wrap="square" lIns="508" tIns="508" rIns="508" bIns="508" rtlCol="0" anchor="ctr"/>
          <a:lstStyle/>
          <a:p>
            <a:pPr algn="l" indent="0" marL="0">
              <a:lnSpc>
                <a:spcPct val="105000"/>
              </a:lnSpc>
              <a:buNone/>
            </a:pPr>
            <a:r>
              <a:rPr lang="en-US" sz="900" b="1" dirty="0">
                <a:solidFill>
                  <a:srgbClr val="4A3470"/>
                </a:solidFill>
                <a:latin typeface="Calibri" pitchFamily="34" charset="0"/>
                <a:ea typeface="Calibri" pitchFamily="34" charset="-122"/>
                <a:cs typeface="Calibri" pitchFamily="34" charset="-120"/>
              </a:rPr>
              <a:t>Auto-registration  </a:t>
            </a:r>
            <a:pPr algn="l" indent="0" marL="0">
              <a:lnSpc>
                <a:spcPct val="105000"/>
              </a:lnSpc>
              <a:buNone/>
            </a:pPr>
            <a:r>
              <a:rPr lang="en-US" sz="900" dirty="0">
                <a:solidFill>
                  <a:srgbClr val="5F6368"/>
                </a:solidFill>
                <a:latin typeface="Calibri" pitchFamily="34" charset="0"/>
                <a:ea typeface="Calibri" pitchFamily="34" charset="-122"/>
                <a:cs typeface="Calibri" pitchFamily="34" charset="-120"/>
              </a:rPr>
              <a:t>Wrapped agents register with Tachyon on construction — no manual onboarding</a:t>
            </a:r>
            <a:endParaRPr lang="en-US" sz="900" dirty="0"/>
          </a:p>
        </p:txBody>
      </p:sp>
      <p:sp>
        <p:nvSpPr>
          <p:cNvPr id="34" name="Shape 32"/>
          <p:cNvSpPr/>
          <p:nvPr/>
        </p:nvSpPr>
        <p:spPr>
          <a:xfrm>
            <a:off x="4453128" y="3165348"/>
            <a:ext cx="3291840" cy="541020"/>
          </a:xfrm>
          <a:prstGeom prst="roundRect">
            <a:avLst>
              <a:gd name="adj" fmla="val 8451"/>
            </a:avLst>
          </a:prstGeom>
          <a:solidFill>
            <a:srgbClr val="FFFFFF"/>
          </a:solidFill>
          <a:ln w="12700">
            <a:solidFill>
              <a:srgbClr val="FFFFFF"/>
            </a:solidFill>
            <a:prstDash val="solid"/>
          </a:ln>
        </p:spPr>
      </p:sp>
      <p:sp>
        <p:nvSpPr>
          <p:cNvPr id="35" name="Shape 33"/>
          <p:cNvSpPr/>
          <p:nvPr/>
        </p:nvSpPr>
        <p:spPr>
          <a:xfrm>
            <a:off x="4453128" y="3165348"/>
            <a:ext cx="73152" cy="541020"/>
          </a:xfrm>
          <a:prstGeom prst="rect">
            <a:avLst>
              <a:gd name="adj" fmla="val 100000"/>
            </a:avLst>
          </a:prstGeom>
          <a:solidFill>
            <a:srgbClr val="6B4C9A"/>
          </a:solidFill>
          <a:ln w="12700">
            <a:solidFill>
              <a:srgbClr val="6B4C9A"/>
            </a:solidFill>
            <a:prstDash val="solid"/>
          </a:ln>
        </p:spPr>
      </p:sp>
      <p:sp>
        <p:nvSpPr>
          <p:cNvPr id="36" name="Text 34"/>
          <p:cNvSpPr txBox="1"/>
          <p:nvPr/>
        </p:nvSpPr>
        <p:spPr>
          <a:xfrm>
            <a:off x="4590288" y="3165348"/>
            <a:ext cx="3108960" cy="541020"/>
          </a:xfrm>
          <a:prstGeom prst="rect">
            <a:avLst/>
          </a:prstGeom>
          <a:noFill/>
          <a:ln/>
        </p:spPr>
        <p:txBody>
          <a:bodyPr wrap="square" lIns="508" tIns="508" rIns="508" bIns="508" rtlCol="0" anchor="ctr"/>
          <a:lstStyle/>
          <a:p>
            <a:pPr algn="l" indent="0" marL="0">
              <a:lnSpc>
                <a:spcPct val="105000"/>
              </a:lnSpc>
              <a:buNone/>
            </a:pPr>
            <a:r>
              <a:rPr lang="en-US" sz="900" b="1" dirty="0">
                <a:solidFill>
                  <a:srgbClr val="4A3470"/>
                </a:solidFill>
                <a:latin typeface="Calibri" pitchFamily="34" charset="0"/>
                <a:ea typeface="Calibri" pitchFamily="34" charset="-122"/>
                <a:cs typeface="Calibri" pitchFamily="34" charset="-120"/>
              </a:rPr>
              <a:t>Arize instrumentation  </a:t>
            </a:r>
            <a:pPr algn="l" indent="0" marL="0">
              <a:lnSpc>
                <a:spcPct val="105000"/>
              </a:lnSpc>
              <a:buNone/>
            </a:pPr>
            <a:r>
              <a:rPr lang="en-US" sz="900" dirty="0">
                <a:solidFill>
                  <a:srgbClr val="5F6368"/>
                </a:solidFill>
                <a:latin typeface="Calibri" pitchFamily="34" charset="0"/>
                <a:ea typeface="Calibri" pitchFamily="34" charset="-122"/>
                <a:cs typeface="Calibri" pitchFamily="34" charset="-120"/>
              </a:rPr>
              <a:t>OTel tracer attached to every wrapped agent; spans land in Arize Phoenix</a:t>
            </a:r>
            <a:endParaRPr lang="en-US" sz="900" dirty="0"/>
          </a:p>
        </p:txBody>
      </p:sp>
      <p:sp>
        <p:nvSpPr>
          <p:cNvPr id="37" name="Shape 35"/>
          <p:cNvSpPr/>
          <p:nvPr/>
        </p:nvSpPr>
        <p:spPr>
          <a:xfrm>
            <a:off x="4453128" y="3770376"/>
            <a:ext cx="3291840" cy="541020"/>
          </a:xfrm>
          <a:prstGeom prst="roundRect">
            <a:avLst>
              <a:gd name="adj" fmla="val 8451"/>
            </a:avLst>
          </a:prstGeom>
          <a:solidFill>
            <a:srgbClr val="FFFFFF"/>
          </a:solidFill>
          <a:ln w="12700">
            <a:solidFill>
              <a:srgbClr val="FFFFFF"/>
            </a:solidFill>
            <a:prstDash val="solid"/>
          </a:ln>
        </p:spPr>
      </p:sp>
      <p:sp>
        <p:nvSpPr>
          <p:cNvPr id="38" name="Shape 36"/>
          <p:cNvSpPr/>
          <p:nvPr/>
        </p:nvSpPr>
        <p:spPr>
          <a:xfrm>
            <a:off x="4453128" y="3770376"/>
            <a:ext cx="73152" cy="541020"/>
          </a:xfrm>
          <a:prstGeom prst="rect">
            <a:avLst>
              <a:gd name="adj" fmla="val 100000"/>
            </a:avLst>
          </a:prstGeom>
          <a:solidFill>
            <a:srgbClr val="6B4C9A"/>
          </a:solidFill>
          <a:ln w="12700">
            <a:solidFill>
              <a:srgbClr val="6B4C9A"/>
            </a:solidFill>
            <a:prstDash val="solid"/>
          </a:ln>
        </p:spPr>
      </p:sp>
      <p:sp>
        <p:nvSpPr>
          <p:cNvPr id="39" name="Text 37"/>
          <p:cNvSpPr txBox="1"/>
          <p:nvPr/>
        </p:nvSpPr>
        <p:spPr>
          <a:xfrm>
            <a:off x="4590288" y="3770376"/>
            <a:ext cx="3108960" cy="541020"/>
          </a:xfrm>
          <a:prstGeom prst="rect">
            <a:avLst/>
          </a:prstGeom>
          <a:noFill/>
          <a:ln/>
        </p:spPr>
        <p:txBody>
          <a:bodyPr wrap="square" lIns="508" tIns="508" rIns="508" bIns="508" rtlCol="0" anchor="ctr"/>
          <a:lstStyle/>
          <a:p>
            <a:pPr algn="l" indent="0" marL="0">
              <a:lnSpc>
                <a:spcPct val="105000"/>
              </a:lnSpc>
              <a:buNone/>
            </a:pPr>
            <a:r>
              <a:rPr lang="en-US" sz="900" b="1" dirty="0">
                <a:solidFill>
                  <a:srgbClr val="4A3470"/>
                </a:solidFill>
                <a:latin typeface="Calibri" pitchFamily="34" charset="0"/>
                <a:ea typeface="Calibri" pitchFamily="34" charset="-122"/>
                <a:cs typeface="Calibri" pitchFamily="34" charset="-120"/>
              </a:rPr>
              <a:t>Model calls  </a:t>
            </a:r>
            <a:pPr algn="l" indent="0" marL="0">
              <a:lnSpc>
                <a:spcPct val="105000"/>
              </a:lnSpc>
              <a:buNone/>
            </a:pPr>
            <a:r>
              <a:rPr lang="en-US" sz="900" dirty="0">
                <a:solidFill>
                  <a:srgbClr val="5F6368"/>
                </a:solidFill>
                <a:latin typeface="Calibri" pitchFamily="34" charset="0"/>
                <a:ea typeface="Calibri" pitchFamily="34" charset="-122"/>
                <a:cs typeface="Calibri" pitchFamily="34" charset="-120"/>
              </a:rPr>
              <a:t>before_model pre-wired to the Tachyon AI Bridge, which picks &amp; calls the model</a:t>
            </a:r>
            <a:endParaRPr lang="en-US" sz="900" dirty="0"/>
          </a:p>
        </p:txBody>
      </p:sp>
      <p:sp>
        <p:nvSpPr>
          <p:cNvPr id="40" name="Shape 38"/>
          <p:cNvSpPr/>
          <p:nvPr/>
        </p:nvSpPr>
        <p:spPr>
          <a:xfrm>
            <a:off x="4453128" y="4375404"/>
            <a:ext cx="3291840" cy="541020"/>
          </a:xfrm>
          <a:prstGeom prst="roundRect">
            <a:avLst>
              <a:gd name="adj" fmla="val 8451"/>
            </a:avLst>
          </a:prstGeom>
          <a:solidFill>
            <a:srgbClr val="FFFFFF"/>
          </a:solidFill>
          <a:ln w="12700">
            <a:solidFill>
              <a:srgbClr val="FFFFFF"/>
            </a:solidFill>
            <a:prstDash val="solid"/>
          </a:ln>
        </p:spPr>
      </p:sp>
      <p:sp>
        <p:nvSpPr>
          <p:cNvPr id="41" name="Shape 39"/>
          <p:cNvSpPr/>
          <p:nvPr/>
        </p:nvSpPr>
        <p:spPr>
          <a:xfrm>
            <a:off x="4453128" y="4375404"/>
            <a:ext cx="73152" cy="541020"/>
          </a:xfrm>
          <a:prstGeom prst="rect">
            <a:avLst>
              <a:gd name="adj" fmla="val 100000"/>
            </a:avLst>
          </a:prstGeom>
          <a:solidFill>
            <a:srgbClr val="6B4C9A"/>
          </a:solidFill>
          <a:ln w="12700">
            <a:solidFill>
              <a:srgbClr val="6B4C9A"/>
            </a:solidFill>
            <a:prstDash val="solid"/>
          </a:ln>
        </p:spPr>
      </p:sp>
      <p:sp>
        <p:nvSpPr>
          <p:cNvPr id="42" name="Text 40"/>
          <p:cNvSpPr txBox="1"/>
          <p:nvPr/>
        </p:nvSpPr>
        <p:spPr>
          <a:xfrm>
            <a:off x="4590288" y="4375404"/>
            <a:ext cx="3108960" cy="541020"/>
          </a:xfrm>
          <a:prstGeom prst="rect">
            <a:avLst/>
          </a:prstGeom>
          <a:noFill/>
          <a:ln/>
        </p:spPr>
        <p:txBody>
          <a:bodyPr wrap="square" lIns="508" tIns="508" rIns="508" bIns="508" rtlCol="0" anchor="ctr"/>
          <a:lstStyle/>
          <a:p>
            <a:pPr algn="l" indent="0" marL="0">
              <a:lnSpc>
                <a:spcPct val="105000"/>
              </a:lnSpc>
              <a:buNone/>
            </a:pPr>
            <a:r>
              <a:rPr lang="en-US" sz="900" b="1" dirty="0">
                <a:solidFill>
                  <a:srgbClr val="4A3470"/>
                </a:solidFill>
                <a:latin typeface="Calibri" pitchFamily="34" charset="0"/>
                <a:ea typeface="Calibri" pitchFamily="34" charset="-122"/>
                <a:cs typeface="Calibri" pitchFamily="34" charset="-120"/>
              </a:rPr>
              <a:t>Session adapter  </a:t>
            </a:r>
            <a:pPr algn="l" indent="0" marL="0">
              <a:lnSpc>
                <a:spcPct val="105000"/>
              </a:lnSpc>
              <a:buNone/>
            </a:pPr>
            <a:r>
              <a:rPr lang="en-US" sz="900" dirty="0">
                <a:solidFill>
                  <a:srgbClr val="5F6368"/>
                </a:solidFill>
                <a:latin typeface="Calibri" pitchFamily="34" charset="0"/>
                <a:ea typeface="Calibri" pitchFamily="34" charset="-122"/>
                <a:cs typeface="Calibri" pitchFamily="34" charset="-120"/>
              </a:rPr>
              <a:t>ADK Session/State API backed by Tachyon-managed Redis (TTL, mTLS)</a:t>
            </a:r>
            <a:endParaRPr lang="en-US" sz="900" dirty="0"/>
          </a:p>
        </p:txBody>
      </p:sp>
      <p:sp>
        <p:nvSpPr>
          <p:cNvPr id="43" name="Shape 41"/>
          <p:cNvSpPr/>
          <p:nvPr/>
        </p:nvSpPr>
        <p:spPr>
          <a:xfrm>
            <a:off x="4453128" y="4980432"/>
            <a:ext cx="3291840" cy="541020"/>
          </a:xfrm>
          <a:prstGeom prst="roundRect">
            <a:avLst>
              <a:gd name="adj" fmla="val 8451"/>
            </a:avLst>
          </a:prstGeom>
          <a:solidFill>
            <a:srgbClr val="FFFFFF"/>
          </a:solidFill>
          <a:ln w="12700">
            <a:solidFill>
              <a:srgbClr val="FFFFFF"/>
            </a:solidFill>
            <a:prstDash val="solid"/>
          </a:ln>
        </p:spPr>
      </p:sp>
      <p:sp>
        <p:nvSpPr>
          <p:cNvPr id="44" name="Shape 42"/>
          <p:cNvSpPr/>
          <p:nvPr/>
        </p:nvSpPr>
        <p:spPr>
          <a:xfrm>
            <a:off x="4453128" y="4980432"/>
            <a:ext cx="73152" cy="541020"/>
          </a:xfrm>
          <a:prstGeom prst="rect">
            <a:avLst>
              <a:gd name="adj" fmla="val 100000"/>
            </a:avLst>
          </a:prstGeom>
          <a:solidFill>
            <a:srgbClr val="6B4C9A"/>
          </a:solidFill>
          <a:ln w="12700">
            <a:solidFill>
              <a:srgbClr val="6B4C9A"/>
            </a:solidFill>
            <a:prstDash val="solid"/>
          </a:ln>
        </p:spPr>
      </p:sp>
      <p:sp>
        <p:nvSpPr>
          <p:cNvPr id="45" name="Text 43"/>
          <p:cNvSpPr txBox="1"/>
          <p:nvPr/>
        </p:nvSpPr>
        <p:spPr>
          <a:xfrm>
            <a:off x="4590288" y="4980432"/>
            <a:ext cx="3108960" cy="541020"/>
          </a:xfrm>
          <a:prstGeom prst="rect">
            <a:avLst/>
          </a:prstGeom>
          <a:noFill/>
          <a:ln/>
        </p:spPr>
        <p:txBody>
          <a:bodyPr wrap="square" lIns="508" tIns="508" rIns="508" bIns="508" rtlCol="0" anchor="ctr"/>
          <a:lstStyle/>
          <a:p>
            <a:pPr algn="l" indent="0" marL="0">
              <a:lnSpc>
                <a:spcPct val="105000"/>
              </a:lnSpc>
              <a:buNone/>
            </a:pPr>
            <a:r>
              <a:rPr lang="en-US" sz="900" b="1" dirty="0">
                <a:solidFill>
                  <a:srgbClr val="4A3470"/>
                </a:solidFill>
                <a:latin typeface="Calibri" pitchFamily="34" charset="0"/>
                <a:ea typeface="Calibri" pitchFamily="34" charset="-122"/>
                <a:cs typeface="Calibri" pitchFamily="34" charset="-120"/>
              </a:rPr>
              <a:t>MCP + A2A adapters  </a:t>
            </a:r>
            <a:pPr algn="l" indent="0" marL="0">
              <a:lnSpc>
                <a:spcPct val="105000"/>
              </a:lnSpc>
              <a:buNone/>
            </a:pPr>
            <a:r>
              <a:rPr lang="en-US" sz="900" dirty="0">
                <a:solidFill>
                  <a:srgbClr val="5F6368"/>
                </a:solidFill>
                <a:latin typeface="Calibri" pitchFamily="34" charset="0"/>
                <a:ea typeface="Calibri" pitchFamily="34" charset="-122"/>
                <a:cs typeface="Calibri" pitchFamily="34" charset="-120"/>
              </a:rPr>
              <a:t>MCPToolset bound to the Tachyon registry; A2A with discovery &amp; token exchange</a:t>
            </a:r>
            <a:endParaRPr lang="en-US" sz="900" dirty="0"/>
          </a:p>
        </p:txBody>
      </p:sp>
      <p:sp>
        <p:nvSpPr>
          <p:cNvPr id="46" name="Shape 44"/>
          <p:cNvSpPr/>
          <p:nvPr/>
        </p:nvSpPr>
        <p:spPr>
          <a:xfrm>
            <a:off x="4453128" y="5585460"/>
            <a:ext cx="3291840" cy="541020"/>
          </a:xfrm>
          <a:prstGeom prst="roundRect">
            <a:avLst>
              <a:gd name="adj" fmla="val 8451"/>
            </a:avLst>
          </a:prstGeom>
          <a:solidFill>
            <a:srgbClr val="FFFFFF"/>
          </a:solidFill>
          <a:ln w="12700">
            <a:solidFill>
              <a:srgbClr val="FFFFFF"/>
            </a:solidFill>
            <a:prstDash val="solid"/>
          </a:ln>
        </p:spPr>
      </p:sp>
      <p:sp>
        <p:nvSpPr>
          <p:cNvPr id="47" name="Shape 45"/>
          <p:cNvSpPr/>
          <p:nvPr/>
        </p:nvSpPr>
        <p:spPr>
          <a:xfrm>
            <a:off x="4453128" y="5585460"/>
            <a:ext cx="73152" cy="541020"/>
          </a:xfrm>
          <a:prstGeom prst="rect">
            <a:avLst>
              <a:gd name="adj" fmla="val 100000"/>
            </a:avLst>
          </a:prstGeom>
          <a:solidFill>
            <a:srgbClr val="6B4C9A"/>
          </a:solidFill>
          <a:ln w="12700">
            <a:solidFill>
              <a:srgbClr val="6B4C9A"/>
            </a:solidFill>
            <a:prstDash val="solid"/>
          </a:ln>
        </p:spPr>
      </p:sp>
      <p:sp>
        <p:nvSpPr>
          <p:cNvPr id="48" name="Text 46"/>
          <p:cNvSpPr txBox="1"/>
          <p:nvPr/>
        </p:nvSpPr>
        <p:spPr>
          <a:xfrm>
            <a:off x="4590288" y="5585460"/>
            <a:ext cx="3108960" cy="541020"/>
          </a:xfrm>
          <a:prstGeom prst="rect">
            <a:avLst/>
          </a:prstGeom>
          <a:noFill/>
          <a:ln/>
        </p:spPr>
        <p:txBody>
          <a:bodyPr wrap="square" lIns="508" tIns="508" rIns="508" bIns="508" rtlCol="0" anchor="ctr"/>
          <a:lstStyle/>
          <a:p>
            <a:pPr algn="l" indent="0" marL="0">
              <a:lnSpc>
                <a:spcPct val="105000"/>
              </a:lnSpc>
              <a:buNone/>
            </a:pPr>
            <a:r>
              <a:rPr lang="en-US" sz="900" b="1" dirty="0">
                <a:solidFill>
                  <a:srgbClr val="4A3470"/>
                </a:solidFill>
                <a:latin typeface="Calibri" pitchFamily="34" charset="0"/>
                <a:ea typeface="Calibri" pitchFamily="34" charset="-122"/>
                <a:cs typeface="Calibri" pitchFamily="34" charset="-120"/>
              </a:rPr>
              <a:t>Guardrail enforcement  </a:t>
            </a:r>
            <a:pPr algn="l" indent="0" marL="0">
              <a:lnSpc>
                <a:spcPct val="105000"/>
              </a:lnSpc>
              <a:buNone/>
            </a:pPr>
            <a:r>
              <a:rPr lang="en-US" sz="900" dirty="0">
                <a:solidFill>
                  <a:srgbClr val="5F6368"/>
                </a:solidFill>
                <a:latin typeface="Calibri" pitchFamily="34" charset="0"/>
                <a:ea typeface="Calibri" pitchFamily="34" charset="-122"/>
                <a:cs typeface="Calibri" pitchFamily="34" charset="-120"/>
              </a:rPr>
              <a:t>Tachyon YAML policies applied at ADK tool / model callbacks</a:t>
            </a:r>
            <a:endParaRPr lang="en-US" sz="900" dirty="0"/>
          </a:p>
        </p:txBody>
      </p:sp>
      <p:sp>
        <p:nvSpPr>
          <p:cNvPr id="49" name="Shape 47"/>
          <p:cNvSpPr/>
          <p:nvPr/>
        </p:nvSpPr>
        <p:spPr>
          <a:xfrm>
            <a:off x="8083296" y="1874520"/>
            <a:ext cx="3529584" cy="4343400"/>
          </a:xfrm>
          <a:prstGeom prst="roundRect">
            <a:avLst>
              <a:gd name="adj" fmla="val 2591"/>
            </a:avLst>
          </a:prstGeom>
          <a:solidFill>
            <a:srgbClr val="FDEEE4"/>
          </a:solidFill>
          <a:ln w="12700">
            <a:solidFill>
              <a:srgbClr val="FDEEE4"/>
            </a:solidFill>
            <a:prstDash val="solid"/>
          </a:ln>
        </p:spPr>
      </p:sp>
      <p:sp>
        <p:nvSpPr>
          <p:cNvPr id="50" name="Text 48"/>
          <p:cNvSpPr txBox="1"/>
          <p:nvPr/>
        </p:nvSpPr>
        <p:spPr>
          <a:xfrm>
            <a:off x="8247888" y="1984248"/>
            <a:ext cx="3255264" cy="274320"/>
          </a:xfrm>
          <a:prstGeom prst="rect">
            <a:avLst/>
          </a:prstGeom>
          <a:noFill/>
          <a:ln/>
        </p:spPr>
        <p:txBody>
          <a:bodyPr wrap="square" lIns="508" tIns="508" rIns="508" bIns="508" rtlCol="0" anchor="t"/>
          <a:lstStyle/>
          <a:p>
            <a:pPr algn="l" indent="0" marL="0">
              <a:lnSpc>
                <a:spcPct val="105000"/>
              </a:lnSpc>
              <a:buNone/>
            </a:pPr>
            <a:r>
              <a:rPr lang="en-US" sz="1100" b="1" dirty="0">
                <a:solidFill>
                  <a:srgbClr val="C2410C"/>
                </a:solidFill>
                <a:latin typeface="Calibri" pitchFamily="34" charset="0"/>
                <a:ea typeface="Calibri" pitchFamily="34" charset="-122"/>
                <a:cs typeface="Calibri" pitchFamily="34" charset="-120"/>
              </a:rPr>
              <a:t>Tachyon platform</a:t>
            </a:r>
            <a:endParaRPr lang="en-US" sz="1100" dirty="0"/>
          </a:p>
        </p:txBody>
      </p:sp>
      <p:sp>
        <p:nvSpPr>
          <p:cNvPr id="51" name="Text 49"/>
          <p:cNvSpPr txBox="1"/>
          <p:nvPr/>
        </p:nvSpPr>
        <p:spPr>
          <a:xfrm>
            <a:off x="8247888" y="2240280"/>
            <a:ext cx="3255264" cy="256032"/>
          </a:xfrm>
          <a:prstGeom prst="rect">
            <a:avLst/>
          </a:prstGeom>
          <a:noFill/>
          <a:ln/>
        </p:spPr>
        <p:txBody>
          <a:bodyPr wrap="square" lIns="508" tIns="508" rIns="508" bIns="508" rtlCol="0" anchor="t"/>
          <a:lstStyle/>
          <a:p>
            <a:pPr algn="l" indent="0" marL="0">
              <a:lnSpc>
                <a:spcPct val="105000"/>
              </a:lnSpc>
              <a:buNone/>
            </a:pPr>
            <a:r>
              <a:rPr lang="en-US" sz="950" i="1" dirty="0">
                <a:solidFill>
                  <a:srgbClr val="5F6368"/>
                </a:solidFill>
                <a:latin typeface="Calibri" pitchFamily="34" charset="0"/>
                <a:ea typeface="Calibri" pitchFamily="34" charset="-122"/>
                <a:cs typeface="Calibri" pitchFamily="34" charset="-120"/>
              </a:rPr>
              <a:t>Enterprise services the library talks to</a:t>
            </a:r>
            <a:endParaRPr lang="en-US" sz="950" dirty="0"/>
          </a:p>
        </p:txBody>
      </p:sp>
      <p:sp>
        <p:nvSpPr>
          <p:cNvPr id="52" name="Shape 50"/>
          <p:cNvSpPr/>
          <p:nvPr/>
        </p:nvSpPr>
        <p:spPr>
          <a:xfrm>
            <a:off x="8220456" y="2560320"/>
            <a:ext cx="3255264" cy="454587"/>
          </a:xfrm>
          <a:prstGeom prst="roundRect">
            <a:avLst>
              <a:gd name="adj" fmla="val 10057"/>
            </a:avLst>
          </a:prstGeom>
          <a:solidFill>
            <a:srgbClr val="FFFFFF"/>
          </a:solidFill>
          <a:ln w="12700">
            <a:solidFill>
              <a:srgbClr val="FFFFFF"/>
            </a:solidFill>
            <a:prstDash val="solid"/>
          </a:ln>
        </p:spPr>
      </p:sp>
      <p:sp>
        <p:nvSpPr>
          <p:cNvPr id="53" name="Shape 51"/>
          <p:cNvSpPr/>
          <p:nvPr/>
        </p:nvSpPr>
        <p:spPr>
          <a:xfrm>
            <a:off x="8220456" y="2560320"/>
            <a:ext cx="73152" cy="454587"/>
          </a:xfrm>
          <a:prstGeom prst="rect">
            <a:avLst>
              <a:gd name="adj" fmla="val 100000"/>
            </a:avLst>
          </a:prstGeom>
          <a:solidFill>
            <a:srgbClr val="C2410C"/>
          </a:solidFill>
          <a:ln w="12700">
            <a:solidFill>
              <a:srgbClr val="C2410C"/>
            </a:solidFill>
            <a:prstDash val="solid"/>
          </a:ln>
        </p:spPr>
      </p:sp>
      <p:sp>
        <p:nvSpPr>
          <p:cNvPr id="54" name="Text 52"/>
          <p:cNvSpPr txBox="1"/>
          <p:nvPr/>
        </p:nvSpPr>
        <p:spPr>
          <a:xfrm>
            <a:off x="8357616" y="2560320"/>
            <a:ext cx="3072384" cy="454587"/>
          </a:xfrm>
          <a:prstGeom prst="rect">
            <a:avLst/>
          </a:prstGeom>
          <a:noFill/>
          <a:ln/>
        </p:spPr>
        <p:txBody>
          <a:bodyPr wrap="square" lIns="508" tIns="508" rIns="508" bIns="508" rtlCol="0" anchor="ctr"/>
          <a:lstStyle/>
          <a:p>
            <a:pPr algn="l" indent="0" marL="0">
              <a:lnSpc>
                <a:spcPct val="105000"/>
              </a:lnSpc>
              <a:buNone/>
            </a:pPr>
            <a:r>
              <a:rPr lang="en-US" sz="900" b="1" dirty="0">
                <a:solidFill>
                  <a:srgbClr val="8A2C06"/>
                </a:solidFill>
                <a:latin typeface="Calibri" pitchFamily="34" charset="0"/>
                <a:ea typeface="Calibri" pitchFamily="34" charset="-122"/>
                <a:cs typeface="Calibri" pitchFamily="34" charset="-120"/>
              </a:rPr>
              <a:t>AI Bridge  </a:t>
            </a:r>
            <a:pPr algn="l" indent="0" marL="0">
              <a:lnSpc>
                <a:spcPct val="105000"/>
              </a:lnSpc>
              <a:buNone/>
            </a:pPr>
            <a:r>
              <a:rPr lang="en-US" sz="900" dirty="0">
                <a:solidFill>
                  <a:srgbClr val="5F6368"/>
                </a:solidFill>
                <a:latin typeface="Calibri" pitchFamily="34" charset="0"/>
                <a:ea typeface="Calibri" pitchFamily="34" charset="-122"/>
                <a:cs typeface="Calibri" pitchFamily="34" charset="-120"/>
              </a:rPr>
              <a:t>model-agnostic routing, per-agent params, failover, pairing, fusion</a:t>
            </a:r>
            <a:endParaRPr lang="en-US" sz="900" dirty="0"/>
          </a:p>
        </p:txBody>
      </p:sp>
      <p:sp>
        <p:nvSpPr>
          <p:cNvPr id="55" name="Shape 53"/>
          <p:cNvSpPr/>
          <p:nvPr/>
        </p:nvSpPr>
        <p:spPr>
          <a:xfrm>
            <a:off x="8220456" y="3078915"/>
            <a:ext cx="3255264" cy="454587"/>
          </a:xfrm>
          <a:prstGeom prst="roundRect">
            <a:avLst>
              <a:gd name="adj" fmla="val 10057"/>
            </a:avLst>
          </a:prstGeom>
          <a:solidFill>
            <a:srgbClr val="FFFFFF"/>
          </a:solidFill>
          <a:ln w="12700">
            <a:solidFill>
              <a:srgbClr val="FFFFFF"/>
            </a:solidFill>
            <a:prstDash val="solid"/>
          </a:ln>
        </p:spPr>
      </p:sp>
      <p:sp>
        <p:nvSpPr>
          <p:cNvPr id="56" name="Shape 54"/>
          <p:cNvSpPr/>
          <p:nvPr/>
        </p:nvSpPr>
        <p:spPr>
          <a:xfrm>
            <a:off x="8220456" y="3078915"/>
            <a:ext cx="73152" cy="454587"/>
          </a:xfrm>
          <a:prstGeom prst="rect">
            <a:avLst>
              <a:gd name="adj" fmla="val 100000"/>
            </a:avLst>
          </a:prstGeom>
          <a:solidFill>
            <a:srgbClr val="C2410C"/>
          </a:solidFill>
          <a:ln w="12700">
            <a:solidFill>
              <a:srgbClr val="C2410C"/>
            </a:solidFill>
            <a:prstDash val="solid"/>
          </a:ln>
        </p:spPr>
      </p:sp>
      <p:sp>
        <p:nvSpPr>
          <p:cNvPr id="57" name="Text 55"/>
          <p:cNvSpPr txBox="1"/>
          <p:nvPr/>
        </p:nvSpPr>
        <p:spPr>
          <a:xfrm>
            <a:off x="8357616" y="3078915"/>
            <a:ext cx="3072384" cy="454587"/>
          </a:xfrm>
          <a:prstGeom prst="rect">
            <a:avLst/>
          </a:prstGeom>
          <a:noFill/>
          <a:ln/>
        </p:spPr>
        <p:txBody>
          <a:bodyPr wrap="square" lIns="508" tIns="508" rIns="508" bIns="508" rtlCol="0" anchor="ctr"/>
          <a:lstStyle/>
          <a:p>
            <a:pPr algn="l" indent="0" marL="0">
              <a:lnSpc>
                <a:spcPct val="105000"/>
              </a:lnSpc>
              <a:buNone/>
            </a:pPr>
            <a:r>
              <a:rPr lang="en-US" sz="900" b="1" dirty="0">
                <a:solidFill>
                  <a:srgbClr val="8A2C06"/>
                </a:solidFill>
                <a:latin typeface="Calibri" pitchFamily="34" charset="0"/>
                <a:ea typeface="Calibri" pitchFamily="34" charset="-122"/>
                <a:cs typeface="Calibri" pitchFamily="34" charset="-120"/>
              </a:rPr>
              <a:t>Declarative guardrails  </a:t>
            </a:r>
            <a:pPr algn="l" indent="0" marL="0">
              <a:lnSpc>
                <a:spcPct val="105000"/>
              </a:lnSpc>
              <a:buNone/>
            </a:pPr>
            <a:r>
              <a:rPr lang="en-US" sz="900" dirty="0">
                <a:solidFill>
                  <a:srgbClr val="5F6368"/>
                </a:solidFill>
                <a:latin typeface="Calibri" pitchFamily="34" charset="0"/>
                <a:ea typeface="Calibri" pitchFamily="34" charset="-122"/>
                <a:cs typeface="Calibri" pitchFamily="34" charset="-120"/>
              </a:rPr>
              <a:t>budgets, loop detection, safe-tool policy, goal-drift checks</a:t>
            </a:r>
            <a:endParaRPr lang="en-US" sz="900" dirty="0"/>
          </a:p>
        </p:txBody>
      </p:sp>
      <p:sp>
        <p:nvSpPr>
          <p:cNvPr id="58" name="Shape 56"/>
          <p:cNvSpPr/>
          <p:nvPr/>
        </p:nvSpPr>
        <p:spPr>
          <a:xfrm>
            <a:off x="8220456" y="3597511"/>
            <a:ext cx="3255264" cy="454587"/>
          </a:xfrm>
          <a:prstGeom prst="roundRect">
            <a:avLst>
              <a:gd name="adj" fmla="val 10057"/>
            </a:avLst>
          </a:prstGeom>
          <a:solidFill>
            <a:srgbClr val="FFFFFF"/>
          </a:solidFill>
          <a:ln w="12700">
            <a:solidFill>
              <a:srgbClr val="FFFFFF"/>
            </a:solidFill>
            <a:prstDash val="solid"/>
          </a:ln>
        </p:spPr>
      </p:sp>
      <p:sp>
        <p:nvSpPr>
          <p:cNvPr id="59" name="Shape 57"/>
          <p:cNvSpPr/>
          <p:nvPr/>
        </p:nvSpPr>
        <p:spPr>
          <a:xfrm>
            <a:off x="8220456" y="3597511"/>
            <a:ext cx="73152" cy="454587"/>
          </a:xfrm>
          <a:prstGeom prst="rect">
            <a:avLst>
              <a:gd name="adj" fmla="val 100000"/>
            </a:avLst>
          </a:prstGeom>
          <a:solidFill>
            <a:srgbClr val="C2410C"/>
          </a:solidFill>
          <a:ln w="12700">
            <a:solidFill>
              <a:srgbClr val="C2410C"/>
            </a:solidFill>
            <a:prstDash val="solid"/>
          </a:ln>
        </p:spPr>
      </p:sp>
      <p:sp>
        <p:nvSpPr>
          <p:cNvPr id="60" name="Text 58"/>
          <p:cNvSpPr txBox="1"/>
          <p:nvPr/>
        </p:nvSpPr>
        <p:spPr>
          <a:xfrm>
            <a:off x="8357616" y="3597511"/>
            <a:ext cx="3072384" cy="454587"/>
          </a:xfrm>
          <a:prstGeom prst="rect">
            <a:avLst/>
          </a:prstGeom>
          <a:noFill/>
          <a:ln/>
        </p:spPr>
        <p:txBody>
          <a:bodyPr wrap="square" lIns="508" tIns="508" rIns="508" bIns="508" rtlCol="0" anchor="ctr"/>
          <a:lstStyle/>
          <a:p>
            <a:pPr algn="l" indent="0" marL="0">
              <a:lnSpc>
                <a:spcPct val="105000"/>
              </a:lnSpc>
              <a:buNone/>
            </a:pPr>
            <a:r>
              <a:rPr lang="en-US" sz="900" b="1" dirty="0">
                <a:solidFill>
                  <a:srgbClr val="8A2C06"/>
                </a:solidFill>
                <a:latin typeface="Calibri" pitchFamily="34" charset="0"/>
                <a:ea typeface="Calibri" pitchFamily="34" charset="-122"/>
                <a:cs typeface="Calibri" pitchFamily="34" charset="-120"/>
              </a:rPr>
              <a:t>Overwatch &amp; Arize  </a:t>
            </a:r>
            <a:pPr algn="l" indent="0" marL="0">
              <a:lnSpc>
                <a:spcPct val="105000"/>
              </a:lnSpc>
              <a:buNone/>
            </a:pPr>
            <a:r>
              <a:rPr lang="en-US" sz="900" dirty="0">
                <a:solidFill>
                  <a:srgbClr val="5F6368"/>
                </a:solidFill>
                <a:latin typeface="Calibri" pitchFamily="34" charset="0"/>
                <a:ea typeface="Calibri" pitchFamily="34" charset="-122"/>
                <a:cs typeface="Calibri" pitchFamily="34" charset="-120"/>
              </a:rPr>
              <a:t>LLM metrics, goal validation, trace store with OTel export</a:t>
            </a:r>
            <a:endParaRPr lang="en-US" sz="900" dirty="0"/>
          </a:p>
        </p:txBody>
      </p:sp>
      <p:sp>
        <p:nvSpPr>
          <p:cNvPr id="61" name="Shape 59"/>
          <p:cNvSpPr/>
          <p:nvPr/>
        </p:nvSpPr>
        <p:spPr>
          <a:xfrm>
            <a:off x="8220456" y="4116106"/>
            <a:ext cx="3255264" cy="454587"/>
          </a:xfrm>
          <a:prstGeom prst="roundRect">
            <a:avLst>
              <a:gd name="adj" fmla="val 10057"/>
            </a:avLst>
          </a:prstGeom>
          <a:solidFill>
            <a:srgbClr val="FFFFFF"/>
          </a:solidFill>
          <a:ln w="12700">
            <a:solidFill>
              <a:srgbClr val="FFFFFF"/>
            </a:solidFill>
            <a:prstDash val="solid"/>
          </a:ln>
        </p:spPr>
      </p:sp>
      <p:sp>
        <p:nvSpPr>
          <p:cNvPr id="62" name="Shape 60"/>
          <p:cNvSpPr/>
          <p:nvPr/>
        </p:nvSpPr>
        <p:spPr>
          <a:xfrm>
            <a:off x="8220456" y="4116106"/>
            <a:ext cx="73152" cy="454587"/>
          </a:xfrm>
          <a:prstGeom prst="rect">
            <a:avLst>
              <a:gd name="adj" fmla="val 100000"/>
            </a:avLst>
          </a:prstGeom>
          <a:solidFill>
            <a:srgbClr val="C2410C"/>
          </a:solidFill>
          <a:ln w="12700">
            <a:solidFill>
              <a:srgbClr val="C2410C"/>
            </a:solidFill>
            <a:prstDash val="solid"/>
          </a:ln>
        </p:spPr>
      </p:sp>
      <p:sp>
        <p:nvSpPr>
          <p:cNvPr id="63" name="Text 61"/>
          <p:cNvSpPr txBox="1"/>
          <p:nvPr/>
        </p:nvSpPr>
        <p:spPr>
          <a:xfrm>
            <a:off x="8357616" y="4116106"/>
            <a:ext cx="3072384" cy="454587"/>
          </a:xfrm>
          <a:prstGeom prst="rect">
            <a:avLst/>
          </a:prstGeom>
          <a:noFill/>
          <a:ln/>
        </p:spPr>
        <p:txBody>
          <a:bodyPr wrap="square" lIns="508" tIns="508" rIns="508" bIns="508" rtlCol="0" anchor="ctr"/>
          <a:lstStyle/>
          <a:p>
            <a:pPr algn="l" indent="0" marL="0">
              <a:lnSpc>
                <a:spcPct val="105000"/>
              </a:lnSpc>
              <a:buNone/>
            </a:pPr>
            <a:r>
              <a:rPr lang="en-US" sz="900" b="1" dirty="0">
                <a:solidFill>
                  <a:srgbClr val="8A2C06"/>
                </a:solidFill>
                <a:latin typeface="Calibri" pitchFamily="34" charset="0"/>
                <a:ea typeface="Calibri" pitchFamily="34" charset="-122"/>
                <a:cs typeface="Calibri" pitchFamily="34" charset="-120"/>
              </a:rPr>
              <a:t>Eval harness  </a:t>
            </a:r>
            <a:pPr algn="l" indent="0" marL="0">
              <a:lnSpc>
                <a:spcPct val="105000"/>
              </a:lnSpc>
              <a:buNone/>
            </a:pPr>
            <a:r>
              <a:rPr lang="en-US" sz="900" dirty="0">
                <a:solidFill>
                  <a:srgbClr val="5F6368"/>
                </a:solidFill>
                <a:latin typeface="Calibri" pitchFamily="34" charset="0"/>
                <a:ea typeface="Calibri" pitchFamily="34" charset="-122"/>
                <a:cs typeface="Calibri" pitchFamily="34" charset="-120"/>
              </a:rPr>
              <a:t>guardrail evals, LLM-as-judge, pytest in CI</a:t>
            </a:r>
            <a:endParaRPr lang="en-US" sz="900" dirty="0"/>
          </a:p>
        </p:txBody>
      </p:sp>
      <p:sp>
        <p:nvSpPr>
          <p:cNvPr id="64" name="Shape 62"/>
          <p:cNvSpPr/>
          <p:nvPr/>
        </p:nvSpPr>
        <p:spPr>
          <a:xfrm>
            <a:off x="8220456" y="4634702"/>
            <a:ext cx="3255264" cy="454587"/>
          </a:xfrm>
          <a:prstGeom prst="roundRect">
            <a:avLst>
              <a:gd name="adj" fmla="val 10057"/>
            </a:avLst>
          </a:prstGeom>
          <a:solidFill>
            <a:srgbClr val="FFFFFF"/>
          </a:solidFill>
          <a:ln w="12700">
            <a:solidFill>
              <a:srgbClr val="FFFFFF"/>
            </a:solidFill>
            <a:prstDash val="solid"/>
          </a:ln>
        </p:spPr>
      </p:sp>
      <p:sp>
        <p:nvSpPr>
          <p:cNvPr id="65" name="Shape 63"/>
          <p:cNvSpPr/>
          <p:nvPr/>
        </p:nvSpPr>
        <p:spPr>
          <a:xfrm>
            <a:off x="8220456" y="4634702"/>
            <a:ext cx="73152" cy="454587"/>
          </a:xfrm>
          <a:prstGeom prst="rect">
            <a:avLst>
              <a:gd name="adj" fmla="val 100000"/>
            </a:avLst>
          </a:prstGeom>
          <a:solidFill>
            <a:srgbClr val="C2410C"/>
          </a:solidFill>
          <a:ln w="12700">
            <a:solidFill>
              <a:srgbClr val="C2410C"/>
            </a:solidFill>
            <a:prstDash val="solid"/>
          </a:ln>
        </p:spPr>
      </p:sp>
      <p:sp>
        <p:nvSpPr>
          <p:cNvPr id="66" name="Text 64"/>
          <p:cNvSpPr txBox="1"/>
          <p:nvPr/>
        </p:nvSpPr>
        <p:spPr>
          <a:xfrm>
            <a:off x="8357616" y="4634702"/>
            <a:ext cx="3072384" cy="454587"/>
          </a:xfrm>
          <a:prstGeom prst="rect">
            <a:avLst/>
          </a:prstGeom>
          <a:noFill/>
          <a:ln/>
        </p:spPr>
        <p:txBody>
          <a:bodyPr wrap="square" lIns="508" tIns="508" rIns="508" bIns="508" rtlCol="0" anchor="ctr"/>
          <a:lstStyle/>
          <a:p>
            <a:pPr algn="l" indent="0" marL="0">
              <a:lnSpc>
                <a:spcPct val="105000"/>
              </a:lnSpc>
              <a:buNone/>
            </a:pPr>
            <a:r>
              <a:rPr lang="en-US" sz="900" b="1" dirty="0">
                <a:solidFill>
                  <a:srgbClr val="8A2C06"/>
                </a:solidFill>
                <a:latin typeface="Calibri" pitchFamily="34" charset="0"/>
                <a:ea typeface="Calibri" pitchFamily="34" charset="-122"/>
                <a:cs typeface="Calibri" pitchFamily="34" charset="-120"/>
              </a:rPr>
              <a:t>Long-term memory  </a:t>
            </a:r>
            <a:pPr algn="l" indent="0" marL="0">
              <a:lnSpc>
                <a:spcPct val="105000"/>
              </a:lnSpc>
              <a:buNone/>
            </a:pPr>
            <a:r>
              <a:rPr lang="en-US" sz="900" dirty="0">
                <a:solidFill>
                  <a:srgbClr val="5F6368"/>
                </a:solidFill>
                <a:latin typeface="Calibri" pitchFamily="34" charset="0"/>
                <a:ea typeface="Calibri" pitchFamily="34" charset="-122"/>
                <a:cs typeface="Calibri" pitchFamily="34" charset="-120"/>
              </a:rPr>
              <a:t>Mem0 on PostgreSQL / Mongo / Elastic</a:t>
            </a:r>
            <a:endParaRPr lang="en-US" sz="900" dirty="0"/>
          </a:p>
        </p:txBody>
      </p:sp>
      <p:sp>
        <p:nvSpPr>
          <p:cNvPr id="67" name="Shape 65"/>
          <p:cNvSpPr/>
          <p:nvPr/>
        </p:nvSpPr>
        <p:spPr>
          <a:xfrm>
            <a:off x="8220456" y="5153297"/>
            <a:ext cx="3255264" cy="454587"/>
          </a:xfrm>
          <a:prstGeom prst="roundRect">
            <a:avLst>
              <a:gd name="adj" fmla="val 10057"/>
            </a:avLst>
          </a:prstGeom>
          <a:solidFill>
            <a:srgbClr val="FFFFFF"/>
          </a:solidFill>
          <a:ln w="12700">
            <a:solidFill>
              <a:srgbClr val="FFFFFF"/>
            </a:solidFill>
            <a:prstDash val="solid"/>
          </a:ln>
        </p:spPr>
      </p:sp>
      <p:sp>
        <p:nvSpPr>
          <p:cNvPr id="68" name="Shape 66"/>
          <p:cNvSpPr/>
          <p:nvPr/>
        </p:nvSpPr>
        <p:spPr>
          <a:xfrm>
            <a:off x="8220456" y="5153297"/>
            <a:ext cx="73152" cy="454587"/>
          </a:xfrm>
          <a:prstGeom prst="rect">
            <a:avLst>
              <a:gd name="adj" fmla="val 100000"/>
            </a:avLst>
          </a:prstGeom>
          <a:solidFill>
            <a:srgbClr val="C2410C"/>
          </a:solidFill>
          <a:ln w="12700">
            <a:solidFill>
              <a:srgbClr val="C2410C"/>
            </a:solidFill>
            <a:prstDash val="solid"/>
          </a:ln>
        </p:spPr>
      </p:sp>
      <p:sp>
        <p:nvSpPr>
          <p:cNvPr id="69" name="Text 67"/>
          <p:cNvSpPr txBox="1"/>
          <p:nvPr/>
        </p:nvSpPr>
        <p:spPr>
          <a:xfrm>
            <a:off x="8357616" y="5153297"/>
            <a:ext cx="3072384" cy="454587"/>
          </a:xfrm>
          <a:prstGeom prst="rect">
            <a:avLst/>
          </a:prstGeom>
          <a:noFill/>
          <a:ln/>
        </p:spPr>
        <p:txBody>
          <a:bodyPr wrap="square" lIns="508" tIns="508" rIns="508" bIns="508" rtlCol="0" anchor="ctr"/>
          <a:lstStyle/>
          <a:p>
            <a:pPr algn="l" indent="0" marL="0">
              <a:lnSpc>
                <a:spcPct val="105000"/>
              </a:lnSpc>
              <a:buNone/>
            </a:pPr>
            <a:r>
              <a:rPr lang="en-US" sz="900" b="1" dirty="0">
                <a:solidFill>
                  <a:srgbClr val="8A2C06"/>
                </a:solidFill>
                <a:latin typeface="Calibri" pitchFamily="34" charset="0"/>
                <a:ea typeface="Calibri" pitchFamily="34" charset="-122"/>
                <a:cs typeface="Calibri" pitchFamily="34" charset="-120"/>
              </a:rPr>
              <a:t>RAG pipeline  </a:t>
            </a:r>
            <a:pPr algn="l" indent="0" marL="0">
              <a:lnSpc>
                <a:spcPct val="105000"/>
              </a:lnSpc>
              <a:buNone/>
            </a:pPr>
            <a:r>
              <a:rPr lang="en-US" sz="900" dirty="0">
                <a:solidFill>
                  <a:srgbClr val="5F6368"/>
                </a:solidFill>
                <a:latin typeface="Calibri" pitchFamily="34" charset="0"/>
                <a:ea typeface="Calibri" pitchFamily="34" charset="-122"/>
                <a:cs typeface="Calibri" pitchFamily="34" charset="-120"/>
              </a:rPr>
              <a:t>chunking, hybrid search, re-rankers</a:t>
            </a:r>
            <a:endParaRPr lang="en-US" sz="900" dirty="0"/>
          </a:p>
        </p:txBody>
      </p:sp>
      <p:sp>
        <p:nvSpPr>
          <p:cNvPr id="70" name="Shape 68"/>
          <p:cNvSpPr/>
          <p:nvPr/>
        </p:nvSpPr>
        <p:spPr>
          <a:xfrm>
            <a:off x="8220456" y="5671893"/>
            <a:ext cx="3255264" cy="454587"/>
          </a:xfrm>
          <a:prstGeom prst="roundRect">
            <a:avLst>
              <a:gd name="adj" fmla="val 10057"/>
            </a:avLst>
          </a:prstGeom>
          <a:solidFill>
            <a:srgbClr val="FFFFFF"/>
          </a:solidFill>
          <a:ln w="12700">
            <a:solidFill>
              <a:srgbClr val="FFFFFF"/>
            </a:solidFill>
            <a:prstDash val="solid"/>
          </a:ln>
        </p:spPr>
      </p:sp>
      <p:sp>
        <p:nvSpPr>
          <p:cNvPr id="71" name="Shape 69"/>
          <p:cNvSpPr/>
          <p:nvPr/>
        </p:nvSpPr>
        <p:spPr>
          <a:xfrm>
            <a:off x="8220456" y="5671893"/>
            <a:ext cx="73152" cy="454587"/>
          </a:xfrm>
          <a:prstGeom prst="rect">
            <a:avLst>
              <a:gd name="adj" fmla="val 100000"/>
            </a:avLst>
          </a:prstGeom>
          <a:solidFill>
            <a:srgbClr val="C2410C"/>
          </a:solidFill>
          <a:ln w="12700">
            <a:solidFill>
              <a:srgbClr val="C2410C"/>
            </a:solidFill>
            <a:prstDash val="solid"/>
          </a:ln>
        </p:spPr>
      </p:sp>
      <p:sp>
        <p:nvSpPr>
          <p:cNvPr id="72" name="Text 70"/>
          <p:cNvSpPr txBox="1"/>
          <p:nvPr/>
        </p:nvSpPr>
        <p:spPr>
          <a:xfrm>
            <a:off x="8357616" y="5671893"/>
            <a:ext cx="3072384" cy="454587"/>
          </a:xfrm>
          <a:prstGeom prst="rect">
            <a:avLst/>
          </a:prstGeom>
          <a:noFill/>
          <a:ln/>
        </p:spPr>
        <p:txBody>
          <a:bodyPr wrap="square" lIns="508" tIns="508" rIns="508" bIns="508" rtlCol="0" anchor="ctr"/>
          <a:lstStyle/>
          <a:p>
            <a:pPr algn="l" indent="0" marL="0">
              <a:lnSpc>
                <a:spcPct val="105000"/>
              </a:lnSpc>
              <a:buNone/>
            </a:pPr>
            <a:r>
              <a:rPr lang="en-US" sz="900" b="1" dirty="0">
                <a:solidFill>
                  <a:srgbClr val="8A2C06"/>
                </a:solidFill>
                <a:latin typeface="Calibri" pitchFamily="34" charset="0"/>
                <a:ea typeface="Calibri" pitchFamily="34" charset="-122"/>
                <a:cs typeface="Calibri" pitchFamily="34" charset="-120"/>
              </a:rPr>
              <a:t>Deployment &amp; MMR  </a:t>
            </a:r>
            <a:pPr algn="l" indent="0" marL="0">
              <a:lnSpc>
                <a:spcPct val="105000"/>
              </a:lnSpc>
              <a:buNone/>
            </a:pPr>
            <a:r>
              <a:rPr lang="en-US" sz="900" dirty="0">
                <a:solidFill>
                  <a:srgbClr val="5F6368"/>
                </a:solidFill>
                <a:latin typeface="Calibri" pitchFamily="34" charset="0"/>
                <a:ea typeface="Calibri" pitchFamily="34" charset="-122"/>
                <a:cs typeface="Calibri" pitchFamily="34" charset="-120"/>
              </a:rPr>
              <a:t>OCP via EPLX; single Model-Risk approval surface</a:t>
            </a:r>
            <a:endParaRPr lang="en-US" sz="900" dirty="0"/>
          </a:p>
        </p:txBody>
      </p:sp>
      <p:sp>
        <p:nvSpPr>
          <p:cNvPr id="73" name="Text 71"/>
          <p:cNvSpPr txBox="1"/>
          <p:nvPr/>
        </p:nvSpPr>
        <p:spPr>
          <a:xfrm>
            <a:off x="7863840" y="6355080"/>
            <a:ext cx="3749040" cy="310896"/>
          </a:xfrm>
          <a:prstGeom prst="rect">
            <a:avLst/>
          </a:prstGeom>
          <a:noFill/>
          <a:ln/>
        </p:spPr>
        <p:txBody>
          <a:bodyPr wrap="square" lIns="508" tIns="508" rIns="508" bIns="508" rtlCol="0" anchor="ctr"/>
          <a:lstStyle/>
          <a:p>
            <a:pPr algn="r" indent="0" marL="0">
              <a:lnSpc>
                <a:spcPct val="105000"/>
              </a:lnSpc>
              <a:buNone/>
            </a:pPr>
            <a:r>
              <a:rPr lang="en-US" sz="900" dirty="0">
                <a:solidFill>
                  <a:srgbClr val="9AA0A6"/>
                </a:solidFill>
                <a:latin typeface="Calibri" pitchFamily="34" charset="0"/>
                <a:ea typeface="Calibri" pitchFamily="34" charset="-122"/>
                <a:cs typeface="Calibri" pitchFamily="34" charset="-120"/>
              </a:rPr>
              <a:t>Fargo platform – internal</a:t>
            </a:r>
            <a:endParaRPr lang="en-US" sz="900" dirty="0"/>
          </a:p>
        </p:txBody>
      </p:sp>
      <p:sp>
        <p:nvSpPr>
          <p:cNvPr id="74" name="Text 72"/>
          <p:cNvSpPr txBox="1"/>
          <p:nvPr/>
        </p:nvSpPr>
        <p:spPr>
          <a:xfrm>
            <a:off x="11658600" y="6355080"/>
            <a:ext cx="365760" cy="310896"/>
          </a:xfrm>
          <a:prstGeom prst="rect">
            <a:avLst/>
          </a:prstGeom>
          <a:noFill/>
          <a:ln/>
        </p:spPr>
        <p:txBody>
          <a:bodyPr wrap="square" lIns="508" tIns="508" rIns="508" bIns="508" rtlCol="0" anchor="ctr"/>
          <a:lstStyle/>
          <a:p>
            <a:pPr algn="r" indent="0" marL="0">
              <a:lnSpc>
                <a:spcPct val="105000"/>
              </a:lnSpc>
              <a:buNone/>
            </a:pPr>
            <a:r>
              <a:rPr lang="en-US" sz="900" dirty="0">
                <a:solidFill>
                  <a:srgbClr val="9AA0A6"/>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457200"/>
            <a:ext cx="11064240" cy="548640"/>
          </a:xfrm>
          <a:prstGeom prst="rect">
            <a:avLst/>
          </a:prstGeom>
          <a:noFill/>
          <a:ln/>
        </p:spPr>
        <p:txBody>
          <a:bodyPr wrap="square" lIns="508" tIns="508" rIns="508" bIns="508" rtlCol="0" anchor="t"/>
          <a:lstStyle/>
          <a:p>
            <a:pPr algn="l" indent="0" marL="0">
              <a:lnSpc>
                <a:spcPct val="105000"/>
              </a:lnSpc>
              <a:buNone/>
            </a:pPr>
            <a:r>
              <a:rPr lang="en-US" sz="2600" b="1" dirty="0">
                <a:solidFill>
                  <a:srgbClr val="1B1F3B"/>
                </a:solidFill>
                <a:latin typeface="Calibri" pitchFamily="34" charset="0"/>
                <a:ea typeface="Calibri" pitchFamily="34" charset="-122"/>
                <a:cs typeface="Calibri" pitchFamily="34" charset="-120"/>
              </a:rPr>
              <a:t>Request flow – 13 steps</a:t>
            </a:r>
            <a:endParaRPr lang="en-US" sz="2600" dirty="0"/>
          </a:p>
        </p:txBody>
      </p:sp>
      <p:sp>
        <p:nvSpPr>
          <p:cNvPr id="3" name="Text 1"/>
          <p:cNvSpPr txBox="1"/>
          <p:nvPr/>
        </p:nvSpPr>
        <p:spPr>
          <a:xfrm>
            <a:off x="548640" y="1051560"/>
            <a:ext cx="11064240" cy="457200"/>
          </a:xfrm>
          <a:prstGeom prst="rect">
            <a:avLst/>
          </a:prstGeom>
          <a:noFill/>
          <a:ln/>
        </p:spPr>
        <p:txBody>
          <a:bodyPr wrap="square" lIns="508" tIns="508" rIns="508" bIns="508" rtlCol="0" anchor="t"/>
          <a:lstStyle/>
          <a:p>
            <a:pPr algn="l" indent="0" marL="0">
              <a:lnSpc>
                <a:spcPct val="105000"/>
              </a:lnSpc>
              <a:buNone/>
            </a:pPr>
            <a:r>
              <a:rPr lang="en-US" sz="1300" dirty="0">
                <a:solidFill>
                  <a:srgbClr val="5F6368"/>
                </a:solidFill>
                <a:latin typeface="Calibri" pitchFamily="34" charset="0"/>
                <a:ea typeface="Calibri" pitchFamily="34" charset="-122"/>
                <a:cs typeface="Calibri" pitchFamily="34" charset="-120"/>
              </a:rPr>
              <a:t>Example: customer asks "Why was I charged twice?". The color on each step shows which layer does the work.</a:t>
            </a:r>
            <a:endParaRPr lang="en-US" sz="1300" dirty="0"/>
          </a:p>
        </p:txBody>
      </p:sp>
      <p:sp>
        <p:nvSpPr>
          <p:cNvPr id="4" name="Shape 2"/>
          <p:cNvSpPr/>
          <p:nvPr/>
        </p:nvSpPr>
        <p:spPr>
          <a:xfrm>
            <a:off x="548640" y="1965960"/>
            <a:ext cx="1463040" cy="1234440"/>
          </a:xfrm>
          <a:prstGeom prst="roundRect">
            <a:avLst>
              <a:gd name="adj" fmla="val 5926"/>
            </a:avLst>
          </a:prstGeom>
          <a:solidFill>
            <a:srgbClr val="FFFFFF"/>
          </a:solidFill>
          <a:ln w="12700">
            <a:solidFill>
              <a:srgbClr val="DADCE0"/>
            </a:solidFill>
            <a:prstDash val="solid"/>
          </a:ln>
          <a:effectLst>
            <a:outerShdw sx="100000" sy="100000" kx="0" ky="0" algn="bl" rotWithShape="0" blurRad="50800" dist="19050" dir="5400000">
              <a:srgbClr val="000000">
                <a:alpha val="12000"/>
              </a:srgbClr>
            </a:outerShdw>
          </a:effectLst>
        </p:spPr>
      </p:sp>
      <p:sp>
        <p:nvSpPr>
          <p:cNvPr id="5" name="Shape 3"/>
          <p:cNvSpPr/>
          <p:nvPr/>
        </p:nvSpPr>
        <p:spPr>
          <a:xfrm>
            <a:off x="640080" y="2057400"/>
            <a:ext cx="329184" cy="329184"/>
          </a:xfrm>
          <a:prstGeom prst="roundRect">
            <a:avLst>
              <a:gd name="adj" fmla="val 50000"/>
            </a:avLst>
          </a:prstGeom>
          <a:solidFill>
            <a:srgbClr val="5F6368"/>
          </a:solidFill>
          <a:ln w="12700">
            <a:solidFill>
              <a:srgbClr val="5F6368"/>
            </a:solidFill>
            <a:prstDash val="solid"/>
          </a:ln>
        </p:spPr>
      </p:sp>
      <p:sp>
        <p:nvSpPr>
          <p:cNvPr id="6" name="Text 4"/>
          <p:cNvSpPr txBox="1"/>
          <p:nvPr/>
        </p:nvSpPr>
        <p:spPr>
          <a:xfrm>
            <a:off x="640080" y="2057400"/>
            <a:ext cx="329184" cy="329184"/>
          </a:xfrm>
          <a:prstGeom prst="rect">
            <a:avLst/>
          </a:prstGeom>
          <a:noFill/>
          <a:ln/>
        </p:spPr>
        <p:txBody>
          <a:bodyPr wrap="square" lIns="508" tIns="508" rIns="508" bIns="508" rtlCol="0" anchor="ctr"/>
          <a:lstStyle/>
          <a:p>
            <a:pPr algn="ctr" indent="0" marL="0">
              <a:lnSpc>
                <a:spcPct val="105000"/>
              </a:lnSpc>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7" name="Text 5"/>
          <p:cNvSpPr txBox="1"/>
          <p:nvPr/>
        </p:nvSpPr>
        <p:spPr>
          <a:xfrm>
            <a:off x="1024128" y="2057400"/>
            <a:ext cx="932688" cy="365760"/>
          </a:xfrm>
          <a:prstGeom prst="rect">
            <a:avLst/>
          </a:prstGeom>
          <a:noFill/>
          <a:ln/>
        </p:spPr>
        <p:txBody>
          <a:bodyPr wrap="square" lIns="508" tIns="508" rIns="508" bIns="508" rtlCol="0" anchor="ctr"/>
          <a:lstStyle/>
          <a:p>
            <a:pPr algn="l" indent="0" marL="0">
              <a:lnSpc>
                <a:spcPct val="100000"/>
              </a:lnSpc>
              <a:buNone/>
            </a:pPr>
            <a:r>
              <a:rPr lang="en-US" sz="950" b="1" dirty="0">
                <a:solidFill>
                  <a:srgbClr val="202124"/>
                </a:solidFill>
                <a:latin typeface="Calibri" pitchFamily="34" charset="0"/>
                <a:ea typeface="Calibri" pitchFamily="34" charset="-122"/>
                <a:cs typeface="Calibri" pitchFamily="34" charset="-120"/>
              </a:rPr>
              <a:t>Chat message</a:t>
            </a:r>
            <a:endParaRPr lang="en-US" sz="950" dirty="0"/>
          </a:p>
        </p:txBody>
      </p:sp>
      <p:sp>
        <p:nvSpPr>
          <p:cNvPr id="8" name="Text 6"/>
          <p:cNvSpPr txBox="1"/>
          <p:nvPr/>
        </p:nvSpPr>
        <p:spPr>
          <a:xfrm>
            <a:off x="640080" y="2441448"/>
            <a:ext cx="1280160" cy="704088"/>
          </a:xfrm>
          <a:prstGeom prst="rect">
            <a:avLst/>
          </a:prstGeom>
          <a:noFill/>
          <a:ln/>
        </p:spPr>
        <p:txBody>
          <a:bodyPr wrap="square" lIns="508" tIns="508" rIns="508" bIns="508" rtlCol="0" anchor="t"/>
          <a:lstStyle/>
          <a:p>
            <a:pPr algn="l" indent="0" marL="0">
              <a:lnSpc>
                <a:spcPct val="105000"/>
              </a:lnSpc>
              <a:buNone/>
            </a:pPr>
            <a:r>
              <a:rPr lang="en-US" sz="850" dirty="0">
                <a:solidFill>
                  <a:srgbClr val="5F6368"/>
                </a:solidFill>
                <a:latin typeface="Calibri" pitchFamily="34" charset="0"/>
                <a:ea typeface="Calibri" pitchFamily="34" charset="-122"/>
                <a:cs typeface="Calibri" pitchFamily="34" charset="-120"/>
              </a:rPr>
              <a:t>Customer sends message via app</a:t>
            </a:r>
            <a:endParaRPr lang="en-US" sz="850" dirty="0"/>
          </a:p>
        </p:txBody>
      </p:sp>
      <p:sp>
        <p:nvSpPr>
          <p:cNvPr id="9" name="Shape 7"/>
          <p:cNvSpPr/>
          <p:nvPr/>
        </p:nvSpPr>
        <p:spPr>
          <a:xfrm>
            <a:off x="2011680" y="2583180"/>
            <a:ext cx="137160" cy="914"/>
          </a:xfrm>
          <a:prstGeom prst="line">
            <a:avLst/>
          </a:prstGeom>
          <a:noFill/>
          <a:ln w="15875">
            <a:solidFill>
              <a:srgbClr val="5F6368"/>
            </a:solidFill>
            <a:prstDash val="solid"/>
            <a:tailEnd type="triangle"/>
          </a:ln>
        </p:spPr>
      </p:sp>
      <p:sp>
        <p:nvSpPr>
          <p:cNvPr id="10" name="Shape 8"/>
          <p:cNvSpPr/>
          <p:nvPr/>
        </p:nvSpPr>
        <p:spPr>
          <a:xfrm>
            <a:off x="2148840" y="1965960"/>
            <a:ext cx="1463040" cy="1234440"/>
          </a:xfrm>
          <a:prstGeom prst="roundRect">
            <a:avLst>
              <a:gd name="adj" fmla="val 5926"/>
            </a:avLst>
          </a:prstGeom>
          <a:solidFill>
            <a:srgbClr val="FFFFFF"/>
          </a:solidFill>
          <a:ln w="12700">
            <a:solidFill>
              <a:srgbClr val="DADCE0"/>
            </a:solidFill>
            <a:prstDash val="solid"/>
          </a:ln>
          <a:effectLst>
            <a:outerShdw sx="100000" sy="100000" kx="0" ky="0" algn="bl" rotWithShape="0" blurRad="50800" dist="19050" dir="5400000">
              <a:srgbClr val="000000">
                <a:alpha val="12000"/>
              </a:srgbClr>
            </a:outerShdw>
          </a:effectLst>
        </p:spPr>
      </p:sp>
      <p:sp>
        <p:nvSpPr>
          <p:cNvPr id="11" name="Shape 9"/>
          <p:cNvSpPr/>
          <p:nvPr/>
        </p:nvSpPr>
        <p:spPr>
          <a:xfrm>
            <a:off x="2240280" y="2057400"/>
            <a:ext cx="329184" cy="329184"/>
          </a:xfrm>
          <a:prstGeom prst="roundRect">
            <a:avLst>
              <a:gd name="adj" fmla="val 50000"/>
            </a:avLst>
          </a:prstGeom>
          <a:solidFill>
            <a:srgbClr val="5F6368"/>
          </a:solidFill>
          <a:ln w="12700">
            <a:solidFill>
              <a:srgbClr val="5F6368"/>
            </a:solidFill>
            <a:prstDash val="solid"/>
          </a:ln>
        </p:spPr>
      </p:sp>
      <p:sp>
        <p:nvSpPr>
          <p:cNvPr id="12" name="Text 10"/>
          <p:cNvSpPr txBox="1"/>
          <p:nvPr/>
        </p:nvSpPr>
        <p:spPr>
          <a:xfrm>
            <a:off x="2240280" y="2057400"/>
            <a:ext cx="329184" cy="329184"/>
          </a:xfrm>
          <a:prstGeom prst="rect">
            <a:avLst/>
          </a:prstGeom>
          <a:noFill/>
          <a:ln/>
        </p:spPr>
        <p:txBody>
          <a:bodyPr wrap="square" lIns="508" tIns="508" rIns="508" bIns="508" rtlCol="0" anchor="ctr"/>
          <a:lstStyle/>
          <a:p>
            <a:pPr algn="ctr" indent="0" marL="0">
              <a:lnSpc>
                <a:spcPct val="105000"/>
              </a:lnSpc>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3" name="Text 11"/>
          <p:cNvSpPr txBox="1"/>
          <p:nvPr/>
        </p:nvSpPr>
        <p:spPr>
          <a:xfrm>
            <a:off x="2624328" y="2057400"/>
            <a:ext cx="932688" cy="365760"/>
          </a:xfrm>
          <a:prstGeom prst="rect">
            <a:avLst/>
          </a:prstGeom>
          <a:noFill/>
          <a:ln/>
        </p:spPr>
        <p:txBody>
          <a:bodyPr wrap="square" lIns="508" tIns="508" rIns="508" bIns="508" rtlCol="0" anchor="ctr"/>
          <a:lstStyle/>
          <a:p>
            <a:pPr algn="l" indent="0" marL="0">
              <a:lnSpc>
                <a:spcPct val="100000"/>
              </a:lnSpc>
              <a:buNone/>
            </a:pPr>
            <a:r>
              <a:rPr lang="en-US" sz="950" b="1" dirty="0">
                <a:solidFill>
                  <a:srgbClr val="202124"/>
                </a:solidFill>
                <a:latin typeface="Calibri" pitchFamily="34" charset="0"/>
                <a:ea typeface="Calibri" pitchFamily="34" charset="-122"/>
                <a:cs typeface="Calibri" pitchFamily="34" charset="-120"/>
              </a:rPr>
              <a:t>Forward (authenticated)</a:t>
            </a:r>
            <a:endParaRPr lang="en-US" sz="950" dirty="0"/>
          </a:p>
        </p:txBody>
      </p:sp>
      <p:sp>
        <p:nvSpPr>
          <p:cNvPr id="14" name="Text 12"/>
          <p:cNvSpPr txBox="1"/>
          <p:nvPr/>
        </p:nvSpPr>
        <p:spPr>
          <a:xfrm>
            <a:off x="2240280" y="2441448"/>
            <a:ext cx="1280160" cy="704088"/>
          </a:xfrm>
          <a:prstGeom prst="rect">
            <a:avLst/>
          </a:prstGeom>
          <a:noFill/>
          <a:ln/>
        </p:spPr>
        <p:txBody>
          <a:bodyPr wrap="square" lIns="508" tIns="508" rIns="508" bIns="508" rtlCol="0" anchor="t"/>
          <a:lstStyle/>
          <a:p>
            <a:pPr algn="l" indent="0" marL="0">
              <a:lnSpc>
                <a:spcPct val="105000"/>
              </a:lnSpc>
              <a:buNone/>
            </a:pPr>
            <a:r>
              <a:rPr lang="en-US" sz="850" dirty="0">
                <a:solidFill>
                  <a:srgbClr val="5F6368"/>
                </a:solidFill>
                <a:latin typeface="Calibri" pitchFamily="34" charset="0"/>
                <a:ea typeface="Calibri" pitchFamily="34" charset="-122"/>
                <a:cs typeface="Calibri" pitchFamily="34" charset="-120"/>
              </a:rPr>
              <a:t>Chat API (PAA) authenticates &amp; forwards</a:t>
            </a:r>
            <a:endParaRPr lang="en-US" sz="850" dirty="0"/>
          </a:p>
        </p:txBody>
      </p:sp>
      <p:sp>
        <p:nvSpPr>
          <p:cNvPr id="15" name="Shape 13"/>
          <p:cNvSpPr/>
          <p:nvPr/>
        </p:nvSpPr>
        <p:spPr>
          <a:xfrm>
            <a:off x="3611880" y="2583180"/>
            <a:ext cx="137160" cy="914"/>
          </a:xfrm>
          <a:prstGeom prst="line">
            <a:avLst/>
          </a:prstGeom>
          <a:noFill/>
          <a:ln w="15875">
            <a:solidFill>
              <a:srgbClr val="5F6368"/>
            </a:solidFill>
            <a:prstDash val="solid"/>
            <a:tailEnd type="triangle"/>
          </a:ln>
        </p:spPr>
      </p:sp>
      <p:sp>
        <p:nvSpPr>
          <p:cNvPr id="16" name="Shape 14"/>
          <p:cNvSpPr/>
          <p:nvPr/>
        </p:nvSpPr>
        <p:spPr>
          <a:xfrm>
            <a:off x="3749040" y="1965960"/>
            <a:ext cx="1463040" cy="1234440"/>
          </a:xfrm>
          <a:prstGeom prst="roundRect">
            <a:avLst>
              <a:gd name="adj" fmla="val 5926"/>
            </a:avLst>
          </a:prstGeom>
          <a:solidFill>
            <a:srgbClr val="FFFFFF"/>
          </a:solidFill>
          <a:ln w="12700">
            <a:solidFill>
              <a:srgbClr val="DADCE0"/>
            </a:solidFill>
            <a:prstDash val="solid"/>
          </a:ln>
          <a:effectLst>
            <a:outerShdw sx="100000" sy="100000" kx="0" ky="0" algn="bl" rotWithShape="0" blurRad="50800" dist="19050" dir="5400000">
              <a:srgbClr val="000000">
                <a:alpha val="12000"/>
              </a:srgbClr>
            </a:outerShdw>
          </a:effectLst>
        </p:spPr>
      </p:sp>
      <p:sp>
        <p:nvSpPr>
          <p:cNvPr id="17" name="Shape 15"/>
          <p:cNvSpPr/>
          <p:nvPr/>
        </p:nvSpPr>
        <p:spPr>
          <a:xfrm>
            <a:off x="3840480" y="2057400"/>
            <a:ext cx="329184" cy="329184"/>
          </a:xfrm>
          <a:prstGeom prst="roundRect">
            <a:avLst>
              <a:gd name="adj" fmla="val 50000"/>
            </a:avLst>
          </a:prstGeom>
          <a:solidFill>
            <a:srgbClr val="5F6368"/>
          </a:solidFill>
          <a:ln w="12700">
            <a:solidFill>
              <a:srgbClr val="5F6368"/>
            </a:solidFill>
            <a:prstDash val="solid"/>
          </a:ln>
        </p:spPr>
      </p:sp>
      <p:sp>
        <p:nvSpPr>
          <p:cNvPr id="18" name="Text 16"/>
          <p:cNvSpPr txBox="1"/>
          <p:nvPr/>
        </p:nvSpPr>
        <p:spPr>
          <a:xfrm>
            <a:off x="3840480" y="2057400"/>
            <a:ext cx="329184" cy="329184"/>
          </a:xfrm>
          <a:prstGeom prst="rect">
            <a:avLst/>
          </a:prstGeom>
          <a:noFill/>
          <a:ln/>
        </p:spPr>
        <p:txBody>
          <a:bodyPr wrap="square" lIns="508" tIns="508" rIns="508" bIns="508" rtlCol="0" anchor="ctr"/>
          <a:lstStyle/>
          <a:p>
            <a:pPr algn="ctr" indent="0" marL="0">
              <a:lnSpc>
                <a:spcPct val="105000"/>
              </a:lnSpc>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9" name="Text 17"/>
          <p:cNvSpPr txBox="1"/>
          <p:nvPr/>
        </p:nvSpPr>
        <p:spPr>
          <a:xfrm>
            <a:off x="4224528" y="2057400"/>
            <a:ext cx="932688" cy="365760"/>
          </a:xfrm>
          <a:prstGeom prst="rect">
            <a:avLst/>
          </a:prstGeom>
          <a:noFill/>
          <a:ln/>
        </p:spPr>
        <p:txBody>
          <a:bodyPr wrap="square" lIns="508" tIns="508" rIns="508" bIns="508" rtlCol="0" anchor="ctr"/>
          <a:lstStyle/>
          <a:p>
            <a:pPr algn="l" indent="0" marL="0">
              <a:lnSpc>
                <a:spcPct val="100000"/>
              </a:lnSpc>
              <a:buNone/>
            </a:pPr>
            <a:r>
              <a:rPr lang="en-US" sz="950" b="1" dirty="0">
                <a:solidFill>
                  <a:srgbClr val="202124"/>
                </a:solidFill>
                <a:latin typeface="Calibri" pitchFamily="34" charset="0"/>
                <a:ea typeface="Calibri" pitchFamily="34" charset="-122"/>
                <a:cs typeface="Calibri" pitchFamily="34" charset="-120"/>
              </a:rPr>
              <a:t>Route message</a:t>
            </a:r>
            <a:endParaRPr lang="en-US" sz="950" dirty="0"/>
          </a:p>
        </p:txBody>
      </p:sp>
      <p:sp>
        <p:nvSpPr>
          <p:cNvPr id="20" name="Text 18"/>
          <p:cNvSpPr txBox="1"/>
          <p:nvPr/>
        </p:nvSpPr>
        <p:spPr>
          <a:xfrm>
            <a:off x="3840480" y="2441448"/>
            <a:ext cx="1280160" cy="704088"/>
          </a:xfrm>
          <a:prstGeom prst="rect">
            <a:avLst/>
          </a:prstGeom>
          <a:noFill/>
          <a:ln/>
        </p:spPr>
        <p:txBody>
          <a:bodyPr wrap="square" lIns="508" tIns="508" rIns="508" bIns="508" rtlCol="0" anchor="t"/>
          <a:lstStyle/>
          <a:p>
            <a:pPr algn="l" indent="0" marL="0">
              <a:lnSpc>
                <a:spcPct val="105000"/>
              </a:lnSpc>
              <a:buNone/>
            </a:pPr>
            <a:r>
              <a:rPr lang="en-US" sz="850" dirty="0">
                <a:solidFill>
                  <a:srgbClr val="5F6368"/>
                </a:solidFill>
                <a:latin typeface="Calibri" pitchFamily="34" charset="0"/>
                <a:ea typeface="Calibri" pitchFamily="34" charset="-122"/>
                <a:cs typeface="Calibri" pitchFamily="34" charset="-120"/>
              </a:rPr>
              <a:t>Digital Service filters, Flink orchestrates</a:t>
            </a:r>
            <a:endParaRPr lang="en-US" sz="850" dirty="0"/>
          </a:p>
        </p:txBody>
      </p:sp>
      <p:sp>
        <p:nvSpPr>
          <p:cNvPr id="21" name="Shape 19"/>
          <p:cNvSpPr/>
          <p:nvPr/>
        </p:nvSpPr>
        <p:spPr>
          <a:xfrm>
            <a:off x="5212080" y="2583180"/>
            <a:ext cx="137160" cy="914"/>
          </a:xfrm>
          <a:prstGeom prst="line">
            <a:avLst/>
          </a:prstGeom>
          <a:noFill/>
          <a:ln w="15875">
            <a:solidFill>
              <a:srgbClr val="5F6368"/>
            </a:solidFill>
            <a:prstDash val="solid"/>
            <a:tailEnd type="triangle"/>
          </a:ln>
        </p:spPr>
      </p:sp>
      <p:sp>
        <p:nvSpPr>
          <p:cNvPr id="22" name="Shape 20"/>
          <p:cNvSpPr/>
          <p:nvPr/>
        </p:nvSpPr>
        <p:spPr>
          <a:xfrm>
            <a:off x="5349240" y="1965960"/>
            <a:ext cx="1463040" cy="1234440"/>
          </a:xfrm>
          <a:prstGeom prst="roundRect">
            <a:avLst>
              <a:gd name="adj" fmla="val 5926"/>
            </a:avLst>
          </a:prstGeom>
          <a:solidFill>
            <a:srgbClr val="FFFFFF"/>
          </a:solidFill>
          <a:ln w="12700">
            <a:solidFill>
              <a:srgbClr val="DADCE0"/>
            </a:solidFill>
            <a:prstDash val="solid"/>
          </a:ln>
          <a:effectLst>
            <a:outerShdw sx="100000" sy="100000" kx="0" ky="0" algn="bl" rotWithShape="0" blurRad="50800" dist="19050" dir="5400000">
              <a:srgbClr val="000000">
                <a:alpha val="12000"/>
              </a:srgbClr>
            </a:outerShdw>
          </a:effectLst>
        </p:spPr>
      </p:sp>
      <p:sp>
        <p:nvSpPr>
          <p:cNvPr id="23" name="Shape 21"/>
          <p:cNvSpPr/>
          <p:nvPr/>
        </p:nvSpPr>
        <p:spPr>
          <a:xfrm>
            <a:off x="5440680" y="2057400"/>
            <a:ext cx="329184" cy="329184"/>
          </a:xfrm>
          <a:prstGeom prst="roundRect">
            <a:avLst>
              <a:gd name="adj" fmla="val 50000"/>
            </a:avLst>
          </a:prstGeom>
          <a:solidFill>
            <a:srgbClr val="1A73E8"/>
          </a:solidFill>
          <a:ln w="12700">
            <a:solidFill>
              <a:srgbClr val="1A73E8"/>
            </a:solidFill>
            <a:prstDash val="solid"/>
          </a:ln>
        </p:spPr>
      </p:sp>
      <p:sp>
        <p:nvSpPr>
          <p:cNvPr id="24" name="Text 22"/>
          <p:cNvSpPr txBox="1"/>
          <p:nvPr/>
        </p:nvSpPr>
        <p:spPr>
          <a:xfrm>
            <a:off x="5440680" y="2057400"/>
            <a:ext cx="329184" cy="329184"/>
          </a:xfrm>
          <a:prstGeom prst="rect">
            <a:avLst/>
          </a:prstGeom>
          <a:noFill/>
          <a:ln/>
        </p:spPr>
        <p:txBody>
          <a:bodyPr wrap="square" lIns="508" tIns="508" rIns="508" bIns="508" rtlCol="0" anchor="ctr"/>
          <a:lstStyle/>
          <a:p>
            <a:pPr algn="ctr" indent="0" marL="0">
              <a:lnSpc>
                <a:spcPct val="105000"/>
              </a:lnSpc>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5" name="Text 23"/>
          <p:cNvSpPr txBox="1"/>
          <p:nvPr/>
        </p:nvSpPr>
        <p:spPr>
          <a:xfrm>
            <a:off x="5824728" y="2057400"/>
            <a:ext cx="932688" cy="365760"/>
          </a:xfrm>
          <a:prstGeom prst="rect">
            <a:avLst/>
          </a:prstGeom>
          <a:noFill/>
          <a:ln/>
        </p:spPr>
        <p:txBody>
          <a:bodyPr wrap="square" lIns="508" tIns="508" rIns="508" bIns="508" rtlCol="0" anchor="ctr"/>
          <a:lstStyle/>
          <a:p>
            <a:pPr algn="l" indent="0" marL="0">
              <a:lnSpc>
                <a:spcPct val="100000"/>
              </a:lnSpc>
              <a:buNone/>
            </a:pPr>
            <a:r>
              <a:rPr lang="en-US" sz="950" b="1" dirty="0">
                <a:solidFill>
                  <a:srgbClr val="202124"/>
                </a:solidFill>
                <a:latin typeface="Calibri" pitchFamily="34" charset="0"/>
                <a:ea typeface="Calibri" pitchFamily="34" charset="-122"/>
                <a:cs typeface="Calibri" pitchFamily="34" charset="-120"/>
              </a:rPr>
              <a:t>Route to Supervisor</a:t>
            </a:r>
            <a:endParaRPr lang="en-US" sz="950" dirty="0"/>
          </a:p>
        </p:txBody>
      </p:sp>
      <p:sp>
        <p:nvSpPr>
          <p:cNvPr id="26" name="Text 24"/>
          <p:cNvSpPr txBox="1"/>
          <p:nvPr/>
        </p:nvSpPr>
        <p:spPr>
          <a:xfrm>
            <a:off x="5440680" y="2441448"/>
            <a:ext cx="1280160" cy="704088"/>
          </a:xfrm>
          <a:prstGeom prst="rect">
            <a:avLst/>
          </a:prstGeom>
          <a:noFill/>
          <a:ln/>
        </p:spPr>
        <p:txBody>
          <a:bodyPr wrap="square" lIns="508" tIns="508" rIns="508" bIns="508" rtlCol="0" anchor="t"/>
          <a:lstStyle/>
          <a:p>
            <a:pPr algn="l" indent="0" marL="0">
              <a:lnSpc>
                <a:spcPct val="105000"/>
              </a:lnSpc>
              <a:buNone/>
            </a:pPr>
            <a:r>
              <a:rPr lang="en-US" sz="850" dirty="0">
                <a:solidFill>
                  <a:srgbClr val="5F6368"/>
                </a:solidFill>
                <a:latin typeface="Calibri" pitchFamily="34" charset="0"/>
                <a:ea typeface="Calibri" pitchFamily="34" charset="-122"/>
                <a:cs typeface="Calibri" pitchFamily="34" charset="-120"/>
              </a:rPr>
              <a:t>Flink → TSDK agent; ADK Runner starts an invocation</a:t>
            </a:r>
            <a:endParaRPr lang="en-US" sz="850" dirty="0"/>
          </a:p>
        </p:txBody>
      </p:sp>
      <p:sp>
        <p:nvSpPr>
          <p:cNvPr id="27" name="Shape 25"/>
          <p:cNvSpPr/>
          <p:nvPr/>
        </p:nvSpPr>
        <p:spPr>
          <a:xfrm>
            <a:off x="6812280" y="2583180"/>
            <a:ext cx="137160" cy="914"/>
          </a:xfrm>
          <a:prstGeom prst="line">
            <a:avLst/>
          </a:prstGeom>
          <a:noFill/>
          <a:ln w="15875">
            <a:solidFill>
              <a:srgbClr val="5F6368"/>
            </a:solidFill>
            <a:prstDash val="solid"/>
            <a:tailEnd type="triangle"/>
          </a:ln>
        </p:spPr>
      </p:sp>
      <p:sp>
        <p:nvSpPr>
          <p:cNvPr id="28" name="Shape 26"/>
          <p:cNvSpPr/>
          <p:nvPr/>
        </p:nvSpPr>
        <p:spPr>
          <a:xfrm>
            <a:off x="6949440" y="1965960"/>
            <a:ext cx="1463040" cy="1234440"/>
          </a:xfrm>
          <a:prstGeom prst="roundRect">
            <a:avLst>
              <a:gd name="adj" fmla="val 5926"/>
            </a:avLst>
          </a:prstGeom>
          <a:solidFill>
            <a:srgbClr val="FFFFFF"/>
          </a:solidFill>
          <a:ln w="12700">
            <a:solidFill>
              <a:srgbClr val="DADCE0"/>
            </a:solidFill>
            <a:prstDash val="solid"/>
          </a:ln>
          <a:effectLst>
            <a:outerShdw sx="100000" sy="100000" kx="0" ky="0" algn="bl" rotWithShape="0" blurRad="50800" dist="19050" dir="5400000">
              <a:srgbClr val="000000">
                <a:alpha val="12000"/>
              </a:srgbClr>
            </a:outerShdw>
          </a:effectLst>
        </p:spPr>
      </p:sp>
      <p:sp>
        <p:nvSpPr>
          <p:cNvPr id="29" name="Shape 27"/>
          <p:cNvSpPr/>
          <p:nvPr/>
        </p:nvSpPr>
        <p:spPr>
          <a:xfrm>
            <a:off x="7040880" y="2057400"/>
            <a:ext cx="329184" cy="329184"/>
          </a:xfrm>
          <a:prstGeom prst="roundRect">
            <a:avLst>
              <a:gd name="adj" fmla="val 50000"/>
            </a:avLst>
          </a:prstGeom>
          <a:solidFill>
            <a:srgbClr val="6B4C9A"/>
          </a:solidFill>
          <a:ln w="12700">
            <a:solidFill>
              <a:srgbClr val="6B4C9A"/>
            </a:solidFill>
            <a:prstDash val="solid"/>
          </a:ln>
        </p:spPr>
      </p:sp>
      <p:sp>
        <p:nvSpPr>
          <p:cNvPr id="30" name="Text 28"/>
          <p:cNvSpPr txBox="1"/>
          <p:nvPr/>
        </p:nvSpPr>
        <p:spPr>
          <a:xfrm>
            <a:off x="7040880" y="2057400"/>
            <a:ext cx="329184" cy="329184"/>
          </a:xfrm>
          <a:prstGeom prst="rect">
            <a:avLst/>
          </a:prstGeom>
          <a:noFill/>
          <a:ln/>
        </p:spPr>
        <p:txBody>
          <a:bodyPr wrap="square" lIns="508" tIns="508" rIns="508" bIns="508" rtlCol="0" anchor="ctr"/>
          <a:lstStyle/>
          <a:p>
            <a:pPr algn="ctr" indent="0" marL="0">
              <a:lnSpc>
                <a:spcPct val="105000"/>
              </a:lnSpc>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31" name="Text 29"/>
          <p:cNvSpPr txBox="1"/>
          <p:nvPr/>
        </p:nvSpPr>
        <p:spPr>
          <a:xfrm>
            <a:off x="7424928" y="2057400"/>
            <a:ext cx="932688" cy="365760"/>
          </a:xfrm>
          <a:prstGeom prst="rect">
            <a:avLst/>
          </a:prstGeom>
          <a:noFill/>
          <a:ln/>
        </p:spPr>
        <p:txBody>
          <a:bodyPr wrap="square" lIns="508" tIns="508" rIns="508" bIns="508" rtlCol="0" anchor="ctr"/>
          <a:lstStyle/>
          <a:p>
            <a:pPr algn="l" indent="0" marL="0">
              <a:lnSpc>
                <a:spcPct val="100000"/>
              </a:lnSpc>
              <a:buNone/>
            </a:pPr>
            <a:r>
              <a:rPr lang="en-US" sz="950" b="1" dirty="0">
                <a:solidFill>
                  <a:srgbClr val="202124"/>
                </a:solidFill>
                <a:latin typeface="Calibri" pitchFamily="34" charset="0"/>
                <a:ea typeface="Calibri" pitchFamily="34" charset="-122"/>
                <a:cs typeface="Calibri" pitchFamily="34" charset="-120"/>
              </a:rPr>
              <a:t>Classify intent</a:t>
            </a:r>
            <a:endParaRPr lang="en-US" sz="950" dirty="0"/>
          </a:p>
        </p:txBody>
      </p:sp>
      <p:sp>
        <p:nvSpPr>
          <p:cNvPr id="32" name="Text 30"/>
          <p:cNvSpPr txBox="1"/>
          <p:nvPr/>
        </p:nvSpPr>
        <p:spPr>
          <a:xfrm>
            <a:off x="7040880" y="2441448"/>
            <a:ext cx="1280160" cy="704088"/>
          </a:xfrm>
          <a:prstGeom prst="rect">
            <a:avLst/>
          </a:prstGeom>
          <a:noFill/>
          <a:ln/>
        </p:spPr>
        <p:txBody>
          <a:bodyPr wrap="square" lIns="508" tIns="508" rIns="508" bIns="508" rtlCol="0" anchor="t"/>
          <a:lstStyle/>
          <a:p>
            <a:pPr algn="l" indent="0" marL="0">
              <a:lnSpc>
                <a:spcPct val="105000"/>
              </a:lnSpc>
              <a:buNone/>
            </a:pPr>
            <a:r>
              <a:rPr lang="en-US" sz="850" dirty="0">
                <a:solidFill>
                  <a:srgbClr val="5F6368"/>
                </a:solidFill>
                <a:latin typeface="Calibri" pitchFamily="34" charset="0"/>
                <a:ea typeface="Calibri" pitchFamily="34" charset="-122"/>
                <a:cs typeface="Calibri" pitchFamily="34" charset="-120"/>
              </a:rPr>
              <a:t>Supervisor calls the model through the AI Bridge</a:t>
            </a:r>
            <a:endParaRPr lang="en-US" sz="850" dirty="0"/>
          </a:p>
        </p:txBody>
      </p:sp>
      <p:sp>
        <p:nvSpPr>
          <p:cNvPr id="33" name="Shape 31"/>
          <p:cNvSpPr/>
          <p:nvPr/>
        </p:nvSpPr>
        <p:spPr>
          <a:xfrm>
            <a:off x="8412480" y="2583180"/>
            <a:ext cx="137160" cy="914"/>
          </a:xfrm>
          <a:prstGeom prst="line">
            <a:avLst/>
          </a:prstGeom>
          <a:noFill/>
          <a:ln w="15875">
            <a:solidFill>
              <a:srgbClr val="5F6368"/>
            </a:solidFill>
            <a:prstDash val="solid"/>
            <a:tailEnd type="triangle"/>
          </a:ln>
        </p:spPr>
      </p:sp>
      <p:sp>
        <p:nvSpPr>
          <p:cNvPr id="34" name="Shape 32"/>
          <p:cNvSpPr/>
          <p:nvPr/>
        </p:nvSpPr>
        <p:spPr>
          <a:xfrm>
            <a:off x="8549640" y="1965960"/>
            <a:ext cx="1463040" cy="1234440"/>
          </a:xfrm>
          <a:prstGeom prst="roundRect">
            <a:avLst>
              <a:gd name="adj" fmla="val 5926"/>
            </a:avLst>
          </a:prstGeom>
          <a:solidFill>
            <a:srgbClr val="FFFFFF"/>
          </a:solidFill>
          <a:ln w="12700">
            <a:solidFill>
              <a:srgbClr val="DADCE0"/>
            </a:solidFill>
            <a:prstDash val="solid"/>
          </a:ln>
          <a:effectLst>
            <a:outerShdw sx="100000" sy="100000" kx="0" ky="0" algn="bl" rotWithShape="0" blurRad="50800" dist="19050" dir="5400000">
              <a:srgbClr val="000000">
                <a:alpha val="12000"/>
              </a:srgbClr>
            </a:outerShdw>
          </a:effectLst>
        </p:spPr>
      </p:sp>
      <p:sp>
        <p:nvSpPr>
          <p:cNvPr id="35" name="Shape 33"/>
          <p:cNvSpPr/>
          <p:nvPr/>
        </p:nvSpPr>
        <p:spPr>
          <a:xfrm>
            <a:off x="8641080" y="2057400"/>
            <a:ext cx="329184" cy="329184"/>
          </a:xfrm>
          <a:prstGeom prst="roundRect">
            <a:avLst>
              <a:gd name="adj" fmla="val 50000"/>
            </a:avLst>
          </a:prstGeom>
          <a:solidFill>
            <a:srgbClr val="1A73E8"/>
          </a:solidFill>
          <a:ln w="12700">
            <a:solidFill>
              <a:srgbClr val="1A73E8"/>
            </a:solidFill>
            <a:prstDash val="solid"/>
          </a:ln>
        </p:spPr>
      </p:sp>
      <p:sp>
        <p:nvSpPr>
          <p:cNvPr id="36" name="Text 34"/>
          <p:cNvSpPr txBox="1"/>
          <p:nvPr/>
        </p:nvSpPr>
        <p:spPr>
          <a:xfrm>
            <a:off x="8641080" y="2057400"/>
            <a:ext cx="329184" cy="329184"/>
          </a:xfrm>
          <a:prstGeom prst="rect">
            <a:avLst/>
          </a:prstGeom>
          <a:noFill/>
          <a:ln/>
        </p:spPr>
        <p:txBody>
          <a:bodyPr wrap="square" lIns="508" tIns="508" rIns="508" bIns="508" rtlCol="0" anchor="ctr"/>
          <a:lstStyle/>
          <a:p>
            <a:pPr algn="ctr" indent="0" marL="0">
              <a:lnSpc>
                <a:spcPct val="105000"/>
              </a:lnSpc>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37" name="Text 35"/>
          <p:cNvSpPr txBox="1"/>
          <p:nvPr/>
        </p:nvSpPr>
        <p:spPr>
          <a:xfrm>
            <a:off x="9025128" y="2057400"/>
            <a:ext cx="932688" cy="365760"/>
          </a:xfrm>
          <a:prstGeom prst="rect">
            <a:avLst/>
          </a:prstGeom>
          <a:noFill/>
          <a:ln/>
        </p:spPr>
        <p:txBody>
          <a:bodyPr wrap="square" lIns="508" tIns="508" rIns="508" bIns="508" rtlCol="0" anchor="ctr"/>
          <a:lstStyle/>
          <a:p>
            <a:pPr algn="l" indent="0" marL="0">
              <a:lnSpc>
                <a:spcPct val="100000"/>
              </a:lnSpc>
              <a:buNone/>
            </a:pPr>
            <a:r>
              <a:rPr lang="en-US" sz="950" b="1" dirty="0">
                <a:solidFill>
                  <a:srgbClr val="202124"/>
                </a:solidFill>
                <a:latin typeface="Calibri" pitchFamily="34" charset="0"/>
                <a:ea typeface="Calibri" pitchFamily="34" charset="-122"/>
                <a:cs typeface="Calibri" pitchFamily="34" charset="-120"/>
              </a:rPr>
              <a:t>Route to agent</a:t>
            </a:r>
            <a:endParaRPr lang="en-US" sz="950" dirty="0"/>
          </a:p>
        </p:txBody>
      </p:sp>
      <p:sp>
        <p:nvSpPr>
          <p:cNvPr id="38" name="Text 36"/>
          <p:cNvSpPr txBox="1"/>
          <p:nvPr/>
        </p:nvSpPr>
        <p:spPr>
          <a:xfrm>
            <a:off x="8641080" y="2441448"/>
            <a:ext cx="1280160" cy="704088"/>
          </a:xfrm>
          <a:prstGeom prst="rect">
            <a:avLst/>
          </a:prstGeom>
          <a:noFill/>
          <a:ln/>
        </p:spPr>
        <p:txBody>
          <a:bodyPr wrap="square" lIns="508" tIns="508" rIns="508" bIns="508" rtlCol="0" anchor="t"/>
          <a:lstStyle/>
          <a:p>
            <a:pPr algn="l" indent="0" marL="0">
              <a:lnSpc>
                <a:spcPct val="105000"/>
              </a:lnSpc>
              <a:buNone/>
            </a:pPr>
            <a:r>
              <a:rPr lang="en-US" sz="850" dirty="0">
                <a:solidFill>
                  <a:srgbClr val="5F6368"/>
                </a:solidFill>
                <a:latin typeface="Calibri" pitchFamily="34" charset="0"/>
                <a:ea typeface="Calibri" pitchFamily="34" charset="-122"/>
                <a:cs typeface="Calibri" pitchFamily="34" charset="-120"/>
              </a:rPr>
              <a:t>ADK sub_agent transfer / A2A hand-off</a:t>
            </a:r>
            <a:endParaRPr lang="en-US" sz="850" dirty="0"/>
          </a:p>
        </p:txBody>
      </p:sp>
      <p:sp>
        <p:nvSpPr>
          <p:cNvPr id="39" name="Shape 37"/>
          <p:cNvSpPr/>
          <p:nvPr/>
        </p:nvSpPr>
        <p:spPr>
          <a:xfrm>
            <a:off x="10012680" y="2583180"/>
            <a:ext cx="137160" cy="914"/>
          </a:xfrm>
          <a:prstGeom prst="line">
            <a:avLst/>
          </a:prstGeom>
          <a:noFill/>
          <a:ln w="15875">
            <a:solidFill>
              <a:srgbClr val="5F6368"/>
            </a:solidFill>
            <a:prstDash val="solid"/>
            <a:tailEnd type="triangle"/>
          </a:ln>
        </p:spPr>
      </p:sp>
      <p:sp>
        <p:nvSpPr>
          <p:cNvPr id="40" name="Shape 38"/>
          <p:cNvSpPr/>
          <p:nvPr/>
        </p:nvSpPr>
        <p:spPr>
          <a:xfrm>
            <a:off x="10149840" y="1965960"/>
            <a:ext cx="1463040" cy="1234440"/>
          </a:xfrm>
          <a:prstGeom prst="roundRect">
            <a:avLst>
              <a:gd name="adj" fmla="val 5926"/>
            </a:avLst>
          </a:prstGeom>
          <a:solidFill>
            <a:srgbClr val="FFFFFF"/>
          </a:solidFill>
          <a:ln w="12700">
            <a:solidFill>
              <a:srgbClr val="DADCE0"/>
            </a:solidFill>
            <a:prstDash val="solid"/>
          </a:ln>
          <a:effectLst>
            <a:outerShdw sx="100000" sy="100000" kx="0" ky="0" algn="bl" rotWithShape="0" blurRad="50800" dist="19050" dir="5400000">
              <a:srgbClr val="000000">
                <a:alpha val="12000"/>
              </a:srgbClr>
            </a:outerShdw>
          </a:effectLst>
        </p:spPr>
      </p:sp>
      <p:sp>
        <p:nvSpPr>
          <p:cNvPr id="41" name="Shape 39"/>
          <p:cNvSpPr/>
          <p:nvPr/>
        </p:nvSpPr>
        <p:spPr>
          <a:xfrm>
            <a:off x="10241280" y="2057400"/>
            <a:ext cx="329184" cy="329184"/>
          </a:xfrm>
          <a:prstGeom prst="roundRect">
            <a:avLst>
              <a:gd name="adj" fmla="val 50000"/>
            </a:avLst>
          </a:prstGeom>
          <a:solidFill>
            <a:srgbClr val="6B4C9A"/>
          </a:solidFill>
          <a:ln w="12700">
            <a:solidFill>
              <a:srgbClr val="6B4C9A"/>
            </a:solidFill>
            <a:prstDash val="solid"/>
          </a:ln>
        </p:spPr>
      </p:sp>
      <p:sp>
        <p:nvSpPr>
          <p:cNvPr id="42" name="Text 40"/>
          <p:cNvSpPr txBox="1"/>
          <p:nvPr/>
        </p:nvSpPr>
        <p:spPr>
          <a:xfrm>
            <a:off x="10241280" y="2057400"/>
            <a:ext cx="329184" cy="329184"/>
          </a:xfrm>
          <a:prstGeom prst="rect">
            <a:avLst/>
          </a:prstGeom>
          <a:noFill/>
          <a:ln/>
        </p:spPr>
        <p:txBody>
          <a:bodyPr wrap="square" lIns="508" tIns="508" rIns="508" bIns="508" rtlCol="0" anchor="ctr"/>
          <a:lstStyle/>
          <a:p>
            <a:pPr algn="ctr" indent="0" marL="0">
              <a:lnSpc>
                <a:spcPct val="105000"/>
              </a:lnSpc>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43" name="Text 41"/>
          <p:cNvSpPr txBox="1"/>
          <p:nvPr/>
        </p:nvSpPr>
        <p:spPr>
          <a:xfrm>
            <a:off x="10625328" y="2057400"/>
            <a:ext cx="932688" cy="365760"/>
          </a:xfrm>
          <a:prstGeom prst="rect">
            <a:avLst/>
          </a:prstGeom>
          <a:noFill/>
          <a:ln/>
        </p:spPr>
        <p:txBody>
          <a:bodyPr wrap="square" lIns="508" tIns="508" rIns="508" bIns="508" rtlCol="0" anchor="ctr"/>
          <a:lstStyle/>
          <a:p>
            <a:pPr algn="l" indent="0" marL="0">
              <a:lnSpc>
                <a:spcPct val="100000"/>
              </a:lnSpc>
              <a:buNone/>
            </a:pPr>
            <a:r>
              <a:rPr lang="en-US" sz="950" b="1" dirty="0">
                <a:solidFill>
                  <a:srgbClr val="202124"/>
                </a:solidFill>
                <a:latin typeface="Calibri" pitchFamily="34" charset="0"/>
                <a:ea typeface="Calibri" pitchFamily="34" charset="-122"/>
                <a:cs typeface="Calibri" pitchFamily="34" charset="-120"/>
              </a:rPr>
              <a:t>Get / update context</a:t>
            </a:r>
            <a:endParaRPr lang="en-US" sz="950" dirty="0"/>
          </a:p>
        </p:txBody>
      </p:sp>
      <p:sp>
        <p:nvSpPr>
          <p:cNvPr id="44" name="Text 42"/>
          <p:cNvSpPr txBox="1"/>
          <p:nvPr/>
        </p:nvSpPr>
        <p:spPr>
          <a:xfrm>
            <a:off x="10241280" y="2441448"/>
            <a:ext cx="1280160" cy="704088"/>
          </a:xfrm>
          <a:prstGeom prst="rect">
            <a:avLst/>
          </a:prstGeom>
          <a:noFill/>
          <a:ln/>
        </p:spPr>
        <p:txBody>
          <a:bodyPr wrap="square" lIns="508" tIns="508" rIns="508" bIns="508" rtlCol="0" anchor="t"/>
          <a:lstStyle/>
          <a:p>
            <a:pPr algn="l" indent="0" marL="0">
              <a:lnSpc>
                <a:spcPct val="105000"/>
              </a:lnSpc>
              <a:buNone/>
            </a:pPr>
            <a:r>
              <a:rPr lang="en-US" sz="850" dirty="0">
                <a:solidFill>
                  <a:srgbClr val="5F6368"/>
                </a:solidFill>
                <a:latin typeface="Calibri" pitchFamily="34" charset="0"/>
                <a:ea typeface="Calibri" pitchFamily="34" charset="-122"/>
                <a:cs typeface="Calibri" pitchFamily="34" charset="-120"/>
              </a:rPr>
              <a:t>ADK Session state read from Tachyon Redis</a:t>
            </a:r>
            <a:endParaRPr lang="en-US" sz="850" dirty="0"/>
          </a:p>
        </p:txBody>
      </p:sp>
      <p:sp>
        <p:nvSpPr>
          <p:cNvPr id="45" name="Shape 43"/>
          <p:cNvSpPr/>
          <p:nvPr/>
        </p:nvSpPr>
        <p:spPr>
          <a:xfrm>
            <a:off x="548640" y="3611880"/>
            <a:ext cx="1463040" cy="1234440"/>
          </a:xfrm>
          <a:prstGeom prst="roundRect">
            <a:avLst>
              <a:gd name="adj" fmla="val 5926"/>
            </a:avLst>
          </a:prstGeom>
          <a:solidFill>
            <a:srgbClr val="FFFFFF"/>
          </a:solidFill>
          <a:ln w="12700">
            <a:solidFill>
              <a:srgbClr val="DADCE0"/>
            </a:solidFill>
            <a:prstDash val="solid"/>
          </a:ln>
          <a:effectLst>
            <a:outerShdw sx="100000" sy="100000" kx="0" ky="0" algn="bl" rotWithShape="0" blurRad="50800" dist="19050" dir="5400000">
              <a:srgbClr val="000000">
                <a:alpha val="12000"/>
              </a:srgbClr>
            </a:outerShdw>
          </a:effectLst>
        </p:spPr>
      </p:sp>
      <p:sp>
        <p:nvSpPr>
          <p:cNvPr id="46" name="Shape 44"/>
          <p:cNvSpPr/>
          <p:nvPr/>
        </p:nvSpPr>
        <p:spPr>
          <a:xfrm>
            <a:off x="640080" y="3703320"/>
            <a:ext cx="329184" cy="329184"/>
          </a:xfrm>
          <a:prstGeom prst="roundRect">
            <a:avLst>
              <a:gd name="adj" fmla="val 50000"/>
            </a:avLst>
          </a:prstGeom>
          <a:solidFill>
            <a:srgbClr val="6B4C9A"/>
          </a:solidFill>
          <a:ln w="12700">
            <a:solidFill>
              <a:srgbClr val="6B4C9A"/>
            </a:solidFill>
            <a:prstDash val="solid"/>
          </a:ln>
        </p:spPr>
      </p:sp>
      <p:sp>
        <p:nvSpPr>
          <p:cNvPr id="47" name="Text 45"/>
          <p:cNvSpPr txBox="1"/>
          <p:nvPr/>
        </p:nvSpPr>
        <p:spPr>
          <a:xfrm>
            <a:off x="640080" y="3703320"/>
            <a:ext cx="329184" cy="329184"/>
          </a:xfrm>
          <a:prstGeom prst="rect">
            <a:avLst/>
          </a:prstGeom>
          <a:noFill/>
          <a:ln/>
        </p:spPr>
        <p:txBody>
          <a:bodyPr wrap="square" lIns="508" tIns="508" rIns="508" bIns="508" rtlCol="0" anchor="ctr"/>
          <a:lstStyle/>
          <a:p>
            <a:pPr algn="ctr" indent="0" marL="0">
              <a:lnSpc>
                <a:spcPct val="105000"/>
              </a:lnSpc>
              <a:buNone/>
            </a:pPr>
            <a:r>
              <a:rPr lang="en-US" sz="1000" b="1" dirty="0">
                <a:solidFill>
                  <a:srgbClr val="FFFFFF"/>
                </a:solidFill>
                <a:latin typeface="Calibri" pitchFamily="34" charset="0"/>
                <a:ea typeface="Calibri" pitchFamily="34" charset="-122"/>
                <a:cs typeface="Calibri" pitchFamily="34" charset="-120"/>
              </a:rPr>
              <a:t>8</a:t>
            </a:r>
            <a:endParaRPr lang="en-US" sz="1000" dirty="0"/>
          </a:p>
        </p:txBody>
      </p:sp>
      <p:sp>
        <p:nvSpPr>
          <p:cNvPr id="48" name="Text 46"/>
          <p:cNvSpPr txBox="1"/>
          <p:nvPr/>
        </p:nvSpPr>
        <p:spPr>
          <a:xfrm>
            <a:off x="1024128" y="3703320"/>
            <a:ext cx="932688" cy="365760"/>
          </a:xfrm>
          <a:prstGeom prst="rect">
            <a:avLst/>
          </a:prstGeom>
          <a:noFill/>
          <a:ln/>
        </p:spPr>
        <p:txBody>
          <a:bodyPr wrap="square" lIns="508" tIns="508" rIns="508" bIns="508" rtlCol="0" anchor="ctr"/>
          <a:lstStyle/>
          <a:p>
            <a:pPr algn="l" indent="0" marL="0">
              <a:lnSpc>
                <a:spcPct val="100000"/>
              </a:lnSpc>
              <a:buNone/>
            </a:pPr>
            <a:r>
              <a:rPr lang="en-US" sz="950" b="1" dirty="0">
                <a:solidFill>
                  <a:srgbClr val="202124"/>
                </a:solidFill>
                <a:latin typeface="Calibri" pitchFamily="34" charset="0"/>
                <a:ea typeface="Calibri" pitchFamily="34" charset="-122"/>
                <a:cs typeface="Calibri" pitchFamily="34" charset="-120"/>
              </a:rPr>
              <a:t>Plan tools</a:t>
            </a:r>
            <a:endParaRPr lang="en-US" sz="950" dirty="0"/>
          </a:p>
        </p:txBody>
      </p:sp>
      <p:sp>
        <p:nvSpPr>
          <p:cNvPr id="49" name="Text 47"/>
          <p:cNvSpPr txBox="1"/>
          <p:nvPr/>
        </p:nvSpPr>
        <p:spPr>
          <a:xfrm>
            <a:off x="640080" y="4087368"/>
            <a:ext cx="1280160" cy="704088"/>
          </a:xfrm>
          <a:prstGeom prst="rect">
            <a:avLst/>
          </a:prstGeom>
          <a:noFill/>
          <a:ln/>
        </p:spPr>
        <p:txBody>
          <a:bodyPr wrap="square" lIns="508" tIns="508" rIns="508" bIns="508" rtlCol="0" anchor="t"/>
          <a:lstStyle/>
          <a:p>
            <a:pPr algn="l" indent="0" marL="0">
              <a:lnSpc>
                <a:spcPct val="105000"/>
              </a:lnSpc>
              <a:buNone/>
            </a:pPr>
            <a:r>
              <a:rPr lang="en-US" sz="850" dirty="0">
                <a:solidFill>
                  <a:srgbClr val="5F6368"/>
                </a:solidFill>
                <a:latin typeface="Calibri" pitchFamily="34" charset="0"/>
                <a:ea typeface="Calibri" pitchFamily="34" charset="-122"/>
                <a:cs typeface="Calibri" pitchFamily="34" charset="-120"/>
              </a:rPr>
              <a:t>Agent reasons via Bridge; guardrails check budget &amp; loops</a:t>
            </a:r>
            <a:endParaRPr lang="en-US" sz="850" dirty="0"/>
          </a:p>
        </p:txBody>
      </p:sp>
      <p:sp>
        <p:nvSpPr>
          <p:cNvPr id="50" name="Shape 48"/>
          <p:cNvSpPr/>
          <p:nvPr/>
        </p:nvSpPr>
        <p:spPr>
          <a:xfrm>
            <a:off x="2011680" y="4229100"/>
            <a:ext cx="137160" cy="914"/>
          </a:xfrm>
          <a:prstGeom prst="line">
            <a:avLst/>
          </a:prstGeom>
          <a:noFill/>
          <a:ln w="15875">
            <a:solidFill>
              <a:srgbClr val="5F6368"/>
            </a:solidFill>
            <a:prstDash val="solid"/>
            <a:tailEnd type="triangle"/>
          </a:ln>
        </p:spPr>
      </p:sp>
      <p:sp>
        <p:nvSpPr>
          <p:cNvPr id="51" name="Shape 49"/>
          <p:cNvSpPr/>
          <p:nvPr/>
        </p:nvSpPr>
        <p:spPr>
          <a:xfrm>
            <a:off x="2148840" y="3611880"/>
            <a:ext cx="1463040" cy="1234440"/>
          </a:xfrm>
          <a:prstGeom prst="roundRect">
            <a:avLst>
              <a:gd name="adj" fmla="val 5926"/>
            </a:avLst>
          </a:prstGeom>
          <a:solidFill>
            <a:srgbClr val="FFFFFF"/>
          </a:solidFill>
          <a:ln w="12700">
            <a:solidFill>
              <a:srgbClr val="DADCE0"/>
            </a:solidFill>
            <a:prstDash val="solid"/>
          </a:ln>
          <a:effectLst>
            <a:outerShdw sx="100000" sy="100000" kx="0" ky="0" algn="bl" rotWithShape="0" blurRad="50800" dist="19050" dir="5400000">
              <a:srgbClr val="000000">
                <a:alpha val="12000"/>
              </a:srgbClr>
            </a:outerShdw>
          </a:effectLst>
        </p:spPr>
      </p:sp>
      <p:sp>
        <p:nvSpPr>
          <p:cNvPr id="52" name="Shape 50"/>
          <p:cNvSpPr/>
          <p:nvPr/>
        </p:nvSpPr>
        <p:spPr>
          <a:xfrm>
            <a:off x="2240280" y="3703320"/>
            <a:ext cx="329184" cy="329184"/>
          </a:xfrm>
          <a:prstGeom prst="roundRect">
            <a:avLst>
              <a:gd name="adj" fmla="val 50000"/>
            </a:avLst>
          </a:prstGeom>
          <a:solidFill>
            <a:srgbClr val="6B4C9A"/>
          </a:solidFill>
          <a:ln w="12700">
            <a:solidFill>
              <a:srgbClr val="6B4C9A"/>
            </a:solidFill>
            <a:prstDash val="solid"/>
          </a:ln>
        </p:spPr>
      </p:sp>
      <p:sp>
        <p:nvSpPr>
          <p:cNvPr id="53" name="Text 51"/>
          <p:cNvSpPr txBox="1"/>
          <p:nvPr/>
        </p:nvSpPr>
        <p:spPr>
          <a:xfrm>
            <a:off x="2240280" y="3703320"/>
            <a:ext cx="329184" cy="329184"/>
          </a:xfrm>
          <a:prstGeom prst="rect">
            <a:avLst/>
          </a:prstGeom>
          <a:noFill/>
          <a:ln/>
        </p:spPr>
        <p:txBody>
          <a:bodyPr wrap="square" lIns="508" tIns="508" rIns="508" bIns="508" rtlCol="0" anchor="ctr"/>
          <a:lstStyle/>
          <a:p>
            <a:pPr algn="ctr" indent="0" marL="0">
              <a:lnSpc>
                <a:spcPct val="105000"/>
              </a:lnSpc>
              <a:buNone/>
            </a:pPr>
            <a:r>
              <a:rPr lang="en-US" sz="1000" b="1" dirty="0">
                <a:solidFill>
                  <a:srgbClr val="FFFFFF"/>
                </a:solidFill>
                <a:latin typeface="Calibri" pitchFamily="34" charset="0"/>
                <a:ea typeface="Calibri" pitchFamily="34" charset="-122"/>
                <a:cs typeface="Calibri" pitchFamily="34" charset="-120"/>
              </a:rPr>
              <a:t>9</a:t>
            </a:r>
            <a:endParaRPr lang="en-US" sz="1000" dirty="0"/>
          </a:p>
        </p:txBody>
      </p:sp>
      <p:sp>
        <p:nvSpPr>
          <p:cNvPr id="54" name="Text 52"/>
          <p:cNvSpPr txBox="1"/>
          <p:nvPr/>
        </p:nvSpPr>
        <p:spPr>
          <a:xfrm>
            <a:off x="2624328" y="3703320"/>
            <a:ext cx="932688" cy="365760"/>
          </a:xfrm>
          <a:prstGeom prst="rect">
            <a:avLst/>
          </a:prstGeom>
          <a:noFill/>
          <a:ln/>
        </p:spPr>
        <p:txBody>
          <a:bodyPr wrap="square" lIns="508" tIns="508" rIns="508" bIns="508" rtlCol="0" anchor="ctr"/>
          <a:lstStyle/>
          <a:p>
            <a:pPr algn="l" indent="0" marL="0">
              <a:lnSpc>
                <a:spcPct val="100000"/>
              </a:lnSpc>
              <a:buNone/>
            </a:pPr>
            <a:r>
              <a:rPr lang="en-US" sz="950" b="1" dirty="0">
                <a:solidFill>
                  <a:srgbClr val="202124"/>
                </a:solidFill>
                <a:latin typeface="Calibri" pitchFamily="34" charset="0"/>
                <a:ea typeface="Calibri" pitchFamily="34" charset="-122"/>
                <a:cs typeface="Calibri" pitchFamily="34" charset="-120"/>
              </a:rPr>
              <a:t>Discover / execute tool</a:t>
            </a:r>
            <a:endParaRPr lang="en-US" sz="950" dirty="0"/>
          </a:p>
        </p:txBody>
      </p:sp>
      <p:sp>
        <p:nvSpPr>
          <p:cNvPr id="55" name="Text 53"/>
          <p:cNvSpPr txBox="1"/>
          <p:nvPr/>
        </p:nvSpPr>
        <p:spPr>
          <a:xfrm>
            <a:off x="2240280" y="4087368"/>
            <a:ext cx="1280160" cy="704088"/>
          </a:xfrm>
          <a:prstGeom prst="rect">
            <a:avLst/>
          </a:prstGeom>
          <a:noFill/>
          <a:ln/>
        </p:spPr>
        <p:txBody>
          <a:bodyPr wrap="square" lIns="508" tIns="508" rIns="508" bIns="508" rtlCol="0" anchor="t"/>
          <a:lstStyle/>
          <a:p>
            <a:pPr algn="l" indent="0" marL="0">
              <a:lnSpc>
                <a:spcPct val="105000"/>
              </a:lnSpc>
              <a:buNone/>
            </a:pPr>
            <a:r>
              <a:rPr lang="en-US" sz="850" dirty="0">
                <a:solidFill>
                  <a:srgbClr val="5F6368"/>
                </a:solidFill>
                <a:latin typeface="Calibri" pitchFamily="34" charset="0"/>
                <a:ea typeface="Calibri" pitchFamily="34" charset="-122"/>
                <a:cs typeface="Calibri" pitchFamily="34" charset="-120"/>
              </a:rPr>
              <a:t>ADK MCPToolset hits the Tachyon-registered MCP Server</a:t>
            </a:r>
            <a:endParaRPr lang="en-US" sz="850" dirty="0"/>
          </a:p>
        </p:txBody>
      </p:sp>
      <p:sp>
        <p:nvSpPr>
          <p:cNvPr id="56" name="Shape 54"/>
          <p:cNvSpPr/>
          <p:nvPr/>
        </p:nvSpPr>
        <p:spPr>
          <a:xfrm>
            <a:off x="3611880" y="4229100"/>
            <a:ext cx="137160" cy="914"/>
          </a:xfrm>
          <a:prstGeom prst="line">
            <a:avLst/>
          </a:prstGeom>
          <a:noFill/>
          <a:ln w="15875">
            <a:solidFill>
              <a:srgbClr val="5F6368"/>
            </a:solidFill>
            <a:prstDash val="solid"/>
            <a:tailEnd type="triangle"/>
          </a:ln>
        </p:spPr>
      </p:sp>
      <p:sp>
        <p:nvSpPr>
          <p:cNvPr id="57" name="Shape 55"/>
          <p:cNvSpPr/>
          <p:nvPr/>
        </p:nvSpPr>
        <p:spPr>
          <a:xfrm>
            <a:off x="3749040" y="3611880"/>
            <a:ext cx="1463040" cy="1234440"/>
          </a:xfrm>
          <a:prstGeom prst="roundRect">
            <a:avLst>
              <a:gd name="adj" fmla="val 5926"/>
            </a:avLst>
          </a:prstGeom>
          <a:solidFill>
            <a:srgbClr val="FFFFFF"/>
          </a:solidFill>
          <a:ln w="12700">
            <a:solidFill>
              <a:srgbClr val="DADCE0"/>
            </a:solidFill>
            <a:prstDash val="solid"/>
          </a:ln>
          <a:effectLst>
            <a:outerShdw sx="100000" sy="100000" kx="0" ky="0" algn="bl" rotWithShape="0" blurRad="50800" dist="19050" dir="5400000">
              <a:srgbClr val="000000">
                <a:alpha val="12000"/>
              </a:srgbClr>
            </a:outerShdw>
          </a:effectLst>
        </p:spPr>
      </p:sp>
      <p:sp>
        <p:nvSpPr>
          <p:cNvPr id="58" name="Shape 56"/>
          <p:cNvSpPr/>
          <p:nvPr/>
        </p:nvSpPr>
        <p:spPr>
          <a:xfrm>
            <a:off x="3840480" y="3703320"/>
            <a:ext cx="329184" cy="329184"/>
          </a:xfrm>
          <a:prstGeom prst="roundRect">
            <a:avLst>
              <a:gd name="adj" fmla="val 50000"/>
            </a:avLst>
          </a:prstGeom>
          <a:solidFill>
            <a:srgbClr val="5F6368"/>
          </a:solidFill>
          <a:ln w="12700">
            <a:solidFill>
              <a:srgbClr val="5F6368"/>
            </a:solidFill>
            <a:prstDash val="solid"/>
          </a:ln>
        </p:spPr>
      </p:sp>
      <p:sp>
        <p:nvSpPr>
          <p:cNvPr id="59" name="Text 57"/>
          <p:cNvSpPr txBox="1"/>
          <p:nvPr/>
        </p:nvSpPr>
        <p:spPr>
          <a:xfrm>
            <a:off x="3840480" y="3703320"/>
            <a:ext cx="329184" cy="329184"/>
          </a:xfrm>
          <a:prstGeom prst="rect">
            <a:avLst/>
          </a:prstGeom>
          <a:noFill/>
          <a:ln/>
        </p:spPr>
        <p:txBody>
          <a:bodyPr wrap="square" lIns="508" tIns="508" rIns="508" bIns="508" rtlCol="0" anchor="ctr"/>
          <a:lstStyle/>
          <a:p>
            <a:pPr algn="ctr" indent="0" marL="0">
              <a:lnSpc>
                <a:spcPct val="105000"/>
              </a:lnSpc>
              <a:buNone/>
            </a:pPr>
            <a:r>
              <a:rPr lang="en-US" sz="1000" b="1" dirty="0">
                <a:solidFill>
                  <a:srgbClr val="FFFFFF"/>
                </a:solidFill>
                <a:latin typeface="Calibri" pitchFamily="34" charset="0"/>
                <a:ea typeface="Calibri" pitchFamily="34" charset="-122"/>
                <a:cs typeface="Calibri" pitchFamily="34" charset="-120"/>
              </a:rPr>
              <a:t>10</a:t>
            </a:r>
            <a:endParaRPr lang="en-US" sz="1000" dirty="0"/>
          </a:p>
        </p:txBody>
      </p:sp>
      <p:sp>
        <p:nvSpPr>
          <p:cNvPr id="60" name="Text 58"/>
          <p:cNvSpPr txBox="1"/>
          <p:nvPr/>
        </p:nvSpPr>
        <p:spPr>
          <a:xfrm>
            <a:off x="4224528" y="3703320"/>
            <a:ext cx="932688" cy="365760"/>
          </a:xfrm>
          <a:prstGeom prst="rect">
            <a:avLst/>
          </a:prstGeom>
          <a:noFill/>
          <a:ln/>
        </p:spPr>
        <p:txBody>
          <a:bodyPr wrap="square" lIns="508" tIns="508" rIns="508" bIns="508" rtlCol="0" anchor="ctr"/>
          <a:lstStyle/>
          <a:p>
            <a:pPr algn="l" indent="0" marL="0">
              <a:lnSpc>
                <a:spcPct val="100000"/>
              </a:lnSpc>
              <a:buNone/>
            </a:pPr>
            <a:r>
              <a:rPr lang="en-US" sz="950" b="1" dirty="0">
                <a:solidFill>
                  <a:srgbClr val="202124"/>
                </a:solidFill>
                <a:latin typeface="Calibri" pitchFamily="34" charset="0"/>
                <a:ea typeface="Calibri" pitchFamily="34" charset="-122"/>
                <a:cs typeface="Calibri" pitchFamily="34" charset="-120"/>
              </a:rPr>
              <a:t>Query data</a:t>
            </a:r>
            <a:endParaRPr lang="en-US" sz="950" dirty="0"/>
          </a:p>
        </p:txBody>
      </p:sp>
      <p:sp>
        <p:nvSpPr>
          <p:cNvPr id="61" name="Text 59"/>
          <p:cNvSpPr txBox="1"/>
          <p:nvPr/>
        </p:nvSpPr>
        <p:spPr>
          <a:xfrm>
            <a:off x="3840480" y="4087368"/>
            <a:ext cx="1280160" cy="704088"/>
          </a:xfrm>
          <a:prstGeom prst="rect">
            <a:avLst/>
          </a:prstGeom>
          <a:noFill/>
          <a:ln/>
        </p:spPr>
        <p:txBody>
          <a:bodyPr wrap="square" lIns="508" tIns="508" rIns="508" bIns="508" rtlCol="0" anchor="t"/>
          <a:lstStyle/>
          <a:p>
            <a:pPr algn="l" indent="0" marL="0">
              <a:lnSpc>
                <a:spcPct val="105000"/>
              </a:lnSpc>
              <a:buNone/>
            </a:pPr>
            <a:r>
              <a:rPr lang="en-US" sz="850" dirty="0">
                <a:solidFill>
                  <a:srgbClr val="5F6368"/>
                </a:solidFill>
                <a:latin typeface="Calibri" pitchFamily="34" charset="0"/>
                <a:ea typeface="Calibri" pitchFamily="34" charset="-122"/>
                <a:cs typeface="Calibri" pitchFamily="34" charset="-120"/>
              </a:rPr>
              <a:t>MCP tool → chat-data-service</a:t>
            </a:r>
            <a:endParaRPr lang="en-US" sz="850" dirty="0"/>
          </a:p>
        </p:txBody>
      </p:sp>
      <p:sp>
        <p:nvSpPr>
          <p:cNvPr id="62" name="Shape 60"/>
          <p:cNvSpPr/>
          <p:nvPr/>
        </p:nvSpPr>
        <p:spPr>
          <a:xfrm>
            <a:off x="5212080" y="4229100"/>
            <a:ext cx="137160" cy="914"/>
          </a:xfrm>
          <a:prstGeom prst="line">
            <a:avLst/>
          </a:prstGeom>
          <a:noFill/>
          <a:ln w="15875">
            <a:solidFill>
              <a:srgbClr val="5F6368"/>
            </a:solidFill>
            <a:prstDash val="solid"/>
            <a:tailEnd type="triangle"/>
          </a:ln>
        </p:spPr>
      </p:sp>
      <p:sp>
        <p:nvSpPr>
          <p:cNvPr id="63" name="Shape 61"/>
          <p:cNvSpPr/>
          <p:nvPr/>
        </p:nvSpPr>
        <p:spPr>
          <a:xfrm>
            <a:off x="5349240" y="3611880"/>
            <a:ext cx="1463040" cy="1234440"/>
          </a:xfrm>
          <a:prstGeom prst="roundRect">
            <a:avLst>
              <a:gd name="adj" fmla="val 5926"/>
            </a:avLst>
          </a:prstGeom>
          <a:solidFill>
            <a:srgbClr val="FFFFFF"/>
          </a:solidFill>
          <a:ln w="12700">
            <a:solidFill>
              <a:srgbClr val="DADCE0"/>
            </a:solidFill>
            <a:prstDash val="solid"/>
          </a:ln>
          <a:effectLst>
            <a:outerShdw sx="100000" sy="100000" kx="0" ky="0" algn="bl" rotWithShape="0" blurRad="50800" dist="19050" dir="5400000">
              <a:srgbClr val="000000">
                <a:alpha val="12000"/>
              </a:srgbClr>
            </a:outerShdw>
          </a:effectLst>
        </p:spPr>
      </p:sp>
      <p:sp>
        <p:nvSpPr>
          <p:cNvPr id="64" name="Shape 62"/>
          <p:cNvSpPr/>
          <p:nvPr/>
        </p:nvSpPr>
        <p:spPr>
          <a:xfrm>
            <a:off x="5440680" y="3703320"/>
            <a:ext cx="329184" cy="329184"/>
          </a:xfrm>
          <a:prstGeom prst="roundRect">
            <a:avLst>
              <a:gd name="adj" fmla="val 50000"/>
            </a:avLst>
          </a:prstGeom>
          <a:solidFill>
            <a:srgbClr val="6B4C9A"/>
          </a:solidFill>
          <a:ln w="12700">
            <a:solidFill>
              <a:srgbClr val="6B4C9A"/>
            </a:solidFill>
            <a:prstDash val="solid"/>
          </a:ln>
        </p:spPr>
      </p:sp>
      <p:sp>
        <p:nvSpPr>
          <p:cNvPr id="65" name="Text 63"/>
          <p:cNvSpPr txBox="1"/>
          <p:nvPr/>
        </p:nvSpPr>
        <p:spPr>
          <a:xfrm>
            <a:off x="5440680" y="3703320"/>
            <a:ext cx="329184" cy="329184"/>
          </a:xfrm>
          <a:prstGeom prst="rect">
            <a:avLst/>
          </a:prstGeom>
          <a:noFill/>
          <a:ln/>
        </p:spPr>
        <p:txBody>
          <a:bodyPr wrap="square" lIns="508" tIns="508" rIns="508" bIns="508" rtlCol="0" anchor="ctr"/>
          <a:lstStyle/>
          <a:p>
            <a:pPr algn="ctr" indent="0" marL="0">
              <a:lnSpc>
                <a:spcPct val="105000"/>
              </a:lnSpc>
              <a:buNone/>
            </a:pPr>
            <a:r>
              <a:rPr lang="en-US" sz="1000" b="1" dirty="0">
                <a:solidFill>
                  <a:srgbClr val="FFFFFF"/>
                </a:solidFill>
                <a:latin typeface="Calibri" pitchFamily="34" charset="0"/>
                <a:ea typeface="Calibri" pitchFamily="34" charset="-122"/>
                <a:cs typeface="Calibri" pitchFamily="34" charset="-120"/>
              </a:rPr>
              <a:t>11</a:t>
            </a:r>
            <a:endParaRPr lang="en-US" sz="1000" dirty="0"/>
          </a:p>
        </p:txBody>
      </p:sp>
      <p:sp>
        <p:nvSpPr>
          <p:cNvPr id="66" name="Text 64"/>
          <p:cNvSpPr txBox="1"/>
          <p:nvPr/>
        </p:nvSpPr>
        <p:spPr>
          <a:xfrm>
            <a:off x="5824728" y="3703320"/>
            <a:ext cx="932688" cy="365760"/>
          </a:xfrm>
          <a:prstGeom prst="rect">
            <a:avLst/>
          </a:prstGeom>
          <a:noFill/>
          <a:ln/>
        </p:spPr>
        <p:txBody>
          <a:bodyPr wrap="square" lIns="508" tIns="508" rIns="508" bIns="508" rtlCol="0" anchor="ctr"/>
          <a:lstStyle/>
          <a:p>
            <a:pPr algn="l" indent="0" marL="0">
              <a:lnSpc>
                <a:spcPct val="100000"/>
              </a:lnSpc>
              <a:buNone/>
            </a:pPr>
            <a:r>
              <a:rPr lang="en-US" sz="950" b="1" dirty="0">
                <a:solidFill>
                  <a:srgbClr val="202124"/>
                </a:solidFill>
                <a:latin typeface="Calibri" pitchFamily="34" charset="0"/>
                <a:ea typeface="Calibri" pitchFamily="34" charset="-122"/>
                <a:cs typeface="Calibri" pitchFamily="34" charset="-120"/>
              </a:rPr>
              <a:t>Generate response</a:t>
            </a:r>
            <a:endParaRPr lang="en-US" sz="950" dirty="0"/>
          </a:p>
        </p:txBody>
      </p:sp>
      <p:sp>
        <p:nvSpPr>
          <p:cNvPr id="67" name="Text 65"/>
          <p:cNvSpPr txBox="1"/>
          <p:nvPr/>
        </p:nvSpPr>
        <p:spPr>
          <a:xfrm>
            <a:off x="5440680" y="4087368"/>
            <a:ext cx="1280160" cy="704088"/>
          </a:xfrm>
          <a:prstGeom prst="rect">
            <a:avLst/>
          </a:prstGeom>
          <a:noFill/>
          <a:ln/>
        </p:spPr>
        <p:txBody>
          <a:bodyPr wrap="square" lIns="508" tIns="508" rIns="508" bIns="508" rtlCol="0" anchor="t"/>
          <a:lstStyle/>
          <a:p>
            <a:pPr algn="l" indent="0" marL="0">
              <a:lnSpc>
                <a:spcPct val="105000"/>
              </a:lnSpc>
              <a:buNone/>
            </a:pPr>
            <a:r>
              <a:rPr lang="en-US" sz="850" dirty="0">
                <a:solidFill>
                  <a:srgbClr val="5F6368"/>
                </a:solidFill>
                <a:latin typeface="Calibri" pitchFamily="34" charset="0"/>
                <a:ea typeface="Calibri" pitchFamily="34" charset="-122"/>
                <a:cs typeface="Calibri" pitchFamily="34" charset="-120"/>
              </a:rPr>
              <a:t>Bridge routes generation; output_schema shapes it</a:t>
            </a:r>
            <a:endParaRPr lang="en-US" sz="850" dirty="0"/>
          </a:p>
        </p:txBody>
      </p:sp>
      <p:sp>
        <p:nvSpPr>
          <p:cNvPr id="68" name="Shape 66"/>
          <p:cNvSpPr/>
          <p:nvPr/>
        </p:nvSpPr>
        <p:spPr>
          <a:xfrm>
            <a:off x="6812280" y="4229100"/>
            <a:ext cx="137160" cy="914"/>
          </a:xfrm>
          <a:prstGeom prst="line">
            <a:avLst/>
          </a:prstGeom>
          <a:noFill/>
          <a:ln w="15875">
            <a:solidFill>
              <a:srgbClr val="5F6368"/>
            </a:solidFill>
            <a:prstDash val="solid"/>
            <a:tailEnd type="triangle"/>
          </a:ln>
        </p:spPr>
      </p:sp>
      <p:sp>
        <p:nvSpPr>
          <p:cNvPr id="69" name="Shape 67"/>
          <p:cNvSpPr/>
          <p:nvPr/>
        </p:nvSpPr>
        <p:spPr>
          <a:xfrm>
            <a:off x="6949440" y="3611880"/>
            <a:ext cx="1463040" cy="1234440"/>
          </a:xfrm>
          <a:prstGeom prst="roundRect">
            <a:avLst>
              <a:gd name="adj" fmla="val 5926"/>
            </a:avLst>
          </a:prstGeom>
          <a:solidFill>
            <a:srgbClr val="FFFFFF"/>
          </a:solidFill>
          <a:ln w="12700">
            <a:solidFill>
              <a:srgbClr val="DADCE0"/>
            </a:solidFill>
            <a:prstDash val="solid"/>
          </a:ln>
          <a:effectLst>
            <a:outerShdw sx="100000" sy="100000" kx="0" ky="0" algn="bl" rotWithShape="0" blurRad="50800" dist="19050" dir="5400000">
              <a:srgbClr val="000000">
                <a:alpha val="12000"/>
              </a:srgbClr>
            </a:outerShdw>
          </a:effectLst>
        </p:spPr>
      </p:sp>
      <p:sp>
        <p:nvSpPr>
          <p:cNvPr id="70" name="Shape 68"/>
          <p:cNvSpPr/>
          <p:nvPr/>
        </p:nvSpPr>
        <p:spPr>
          <a:xfrm>
            <a:off x="7040880" y="3703320"/>
            <a:ext cx="329184" cy="329184"/>
          </a:xfrm>
          <a:prstGeom prst="roundRect">
            <a:avLst>
              <a:gd name="adj" fmla="val 50000"/>
            </a:avLst>
          </a:prstGeom>
          <a:solidFill>
            <a:srgbClr val="C2410C"/>
          </a:solidFill>
          <a:ln w="12700">
            <a:solidFill>
              <a:srgbClr val="C2410C"/>
            </a:solidFill>
            <a:prstDash val="solid"/>
          </a:ln>
        </p:spPr>
      </p:sp>
      <p:sp>
        <p:nvSpPr>
          <p:cNvPr id="71" name="Text 69"/>
          <p:cNvSpPr txBox="1"/>
          <p:nvPr/>
        </p:nvSpPr>
        <p:spPr>
          <a:xfrm>
            <a:off x="7040880" y="3703320"/>
            <a:ext cx="329184" cy="329184"/>
          </a:xfrm>
          <a:prstGeom prst="rect">
            <a:avLst/>
          </a:prstGeom>
          <a:noFill/>
          <a:ln/>
        </p:spPr>
        <p:txBody>
          <a:bodyPr wrap="square" lIns="508" tIns="508" rIns="508" bIns="508" rtlCol="0" anchor="ctr"/>
          <a:lstStyle/>
          <a:p>
            <a:pPr algn="ctr" indent="0" marL="0">
              <a:lnSpc>
                <a:spcPct val="105000"/>
              </a:lnSpc>
              <a:buNone/>
            </a:pPr>
            <a:r>
              <a:rPr lang="en-US" sz="1000" b="1" dirty="0">
                <a:solidFill>
                  <a:srgbClr val="FFFFFF"/>
                </a:solidFill>
                <a:latin typeface="Calibri" pitchFamily="34" charset="0"/>
                <a:ea typeface="Calibri" pitchFamily="34" charset="-122"/>
                <a:cs typeface="Calibri" pitchFamily="34" charset="-120"/>
              </a:rPr>
              <a:t>12</a:t>
            </a:r>
            <a:endParaRPr lang="en-US" sz="1000" dirty="0"/>
          </a:p>
        </p:txBody>
      </p:sp>
      <p:sp>
        <p:nvSpPr>
          <p:cNvPr id="72" name="Text 70"/>
          <p:cNvSpPr txBox="1"/>
          <p:nvPr/>
        </p:nvSpPr>
        <p:spPr>
          <a:xfrm>
            <a:off x="7424928" y="3703320"/>
            <a:ext cx="932688" cy="365760"/>
          </a:xfrm>
          <a:prstGeom prst="rect">
            <a:avLst/>
          </a:prstGeom>
          <a:noFill/>
          <a:ln/>
        </p:spPr>
        <p:txBody>
          <a:bodyPr wrap="square" lIns="508" tIns="508" rIns="508" bIns="508" rtlCol="0" anchor="ctr"/>
          <a:lstStyle/>
          <a:p>
            <a:pPr algn="l" indent="0" marL="0">
              <a:lnSpc>
                <a:spcPct val="100000"/>
              </a:lnSpc>
              <a:buNone/>
            </a:pPr>
            <a:r>
              <a:rPr lang="en-US" sz="950" b="1" dirty="0">
                <a:solidFill>
                  <a:srgbClr val="202124"/>
                </a:solidFill>
                <a:latin typeface="Calibri" pitchFamily="34" charset="0"/>
                <a:ea typeface="Calibri" pitchFamily="34" charset="-122"/>
                <a:cs typeface="Calibri" pitchFamily="34" charset="-120"/>
              </a:rPr>
              <a:t>Validate &amp; log</a:t>
            </a:r>
            <a:endParaRPr lang="en-US" sz="950" dirty="0"/>
          </a:p>
        </p:txBody>
      </p:sp>
      <p:sp>
        <p:nvSpPr>
          <p:cNvPr id="73" name="Text 71"/>
          <p:cNvSpPr txBox="1"/>
          <p:nvPr/>
        </p:nvSpPr>
        <p:spPr>
          <a:xfrm>
            <a:off x="7040880" y="4087368"/>
            <a:ext cx="1280160" cy="704088"/>
          </a:xfrm>
          <a:prstGeom prst="rect">
            <a:avLst/>
          </a:prstGeom>
          <a:noFill/>
          <a:ln/>
        </p:spPr>
        <p:txBody>
          <a:bodyPr wrap="square" lIns="508" tIns="508" rIns="508" bIns="508" rtlCol="0" anchor="t"/>
          <a:lstStyle/>
          <a:p>
            <a:pPr algn="l" indent="0" marL="0">
              <a:lnSpc>
                <a:spcPct val="105000"/>
              </a:lnSpc>
              <a:buNone/>
            </a:pPr>
            <a:r>
              <a:rPr lang="en-US" sz="850" dirty="0">
                <a:solidFill>
                  <a:srgbClr val="5F6368"/>
                </a:solidFill>
                <a:latin typeface="Calibri" pitchFamily="34" charset="0"/>
                <a:ea typeface="Calibri" pitchFamily="34" charset="-122"/>
                <a:cs typeface="Calibri" pitchFamily="34" charset="-120"/>
              </a:rPr>
              <a:t>Overwatch checks goal, logs LLM metrics; traces exported</a:t>
            </a:r>
            <a:endParaRPr lang="en-US" sz="850" dirty="0"/>
          </a:p>
        </p:txBody>
      </p:sp>
      <p:sp>
        <p:nvSpPr>
          <p:cNvPr id="74" name="Shape 72"/>
          <p:cNvSpPr/>
          <p:nvPr/>
        </p:nvSpPr>
        <p:spPr>
          <a:xfrm>
            <a:off x="8412480" y="4229100"/>
            <a:ext cx="137160" cy="914"/>
          </a:xfrm>
          <a:prstGeom prst="line">
            <a:avLst/>
          </a:prstGeom>
          <a:noFill/>
          <a:ln w="15875">
            <a:solidFill>
              <a:srgbClr val="5F6368"/>
            </a:solidFill>
            <a:prstDash val="solid"/>
            <a:tailEnd type="triangle"/>
          </a:ln>
        </p:spPr>
      </p:sp>
      <p:sp>
        <p:nvSpPr>
          <p:cNvPr id="75" name="Shape 73"/>
          <p:cNvSpPr/>
          <p:nvPr/>
        </p:nvSpPr>
        <p:spPr>
          <a:xfrm>
            <a:off x="8549640" y="3611880"/>
            <a:ext cx="1463040" cy="1234440"/>
          </a:xfrm>
          <a:prstGeom prst="roundRect">
            <a:avLst>
              <a:gd name="adj" fmla="val 5926"/>
            </a:avLst>
          </a:prstGeom>
          <a:solidFill>
            <a:srgbClr val="FFFFFF"/>
          </a:solidFill>
          <a:ln w="12700">
            <a:solidFill>
              <a:srgbClr val="DADCE0"/>
            </a:solidFill>
            <a:prstDash val="solid"/>
          </a:ln>
          <a:effectLst>
            <a:outerShdw sx="100000" sy="100000" kx="0" ky="0" algn="bl" rotWithShape="0" blurRad="50800" dist="19050" dir="5400000">
              <a:srgbClr val="000000">
                <a:alpha val="12000"/>
              </a:srgbClr>
            </a:outerShdw>
          </a:effectLst>
        </p:spPr>
      </p:sp>
      <p:sp>
        <p:nvSpPr>
          <p:cNvPr id="76" name="Shape 74"/>
          <p:cNvSpPr/>
          <p:nvPr/>
        </p:nvSpPr>
        <p:spPr>
          <a:xfrm>
            <a:off x="8641080" y="3703320"/>
            <a:ext cx="329184" cy="329184"/>
          </a:xfrm>
          <a:prstGeom prst="roundRect">
            <a:avLst>
              <a:gd name="adj" fmla="val 50000"/>
            </a:avLst>
          </a:prstGeom>
          <a:solidFill>
            <a:srgbClr val="1A73E8"/>
          </a:solidFill>
          <a:ln w="12700">
            <a:solidFill>
              <a:srgbClr val="1A73E8"/>
            </a:solidFill>
            <a:prstDash val="solid"/>
          </a:ln>
        </p:spPr>
      </p:sp>
      <p:sp>
        <p:nvSpPr>
          <p:cNvPr id="77" name="Text 75"/>
          <p:cNvSpPr txBox="1"/>
          <p:nvPr/>
        </p:nvSpPr>
        <p:spPr>
          <a:xfrm>
            <a:off x="8641080" y="3703320"/>
            <a:ext cx="329184" cy="329184"/>
          </a:xfrm>
          <a:prstGeom prst="rect">
            <a:avLst/>
          </a:prstGeom>
          <a:noFill/>
          <a:ln/>
        </p:spPr>
        <p:txBody>
          <a:bodyPr wrap="square" lIns="508" tIns="508" rIns="508" bIns="508" rtlCol="0" anchor="ctr"/>
          <a:lstStyle/>
          <a:p>
            <a:pPr algn="ctr" indent="0" marL="0">
              <a:lnSpc>
                <a:spcPct val="105000"/>
              </a:lnSpc>
              <a:buNone/>
            </a:pPr>
            <a:r>
              <a:rPr lang="en-US" sz="1000" b="1" dirty="0">
                <a:solidFill>
                  <a:srgbClr val="FFFFFF"/>
                </a:solidFill>
                <a:latin typeface="Calibri" pitchFamily="34" charset="0"/>
                <a:ea typeface="Calibri" pitchFamily="34" charset="-122"/>
                <a:cs typeface="Calibri" pitchFamily="34" charset="-120"/>
              </a:rPr>
              <a:t>13</a:t>
            </a:r>
            <a:endParaRPr lang="en-US" sz="1000" dirty="0"/>
          </a:p>
        </p:txBody>
      </p:sp>
      <p:sp>
        <p:nvSpPr>
          <p:cNvPr id="78" name="Text 76"/>
          <p:cNvSpPr txBox="1"/>
          <p:nvPr/>
        </p:nvSpPr>
        <p:spPr>
          <a:xfrm>
            <a:off x="9025128" y="3703320"/>
            <a:ext cx="932688" cy="365760"/>
          </a:xfrm>
          <a:prstGeom prst="rect">
            <a:avLst/>
          </a:prstGeom>
          <a:noFill/>
          <a:ln/>
        </p:spPr>
        <p:txBody>
          <a:bodyPr wrap="square" lIns="508" tIns="508" rIns="508" bIns="508" rtlCol="0" anchor="ctr"/>
          <a:lstStyle/>
          <a:p>
            <a:pPr algn="l" indent="0" marL="0">
              <a:lnSpc>
                <a:spcPct val="100000"/>
              </a:lnSpc>
              <a:buNone/>
            </a:pPr>
            <a:r>
              <a:rPr lang="en-US" sz="950" b="1" dirty="0">
                <a:solidFill>
                  <a:srgbClr val="202124"/>
                </a:solidFill>
                <a:latin typeface="Calibri" pitchFamily="34" charset="0"/>
                <a:ea typeface="Calibri" pitchFamily="34" charset="-122"/>
                <a:cs typeface="Calibri" pitchFamily="34" charset="-120"/>
              </a:rPr>
              <a:t>Bot response</a:t>
            </a:r>
            <a:endParaRPr lang="en-US" sz="950" dirty="0"/>
          </a:p>
        </p:txBody>
      </p:sp>
      <p:sp>
        <p:nvSpPr>
          <p:cNvPr id="79" name="Text 77"/>
          <p:cNvSpPr txBox="1"/>
          <p:nvPr/>
        </p:nvSpPr>
        <p:spPr>
          <a:xfrm>
            <a:off x="8641080" y="4087368"/>
            <a:ext cx="1280160" cy="704088"/>
          </a:xfrm>
          <a:prstGeom prst="rect">
            <a:avLst/>
          </a:prstGeom>
          <a:noFill/>
          <a:ln/>
        </p:spPr>
        <p:txBody>
          <a:bodyPr wrap="square" lIns="508" tIns="508" rIns="508" bIns="508" rtlCol="0" anchor="t"/>
          <a:lstStyle/>
          <a:p>
            <a:pPr algn="l" indent="0" marL="0">
              <a:lnSpc>
                <a:spcPct val="105000"/>
              </a:lnSpc>
              <a:buNone/>
            </a:pPr>
            <a:r>
              <a:rPr lang="en-US" sz="850" dirty="0">
                <a:solidFill>
                  <a:srgbClr val="5F6368"/>
                </a:solidFill>
                <a:latin typeface="Calibri" pitchFamily="34" charset="0"/>
                <a:ea typeface="Calibri" pitchFamily="34" charset="-122"/>
                <a:cs typeface="Calibri" pitchFamily="34" charset="-120"/>
              </a:rPr>
              <a:t>Event stream back through Flink to the customer</a:t>
            </a:r>
            <a:endParaRPr lang="en-US" sz="850" dirty="0"/>
          </a:p>
        </p:txBody>
      </p:sp>
      <p:sp>
        <p:nvSpPr>
          <p:cNvPr id="80" name="Shape 78"/>
          <p:cNvSpPr/>
          <p:nvPr/>
        </p:nvSpPr>
        <p:spPr>
          <a:xfrm>
            <a:off x="10881360" y="3200400"/>
            <a:ext cx="914" cy="228600"/>
          </a:xfrm>
          <a:prstGeom prst="line">
            <a:avLst/>
          </a:prstGeom>
          <a:noFill/>
          <a:ln w="15875">
            <a:solidFill>
              <a:srgbClr val="5F6368"/>
            </a:solidFill>
            <a:prstDash val="solid"/>
          </a:ln>
        </p:spPr>
      </p:sp>
      <p:sp>
        <p:nvSpPr>
          <p:cNvPr id="81" name="Shape 79"/>
          <p:cNvSpPr/>
          <p:nvPr/>
        </p:nvSpPr>
        <p:spPr>
          <a:xfrm flipH="1">
            <a:off x="1280160" y="3429000"/>
            <a:ext cx="9601200" cy="914"/>
          </a:xfrm>
          <a:prstGeom prst="line">
            <a:avLst/>
          </a:prstGeom>
          <a:noFill/>
          <a:ln w="15875">
            <a:solidFill>
              <a:srgbClr val="5F6368"/>
            </a:solidFill>
            <a:prstDash val="solid"/>
          </a:ln>
        </p:spPr>
      </p:sp>
      <p:sp>
        <p:nvSpPr>
          <p:cNvPr id="82" name="Shape 80"/>
          <p:cNvSpPr/>
          <p:nvPr/>
        </p:nvSpPr>
        <p:spPr>
          <a:xfrm>
            <a:off x="1280160" y="3429000"/>
            <a:ext cx="914" cy="182880"/>
          </a:xfrm>
          <a:prstGeom prst="line">
            <a:avLst/>
          </a:prstGeom>
          <a:noFill/>
          <a:ln w="15875">
            <a:solidFill>
              <a:srgbClr val="5F6368"/>
            </a:solidFill>
            <a:prstDash val="solid"/>
            <a:tailEnd type="triangle"/>
          </a:ln>
        </p:spPr>
      </p:sp>
      <p:sp>
        <p:nvSpPr>
          <p:cNvPr id="83" name="Shape 81"/>
          <p:cNvSpPr/>
          <p:nvPr/>
        </p:nvSpPr>
        <p:spPr>
          <a:xfrm>
            <a:off x="548640" y="5120640"/>
            <a:ext cx="2651760" cy="685800"/>
          </a:xfrm>
          <a:prstGeom prst="roundRect">
            <a:avLst>
              <a:gd name="adj" fmla="val 8000"/>
            </a:avLst>
          </a:prstGeom>
          <a:solidFill>
            <a:srgbClr val="F1F3F4"/>
          </a:solidFill>
          <a:ln w="12700">
            <a:solidFill>
              <a:srgbClr val="F1F3F4"/>
            </a:solidFill>
            <a:prstDash val="solid"/>
          </a:ln>
        </p:spPr>
      </p:sp>
      <p:sp>
        <p:nvSpPr>
          <p:cNvPr id="84" name="Shape 82"/>
          <p:cNvSpPr/>
          <p:nvPr/>
        </p:nvSpPr>
        <p:spPr>
          <a:xfrm>
            <a:off x="685800" y="5303520"/>
            <a:ext cx="320040" cy="320040"/>
          </a:xfrm>
          <a:prstGeom prst="roundRect">
            <a:avLst>
              <a:gd name="adj" fmla="val 50000"/>
            </a:avLst>
          </a:prstGeom>
          <a:solidFill>
            <a:srgbClr val="1A73E8"/>
          </a:solidFill>
          <a:ln w="12700">
            <a:solidFill>
              <a:srgbClr val="1A73E8"/>
            </a:solidFill>
            <a:prstDash val="solid"/>
          </a:ln>
        </p:spPr>
      </p:sp>
      <p:sp>
        <p:nvSpPr>
          <p:cNvPr id="85" name="Text 83"/>
          <p:cNvSpPr txBox="1"/>
          <p:nvPr/>
        </p:nvSpPr>
        <p:spPr>
          <a:xfrm>
            <a:off x="1097280" y="5120640"/>
            <a:ext cx="2057400" cy="685800"/>
          </a:xfrm>
          <a:prstGeom prst="rect">
            <a:avLst/>
          </a:prstGeom>
          <a:noFill/>
          <a:ln/>
        </p:spPr>
        <p:txBody>
          <a:bodyPr wrap="square" lIns="508" tIns="508" rIns="508" bIns="508" rtlCol="0" anchor="ctr"/>
          <a:lstStyle/>
          <a:p>
            <a:pPr algn="l" indent="0" marL="0">
              <a:lnSpc>
                <a:spcPct val="105000"/>
              </a:lnSpc>
              <a:buNone/>
            </a:pPr>
            <a:r>
              <a:rPr lang="en-US" sz="1050" b="1" dirty="0">
                <a:solidFill>
                  <a:srgbClr val="202124"/>
                </a:solidFill>
                <a:latin typeface="Calibri" pitchFamily="34" charset="0"/>
                <a:ea typeface="Calibri" pitchFamily="34" charset="-122"/>
                <a:cs typeface="Calibri" pitchFamily="34" charset="-120"/>
              </a:rPr>
              <a:t>4 steps  </a:t>
            </a:r>
            <a:pPr algn="l" indent="0" marL="0">
              <a:lnSpc>
                <a:spcPct val="105000"/>
              </a:lnSpc>
              <a:buNone/>
            </a:pPr>
            <a:r>
              <a:rPr lang="en-US" sz="1050" dirty="0">
                <a:solidFill>
                  <a:srgbClr val="5F6368"/>
                </a:solidFill>
                <a:latin typeface="Calibri" pitchFamily="34" charset="0"/>
                <a:ea typeface="Calibri" pitchFamily="34" charset="-122"/>
                <a:cs typeface="Calibri" pitchFamily="34" charset="-120"/>
              </a:rPr>
              <a:t>ADK runtime</a:t>
            </a:r>
            <a:endParaRPr lang="en-US" sz="1050" dirty="0"/>
          </a:p>
        </p:txBody>
      </p:sp>
      <p:sp>
        <p:nvSpPr>
          <p:cNvPr id="86" name="Shape 84"/>
          <p:cNvSpPr/>
          <p:nvPr/>
        </p:nvSpPr>
        <p:spPr>
          <a:xfrm>
            <a:off x="3337560" y="5120640"/>
            <a:ext cx="2651760" cy="685800"/>
          </a:xfrm>
          <a:prstGeom prst="roundRect">
            <a:avLst>
              <a:gd name="adj" fmla="val 8000"/>
            </a:avLst>
          </a:prstGeom>
          <a:solidFill>
            <a:srgbClr val="F1F3F4"/>
          </a:solidFill>
          <a:ln w="12700">
            <a:solidFill>
              <a:srgbClr val="F1F3F4"/>
            </a:solidFill>
            <a:prstDash val="solid"/>
          </a:ln>
        </p:spPr>
      </p:sp>
      <p:sp>
        <p:nvSpPr>
          <p:cNvPr id="87" name="Shape 85"/>
          <p:cNvSpPr/>
          <p:nvPr/>
        </p:nvSpPr>
        <p:spPr>
          <a:xfrm>
            <a:off x="3474720" y="5303520"/>
            <a:ext cx="320040" cy="320040"/>
          </a:xfrm>
          <a:prstGeom prst="roundRect">
            <a:avLst>
              <a:gd name="adj" fmla="val 50000"/>
            </a:avLst>
          </a:prstGeom>
          <a:solidFill>
            <a:srgbClr val="6B4C9A"/>
          </a:solidFill>
          <a:ln w="12700">
            <a:solidFill>
              <a:srgbClr val="6B4C9A"/>
            </a:solidFill>
            <a:prstDash val="solid"/>
          </a:ln>
        </p:spPr>
      </p:sp>
      <p:sp>
        <p:nvSpPr>
          <p:cNvPr id="88" name="Text 86"/>
          <p:cNvSpPr txBox="1"/>
          <p:nvPr/>
        </p:nvSpPr>
        <p:spPr>
          <a:xfrm>
            <a:off x="3886200" y="5120640"/>
            <a:ext cx="2057400" cy="685800"/>
          </a:xfrm>
          <a:prstGeom prst="rect">
            <a:avLst/>
          </a:prstGeom>
          <a:noFill/>
          <a:ln/>
        </p:spPr>
        <p:txBody>
          <a:bodyPr wrap="square" lIns="508" tIns="508" rIns="508" bIns="508" rtlCol="0" anchor="ctr"/>
          <a:lstStyle/>
          <a:p>
            <a:pPr algn="l" indent="0" marL="0">
              <a:lnSpc>
                <a:spcPct val="105000"/>
              </a:lnSpc>
              <a:buNone/>
            </a:pPr>
            <a:r>
              <a:rPr lang="en-US" sz="1050" b="1" dirty="0">
                <a:solidFill>
                  <a:srgbClr val="202124"/>
                </a:solidFill>
                <a:latin typeface="Calibri" pitchFamily="34" charset="0"/>
                <a:ea typeface="Calibri" pitchFamily="34" charset="-122"/>
                <a:cs typeface="Calibri" pitchFamily="34" charset="-120"/>
              </a:rPr>
              <a:t>5 steps  </a:t>
            </a:r>
            <a:pPr algn="l" indent="0" marL="0">
              <a:lnSpc>
                <a:spcPct val="105000"/>
              </a:lnSpc>
              <a:buNone/>
            </a:pPr>
            <a:r>
              <a:rPr lang="en-US" sz="1050" dirty="0">
                <a:solidFill>
                  <a:srgbClr val="5F6368"/>
                </a:solidFill>
                <a:latin typeface="Calibri" pitchFamily="34" charset="0"/>
                <a:ea typeface="Calibri" pitchFamily="34" charset="-122"/>
                <a:cs typeface="Calibri" pitchFamily="34" charset="-120"/>
              </a:rPr>
              <a:t>TSDK wrapper + Tachyon service</a:t>
            </a:r>
            <a:endParaRPr lang="en-US" sz="1050" dirty="0"/>
          </a:p>
        </p:txBody>
      </p:sp>
      <p:sp>
        <p:nvSpPr>
          <p:cNvPr id="89" name="Shape 87"/>
          <p:cNvSpPr/>
          <p:nvPr/>
        </p:nvSpPr>
        <p:spPr>
          <a:xfrm>
            <a:off x="6126480" y="5120640"/>
            <a:ext cx="2651760" cy="685800"/>
          </a:xfrm>
          <a:prstGeom prst="roundRect">
            <a:avLst>
              <a:gd name="adj" fmla="val 8000"/>
            </a:avLst>
          </a:prstGeom>
          <a:solidFill>
            <a:srgbClr val="F1F3F4"/>
          </a:solidFill>
          <a:ln w="12700">
            <a:solidFill>
              <a:srgbClr val="F1F3F4"/>
            </a:solidFill>
            <a:prstDash val="solid"/>
          </a:ln>
        </p:spPr>
      </p:sp>
      <p:sp>
        <p:nvSpPr>
          <p:cNvPr id="90" name="Shape 88"/>
          <p:cNvSpPr/>
          <p:nvPr/>
        </p:nvSpPr>
        <p:spPr>
          <a:xfrm>
            <a:off x="6263640" y="5303520"/>
            <a:ext cx="320040" cy="320040"/>
          </a:xfrm>
          <a:prstGeom prst="roundRect">
            <a:avLst>
              <a:gd name="adj" fmla="val 50000"/>
            </a:avLst>
          </a:prstGeom>
          <a:solidFill>
            <a:srgbClr val="C2410C"/>
          </a:solidFill>
          <a:ln w="12700">
            <a:solidFill>
              <a:srgbClr val="C2410C"/>
            </a:solidFill>
            <a:prstDash val="solid"/>
          </a:ln>
        </p:spPr>
      </p:sp>
      <p:sp>
        <p:nvSpPr>
          <p:cNvPr id="91" name="Text 89"/>
          <p:cNvSpPr txBox="1"/>
          <p:nvPr/>
        </p:nvSpPr>
        <p:spPr>
          <a:xfrm>
            <a:off x="6675120" y="5120640"/>
            <a:ext cx="2057400" cy="685800"/>
          </a:xfrm>
          <a:prstGeom prst="rect">
            <a:avLst/>
          </a:prstGeom>
          <a:noFill/>
          <a:ln/>
        </p:spPr>
        <p:txBody>
          <a:bodyPr wrap="square" lIns="508" tIns="508" rIns="508" bIns="508" rtlCol="0" anchor="ctr"/>
          <a:lstStyle/>
          <a:p>
            <a:pPr algn="l" indent="0" marL="0">
              <a:lnSpc>
                <a:spcPct val="105000"/>
              </a:lnSpc>
              <a:buNone/>
            </a:pPr>
            <a:r>
              <a:rPr lang="en-US" sz="1050" b="1" dirty="0">
                <a:solidFill>
                  <a:srgbClr val="202124"/>
                </a:solidFill>
                <a:latin typeface="Calibri" pitchFamily="34" charset="0"/>
                <a:ea typeface="Calibri" pitchFamily="34" charset="-122"/>
                <a:cs typeface="Calibri" pitchFamily="34" charset="-120"/>
              </a:rPr>
              <a:t>1 step  </a:t>
            </a:r>
            <a:pPr algn="l" indent="0" marL="0">
              <a:lnSpc>
                <a:spcPct val="105000"/>
              </a:lnSpc>
              <a:buNone/>
            </a:pPr>
            <a:r>
              <a:rPr lang="en-US" sz="1050" dirty="0">
                <a:solidFill>
                  <a:srgbClr val="5F6368"/>
                </a:solidFill>
                <a:latin typeface="Calibri" pitchFamily="34" charset="0"/>
                <a:ea typeface="Calibri" pitchFamily="34" charset="-122"/>
                <a:cs typeface="Calibri" pitchFamily="34" charset="-120"/>
              </a:rPr>
              <a:t>Tachyon only</a:t>
            </a:r>
            <a:endParaRPr lang="en-US" sz="1050" dirty="0"/>
          </a:p>
        </p:txBody>
      </p:sp>
      <p:sp>
        <p:nvSpPr>
          <p:cNvPr id="92" name="Shape 90"/>
          <p:cNvSpPr/>
          <p:nvPr/>
        </p:nvSpPr>
        <p:spPr>
          <a:xfrm>
            <a:off x="8915400" y="5120640"/>
            <a:ext cx="2651760" cy="685800"/>
          </a:xfrm>
          <a:prstGeom prst="roundRect">
            <a:avLst>
              <a:gd name="adj" fmla="val 8000"/>
            </a:avLst>
          </a:prstGeom>
          <a:solidFill>
            <a:srgbClr val="F1F3F4"/>
          </a:solidFill>
          <a:ln w="12700">
            <a:solidFill>
              <a:srgbClr val="F1F3F4"/>
            </a:solidFill>
            <a:prstDash val="solid"/>
          </a:ln>
        </p:spPr>
      </p:sp>
      <p:sp>
        <p:nvSpPr>
          <p:cNvPr id="93" name="Shape 91"/>
          <p:cNvSpPr/>
          <p:nvPr/>
        </p:nvSpPr>
        <p:spPr>
          <a:xfrm>
            <a:off x="9052560" y="5303520"/>
            <a:ext cx="320040" cy="320040"/>
          </a:xfrm>
          <a:prstGeom prst="roundRect">
            <a:avLst>
              <a:gd name="adj" fmla="val 50000"/>
            </a:avLst>
          </a:prstGeom>
          <a:solidFill>
            <a:srgbClr val="5F6368"/>
          </a:solidFill>
          <a:ln w="12700">
            <a:solidFill>
              <a:srgbClr val="5F6368"/>
            </a:solidFill>
            <a:prstDash val="solid"/>
          </a:ln>
        </p:spPr>
      </p:sp>
      <p:sp>
        <p:nvSpPr>
          <p:cNvPr id="94" name="Text 92"/>
          <p:cNvSpPr txBox="1"/>
          <p:nvPr/>
        </p:nvSpPr>
        <p:spPr>
          <a:xfrm>
            <a:off x="9464040" y="5120640"/>
            <a:ext cx="2057400" cy="685800"/>
          </a:xfrm>
          <a:prstGeom prst="rect">
            <a:avLst/>
          </a:prstGeom>
          <a:noFill/>
          <a:ln/>
        </p:spPr>
        <p:txBody>
          <a:bodyPr wrap="square" lIns="508" tIns="508" rIns="508" bIns="508" rtlCol="0" anchor="ctr"/>
          <a:lstStyle/>
          <a:p>
            <a:pPr algn="l" indent="0" marL="0">
              <a:lnSpc>
                <a:spcPct val="105000"/>
              </a:lnSpc>
              <a:buNone/>
            </a:pPr>
            <a:r>
              <a:rPr lang="en-US" sz="1050" b="1" dirty="0">
                <a:solidFill>
                  <a:srgbClr val="202124"/>
                </a:solidFill>
                <a:latin typeface="Calibri" pitchFamily="34" charset="0"/>
                <a:ea typeface="Calibri" pitchFamily="34" charset="-122"/>
                <a:cs typeface="Calibri" pitchFamily="34" charset="-120"/>
              </a:rPr>
              <a:t>3 steps  </a:t>
            </a:r>
            <a:pPr algn="l" indent="0" marL="0">
              <a:lnSpc>
                <a:spcPct val="105000"/>
              </a:lnSpc>
              <a:buNone/>
            </a:pPr>
            <a:r>
              <a:rPr lang="en-US" sz="1050" dirty="0">
                <a:solidFill>
                  <a:srgbClr val="5F6368"/>
                </a:solidFill>
                <a:latin typeface="Calibri" pitchFamily="34" charset="0"/>
                <a:ea typeface="Calibri" pitchFamily="34" charset="-122"/>
                <a:cs typeface="Calibri" pitchFamily="34" charset="-120"/>
              </a:rPr>
              <a:t>WF-built entry / backend</a:t>
            </a:r>
            <a:endParaRPr lang="en-US" sz="1050" dirty="0"/>
          </a:p>
        </p:txBody>
      </p:sp>
      <p:sp>
        <p:nvSpPr>
          <p:cNvPr id="95" name="Text 93"/>
          <p:cNvSpPr txBox="1"/>
          <p:nvPr/>
        </p:nvSpPr>
        <p:spPr>
          <a:xfrm>
            <a:off x="548640" y="5897880"/>
            <a:ext cx="11064240" cy="457200"/>
          </a:xfrm>
          <a:prstGeom prst="rect">
            <a:avLst/>
          </a:prstGeom>
          <a:noFill/>
          <a:ln/>
        </p:spPr>
        <p:txBody>
          <a:bodyPr wrap="square" lIns="508" tIns="508" rIns="508" bIns="508" rtlCol="0" anchor="ctr"/>
          <a:lstStyle/>
          <a:p>
            <a:pPr algn="l" indent="0" marL="0">
              <a:lnSpc>
                <a:spcPct val="105000"/>
              </a:lnSpc>
              <a:buNone/>
            </a:pPr>
            <a:r>
              <a:rPr lang="en-US" sz="1100" b="1" dirty="0">
                <a:solidFill>
                  <a:srgbClr val="202124"/>
                </a:solidFill>
                <a:latin typeface="Calibri" pitchFamily="34" charset="0"/>
                <a:ea typeface="Calibri" pitchFamily="34" charset="-122"/>
                <a:cs typeface="Calibri" pitchFamily="34" charset="-120"/>
              </a:rPr>
              <a:t>Note: </a:t>
            </a:r>
            <a:pPr algn="l" indent="0" marL="0">
              <a:lnSpc>
                <a:spcPct val="105000"/>
              </a:lnSpc>
              <a:buNone/>
            </a:pPr>
            <a:r>
              <a:rPr lang="en-US" sz="1100" dirty="0">
                <a:solidFill>
                  <a:srgbClr val="202124"/>
                </a:solidFill>
                <a:latin typeface="Calibri" pitchFamily="34" charset="0"/>
                <a:ea typeface="Calibri" pitchFamily="34" charset="-122"/>
                <a:cs typeface="Calibri" pitchFamily="34" charset="-120"/>
              </a:rPr>
              <a:t>ADK does the orchestration, the TSDK wrapper routes each call to the platform, Tachyon supplies the service — no per-agent integration code.</a:t>
            </a:r>
            <a:endParaRPr lang="en-US" sz="1100" dirty="0"/>
          </a:p>
        </p:txBody>
      </p:sp>
      <p:sp>
        <p:nvSpPr>
          <p:cNvPr id="96" name="Text 94"/>
          <p:cNvSpPr txBox="1"/>
          <p:nvPr/>
        </p:nvSpPr>
        <p:spPr>
          <a:xfrm>
            <a:off x="7863840" y="6355080"/>
            <a:ext cx="3749040" cy="310896"/>
          </a:xfrm>
          <a:prstGeom prst="rect">
            <a:avLst/>
          </a:prstGeom>
          <a:noFill/>
          <a:ln/>
        </p:spPr>
        <p:txBody>
          <a:bodyPr wrap="square" lIns="508" tIns="508" rIns="508" bIns="508" rtlCol="0" anchor="ctr"/>
          <a:lstStyle/>
          <a:p>
            <a:pPr algn="r" indent="0" marL="0">
              <a:lnSpc>
                <a:spcPct val="105000"/>
              </a:lnSpc>
              <a:buNone/>
            </a:pPr>
            <a:r>
              <a:rPr lang="en-US" sz="900" dirty="0">
                <a:solidFill>
                  <a:srgbClr val="9AA0A6"/>
                </a:solidFill>
                <a:latin typeface="Calibri" pitchFamily="34" charset="0"/>
                <a:ea typeface="Calibri" pitchFamily="34" charset="-122"/>
                <a:cs typeface="Calibri" pitchFamily="34" charset="-120"/>
              </a:rPr>
              <a:t>Fargo platform – internal</a:t>
            </a:r>
            <a:endParaRPr lang="en-US" sz="900" dirty="0"/>
          </a:p>
        </p:txBody>
      </p:sp>
      <p:sp>
        <p:nvSpPr>
          <p:cNvPr id="97" name="Text 95"/>
          <p:cNvSpPr txBox="1"/>
          <p:nvPr/>
        </p:nvSpPr>
        <p:spPr>
          <a:xfrm>
            <a:off x="11658600" y="6355080"/>
            <a:ext cx="365760" cy="310896"/>
          </a:xfrm>
          <a:prstGeom prst="rect">
            <a:avLst/>
          </a:prstGeom>
          <a:noFill/>
          <a:ln/>
        </p:spPr>
        <p:txBody>
          <a:bodyPr wrap="square" lIns="508" tIns="508" rIns="508" bIns="508" rtlCol="0" anchor="ctr"/>
          <a:lstStyle/>
          <a:p>
            <a:pPr algn="r" indent="0" marL="0">
              <a:lnSpc>
                <a:spcPct val="105000"/>
              </a:lnSpc>
              <a:buNone/>
            </a:pPr>
            <a:r>
              <a:rPr lang="en-US" sz="900" dirty="0">
                <a:solidFill>
                  <a:srgbClr val="9AA0A6"/>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457200"/>
            <a:ext cx="11064240" cy="548640"/>
          </a:xfrm>
          <a:prstGeom prst="rect">
            <a:avLst/>
          </a:prstGeom>
          <a:noFill/>
          <a:ln/>
        </p:spPr>
        <p:txBody>
          <a:bodyPr wrap="square" lIns="508" tIns="508" rIns="508" bIns="508" rtlCol="0" anchor="t"/>
          <a:lstStyle/>
          <a:p>
            <a:pPr algn="l" indent="0" marL="0">
              <a:lnSpc>
                <a:spcPct val="105000"/>
              </a:lnSpc>
              <a:buNone/>
            </a:pPr>
            <a:r>
              <a:rPr lang="en-US" sz="2600" b="1" dirty="0">
                <a:solidFill>
                  <a:srgbClr val="1B1F3B"/>
                </a:solidFill>
                <a:latin typeface="Calibri" pitchFamily="34" charset="0"/>
                <a:ea typeface="Calibri" pitchFamily="34" charset="-122"/>
                <a:cs typeface="Calibri" pitchFamily="34" charset="-120"/>
              </a:rPr>
              <a:t>What a Fargo agent looks like inside</a:t>
            </a:r>
            <a:endParaRPr lang="en-US" sz="2600" dirty="0"/>
          </a:p>
        </p:txBody>
      </p:sp>
      <p:sp>
        <p:nvSpPr>
          <p:cNvPr id="3" name="Text 1"/>
          <p:cNvSpPr txBox="1"/>
          <p:nvPr/>
        </p:nvSpPr>
        <p:spPr>
          <a:xfrm>
            <a:off x="548640" y="1051560"/>
            <a:ext cx="11064240" cy="457200"/>
          </a:xfrm>
          <a:prstGeom prst="rect">
            <a:avLst/>
          </a:prstGeom>
          <a:noFill/>
          <a:ln/>
        </p:spPr>
        <p:txBody>
          <a:bodyPr wrap="square" lIns="508" tIns="508" rIns="508" bIns="508" rtlCol="0" anchor="t"/>
          <a:lstStyle/>
          <a:p>
            <a:pPr algn="l" indent="0" marL="0">
              <a:lnSpc>
                <a:spcPct val="105000"/>
              </a:lnSpc>
              <a:buNone/>
            </a:pPr>
            <a:r>
              <a:rPr lang="en-US" sz="1300" dirty="0">
                <a:solidFill>
                  <a:srgbClr val="5F6368"/>
                </a:solidFill>
                <a:latin typeface="Calibri" pitchFamily="34" charset="0"/>
                <a:ea typeface="Calibri" pitchFamily="34" charset="-122"/>
                <a:cs typeface="Calibri" pitchFamily="34" charset="-120"/>
              </a:rPr>
              <a:t>Developers write against ADK primitives. The TSDK wrapper does the platform wiring when the agent is constructed.</a:t>
            </a:r>
            <a:endParaRPr lang="en-US" sz="1300" dirty="0"/>
          </a:p>
        </p:txBody>
      </p:sp>
      <p:sp>
        <p:nvSpPr>
          <p:cNvPr id="4" name="Shape 2"/>
          <p:cNvSpPr/>
          <p:nvPr/>
        </p:nvSpPr>
        <p:spPr>
          <a:xfrm>
            <a:off x="3931920" y="1965960"/>
            <a:ext cx="4297680" cy="4206240"/>
          </a:xfrm>
          <a:prstGeom prst="roundRect">
            <a:avLst>
              <a:gd name="adj" fmla="val 2609"/>
            </a:avLst>
          </a:prstGeom>
          <a:solidFill>
            <a:srgbClr val="EFE9F7"/>
          </a:solidFill>
          <a:ln w="19050">
            <a:solidFill>
              <a:srgbClr val="6B4C9A"/>
            </a:solidFill>
            <a:prstDash val="solid"/>
          </a:ln>
        </p:spPr>
      </p:sp>
      <p:sp>
        <p:nvSpPr>
          <p:cNvPr id="5" name="Text 3"/>
          <p:cNvSpPr txBox="1"/>
          <p:nvPr/>
        </p:nvSpPr>
        <p:spPr>
          <a:xfrm>
            <a:off x="4114800" y="2039112"/>
            <a:ext cx="3931920" cy="274320"/>
          </a:xfrm>
          <a:prstGeom prst="rect">
            <a:avLst/>
          </a:prstGeom>
          <a:noFill/>
          <a:ln/>
        </p:spPr>
        <p:txBody>
          <a:bodyPr wrap="square" lIns="508" tIns="508" rIns="508" bIns="508" rtlCol="0" anchor="t"/>
          <a:lstStyle/>
          <a:p>
            <a:pPr algn="l" indent="0" marL="0">
              <a:lnSpc>
                <a:spcPct val="105000"/>
              </a:lnSpc>
              <a:buNone/>
            </a:pPr>
            <a:r>
              <a:rPr lang="en-US" sz="1100" b="1" dirty="0">
                <a:solidFill>
                  <a:srgbClr val="6B4C9A"/>
                </a:solidFill>
                <a:latin typeface="Calibri" pitchFamily="34" charset="0"/>
                <a:ea typeface="Calibri" pitchFamily="34" charset="-122"/>
                <a:cs typeface="Calibri" pitchFamily="34" charset="-120"/>
              </a:rPr>
              <a:t>TSDK agent wrapper  (e.g. Card Management Agent)</a:t>
            </a:r>
            <a:endParaRPr lang="en-US" sz="1100" dirty="0"/>
          </a:p>
        </p:txBody>
      </p:sp>
      <p:sp>
        <p:nvSpPr>
          <p:cNvPr id="6" name="Text 4"/>
          <p:cNvSpPr txBox="1"/>
          <p:nvPr/>
        </p:nvSpPr>
        <p:spPr>
          <a:xfrm>
            <a:off x="4114800" y="2295144"/>
            <a:ext cx="3931920" cy="256032"/>
          </a:xfrm>
          <a:prstGeom prst="rect">
            <a:avLst/>
          </a:prstGeom>
          <a:noFill/>
          <a:ln/>
        </p:spPr>
        <p:txBody>
          <a:bodyPr wrap="square" lIns="508" tIns="508" rIns="508" bIns="508" rtlCol="0" anchor="t"/>
          <a:lstStyle/>
          <a:p>
            <a:pPr algn="l" indent="0" marL="0">
              <a:lnSpc>
                <a:spcPct val="105000"/>
              </a:lnSpc>
              <a:buNone/>
            </a:pPr>
            <a:r>
              <a:rPr lang="en-US" sz="850" i="1" dirty="0">
                <a:solidFill>
                  <a:srgbClr val="6B4C9A"/>
                </a:solidFill>
                <a:latin typeface="Calibri" pitchFamily="34" charset="0"/>
                <a:ea typeface="Calibri" pitchFamily="34" charset="-122"/>
                <a:cs typeface="Calibri" pitchFamily="34" charset="-120"/>
              </a:rPr>
              <a:t>on construction: registers with Tachyon · attaches Arize tracer · installs callbacks</a:t>
            </a:r>
            <a:endParaRPr lang="en-US" sz="850" dirty="0"/>
          </a:p>
        </p:txBody>
      </p:sp>
      <p:sp>
        <p:nvSpPr>
          <p:cNvPr id="7" name="Shape 5"/>
          <p:cNvSpPr/>
          <p:nvPr/>
        </p:nvSpPr>
        <p:spPr>
          <a:xfrm>
            <a:off x="4041648" y="2606040"/>
            <a:ext cx="4078224" cy="3108960"/>
          </a:xfrm>
          <a:prstGeom prst="roundRect">
            <a:avLst>
              <a:gd name="adj" fmla="val 2353"/>
            </a:avLst>
          </a:prstGeom>
          <a:solidFill>
            <a:srgbClr val="E8F0FE"/>
          </a:solidFill>
          <a:ln w="12700">
            <a:solidFill>
              <a:srgbClr val="1A73E8"/>
            </a:solidFill>
            <a:prstDash val="solid"/>
          </a:ln>
        </p:spPr>
      </p:sp>
      <p:sp>
        <p:nvSpPr>
          <p:cNvPr id="8" name="Text 6"/>
          <p:cNvSpPr txBox="1"/>
          <p:nvPr/>
        </p:nvSpPr>
        <p:spPr>
          <a:xfrm>
            <a:off x="4160520" y="2642616"/>
            <a:ext cx="2743200" cy="228600"/>
          </a:xfrm>
          <a:prstGeom prst="rect">
            <a:avLst/>
          </a:prstGeom>
          <a:noFill/>
          <a:ln/>
        </p:spPr>
        <p:txBody>
          <a:bodyPr wrap="square" lIns="508" tIns="508" rIns="508" bIns="508" rtlCol="0" anchor="t"/>
          <a:lstStyle/>
          <a:p>
            <a:pPr algn="l" indent="0" marL="0">
              <a:lnSpc>
                <a:spcPct val="105000"/>
              </a:lnSpc>
              <a:buNone/>
            </a:pPr>
            <a:r>
              <a:rPr lang="en-US" sz="950" b="1" dirty="0">
                <a:solidFill>
                  <a:srgbClr val="1A73E8"/>
                </a:solidFill>
                <a:latin typeface="Calibri" pitchFamily="34" charset="0"/>
                <a:ea typeface="Calibri" pitchFamily="34" charset="-122"/>
                <a:cs typeface="Calibri" pitchFamily="34" charset="-120"/>
              </a:rPr>
              <a:t>ADK LlmAgent</a:t>
            </a:r>
            <a:endParaRPr lang="en-US" sz="950" dirty="0"/>
          </a:p>
        </p:txBody>
      </p:sp>
      <p:sp>
        <p:nvSpPr>
          <p:cNvPr id="9" name="Shape 7"/>
          <p:cNvSpPr/>
          <p:nvPr/>
        </p:nvSpPr>
        <p:spPr>
          <a:xfrm>
            <a:off x="4160520" y="2898648"/>
            <a:ext cx="3840480" cy="402336"/>
          </a:xfrm>
          <a:prstGeom prst="roundRect">
            <a:avLst>
              <a:gd name="adj" fmla="val 11364"/>
            </a:avLst>
          </a:prstGeom>
          <a:solidFill>
            <a:srgbClr val="FFFFFF"/>
          </a:solidFill>
          <a:ln w="12700">
            <a:solidFill>
              <a:srgbClr val="C6DAFC"/>
            </a:solidFill>
            <a:prstDash val="solid"/>
          </a:ln>
        </p:spPr>
      </p:sp>
      <p:sp>
        <p:nvSpPr>
          <p:cNvPr id="10" name="Text 8"/>
          <p:cNvSpPr txBox="1"/>
          <p:nvPr/>
        </p:nvSpPr>
        <p:spPr>
          <a:xfrm>
            <a:off x="4270248" y="2898648"/>
            <a:ext cx="3657600" cy="402336"/>
          </a:xfrm>
          <a:prstGeom prst="rect">
            <a:avLst/>
          </a:prstGeom>
          <a:noFill/>
          <a:ln/>
        </p:spPr>
        <p:txBody>
          <a:bodyPr wrap="square" lIns="508" tIns="508" rIns="508" bIns="508" rtlCol="0" anchor="ctr"/>
          <a:lstStyle/>
          <a:p>
            <a:pPr algn="l" indent="0" marL="0">
              <a:lnSpc>
                <a:spcPct val="105000"/>
              </a:lnSpc>
              <a:buNone/>
            </a:pPr>
            <a:r>
              <a:rPr lang="en-US" sz="950" b="1" dirty="0">
                <a:solidFill>
                  <a:srgbClr val="174EA6"/>
                </a:solidFill>
                <a:latin typeface="Courier New" pitchFamily="34" charset="0"/>
                <a:ea typeface="Courier New" pitchFamily="34" charset="-122"/>
                <a:cs typeface="Courier New" pitchFamily="34" charset="-120"/>
              </a:rPr>
              <a:t>instruction   </a:t>
            </a:r>
            <a:pPr algn="l" indent="0" marL="0">
              <a:lnSpc>
                <a:spcPct val="105000"/>
              </a:lnSpc>
              <a:buNone/>
            </a:pPr>
            <a:r>
              <a:rPr lang="en-US" sz="950" dirty="0">
                <a:solidFill>
                  <a:srgbClr val="5F6368"/>
                </a:solidFill>
                <a:latin typeface="Calibri" pitchFamily="34" charset="0"/>
                <a:ea typeface="Calibri" pitchFamily="34" charset="-122"/>
                <a:cs typeface="Calibri" pitchFamily="34" charset="-120"/>
              </a:rPr>
              <a:t>prompt with {state} templating</a:t>
            </a:r>
            <a:endParaRPr lang="en-US" sz="950" dirty="0"/>
          </a:p>
        </p:txBody>
      </p:sp>
      <p:sp>
        <p:nvSpPr>
          <p:cNvPr id="11" name="Shape 9"/>
          <p:cNvSpPr/>
          <p:nvPr/>
        </p:nvSpPr>
        <p:spPr>
          <a:xfrm>
            <a:off x="4160520" y="3355848"/>
            <a:ext cx="3840480" cy="402336"/>
          </a:xfrm>
          <a:prstGeom prst="roundRect">
            <a:avLst>
              <a:gd name="adj" fmla="val 11364"/>
            </a:avLst>
          </a:prstGeom>
          <a:solidFill>
            <a:srgbClr val="FFFFFF"/>
          </a:solidFill>
          <a:ln w="12700">
            <a:solidFill>
              <a:srgbClr val="C6DAFC"/>
            </a:solidFill>
            <a:prstDash val="solid"/>
          </a:ln>
        </p:spPr>
      </p:sp>
      <p:sp>
        <p:nvSpPr>
          <p:cNvPr id="12" name="Text 10"/>
          <p:cNvSpPr txBox="1"/>
          <p:nvPr/>
        </p:nvSpPr>
        <p:spPr>
          <a:xfrm>
            <a:off x="4270248" y="3355848"/>
            <a:ext cx="3657600" cy="402336"/>
          </a:xfrm>
          <a:prstGeom prst="rect">
            <a:avLst/>
          </a:prstGeom>
          <a:noFill/>
          <a:ln/>
        </p:spPr>
        <p:txBody>
          <a:bodyPr wrap="square" lIns="508" tIns="508" rIns="508" bIns="508" rtlCol="0" anchor="ctr"/>
          <a:lstStyle/>
          <a:p>
            <a:pPr algn="l" indent="0" marL="0">
              <a:lnSpc>
                <a:spcPct val="105000"/>
              </a:lnSpc>
              <a:buNone/>
            </a:pPr>
            <a:r>
              <a:rPr lang="en-US" sz="950" b="1" dirty="0">
                <a:solidFill>
                  <a:srgbClr val="174EA6"/>
                </a:solidFill>
                <a:latin typeface="Courier New" pitchFamily="34" charset="0"/>
                <a:ea typeface="Courier New" pitchFamily="34" charset="-122"/>
                <a:cs typeface="Courier New" pitchFamily="34" charset="-120"/>
              </a:rPr>
              <a:t>model   </a:t>
            </a:r>
            <a:pPr algn="l" indent="0" marL="0">
              <a:lnSpc>
                <a:spcPct val="105000"/>
              </a:lnSpc>
              <a:buNone/>
            </a:pPr>
            <a:r>
              <a:rPr lang="en-US" sz="950" dirty="0">
                <a:solidFill>
                  <a:srgbClr val="5F6368"/>
                </a:solidFill>
                <a:latin typeface="Calibri" pitchFamily="34" charset="0"/>
                <a:ea typeface="Calibri" pitchFamily="34" charset="-122"/>
                <a:cs typeface="Calibri" pitchFamily="34" charset="-120"/>
              </a:rPr>
              <a:t>→ routed through AI Bridge</a:t>
            </a:r>
            <a:endParaRPr lang="en-US" sz="950" dirty="0"/>
          </a:p>
        </p:txBody>
      </p:sp>
      <p:sp>
        <p:nvSpPr>
          <p:cNvPr id="13" name="Shape 11"/>
          <p:cNvSpPr/>
          <p:nvPr/>
        </p:nvSpPr>
        <p:spPr>
          <a:xfrm>
            <a:off x="4160520" y="3813048"/>
            <a:ext cx="3840480" cy="402336"/>
          </a:xfrm>
          <a:prstGeom prst="roundRect">
            <a:avLst>
              <a:gd name="adj" fmla="val 11364"/>
            </a:avLst>
          </a:prstGeom>
          <a:solidFill>
            <a:srgbClr val="FFFFFF"/>
          </a:solidFill>
          <a:ln w="12700">
            <a:solidFill>
              <a:srgbClr val="C6DAFC"/>
            </a:solidFill>
            <a:prstDash val="solid"/>
          </a:ln>
        </p:spPr>
      </p:sp>
      <p:sp>
        <p:nvSpPr>
          <p:cNvPr id="14" name="Text 12"/>
          <p:cNvSpPr txBox="1"/>
          <p:nvPr/>
        </p:nvSpPr>
        <p:spPr>
          <a:xfrm>
            <a:off x="4270248" y="3813048"/>
            <a:ext cx="3657600" cy="402336"/>
          </a:xfrm>
          <a:prstGeom prst="rect">
            <a:avLst/>
          </a:prstGeom>
          <a:noFill/>
          <a:ln/>
        </p:spPr>
        <p:txBody>
          <a:bodyPr wrap="square" lIns="508" tIns="508" rIns="508" bIns="508" rtlCol="0" anchor="ctr"/>
          <a:lstStyle/>
          <a:p>
            <a:pPr algn="l" indent="0" marL="0">
              <a:lnSpc>
                <a:spcPct val="105000"/>
              </a:lnSpc>
              <a:buNone/>
            </a:pPr>
            <a:r>
              <a:rPr lang="en-US" sz="950" b="1" dirty="0">
                <a:solidFill>
                  <a:srgbClr val="174EA6"/>
                </a:solidFill>
                <a:latin typeface="Courier New" pitchFamily="34" charset="0"/>
                <a:ea typeface="Courier New" pitchFamily="34" charset="-122"/>
                <a:cs typeface="Courier New" pitchFamily="34" charset="-120"/>
              </a:rPr>
              <a:t>tools[]   </a:t>
            </a:r>
            <a:pPr algn="l" indent="0" marL="0">
              <a:lnSpc>
                <a:spcPct val="105000"/>
              </a:lnSpc>
              <a:buNone/>
            </a:pPr>
            <a:r>
              <a:rPr lang="en-US" sz="950" dirty="0">
                <a:solidFill>
                  <a:srgbClr val="5F6368"/>
                </a:solidFill>
                <a:latin typeface="Calibri" pitchFamily="34" charset="0"/>
                <a:ea typeface="Calibri" pitchFamily="34" charset="-122"/>
                <a:cs typeface="Calibri" pitchFamily="34" charset="-120"/>
              </a:rPr>
              <a:t>MCPToolset + FunctionTools</a:t>
            </a:r>
            <a:endParaRPr lang="en-US" sz="950" dirty="0"/>
          </a:p>
        </p:txBody>
      </p:sp>
      <p:sp>
        <p:nvSpPr>
          <p:cNvPr id="15" name="Shape 13"/>
          <p:cNvSpPr/>
          <p:nvPr/>
        </p:nvSpPr>
        <p:spPr>
          <a:xfrm>
            <a:off x="4160520" y="4270248"/>
            <a:ext cx="3840480" cy="402336"/>
          </a:xfrm>
          <a:prstGeom prst="roundRect">
            <a:avLst>
              <a:gd name="adj" fmla="val 11364"/>
            </a:avLst>
          </a:prstGeom>
          <a:solidFill>
            <a:srgbClr val="FFFFFF"/>
          </a:solidFill>
          <a:ln w="12700">
            <a:solidFill>
              <a:srgbClr val="C6DAFC"/>
            </a:solidFill>
            <a:prstDash val="solid"/>
          </a:ln>
        </p:spPr>
      </p:sp>
      <p:sp>
        <p:nvSpPr>
          <p:cNvPr id="16" name="Text 14"/>
          <p:cNvSpPr txBox="1"/>
          <p:nvPr/>
        </p:nvSpPr>
        <p:spPr>
          <a:xfrm>
            <a:off x="4270248" y="4270248"/>
            <a:ext cx="3657600" cy="402336"/>
          </a:xfrm>
          <a:prstGeom prst="rect">
            <a:avLst/>
          </a:prstGeom>
          <a:noFill/>
          <a:ln/>
        </p:spPr>
        <p:txBody>
          <a:bodyPr wrap="square" lIns="508" tIns="508" rIns="508" bIns="508" rtlCol="0" anchor="ctr"/>
          <a:lstStyle/>
          <a:p>
            <a:pPr algn="l" indent="0" marL="0">
              <a:lnSpc>
                <a:spcPct val="105000"/>
              </a:lnSpc>
              <a:buNone/>
            </a:pPr>
            <a:r>
              <a:rPr lang="en-US" sz="950" b="1" dirty="0">
                <a:solidFill>
                  <a:srgbClr val="174EA6"/>
                </a:solidFill>
                <a:latin typeface="Courier New" pitchFamily="34" charset="0"/>
                <a:ea typeface="Courier New" pitchFamily="34" charset="-122"/>
                <a:cs typeface="Courier New" pitchFamily="34" charset="-120"/>
              </a:rPr>
              <a:t>sub_agents[] / A2A   </a:t>
            </a:r>
            <a:pPr algn="l" indent="0" marL="0">
              <a:lnSpc>
                <a:spcPct val="105000"/>
              </a:lnSpc>
              <a:buNone/>
            </a:pPr>
            <a:r>
              <a:rPr lang="en-US" sz="950" dirty="0">
                <a:solidFill>
                  <a:srgbClr val="5F6368"/>
                </a:solidFill>
                <a:latin typeface="Calibri" pitchFamily="34" charset="0"/>
                <a:ea typeface="Calibri" pitchFamily="34" charset="-122"/>
                <a:cs typeface="Calibri" pitchFamily="34" charset="-120"/>
              </a:rPr>
              <a:t>hand-off to other agents</a:t>
            </a:r>
            <a:endParaRPr lang="en-US" sz="950" dirty="0"/>
          </a:p>
        </p:txBody>
      </p:sp>
      <p:sp>
        <p:nvSpPr>
          <p:cNvPr id="17" name="Shape 15"/>
          <p:cNvSpPr/>
          <p:nvPr/>
        </p:nvSpPr>
        <p:spPr>
          <a:xfrm>
            <a:off x="4160520" y="4727448"/>
            <a:ext cx="3840480" cy="402336"/>
          </a:xfrm>
          <a:prstGeom prst="roundRect">
            <a:avLst>
              <a:gd name="adj" fmla="val 11364"/>
            </a:avLst>
          </a:prstGeom>
          <a:solidFill>
            <a:srgbClr val="FFFFFF"/>
          </a:solidFill>
          <a:ln w="12700">
            <a:solidFill>
              <a:srgbClr val="C6DAFC"/>
            </a:solidFill>
            <a:prstDash val="solid"/>
          </a:ln>
        </p:spPr>
      </p:sp>
      <p:sp>
        <p:nvSpPr>
          <p:cNvPr id="18" name="Text 16"/>
          <p:cNvSpPr txBox="1"/>
          <p:nvPr/>
        </p:nvSpPr>
        <p:spPr>
          <a:xfrm>
            <a:off x="4270248" y="4727448"/>
            <a:ext cx="3657600" cy="402336"/>
          </a:xfrm>
          <a:prstGeom prst="rect">
            <a:avLst/>
          </a:prstGeom>
          <a:noFill/>
          <a:ln/>
        </p:spPr>
        <p:txBody>
          <a:bodyPr wrap="square" lIns="508" tIns="508" rIns="508" bIns="508" rtlCol="0" anchor="ctr"/>
          <a:lstStyle/>
          <a:p>
            <a:pPr algn="l" indent="0" marL="0">
              <a:lnSpc>
                <a:spcPct val="105000"/>
              </a:lnSpc>
              <a:buNone/>
            </a:pPr>
            <a:r>
              <a:rPr lang="en-US" sz="950" b="1" dirty="0">
                <a:solidFill>
                  <a:srgbClr val="174EA6"/>
                </a:solidFill>
                <a:latin typeface="Courier New" pitchFamily="34" charset="0"/>
                <a:ea typeface="Courier New" pitchFamily="34" charset="-122"/>
                <a:cs typeface="Courier New" pitchFamily="34" charset="-120"/>
              </a:rPr>
              <a:t>output_schema   </a:t>
            </a:r>
            <a:pPr algn="l" indent="0" marL="0">
              <a:lnSpc>
                <a:spcPct val="105000"/>
              </a:lnSpc>
              <a:buNone/>
            </a:pPr>
            <a:r>
              <a:rPr lang="en-US" sz="950" dirty="0">
                <a:solidFill>
                  <a:srgbClr val="5F6368"/>
                </a:solidFill>
                <a:latin typeface="Calibri" pitchFamily="34" charset="0"/>
                <a:ea typeface="Calibri" pitchFamily="34" charset="-122"/>
                <a:cs typeface="Calibri" pitchFamily="34" charset="-120"/>
              </a:rPr>
              <a:t>Pydantic-typed answer</a:t>
            </a:r>
            <a:endParaRPr lang="en-US" sz="950" dirty="0"/>
          </a:p>
        </p:txBody>
      </p:sp>
      <p:sp>
        <p:nvSpPr>
          <p:cNvPr id="19" name="Shape 17"/>
          <p:cNvSpPr/>
          <p:nvPr/>
        </p:nvSpPr>
        <p:spPr>
          <a:xfrm>
            <a:off x="4160520" y="5184648"/>
            <a:ext cx="3840480" cy="402336"/>
          </a:xfrm>
          <a:prstGeom prst="roundRect">
            <a:avLst>
              <a:gd name="adj" fmla="val 11364"/>
            </a:avLst>
          </a:prstGeom>
          <a:solidFill>
            <a:srgbClr val="FFFFFF"/>
          </a:solidFill>
          <a:ln w="12700">
            <a:solidFill>
              <a:srgbClr val="C6DAFC"/>
            </a:solidFill>
            <a:prstDash val="solid"/>
          </a:ln>
        </p:spPr>
      </p:sp>
      <p:sp>
        <p:nvSpPr>
          <p:cNvPr id="20" name="Text 18"/>
          <p:cNvSpPr txBox="1"/>
          <p:nvPr/>
        </p:nvSpPr>
        <p:spPr>
          <a:xfrm>
            <a:off x="4270248" y="5184648"/>
            <a:ext cx="3657600" cy="402336"/>
          </a:xfrm>
          <a:prstGeom prst="rect">
            <a:avLst/>
          </a:prstGeom>
          <a:noFill/>
          <a:ln/>
        </p:spPr>
        <p:txBody>
          <a:bodyPr wrap="square" lIns="508" tIns="508" rIns="508" bIns="508" rtlCol="0" anchor="ctr"/>
          <a:lstStyle/>
          <a:p>
            <a:pPr algn="l" indent="0" marL="0">
              <a:lnSpc>
                <a:spcPct val="105000"/>
              </a:lnSpc>
              <a:buNone/>
            </a:pPr>
            <a:r>
              <a:rPr lang="en-US" sz="950" b="1" dirty="0">
                <a:solidFill>
                  <a:srgbClr val="174EA6"/>
                </a:solidFill>
                <a:latin typeface="Courier New" pitchFamily="34" charset="0"/>
                <a:ea typeface="Courier New" pitchFamily="34" charset="-122"/>
                <a:cs typeface="Courier New" pitchFamily="34" charset="-120"/>
              </a:rPr>
              <a:t>session.state   </a:t>
            </a:r>
            <a:pPr algn="l" indent="0" marL="0">
              <a:lnSpc>
                <a:spcPct val="105000"/>
              </a:lnSpc>
              <a:buNone/>
            </a:pPr>
            <a:r>
              <a:rPr lang="en-US" sz="950" dirty="0">
                <a:solidFill>
                  <a:srgbClr val="5F6368"/>
                </a:solidFill>
                <a:latin typeface="Calibri" pitchFamily="34" charset="0"/>
                <a:ea typeface="Calibri" pitchFamily="34" charset="-122"/>
                <a:cs typeface="Calibri" pitchFamily="34" charset="-120"/>
              </a:rPr>
              <a:t>user: / app: / temp: scopes</a:t>
            </a:r>
            <a:endParaRPr lang="en-US" sz="950" dirty="0"/>
          </a:p>
        </p:txBody>
      </p:sp>
      <p:sp>
        <p:nvSpPr>
          <p:cNvPr id="21" name="Text 19"/>
          <p:cNvSpPr txBox="1"/>
          <p:nvPr/>
        </p:nvSpPr>
        <p:spPr>
          <a:xfrm>
            <a:off x="4114800" y="5760720"/>
            <a:ext cx="3931920" cy="365760"/>
          </a:xfrm>
          <a:prstGeom prst="rect">
            <a:avLst/>
          </a:prstGeom>
          <a:noFill/>
          <a:ln/>
        </p:spPr>
        <p:txBody>
          <a:bodyPr wrap="square" lIns="508" tIns="508" rIns="508" bIns="508" rtlCol="0" anchor="ctr"/>
          <a:lstStyle/>
          <a:p>
            <a:pPr algn="ctr" indent="0" marL="0">
              <a:lnSpc>
                <a:spcPct val="105000"/>
              </a:lnSpc>
              <a:buNone/>
            </a:pPr>
            <a:r>
              <a:rPr lang="en-US" sz="800" i="1" dirty="0">
                <a:solidFill>
                  <a:srgbClr val="6B4C9A"/>
                </a:solidFill>
                <a:latin typeface="Calibri" pitchFamily="34" charset="0"/>
                <a:ea typeface="Calibri" pitchFamily="34" charset="-122"/>
                <a:cs typeface="Calibri" pitchFamily="34" charset="-120"/>
              </a:rPr>
              <a:t>Runner event loop  ·  before_agent → before_model → LLM → after_model → before_tool → tool → after_tool → after_agent</a:t>
            </a:r>
            <a:endParaRPr lang="en-US" sz="800" dirty="0"/>
          </a:p>
        </p:txBody>
      </p:sp>
      <p:sp>
        <p:nvSpPr>
          <p:cNvPr id="22" name="Shape 20"/>
          <p:cNvSpPr/>
          <p:nvPr/>
        </p:nvSpPr>
        <p:spPr>
          <a:xfrm>
            <a:off x="548640" y="1965960"/>
            <a:ext cx="3017520" cy="1097280"/>
          </a:xfrm>
          <a:prstGeom prst="roundRect">
            <a:avLst>
              <a:gd name="adj" fmla="val 5000"/>
            </a:avLst>
          </a:prstGeom>
          <a:solidFill>
            <a:srgbClr val="FDEEE4"/>
          </a:solidFill>
          <a:ln w="12700">
            <a:solidFill>
              <a:srgbClr val="FDEEE4"/>
            </a:solidFill>
            <a:prstDash val="solid"/>
          </a:ln>
        </p:spPr>
      </p:sp>
      <p:sp>
        <p:nvSpPr>
          <p:cNvPr id="23" name="Text 21"/>
          <p:cNvSpPr txBox="1"/>
          <p:nvPr/>
        </p:nvSpPr>
        <p:spPr>
          <a:xfrm>
            <a:off x="658368" y="2039112"/>
            <a:ext cx="2798064" cy="274320"/>
          </a:xfrm>
          <a:prstGeom prst="rect">
            <a:avLst/>
          </a:prstGeom>
          <a:noFill/>
          <a:ln/>
        </p:spPr>
        <p:txBody>
          <a:bodyPr wrap="square" lIns="508" tIns="508" rIns="508" bIns="508" rtlCol="0" anchor="t"/>
          <a:lstStyle/>
          <a:p>
            <a:pPr algn="l" indent="0" marL="0">
              <a:lnSpc>
                <a:spcPct val="105000"/>
              </a:lnSpc>
              <a:buNone/>
            </a:pPr>
            <a:r>
              <a:rPr lang="en-US" sz="1050" b="1" dirty="0">
                <a:solidFill>
                  <a:srgbClr val="C2410C"/>
                </a:solidFill>
                <a:latin typeface="Calibri" pitchFamily="34" charset="0"/>
                <a:ea typeface="Calibri" pitchFamily="34" charset="-122"/>
                <a:cs typeface="Calibri" pitchFamily="34" charset="-120"/>
              </a:rPr>
              <a:t>before_model  →  AI Bridge</a:t>
            </a:r>
            <a:endParaRPr lang="en-US" sz="1050" dirty="0"/>
          </a:p>
        </p:txBody>
      </p:sp>
      <p:sp>
        <p:nvSpPr>
          <p:cNvPr id="24" name="Text 22"/>
          <p:cNvSpPr txBox="1"/>
          <p:nvPr/>
        </p:nvSpPr>
        <p:spPr>
          <a:xfrm>
            <a:off x="658368" y="2295144"/>
            <a:ext cx="2798064" cy="713232"/>
          </a:xfrm>
          <a:prstGeom prst="rect">
            <a:avLst/>
          </a:prstGeom>
          <a:noFill/>
          <a:ln/>
        </p:spPr>
        <p:txBody>
          <a:bodyPr wrap="square" lIns="508" tIns="508" rIns="508" bIns="508" rtlCol="0" anchor="t"/>
          <a:lstStyle/>
          <a:p>
            <a:pPr algn="l" indent="0" marL="0">
              <a:lnSpc>
                <a:spcPct val="110000"/>
              </a:lnSpc>
              <a:buNone/>
            </a:pPr>
            <a:r>
              <a:rPr lang="en-US" sz="900" dirty="0">
                <a:solidFill>
                  <a:srgbClr val="5F6368"/>
                </a:solidFill>
                <a:latin typeface="Calibri" pitchFamily="34" charset="0"/>
                <a:ea typeface="Calibri" pitchFamily="34" charset="-122"/>
                <a:cs typeface="Calibri" pitchFamily="34" charset="-120"/>
              </a:rPr>
              <a:t>Model chosen from registry.yml; per-agent temp / top-P / token caps; failover, pairing, fusion</a:t>
            </a:r>
            <a:endParaRPr lang="en-US" sz="900" dirty="0"/>
          </a:p>
        </p:txBody>
      </p:sp>
      <p:sp>
        <p:nvSpPr>
          <p:cNvPr id="25" name="Shape 23"/>
          <p:cNvSpPr/>
          <p:nvPr/>
        </p:nvSpPr>
        <p:spPr>
          <a:xfrm>
            <a:off x="3566160" y="2514600"/>
            <a:ext cx="365760" cy="731520"/>
          </a:xfrm>
          <a:prstGeom prst="line">
            <a:avLst/>
          </a:prstGeom>
          <a:noFill/>
          <a:ln w="19050">
            <a:solidFill>
              <a:srgbClr val="C2410C"/>
            </a:solidFill>
            <a:prstDash val="solid"/>
            <a:tailEnd type="triangle"/>
          </a:ln>
        </p:spPr>
      </p:sp>
      <p:sp>
        <p:nvSpPr>
          <p:cNvPr id="26" name="Shape 24"/>
          <p:cNvSpPr/>
          <p:nvPr/>
        </p:nvSpPr>
        <p:spPr>
          <a:xfrm>
            <a:off x="548640" y="3291840"/>
            <a:ext cx="3017520" cy="1097280"/>
          </a:xfrm>
          <a:prstGeom prst="roundRect">
            <a:avLst>
              <a:gd name="adj" fmla="val 5000"/>
            </a:avLst>
          </a:prstGeom>
          <a:solidFill>
            <a:srgbClr val="FDEEE4"/>
          </a:solidFill>
          <a:ln w="12700">
            <a:solidFill>
              <a:srgbClr val="FDEEE4"/>
            </a:solidFill>
            <a:prstDash val="solid"/>
          </a:ln>
        </p:spPr>
      </p:sp>
      <p:sp>
        <p:nvSpPr>
          <p:cNvPr id="27" name="Text 25"/>
          <p:cNvSpPr txBox="1"/>
          <p:nvPr/>
        </p:nvSpPr>
        <p:spPr>
          <a:xfrm>
            <a:off x="658368" y="3364992"/>
            <a:ext cx="2798064" cy="274320"/>
          </a:xfrm>
          <a:prstGeom prst="rect">
            <a:avLst/>
          </a:prstGeom>
          <a:noFill/>
          <a:ln/>
        </p:spPr>
        <p:txBody>
          <a:bodyPr wrap="square" lIns="508" tIns="508" rIns="508" bIns="508" rtlCol="0" anchor="t"/>
          <a:lstStyle/>
          <a:p>
            <a:pPr algn="l" indent="0" marL="0">
              <a:lnSpc>
                <a:spcPct val="105000"/>
              </a:lnSpc>
              <a:buNone/>
            </a:pPr>
            <a:r>
              <a:rPr lang="en-US" sz="1050" b="1" dirty="0">
                <a:solidFill>
                  <a:srgbClr val="C2410C"/>
                </a:solidFill>
                <a:latin typeface="Calibri" pitchFamily="34" charset="0"/>
                <a:ea typeface="Calibri" pitchFamily="34" charset="-122"/>
                <a:cs typeface="Calibri" pitchFamily="34" charset="-120"/>
              </a:rPr>
              <a:t>before_tool  →  Safe-tool policy</a:t>
            </a:r>
            <a:endParaRPr lang="en-US" sz="1050" dirty="0"/>
          </a:p>
        </p:txBody>
      </p:sp>
      <p:sp>
        <p:nvSpPr>
          <p:cNvPr id="28" name="Text 26"/>
          <p:cNvSpPr txBox="1"/>
          <p:nvPr/>
        </p:nvSpPr>
        <p:spPr>
          <a:xfrm>
            <a:off x="658368" y="3621024"/>
            <a:ext cx="2798064" cy="713232"/>
          </a:xfrm>
          <a:prstGeom prst="rect">
            <a:avLst/>
          </a:prstGeom>
          <a:noFill/>
          <a:ln/>
        </p:spPr>
        <p:txBody>
          <a:bodyPr wrap="square" lIns="508" tIns="508" rIns="508" bIns="508" rtlCol="0" anchor="t"/>
          <a:lstStyle/>
          <a:p>
            <a:pPr algn="l" indent="0" marL="0">
              <a:lnSpc>
                <a:spcPct val="110000"/>
              </a:lnSpc>
              <a:buNone/>
            </a:pPr>
            <a:r>
              <a:rPr lang="en-US" sz="900" dirty="0">
                <a:solidFill>
                  <a:srgbClr val="5F6368"/>
                </a:solidFill>
                <a:latin typeface="Calibri" pitchFamily="34" charset="0"/>
                <a:ea typeface="Calibri" pitchFamily="34" charset="-122"/>
                <a:cs typeface="Calibri" pitchFamily="34" charset="-120"/>
              </a:rPr>
              <a:t>Declarative YAML: allowed tools, budgets, loop detection before a money-movement tool runs twice</a:t>
            </a:r>
            <a:endParaRPr lang="en-US" sz="900" dirty="0"/>
          </a:p>
        </p:txBody>
      </p:sp>
      <p:sp>
        <p:nvSpPr>
          <p:cNvPr id="29" name="Shape 27"/>
          <p:cNvSpPr/>
          <p:nvPr/>
        </p:nvSpPr>
        <p:spPr>
          <a:xfrm flipV="1">
            <a:off x="3566160" y="3749040"/>
            <a:ext cx="365760" cy="91440"/>
          </a:xfrm>
          <a:prstGeom prst="line">
            <a:avLst/>
          </a:prstGeom>
          <a:noFill/>
          <a:ln w="19050">
            <a:solidFill>
              <a:srgbClr val="C2410C"/>
            </a:solidFill>
            <a:prstDash val="solid"/>
            <a:tailEnd type="triangle"/>
          </a:ln>
        </p:spPr>
      </p:sp>
      <p:sp>
        <p:nvSpPr>
          <p:cNvPr id="30" name="Shape 28"/>
          <p:cNvSpPr/>
          <p:nvPr/>
        </p:nvSpPr>
        <p:spPr>
          <a:xfrm>
            <a:off x="548640" y="4617720"/>
            <a:ext cx="3017520" cy="1097280"/>
          </a:xfrm>
          <a:prstGeom prst="roundRect">
            <a:avLst>
              <a:gd name="adj" fmla="val 5000"/>
            </a:avLst>
          </a:prstGeom>
          <a:solidFill>
            <a:srgbClr val="FDEEE4"/>
          </a:solidFill>
          <a:ln w="12700">
            <a:solidFill>
              <a:srgbClr val="FDEEE4"/>
            </a:solidFill>
            <a:prstDash val="solid"/>
          </a:ln>
        </p:spPr>
      </p:sp>
      <p:sp>
        <p:nvSpPr>
          <p:cNvPr id="31" name="Text 29"/>
          <p:cNvSpPr txBox="1"/>
          <p:nvPr/>
        </p:nvSpPr>
        <p:spPr>
          <a:xfrm>
            <a:off x="658368" y="4690872"/>
            <a:ext cx="2798064" cy="274320"/>
          </a:xfrm>
          <a:prstGeom prst="rect">
            <a:avLst/>
          </a:prstGeom>
          <a:noFill/>
          <a:ln/>
        </p:spPr>
        <p:txBody>
          <a:bodyPr wrap="square" lIns="508" tIns="508" rIns="508" bIns="508" rtlCol="0" anchor="t"/>
          <a:lstStyle/>
          <a:p>
            <a:pPr algn="l" indent="0" marL="0">
              <a:lnSpc>
                <a:spcPct val="105000"/>
              </a:lnSpc>
              <a:buNone/>
            </a:pPr>
            <a:r>
              <a:rPr lang="en-US" sz="1050" b="1" dirty="0">
                <a:solidFill>
                  <a:srgbClr val="C2410C"/>
                </a:solidFill>
                <a:latin typeface="Calibri" pitchFamily="34" charset="0"/>
                <a:ea typeface="Calibri" pitchFamily="34" charset="-122"/>
                <a:cs typeface="Calibri" pitchFamily="34" charset="-120"/>
              </a:rPr>
              <a:t>SessionService  →  Redis</a:t>
            </a:r>
            <a:endParaRPr lang="en-US" sz="1050" dirty="0"/>
          </a:p>
        </p:txBody>
      </p:sp>
      <p:sp>
        <p:nvSpPr>
          <p:cNvPr id="32" name="Text 30"/>
          <p:cNvSpPr txBox="1"/>
          <p:nvPr/>
        </p:nvSpPr>
        <p:spPr>
          <a:xfrm>
            <a:off x="658368" y="4946904"/>
            <a:ext cx="2798064" cy="713232"/>
          </a:xfrm>
          <a:prstGeom prst="rect">
            <a:avLst/>
          </a:prstGeom>
          <a:noFill/>
          <a:ln/>
        </p:spPr>
        <p:txBody>
          <a:bodyPr wrap="square" lIns="508" tIns="508" rIns="508" bIns="508" rtlCol="0" anchor="t"/>
          <a:lstStyle/>
          <a:p>
            <a:pPr algn="l" indent="0" marL="0">
              <a:lnSpc>
                <a:spcPct val="110000"/>
              </a:lnSpc>
              <a:buNone/>
            </a:pPr>
            <a:r>
              <a:rPr lang="en-US" sz="900" dirty="0">
                <a:solidFill>
                  <a:srgbClr val="5F6368"/>
                </a:solidFill>
                <a:latin typeface="Calibri" pitchFamily="34" charset="0"/>
                <a:ea typeface="Calibri" pitchFamily="34" charset="-122"/>
                <a:cs typeface="Calibri" pitchFamily="34" charset="-120"/>
              </a:rPr>
              <a:t>ADK state interface; Tachyon-managed Redis with TTL, multi-cluster, SSL/mTLS</a:t>
            </a:r>
            <a:endParaRPr lang="en-US" sz="900" dirty="0"/>
          </a:p>
        </p:txBody>
      </p:sp>
      <p:sp>
        <p:nvSpPr>
          <p:cNvPr id="33" name="Shape 31"/>
          <p:cNvSpPr/>
          <p:nvPr/>
        </p:nvSpPr>
        <p:spPr>
          <a:xfrm>
            <a:off x="3566160" y="5166360"/>
            <a:ext cx="365760" cy="182880"/>
          </a:xfrm>
          <a:prstGeom prst="line">
            <a:avLst/>
          </a:prstGeom>
          <a:noFill/>
          <a:ln w="19050">
            <a:solidFill>
              <a:srgbClr val="C2410C"/>
            </a:solidFill>
            <a:prstDash val="solid"/>
            <a:tailEnd type="triangle"/>
          </a:ln>
        </p:spPr>
      </p:sp>
      <p:sp>
        <p:nvSpPr>
          <p:cNvPr id="34" name="Shape 32"/>
          <p:cNvSpPr/>
          <p:nvPr/>
        </p:nvSpPr>
        <p:spPr>
          <a:xfrm>
            <a:off x="8595360" y="1965960"/>
            <a:ext cx="3017520" cy="1097280"/>
          </a:xfrm>
          <a:prstGeom prst="roundRect">
            <a:avLst>
              <a:gd name="adj" fmla="val 5000"/>
            </a:avLst>
          </a:prstGeom>
          <a:solidFill>
            <a:srgbClr val="FDEEE4"/>
          </a:solidFill>
          <a:ln w="12700">
            <a:solidFill>
              <a:srgbClr val="FDEEE4"/>
            </a:solidFill>
            <a:prstDash val="solid"/>
          </a:ln>
        </p:spPr>
      </p:sp>
      <p:sp>
        <p:nvSpPr>
          <p:cNvPr id="35" name="Text 33"/>
          <p:cNvSpPr txBox="1"/>
          <p:nvPr/>
        </p:nvSpPr>
        <p:spPr>
          <a:xfrm>
            <a:off x="8705088" y="2039112"/>
            <a:ext cx="2798064" cy="274320"/>
          </a:xfrm>
          <a:prstGeom prst="rect">
            <a:avLst/>
          </a:prstGeom>
          <a:noFill/>
          <a:ln/>
        </p:spPr>
        <p:txBody>
          <a:bodyPr wrap="square" lIns="508" tIns="508" rIns="508" bIns="508" rtlCol="0" anchor="t"/>
          <a:lstStyle/>
          <a:p>
            <a:pPr algn="l" indent="0" marL="0">
              <a:lnSpc>
                <a:spcPct val="105000"/>
              </a:lnSpc>
              <a:buNone/>
            </a:pPr>
            <a:r>
              <a:rPr lang="en-US" sz="1050" b="1" dirty="0">
                <a:solidFill>
                  <a:srgbClr val="C2410C"/>
                </a:solidFill>
                <a:latin typeface="Calibri" pitchFamily="34" charset="0"/>
                <a:ea typeface="Calibri" pitchFamily="34" charset="-122"/>
                <a:cs typeface="Calibri" pitchFamily="34" charset="-120"/>
              </a:rPr>
              <a:t>after_model  →  Overwatch</a:t>
            </a:r>
            <a:endParaRPr lang="en-US" sz="1050" dirty="0"/>
          </a:p>
        </p:txBody>
      </p:sp>
      <p:sp>
        <p:nvSpPr>
          <p:cNvPr id="36" name="Text 34"/>
          <p:cNvSpPr txBox="1"/>
          <p:nvPr/>
        </p:nvSpPr>
        <p:spPr>
          <a:xfrm>
            <a:off x="8705088" y="2295144"/>
            <a:ext cx="2798064" cy="713232"/>
          </a:xfrm>
          <a:prstGeom prst="rect">
            <a:avLst/>
          </a:prstGeom>
          <a:noFill/>
          <a:ln/>
        </p:spPr>
        <p:txBody>
          <a:bodyPr wrap="square" lIns="508" tIns="508" rIns="508" bIns="508" rtlCol="0" anchor="t"/>
          <a:lstStyle/>
          <a:p>
            <a:pPr algn="l" indent="0" marL="0">
              <a:lnSpc>
                <a:spcPct val="110000"/>
              </a:lnSpc>
              <a:buNone/>
            </a:pPr>
            <a:r>
              <a:rPr lang="en-US" sz="900" dirty="0">
                <a:solidFill>
                  <a:srgbClr val="5F6368"/>
                </a:solidFill>
                <a:latin typeface="Calibri" pitchFamily="34" charset="0"/>
                <a:ea typeface="Calibri" pitchFamily="34" charset="-122"/>
                <a:cs typeface="Calibri" pitchFamily="34" charset="-120"/>
              </a:rPr>
              <a:t>Goal-drift &amp; hallucination checks, LLM metrics logged, response validated</a:t>
            </a:r>
            <a:endParaRPr lang="en-US" sz="900" dirty="0"/>
          </a:p>
        </p:txBody>
      </p:sp>
      <p:sp>
        <p:nvSpPr>
          <p:cNvPr id="37" name="Shape 35"/>
          <p:cNvSpPr/>
          <p:nvPr/>
        </p:nvSpPr>
        <p:spPr>
          <a:xfrm flipH="1">
            <a:off x="8229600" y="2514600"/>
            <a:ext cx="365760" cy="731520"/>
          </a:xfrm>
          <a:prstGeom prst="line">
            <a:avLst/>
          </a:prstGeom>
          <a:noFill/>
          <a:ln w="19050">
            <a:solidFill>
              <a:srgbClr val="C2410C"/>
            </a:solidFill>
            <a:prstDash val="solid"/>
            <a:tailEnd type="triangle"/>
          </a:ln>
        </p:spPr>
      </p:sp>
      <p:sp>
        <p:nvSpPr>
          <p:cNvPr id="38" name="Shape 36"/>
          <p:cNvSpPr/>
          <p:nvPr/>
        </p:nvSpPr>
        <p:spPr>
          <a:xfrm>
            <a:off x="8595360" y="3291840"/>
            <a:ext cx="3017520" cy="1097280"/>
          </a:xfrm>
          <a:prstGeom prst="roundRect">
            <a:avLst>
              <a:gd name="adj" fmla="val 5000"/>
            </a:avLst>
          </a:prstGeom>
          <a:solidFill>
            <a:srgbClr val="FDEEE4"/>
          </a:solidFill>
          <a:ln w="12700">
            <a:solidFill>
              <a:srgbClr val="FDEEE4"/>
            </a:solidFill>
            <a:prstDash val="solid"/>
          </a:ln>
        </p:spPr>
      </p:sp>
      <p:sp>
        <p:nvSpPr>
          <p:cNvPr id="39" name="Text 37"/>
          <p:cNvSpPr txBox="1"/>
          <p:nvPr/>
        </p:nvSpPr>
        <p:spPr>
          <a:xfrm>
            <a:off x="8705088" y="3364992"/>
            <a:ext cx="2798064" cy="274320"/>
          </a:xfrm>
          <a:prstGeom prst="rect">
            <a:avLst/>
          </a:prstGeom>
          <a:noFill/>
          <a:ln/>
        </p:spPr>
        <p:txBody>
          <a:bodyPr wrap="square" lIns="508" tIns="508" rIns="508" bIns="508" rtlCol="0" anchor="t"/>
          <a:lstStyle/>
          <a:p>
            <a:pPr algn="l" indent="0" marL="0">
              <a:lnSpc>
                <a:spcPct val="105000"/>
              </a:lnSpc>
              <a:buNone/>
            </a:pPr>
            <a:r>
              <a:rPr lang="en-US" sz="1050" b="1" dirty="0">
                <a:solidFill>
                  <a:srgbClr val="C2410C"/>
                </a:solidFill>
                <a:latin typeface="Calibri" pitchFamily="34" charset="0"/>
                <a:ea typeface="Calibri" pitchFamily="34" charset="-122"/>
                <a:cs typeface="Calibri" pitchFamily="34" charset="-120"/>
              </a:rPr>
              <a:t>MCPToolset  →  Tool Registry</a:t>
            </a:r>
            <a:endParaRPr lang="en-US" sz="1050" dirty="0"/>
          </a:p>
        </p:txBody>
      </p:sp>
      <p:sp>
        <p:nvSpPr>
          <p:cNvPr id="40" name="Text 38"/>
          <p:cNvSpPr txBox="1"/>
          <p:nvPr/>
        </p:nvSpPr>
        <p:spPr>
          <a:xfrm>
            <a:off x="8705088" y="3621024"/>
            <a:ext cx="2798064" cy="713232"/>
          </a:xfrm>
          <a:prstGeom prst="rect">
            <a:avLst/>
          </a:prstGeom>
          <a:noFill/>
          <a:ln/>
        </p:spPr>
        <p:txBody>
          <a:bodyPr wrap="square" lIns="508" tIns="508" rIns="508" bIns="508" rtlCol="0" anchor="t"/>
          <a:lstStyle/>
          <a:p>
            <a:pPr algn="l" indent="0" marL="0">
              <a:lnSpc>
                <a:spcPct val="110000"/>
              </a:lnSpc>
              <a:buNone/>
            </a:pPr>
            <a:r>
              <a:rPr lang="en-US" sz="900" dirty="0">
                <a:solidFill>
                  <a:srgbClr val="5F6368"/>
                </a:solidFill>
                <a:latin typeface="Calibri" pitchFamily="34" charset="0"/>
                <a:ea typeface="Calibri" pitchFamily="34" charset="-122"/>
                <a:cs typeface="Calibri" pitchFamily="34" charset="-120"/>
              </a:rPr>
              <a:t>Tachyon auto-registers MCP servers; the agent discovers and executes tools directly</a:t>
            </a:r>
            <a:endParaRPr lang="en-US" sz="900" dirty="0"/>
          </a:p>
        </p:txBody>
      </p:sp>
      <p:sp>
        <p:nvSpPr>
          <p:cNvPr id="41" name="Shape 39"/>
          <p:cNvSpPr/>
          <p:nvPr/>
        </p:nvSpPr>
        <p:spPr>
          <a:xfrm flipH="1">
            <a:off x="8229600" y="3840480"/>
            <a:ext cx="365760" cy="457200"/>
          </a:xfrm>
          <a:prstGeom prst="line">
            <a:avLst/>
          </a:prstGeom>
          <a:noFill/>
          <a:ln w="19050">
            <a:solidFill>
              <a:srgbClr val="C2410C"/>
            </a:solidFill>
            <a:prstDash val="solid"/>
            <a:tailEnd type="triangle"/>
          </a:ln>
        </p:spPr>
      </p:sp>
      <p:sp>
        <p:nvSpPr>
          <p:cNvPr id="42" name="Shape 40"/>
          <p:cNvSpPr/>
          <p:nvPr/>
        </p:nvSpPr>
        <p:spPr>
          <a:xfrm>
            <a:off x="8595360" y="4617720"/>
            <a:ext cx="3017520" cy="1097280"/>
          </a:xfrm>
          <a:prstGeom prst="roundRect">
            <a:avLst>
              <a:gd name="adj" fmla="val 5000"/>
            </a:avLst>
          </a:prstGeom>
          <a:solidFill>
            <a:srgbClr val="FDEEE4"/>
          </a:solidFill>
          <a:ln w="12700">
            <a:solidFill>
              <a:srgbClr val="FDEEE4"/>
            </a:solidFill>
            <a:prstDash val="solid"/>
          </a:ln>
        </p:spPr>
      </p:sp>
      <p:sp>
        <p:nvSpPr>
          <p:cNvPr id="43" name="Text 41"/>
          <p:cNvSpPr txBox="1"/>
          <p:nvPr/>
        </p:nvSpPr>
        <p:spPr>
          <a:xfrm>
            <a:off x="8705088" y="4690872"/>
            <a:ext cx="2798064" cy="274320"/>
          </a:xfrm>
          <a:prstGeom prst="rect">
            <a:avLst/>
          </a:prstGeom>
          <a:noFill/>
          <a:ln/>
        </p:spPr>
        <p:txBody>
          <a:bodyPr wrap="square" lIns="508" tIns="508" rIns="508" bIns="508" rtlCol="0" anchor="t"/>
          <a:lstStyle/>
          <a:p>
            <a:pPr algn="l" indent="0" marL="0">
              <a:lnSpc>
                <a:spcPct val="105000"/>
              </a:lnSpc>
              <a:buNone/>
            </a:pPr>
            <a:r>
              <a:rPr lang="en-US" sz="1050" b="1" dirty="0">
                <a:solidFill>
                  <a:srgbClr val="C2410C"/>
                </a:solidFill>
                <a:latin typeface="Calibri" pitchFamily="34" charset="0"/>
                <a:ea typeface="Calibri" pitchFamily="34" charset="-122"/>
                <a:cs typeface="Calibri" pitchFamily="34" charset="-120"/>
              </a:rPr>
              <a:t>OTel spans  →  Arize Phoenix</a:t>
            </a:r>
            <a:endParaRPr lang="en-US" sz="1050" dirty="0"/>
          </a:p>
        </p:txBody>
      </p:sp>
      <p:sp>
        <p:nvSpPr>
          <p:cNvPr id="44" name="Text 42"/>
          <p:cNvSpPr txBox="1"/>
          <p:nvPr/>
        </p:nvSpPr>
        <p:spPr>
          <a:xfrm>
            <a:off x="8705088" y="4946904"/>
            <a:ext cx="2798064" cy="713232"/>
          </a:xfrm>
          <a:prstGeom prst="rect">
            <a:avLst/>
          </a:prstGeom>
          <a:noFill/>
          <a:ln/>
        </p:spPr>
        <p:txBody>
          <a:bodyPr wrap="square" lIns="508" tIns="508" rIns="508" bIns="508" rtlCol="0" anchor="t"/>
          <a:lstStyle/>
          <a:p>
            <a:pPr algn="l" indent="0" marL="0">
              <a:lnSpc>
                <a:spcPct val="110000"/>
              </a:lnSpc>
              <a:buNone/>
            </a:pPr>
            <a:r>
              <a:rPr lang="en-US" sz="900" dirty="0">
                <a:solidFill>
                  <a:srgbClr val="5F6368"/>
                </a:solidFill>
                <a:latin typeface="Calibri" pitchFamily="34" charset="0"/>
                <a:ea typeface="Calibri" pitchFamily="34" charset="-122"/>
                <a:cs typeface="Calibri" pitchFamily="34" charset="-120"/>
              </a:rPr>
              <a:t>Every model &amp; tool call traced with tokens and latency, exportable to WF tooling</a:t>
            </a:r>
            <a:endParaRPr lang="en-US" sz="900" dirty="0"/>
          </a:p>
        </p:txBody>
      </p:sp>
      <p:sp>
        <p:nvSpPr>
          <p:cNvPr id="45" name="Shape 43"/>
          <p:cNvSpPr/>
          <p:nvPr/>
        </p:nvSpPr>
        <p:spPr>
          <a:xfrm flipH="1">
            <a:off x="8229600" y="5166360"/>
            <a:ext cx="365760" cy="182880"/>
          </a:xfrm>
          <a:prstGeom prst="line">
            <a:avLst/>
          </a:prstGeom>
          <a:noFill/>
          <a:ln w="19050">
            <a:solidFill>
              <a:srgbClr val="C2410C"/>
            </a:solidFill>
            <a:prstDash val="solid"/>
            <a:tailEnd type="triangle"/>
          </a:ln>
        </p:spPr>
      </p:sp>
      <p:sp>
        <p:nvSpPr>
          <p:cNvPr id="46" name="Shape 44"/>
          <p:cNvSpPr/>
          <p:nvPr/>
        </p:nvSpPr>
        <p:spPr>
          <a:xfrm>
            <a:off x="548640" y="6428232"/>
            <a:ext cx="164592" cy="164592"/>
          </a:xfrm>
          <a:prstGeom prst="roundRect">
            <a:avLst>
              <a:gd name="adj" fmla="val 16667"/>
            </a:avLst>
          </a:prstGeom>
          <a:solidFill>
            <a:srgbClr val="1A73E8"/>
          </a:solidFill>
          <a:ln w="12700">
            <a:solidFill>
              <a:srgbClr val="1A73E8"/>
            </a:solidFill>
            <a:prstDash val="solid"/>
          </a:ln>
        </p:spPr>
      </p:sp>
      <p:sp>
        <p:nvSpPr>
          <p:cNvPr id="47" name="Text 45"/>
          <p:cNvSpPr txBox="1"/>
          <p:nvPr/>
        </p:nvSpPr>
        <p:spPr>
          <a:xfrm>
            <a:off x="768096" y="6355080"/>
            <a:ext cx="1645920" cy="310896"/>
          </a:xfrm>
          <a:prstGeom prst="rect">
            <a:avLst/>
          </a:prstGeom>
          <a:noFill/>
          <a:ln/>
        </p:spPr>
        <p:txBody>
          <a:bodyPr wrap="square" lIns="508" tIns="508" rIns="508" bIns="508" rtlCol="0" anchor="ctr"/>
          <a:lstStyle/>
          <a:p>
            <a:pPr algn="l" indent="0" marL="0">
              <a:lnSpc>
                <a:spcPct val="105000"/>
              </a:lnSpc>
              <a:buNone/>
            </a:pPr>
            <a:r>
              <a:rPr lang="en-US" sz="950" dirty="0">
                <a:solidFill>
                  <a:srgbClr val="5F6368"/>
                </a:solidFill>
                <a:latin typeface="Calibri" pitchFamily="34" charset="0"/>
                <a:ea typeface="Calibri" pitchFamily="34" charset="-122"/>
                <a:cs typeface="Calibri" pitchFamily="34" charset="-120"/>
              </a:rPr>
              <a:t>Google ADK core</a:t>
            </a:r>
            <a:endParaRPr lang="en-US" sz="950" dirty="0"/>
          </a:p>
        </p:txBody>
      </p:sp>
      <p:sp>
        <p:nvSpPr>
          <p:cNvPr id="48" name="Shape 46"/>
          <p:cNvSpPr/>
          <p:nvPr/>
        </p:nvSpPr>
        <p:spPr>
          <a:xfrm>
            <a:off x="2331720" y="6428232"/>
            <a:ext cx="164592" cy="164592"/>
          </a:xfrm>
          <a:prstGeom prst="roundRect">
            <a:avLst>
              <a:gd name="adj" fmla="val 16667"/>
            </a:avLst>
          </a:prstGeom>
          <a:solidFill>
            <a:srgbClr val="6B4C9A"/>
          </a:solidFill>
          <a:ln w="12700">
            <a:solidFill>
              <a:srgbClr val="6B4C9A"/>
            </a:solidFill>
            <a:prstDash val="solid"/>
          </a:ln>
        </p:spPr>
      </p:sp>
      <p:sp>
        <p:nvSpPr>
          <p:cNvPr id="49" name="Text 47"/>
          <p:cNvSpPr txBox="1"/>
          <p:nvPr/>
        </p:nvSpPr>
        <p:spPr>
          <a:xfrm>
            <a:off x="2551176" y="6355080"/>
            <a:ext cx="1645920" cy="310896"/>
          </a:xfrm>
          <a:prstGeom prst="rect">
            <a:avLst/>
          </a:prstGeom>
          <a:noFill/>
          <a:ln/>
        </p:spPr>
        <p:txBody>
          <a:bodyPr wrap="square" lIns="508" tIns="508" rIns="508" bIns="508" rtlCol="0" anchor="ctr"/>
          <a:lstStyle/>
          <a:p>
            <a:pPr algn="l" indent="0" marL="0">
              <a:lnSpc>
                <a:spcPct val="105000"/>
              </a:lnSpc>
              <a:buNone/>
            </a:pPr>
            <a:r>
              <a:rPr lang="en-US" sz="950" dirty="0">
                <a:solidFill>
                  <a:srgbClr val="5F6368"/>
                </a:solidFill>
                <a:latin typeface="Calibri" pitchFamily="34" charset="0"/>
                <a:ea typeface="Calibri" pitchFamily="34" charset="-122"/>
                <a:cs typeface="Calibri" pitchFamily="34" charset="-120"/>
              </a:rPr>
              <a:t>TSDK wrapper</a:t>
            </a:r>
            <a:endParaRPr lang="en-US" sz="950" dirty="0"/>
          </a:p>
        </p:txBody>
      </p:sp>
      <p:sp>
        <p:nvSpPr>
          <p:cNvPr id="50" name="Shape 48"/>
          <p:cNvSpPr/>
          <p:nvPr/>
        </p:nvSpPr>
        <p:spPr>
          <a:xfrm>
            <a:off x="4114800" y="6428232"/>
            <a:ext cx="164592" cy="164592"/>
          </a:xfrm>
          <a:prstGeom prst="roundRect">
            <a:avLst>
              <a:gd name="adj" fmla="val 16667"/>
            </a:avLst>
          </a:prstGeom>
          <a:solidFill>
            <a:srgbClr val="C2410C"/>
          </a:solidFill>
          <a:ln w="12700">
            <a:solidFill>
              <a:srgbClr val="C2410C"/>
            </a:solidFill>
            <a:prstDash val="solid"/>
          </a:ln>
        </p:spPr>
      </p:sp>
      <p:sp>
        <p:nvSpPr>
          <p:cNvPr id="51" name="Text 49"/>
          <p:cNvSpPr txBox="1"/>
          <p:nvPr/>
        </p:nvSpPr>
        <p:spPr>
          <a:xfrm>
            <a:off x="4334256" y="6355080"/>
            <a:ext cx="1645920" cy="310896"/>
          </a:xfrm>
          <a:prstGeom prst="rect">
            <a:avLst/>
          </a:prstGeom>
          <a:noFill/>
          <a:ln/>
        </p:spPr>
        <p:txBody>
          <a:bodyPr wrap="square" lIns="508" tIns="508" rIns="508" bIns="508" rtlCol="0" anchor="ctr"/>
          <a:lstStyle/>
          <a:p>
            <a:pPr algn="l" indent="0" marL="0">
              <a:lnSpc>
                <a:spcPct val="105000"/>
              </a:lnSpc>
              <a:buNone/>
            </a:pPr>
            <a:r>
              <a:rPr lang="en-US" sz="950" dirty="0">
                <a:solidFill>
                  <a:srgbClr val="5F6368"/>
                </a:solidFill>
                <a:latin typeface="Calibri" pitchFamily="34" charset="0"/>
                <a:ea typeface="Calibri" pitchFamily="34" charset="-122"/>
                <a:cs typeface="Calibri" pitchFamily="34" charset="-120"/>
              </a:rPr>
              <a:t>Tachyon platform</a:t>
            </a:r>
            <a:endParaRPr lang="en-US" sz="950" dirty="0"/>
          </a:p>
        </p:txBody>
      </p:sp>
      <p:sp>
        <p:nvSpPr>
          <p:cNvPr id="52" name="Text 50"/>
          <p:cNvSpPr txBox="1"/>
          <p:nvPr/>
        </p:nvSpPr>
        <p:spPr>
          <a:xfrm>
            <a:off x="7863840" y="6355080"/>
            <a:ext cx="3749040" cy="310896"/>
          </a:xfrm>
          <a:prstGeom prst="rect">
            <a:avLst/>
          </a:prstGeom>
          <a:noFill/>
          <a:ln/>
        </p:spPr>
        <p:txBody>
          <a:bodyPr wrap="square" lIns="508" tIns="508" rIns="508" bIns="508" rtlCol="0" anchor="ctr"/>
          <a:lstStyle/>
          <a:p>
            <a:pPr algn="r" indent="0" marL="0">
              <a:lnSpc>
                <a:spcPct val="105000"/>
              </a:lnSpc>
              <a:buNone/>
            </a:pPr>
            <a:r>
              <a:rPr lang="en-US" sz="900" dirty="0">
                <a:solidFill>
                  <a:srgbClr val="9AA0A6"/>
                </a:solidFill>
                <a:latin typeface="Calibri" pitchFamily="34" charset="0"/>
                <a:ea typeface="Calibri" pitchFamily="34" charset="-122"/>
                <a:cs typeface="Calibri" pitchFamily="34" charset="-120"/>
              </a:rPr>
              <a:t>Fargo platform – internal</a:t>
            </a:r>
            <a:endParaRPr lang="en-US" sz="900" dirty="0"/>
          </a:p>
        </p:txBody>
      </p:sp>
      <p:sp>
        <p:nvSpPr>
          <p:cNvPr id="53" name="Text 51"/>
          <p:cNvSpPr txBox="1"/>
          <p:nvPr/>
        </p:nvSpPr>
        <p:spPr>
          <a:xfrm>
            <a:off x="11658600" y="6355080"/>
            <a:ext cx="365760" cy="310896"/>
          </a:xfrm>
          <a:prstGeom prst="rect">
            <a:avLst/>
          </a:prstGeom>
          <a:noFill/>
          <a:ln/>
        </p:spPr>
        <p:txBody>
          <a:bodyPr wrap="square" lIns="508" tIns="508" rIns="508" bIns="508" rtlCol="0" anchor="ctr"/>
          <a:lstStyle/>
          <a:p>
            <a:pPr algn="r" indent="0" marL="0">
              <a:lnSpc>
                <a:spcPct val="105000"/>
              </a:lnSpc>
              <a:buNone/>
            </a:pPr>
            <a:r>
              <a:rPr lang="en-US" sz="900" dirty="0">
                <a:solidFill>
                  <a:srgbClr val="9AA0A6"/>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457200"/>
            <a:ext cx="11064240" cy="548640"/>
          </a:xfrm>
          <a:prstGeom prst="rect">
            <a:avLst/>
          </a:prstGeom>
          <a:noFill/>
          <a:ln/>
        </p:spPr>
        <p:txBody>
          <a:bodyPr wrap="square" lIns="508" tIns="508" rIns="508" bIns="508" rtlCol="0" anchor="t"/>
          <a:lstStyle/>
          <a:p>
            <a:pPr algn="l" indent="0" marL="0">
              <a:lnSpc>
                <a:spcPct val="105000"/>
              </a:lnSpc>
              <a:buNone/>
            </a:pPr>
            <a:r>
              <a:rPr lang="en-US" sz="2600" b="1" dirty="0">
                <a:solidFill>
                  <a:srgbClr val="1B1F3B"/>
                </a:solidFill>
                <a:latin typeface="Calibri" pitchFamily="34" charset="0"/>
                <a:ea typeface="Calibri" pitchFamily="34" charset="-122"/>
                <a:cs typeface="Calibri" pitchFamily="34" charset="-120"/>
              </a:rPr>
              <a:t>Session state and long-term memory</a:t>
            </a:r>
            <a:endParaRPr lang="en-US" sz="2600" dirty="0"/>
          </a:p>
        </p:txBody>
      </p:sp>
      <p:sp>
        <p:nvSpPr>
          <p:cNvPr id="3" name="Text 1"/>
          <p:cNvSpPr txBox="1"/>
          <p:nvPr/>
        </p:nvSpPr>
        <p:spPr>
          <a:xfrm>
            <a:off x="548640" y="1051560"/>
            <a:ext cx="11064240" cy="457200"/>
          </a:xfrm>
          <a:prstGeom prst="rect">
            <a:avLst/>
          </a:prstGeom>
          <a:noFill/>
          <a:ln/>
        </p:spPr>
        <p:txBody>
          <a:bodyPr wrap="square" lIns="508" tIns="508" rIns="508" bIns="508" rtlCol="0" anchor="t"/>
          <a:lstStyle/>
          <a:p>
            <a:pPr algn="l" indent="0" marL="0">
              <a:lnSpc>
                <a:spcPct val="105000"/>
              </a:lnSpc>
              <a:buNone/>
            </a:pPr>
            <a:r>
              <a:rPr lang="en-US" sz="1300" dirty="0">
                <a:solidFill>
                  <a:srgbClr val="5F6368"/>
                </a:solidFill>
                <a:latin typeface="Calibri" pitchFamily="34" charset="0"/>
                <a:ea typeface="Calibri" pitchFamily="34" charset="-122"/>
                <a:cs typeface="Calibri" pitchFamily="34" charset="-120"/>
              </a:rPr>
              <a:t>Agents use ADK's Session and Memory interfaces; the TSDK adapters point them at Tachyon-managed Redis and Mem0.</a:t>
            </a:r>
            <a:endParaRPr lang="en-US" sz="1300" dirty="0"/>
          </a:p>
        </p:txBody>
      </p:sp>
      <p:sp>
        <p:nvSpPr>
          <p:cNvPr id="4" name="Shape 2"/>
          <p:cNvSpPr/>
          <p:nvPr/>
        </p:nvSpPr>
        <p:spPr>
          <a:xfrm>
            <a:off x="548640" y="1920240"/>
            <a:ext cx="5486400" cy="3566160"/>
          </a:xfrm>
          <a:prstGeom prst="roundRect">
            <a:avLst>
              <a:gd name="adj" fmla="val 2564"/>
            </a:avLst>
          </a:prstGeom>
          <a:solidFill>
            <a:srgbClr val="F1F3F4"/>
          </a:solidFill>
          <a:ln w="12700">
            <a:solidFill>
              <a:srgbClr val="F1F3F4"/>
            </a:solidFill>
            <a:prstDash val="solid"/>
          </a:ln>
        </p:spPr>
      </p:sp>
      <p:sp>
        <p:nvSpPr>
          <p:cNvPr id="5" name="Text 3"/>
          <p:cNvSpPr txBox="1"/>
          <p:nvPr/>
        </p:nvSpPr>
        <p:spPr>
          <a:xfrm>
            <a:off x="731520" y="2029968"/>
            <a:ext cx="3657600" cy="274320"/>
          </a:xfrm>
          <a:prstGeom prst="rect">
            <a:avLst/>
          </a:prstGeom>
          <a:noFill/>
          <a:ln/>
        </p:spPr>
        <p:txBody>
          <a:bodyPr wrap="square" lIns="508" tIns="508" rIns="508" bIns="508" rtlCol="0" anchor="t"/>
          <a:lstStyle/>
          <a:p>
            <a:pPr algn="l" indent="0" marL="0">
              <a:lnSpc>
                <a:spcPct val="105000"/>
              </a:lnSpc>
              <a:buNone/>
            </a:pPr>
            <a:r>
              <a:rPr lang="en-US" sz="1100" b="1" dirty="0">
                <a:solidFill>
                  <a:srgbClr val="202124"/>
                </a:solidFill>
                <a:latin typeface="Calibri" pitchFamily="34" charset="0"/>
                <a:ea typeface="Calibri" pitchFamily="34" charset="-122"/>
                <a:cs typeface="Calibri" pitchFamily="34" charset="-120"/>
              </a:rPr>
              <a:t>Short-term (session state)</a:t>
            </a:r>
            <a:endParaRPr lang="en-US" sz="1100" dirty="0"/>
          </a:p>
        </p:txBody>
      </p:sp>
      <p:sp>
        <p:nvSpPr>
          <p:cNvPr id="6" name="Text 4"/>
          <p:cNvSpPr txBox="1"/>
          <p:nvPr/>
        </p:nvSpPr>
        <p:spPr>
          <a:xfrm>
            <a:off x="731520" y="2304288"/>
            <a:ext cx="5120640" cy="457200"/>
          </a:xfrm>
          <a:prstGeom prst="rect">
            <a:avLst/>
          </a:prstGeom>
          <a:noFill/>
          <a:ln/>
        </p:spPr>
        <p:txBody>
          <a:bodyPr wrap="square" lIns="508" tIns="508" rIns="508" bIns="508" rtlCol="0" anchor="t"/>
          <a:lstStyle/>
          <a:p>
            <a:pPr algn="l" indent="0" marL="0">
              <a:lnSpc>
                <a:spcPct val="105000"/>
              </a:lnSpc>
              <a:buNone/>
            </a:pPr>
            <a:r>
              <a:rPr lang="en-US" sz="950" i="1" dirty="0">
                <a:solidFill>
                  <a:srgbClr val="5F6368"/>
                </a:solidFill>
                <a:latin typeface="Calibri" pitchFamily="34" charset="0"/>
                <a:ea typeface="Calibri" pitchFamily="34" charset="-122"/>
                <a:cs typeface="Calibri" pitchFamily="34" charset="-120"/>
              </a:rPr>
              <a:t>"Customer disputing a charge is routed Transactions → Card Management. Context must carry over."</a:t>
            </a:r>
            <a:endParaRPr lang="en-US" sz="950" dirty="0"/>
          </a:p>
        </p:txBody>
      </p:sp>
      <p:sp>
        <p:nvSpPr>
          <p:cNvPr id="7" name="Shape 5"/>
          <p:cNvSpPr/>
          <p:nvPr/>
        </p:nvSpPr>
        <p:spPr>
          <a:xfrm>
            <a:off x="822960" y="2880360"/>
            <a:ext cx="2103120" cy="685800"/>
          </a:xfrm>
          <a:prstGeom prst="roundRect">
            <a:avLst>
              <a:gd name="adj" fmla="val 9333"/>
            </a:avLst>
          </a:prstGeom>
          <a:solidFill>
            <a:srgbClr val="1A73E8"/>
          </a:solidFill>
          <a:ln w="12700">
            <a:solidFill>
              <a:srgbClr val="1A73E8"/>
            </a:solidFill>
            <a:prstDash val="solid"/>
          </a:ln>
        </p:spPr>
      </p:sp>
      <p:sp>
        <p:nvSpPr>
          <p:cNvPr id="8" name="Text 6"/>
          <p:cNvSpPr txBox="1"/>
          <p:nvPr/>
        </p:nvSpPr>
        <p:spPr>
          <a:xfrm>
            <a:off x="822960" y="2880360"/>
            <a:ext cx="2103120" cy="685800"/>
          </a:xfrm>
          <a:prstGeom prst="rect">
            <a:avLst/>
          </a:prstGeom>
          <a:noFill/>
          <a:ln/>
        </p:spPr>
        <p:txBody>
          <a:bodyPr wrap="square" lIns="508" tIns="508" rIns="508" bIns="508" rtlCol="0" anchor="ctr"/>
          <a:lstStyle/>
          <a:p>
            <a:pPr algn="ctr" indent="0" marL="0">
              <a:lnSpc>
                <a:spcPct val="105000"/>
              </a:lnSpc>
              <a:buNone/>
            </a:pPr>
            <a:r>
              <a:rPr lang="en-US" sz="950" b="1" dirty="0">
                <a:solidFill>
                  <a:srgbClr val="FFFFFF"/>
                </a:solidFill>
                <a:latin typeface="Calibri" pitchFamily="34" charset="0"/>
                <a:ea typeface="Calibri" pitchFamily="34" charset="-122"/>
                <a:cs typeface="Calibri" pitchFamily="34" charset="-120"/>
              </a:rPr>
              <a:t>Transactions Agent</a:t>
            </a:r>
            <a:endParaRPr lang="en-US" sz="950" dirty="0"/>
          </a:p>
          <a:p>
            <a:pPr algn="ctr" indent="0" marL="0">
              <a:lnSpc>
                <a:spcPct val="105000"/>
              </a:lnSpc>
              <a:buNone/>
            </a:pPr>
            <a:r>
              <a:rPr lang="en-US" sz="950" b="1" dirty="0">
                <a:solidFill>
                  <a:srgbClr val="FFFFFF"/>
                </a:solidFill>
                <a:latin typeface="Calibri" pitchFamily="34" charset="0"/>
                <a:ea typeface="Calibri" pitchFamily="34" charset="-122"/>
                <a:cs typeface="Calibri" pitchFamily="34" charset="-120"/>
              </a:rPr>
              <a:t>ADK LlmAgent</a:t>
            </a:r>
            <a:endParaRPr lang="en-US" sz="950" dirty="0"/>
          </a:p>
        </p:txBody>
      </p:sp>
      <p:sp>
        <p:nvSpPr>
          <p:cNvPr id="9" name="Shape 7"/>
          <p:cNvSpPr/>
          <p:nvPr/>
        </p:nvSpPr>
        <p:spPr>
          <a:xfrm>
            <a:off x="3657600" y="2880360"/>
            <a:ext cx="2103120" cy="685800"/>
          </a:xfrm>
          <a:prstGeom prst="roundRect">
            <a:avLst>
              <a:gd name="adj" fmla="val 9333"/>
            </a:avLst>
          </a:prstGeom>
          <a:solidFill>
            <a:srgbClr val="1A73E8"/>
          </a:solidFill>
          <a:ln w="12700">
            <a:solidFill>
              <a:srgbClr val="1A73E8"/>
            </a:solidFill>
            <a:prstDash val="solid"/>
          </a:ln>
        </p:spPr>
      </p:sp>
      <p:sp>
        <p:nvSpPr>
          <p:cNvPr id="10" name="Text 8"/>
          <p:cNvSpPr txBox="1"/>
          <p:nvPr/>
        </p:nvSpPr>
        <p:spPr>
          <a:xfrm>
            <a:off x="3657600" y="2880360"/>
            <a:ext cx="2103120" cy="685800"/>
          </a:xfrm>
          <a:prstGeom prst="rect">
            <a:avLst/>
          </a:prstGeom>
          <a:noFill/>
          <a:ln/>
        </p:spPr>
        <p:txBody>
          <a:bodyPr wrap="square" lIns="508" tIns="508" rIns="508" bIns="508" rtlCol="0" anchor="ctr"/>
          <a:lstStyle/>
          <a:p>
            <a:pPr algn="ctr" indent="0" marL="0">
              <a:lnSpc>
                <a:spcPct val="105000"/>
              </a:lnSpc>
              <a:buNone/>
            </a:pPr>
            <a:r>
              <a:rPr lang="en-US" sz="950" b="1" dirty="0">
                <a:solidFill>
                  <a:srgbClr val="FFFFFF"/>
                </a:solidFill>
                <a:latin typeface="Calibri" pitchFamily="34" charset="0"/>
                <a:ea typeface="Calibri" pitchFamily="34" charset="-122"/>
                <a:cs typeface="Calibri" pitchFamily="34" charset="-120"/>
              </a:rPr>
              <a:t>Card Mgmt Agent</a:t>
            </a:r>
            <a:endParaRPr lang="en-US" sz="950" dirty="0"/>
          </a:p>
          <a:p>
            <a:pPr algn="ctr" indent="0" marL="0">
              <a:lnSpc>
                <a:spcPct val="105000"/>
              </a:lnSpc>
              <a:buNone/>
            </a:pPr>
            <a:r>
              <a:rPr lang="en-US" sz="950" b="1" dirty="0">
                <a:solidFill>
                  <a:srgbClr val="FFFFFF"/>
                </a:solidFill>
                <a:latin typeface="Calibri" pitchFamily="34" charset="0"/>
                <a:ea typeface="Calibri" pitchFamily="34" charset="-122"/>
                <a:cs typeface="Calibri" pitchFamily="34" charset="-120"/>
              </a:rPr>
              <a:t>ADK LlmAgent</a:t>
            </a:r>
            <a:endParaRPr lang="en-US" sz="950" dirty="0"/>
          </a:p>
        </p:txBody>
      </p:sp>
      <p:sp>
        <p:nvSpPr>
          <p:cNvPr id="11" name="Shape 9"/>
          <p:cNvSpPr/>
          <p:nvPr/>
        </p:nvSpPr>
        <p:spPr>
          <a:xfrm>
            <a:off x="2926080" y="3218688"/>
            <a:ext cx="731520" cy="914"/>
          </a:xfrm>
          <a:prstGeom prst="line">
            <a:avLst/>
          </a:prstGeom>
          <a:noFill/>
          <a:ln w="19050">
            <a:solidFill>
              <a:srgbClr val="1A73E8"/>
            </a:solidFill>
            <a:prstDash val="solid"/>
            <a:tailEnd type="triangle"/>
          </a:ln>
        </p:spPr>
      </p:sp>
      <p:sp>
        <p:nvSpPr>
          <p:cNvPr id="12" name="Text 10"/>
          <p:cNvSpPr txBox="1"/>
          <p:nvPr/>
        </p:nvSpPr>
        <p:spPr>
          <a:xfrm>
            <a:off x="2926080" y="2880360"/>
            <a:ext cx="731520" cy="274320"/>
          </a:xfrm>
          <a:prstGeom prst="rect">
            <a:avLst/>
          </a:prstGeom>
          <a:noFill/>
          <a:ln/>
        </p:spPr>
        <p:txBody>
          <a:bodyPr wrap="square" lIns="508" tIns="508" rIns="508" bIns="508" rtlCol="0" anchor="t"/>
          <a:lstStyle/>
          <a:p>
            <a:pPr algn="ctr" indent="0" marL="0">
              <a:lnSpc>
                <a:spcPct val="105000"/>
              </a:lnSpc>
              <a:buNone/>
            </a:pPr>
            <a:r>
              <a:rPr lang="en-US" sz="800" dirty="0">
                <a:solidFill>
                  <a:srgbClr val="1A73E8"/>
                </a:solidFill>
                <a:latin typeface="Calibri" pitchFamily="34" charset="0"/>
                <a:ea typeface="Calibri" pitchFamily="34" charset="-122"/>
                <a:cs typeface="Calibri" pitchFamily="34" charset="-120"/>
              </a:rPr>
              <a:t>hand-off</a:t>
            </a:r>
            <a:endParaRPr lang="en-US" sz="800" dirty="0"/>
          </a:p>
        </p:txBody>
      </p:sp>
      <p:sp>
        <p:nvSpPr>
          <p:cNvPr id="13" name="Shape 11"/>
          <p:cNvSpPr/>
          <p:nvPr/>
        </p:nvSpPr>
        <p:spPr>
          <a:xfrm>
            <a:off x="822960" y="3794760"/>
            <a:ext cx="4937760" cy="502920"/>
          </a:xfrm>
          <a:prstGeom prst="roundRect">
            <a:avLst>
              <a:gd name="adj" fmla="val 9091"/>
            </a:avLst>
          </a:prstGeom>
          <a:solidFill>
            <a:srgbClr val="FFFFFF"/>
          </a:solidFill>
          <a:ln w="12700">
            <a:solidFill>
              <a:srgbClr val="1A73E8"/>
            </a:solidFill>
            <a:prstDash val="solid"/>
          </a:ln>
        </p:spPr>
      </p:sp>
      <p:sp>
        <p:nvSpPr>
          <p:cNvPr id="14" name="Text 12"/>
          <p:cNvSpPr txBox="1"/>
          <p:nvPr/>
        </p:nvSpPr>
        <p:spPr>
          <a:xfrm>
            <a:off x="914400" y="3794760"/>
            <a:ext cx="4754880" cy="502920"/>
          </a:xfrm>
          <a:prstGeom prst="rect">
            <a:avLst/>
          </a:prstGeom>
          <a:noFill/>
          <a:ln/>
        </p:spPr>
        <p:txBody>
          <a:bodyPr wrap="square" lIns="508" tIns="508" rIns="508" bIns="508" rtlCol="0" anchor="ctr"/>
          <a:lstStyle/>
          <a:p>
            <a:pPr algn="l" indent="0" marL="0">
              <a:lnSpc>
                <a:spcPct val="105000"/>
              </a:lnSpc>
              <a:buNone/>
            </a:pPr>
            <a:r>
              <a:rPr lang="en-US" sz="900" b="1" dirty="0">
                <a:solidFill>
                  <a:srgbClr val="1A73E8"/>
                </a:solidFill>
                <a:latin typeface="Calibri" pitchFamily="34" charset="0"/>
                <a:ea typeface="Calibri" pitchFamily="34" charset="-122"/>
                <a:cs typeface="Calibri" pitchFamily="34" charset="-120"/>
              </a:rPr>
              <a:t>ADK  </a:t>
            </a:r>
            <a:pPr algn="l" indent="0" marL="0">
              <a:lnSpc>
                <a:spcPct val="105000"/>
              </a:lnSpc>
              <a:buNone/>
            </a:pPr>
            <a:r>
              <a:rPr lang="en-US" sz="900" b="1" dirty="0">
                <a:solidFill>
                  <a:srgbClr val="202124"/>
                </a:solidFill>
                <a:latin typeface="Calibri" pitchFamily="34" charset="0"/>
                <a:ea typeface="Calibri" pitchFamily="34" charset="-122"/>
                <a:cs typeface="Calibri" pitchFamily="34" charset="-120"/>
              </a:rPr>
              <a:t>Session · State via TSDK adapter  —  </a:t>
            </a:r>
            <a:pPr algn="l" indent="0" marL="0">
              <a:lnSpc>
                <a:spcPct val="105000"/>
              </a:lnSpc>
              <a:buNone/>
            </a:pPr>
            <a:r>
              <a:rPr lang="en-US" sz="900" dirty="0">
                <a:solidFill>
                  <a:srgbClr val="5F6368"/>
                </a:solidFill>
                <a:latin typeface="Calibri" pitchFamily="34" charset="0"/>
                <a:ea typeface="Calibri" pitchFamily="34" charset="-122"/>
                <a:cs typeface="Calibri" pitchFamily="34" charset="-120"/>
              </a:rPr>
              <a:t>user:  app:  temp:  scopes, InvocationContext, state deltas in events</a:t>
            </a:r>
            <a:endParaRPr lang="en-US" sz="900" dirty="0"/>
          </a:p>
        </p:txBody>
      </p:sp>
      <p:sp>
        <p:nvSpPr>
          <p:cNvPr id="15" name="Shape 13"/>
          <p:cNvSpPr/>
          <p:nvPr/>
        </p:nvSpPr>
        <p:spPr>
          <a:xfrm>
            <a:off x="1874520" y="3566160"/>
            <a:ext cx="914" cy="228600"/>
          </a:xfrm>
          <a:prstGeom prst="line">
            <a:avLst/>
          </a:prstGeom>
          <a:noFill/>
          <a:ln w="19050">
            <a:solidFill>
              <a:srgbClr val="1A73E8"/>
            </a:solidFill>
            <a:prstDash val="solid"/>
            <a:tailEnd type="triangle"/>
          </a:ln>
        </p:spPr>
      </p:sp>
      <p:sp>
        <p:nvSpPr>
          <p:cNvPr id="16" name="Shape 14"/>
          <p:cNvSpPr/>
          <p:nvPr/>
        </p:nvSpPr>
        <p:spPr>
          <a:xfrm>
            <a:off x="4709160" y="3566160"/>
            <a:ext cx="914" cy="228600"/>
          </a:xfrm>
          <a:prstGeom prst="line">
            <a:avLst/>
          </a:prstGeom>
          <a:noFill/>
          <a:ln w="19050">
            <a:solidFill>
              <a:srgbClr val="1A73E8"/>
            </a:solidFill>
            <a:prstDash val="solid"/>
            <a:tailEnd type="triangle"/>
          </a:ln>
        </p:spPr>
      </p:sp>
      <p:sp>
        <p:nvSpPr>
          <p:cNvPr id="17" name="Shape 15"/>
          <p:cNvSpPr/>
          <p:nvPr/>
        </p:nvSpPr>
        <p:spPr>
          <a:xfrm>
            <a:off x="822960" y="4526280"/>
            <a:ext cx="4937760" cy="731520"/>
          </a:xfrm>
          <a:prstGeom prst="roundRect">
            <a:avLst>
              <a:gd name="adj" fmla="val 6250"/>
            </a:avLst>
          </a:prstGeom>
          <a:solidFill>
            <a:srgbClr val="C2410C"/>
          </a:solidFill>
          <a:ln w="12700">
            <a:solidFill>
              <a:srgbClr val="C2410C"/>
            </a:solidFill>
            <a:prstDash val="solid"/>
          </a:ln>
        </p:spPr>
      </p:sp>
      <p:sp>
        <p:nvSpPr>
          <p:cNvPr id="18" name="Text 16"/>
          <p:cNvSpPr txBox="1"/>
          <p:nvPr/>
        </p:nvSpPr>
        <p:spPr>
          <a:xfrm>
            <a:off x="914400" y="4526280"/>
            <a:ext cx="4754880" cy="731520"/>
          </a:xfrm>
          <a:prstGeom prst="rect">
            <a:avLst/>
          </a:prstGeom>
          <a:noFill/>
          <a:ln/>
        </p:spPr>
        <p:txBody>
          <a:bodyPr wrap="square" lIns="508" tIns="508" rIns="508" bIns="508" rtlCol="0" anchor="ctr"/>
          <a:lstStyle/>
          <a:p>
            <a:pPr algn="l" indent="0" marL="0">
              <a:lnSpc>
                <a:spcPct val="105000"/>
              </a:lnSpc>
              <a:buNone/>
            </a:pPr>
            <a:r>
              <a:rPr lang="en-US" sz="900" b="1" dirty="0">
                <a:solidFill>
                  <a:srgbClr val="FFE0CC"/>
                </a:solidFill>
                <a:latin typeface="Calibri" pitchFamily="34" charset="0"/>
                <a:ea typeface="Calibri" pitchFamily="34" charset="-122"/>
                <a:cs typeface="Calibri" pitchFamily="34" charset="-120"/>
              </a:rPr>
              <a:t>TACHYON  </a:t>
            </a:r>
            <a:pPr algn="l" indent="0" marL="0">
              <a:lnSpc>
                <a:spcPct val="105000"/>
              </a:lnSpc>
              <a:buNone/>
            </a:pPr>
            <a:r>
              <a:rPr lang="en-US" sz="900" b="1" dirty="0">
                <a:solidFill>
                  <a:srgbClr val="FFFFFF"/>
                </a:solidFill>
                <a:latin typeface="Calibri" pitchFamily="34" charset="0"/>
                <a:ea typeface="Calibri" pitchFamily="34" charset="-122"/>
                <a:cs typeface="Calibri" pitchFamily="34" charset="-120"/>
              </a:rPr>
              <a:t>Redis state store  —  </a:t>
            </a:r>
            <a:pPr algn="l" indent="0" marL="0">
              <a:lnSpc>
                <a:spcPct val="105000"/>
              </a:lnSpc>
              <a:buNone/>
            </a:pPr>
            <a:r>
              <a:rPr lang="en-US" sz="900" dirty="0">
                <a:solidFill>
                  <a:srgbClr val="FFE8D9"/>
                </a:solidFill>
                <a:latin typeface="Calibri" pitchFamily="34" charset="0"/>
                <a:ea typeface="Calibri" pitchFamily="34" charset="-122"/>
                <a:cs typeface="Calibri" pitchFamily="34" charset="-120"/>
              </a:rPr>
              <a:t>configurable TTL, multi-cluster, SSL/mTLS, true cross-agent shared state</a:t>
            </a:r>
            <a:endParaRPr lang="en-US" sz="900" dirty="0"/>
          </a:p>
        </p:txBody>
      </p:sp>
      <p:sp>
        <p:nvSpPr>
          <p:cNvPr id="19" name="Shape 17"/>
          <p:cNvSpPr/>
          <p:nvPr/>
        </p:nvSpPr>
        <p:spPr>
          <a:xfrm>
            <a:off x="3291840" y="4297680"/>
            <a:ext cx="914" cy="228600"/>
          </a:xfrm>
          <a:prstGeom prst="line">
            <a:avLst/>
          </a:prstGeom>
          <a:noFill/>
          <a:ln w="19050">
            <a:solidFill>
              <a:srgbClr val="C2410C"/>
            </a:solidFill>
            <a:prstDash val="solid"/>
            <a:tailEnd type="triangle"/>
          </a:ln>
        </p:spPr>
      </p:sp>
      <p:sp>
        <p:nvSpPr>
          <p:cNvPr id="20" name="Shape 18"/>
          <p:cNvSpPr/>
          <p:nvPr/>
        </p:nvSpPr>
        <p:spPr>
          <a:xfrm>
            <a:off x="6309360" y="1920240"/>
            <a:ext cx="5303520" cy="3566160"/>
          </a:xfrm>
          <a:prstGeom prst="roundRect">
            <a:avLst>
              <a:gd name="adj" fmla="val 2564"/>
            </a:avLst>
          </a:prstGeom>
          <a:solidFill>
            <a:srgbClr val="F1F3F4"/>
          </a:solidFill>
          <a:ln w="12700">
            <a:solidFill>
              <a:srgbClr val="F1F3F4"/>
            </a:solidFill>
            <a:prstDash val="solid"/>
          </a:ln>
        </p:spPr>
      </p:sp>
      <p:sp>
        <p:nvSpPr>
          <p:cNvPr id="21" name="Text 19"/>
          <p:cNvSpPr txBox="1"/>
          <p:nvPr/>
        </p:nvSpPr>
        <p:spPr>
          <a:xfrm>
            <a:off x="6492240" y="2029968"/>
            <a:ext cx="4114800" cy="274320"/>
          </a:xfrm>
          <a:prstGeom prst="rect">
            <a:avLst/>
          </a:prstGeom>
          <a:noFill/>
          <a:ln/>
        </p:spPr>
        <p:txBody>
          <a:bodyPr wrap="square" lIns="508" tIns="508" rIns="508" bIns="508" rtlCol="0" anchor="t"/>
          <a:lstStyle/>
          <a:p>
            <a:pPr algn="l" indent="0" marL="0">
              <a:lnSpc>
                <a:spcPct val="105000"/>
              </a:lnSpc>
              <a:buNone/>
            </a:pPr>
            <a:r>
              <a:rPr lang="en-US" sz="1100" b="1" dirty="0">
                <a:solidFill>
                  <a:srgbClr val="202124"/>
                </a:solidFill>
                <a:latin typeface="Calibri" pitchFamily="34" charset="0"/>
                <a:ea typeface="Calibri" pitchFamily="34" charset="-122"/>
                <a:cs typeface="Calibri" pitchFamily="34" charset="-120"/>
              </a:rPr>
              <a:t>Long-term (across sessions)</a:t>
            </a:r>
            <a:endParaRPr lang="en-US" sz="1100" dirty="0"/>
          </a:p>
        </p:txBody>
      </p:sp>
      <p:sp>
        <p:nvSpPr>
          <p:cNvPr id="22" name="Text 20"/>
          <p:cNvSpPr txBox="1"/>
          <p:nvPr/>
        </p:nvSpPr>
        <p:spPr>
          <a:xfrm>
            <a:off x="6492240" y="2304288"/>
            <a:ext cx="4937760" cy="457200"/>
          </a:xfrm>
          <a:prstGeom prst="rect">
            <a:avLst/>
          </a:prstGeom>
          <a:noFill/>
          <a:ln/>
        </p:spPr>
        <p:txBody>
          <a:bodyPr wrap="square" lIns="508" tIns="508" rIns="508" bIns="508" rtlCol="0" anchor="t"/>
          <a:lstStyle/>
          <a:p>
            <a:pPr algn="l" indent="0" marL="0">
              <a:lnSpc>
                <a:spcPct val="105000"/>
              </a:lnSpc>
              <a:buNone/>
            </a:pPr>
            <a:r>
              <a:rPr lang="en-US" sz="950" i="1" dirty="0">
                <a:solidFill>
                  <a:srgbClr val="5F6368"/>
                </a:solidFill>
                <a:latin typeface="Calibri" pitchFamily="34" charset="0"/>
                <a:ea typeface="Calibri" pitchFamily="34" charset="-122"/>
                <a:cs typeface="Calibri" pitchFamily="34" charset="-120"/>
              </a:rPr>
              <a:t>"A returning customer set a savings goal last month — the assistant should recall it."</a:t>
            </a:r>
            <a:endParaRPr lang="en-US" sz="950" dirty="0"/>
          </a:p>
        </p:txBody>
      </p:sp>
      <p:sp>
        <p:nvSpPr>
          <p:cNvPr id="23" name="Shape 21"/>
          <p:cNvSpPr/>
          <p:nvPr/>
        </p:nvSpPr>
        <p:spPr>
          <a:xfrm>
            <a:off x="6583680" y="2880360"/>
            <a:ext cx="4754880" cy="685800"/>
          </a:xfrm>
          <a:prstGeom prst="roundRect">
            <a:avLst>
              <a:gd name="adj" fmla="val 9333"/>
            </a:avLst>
          </a:prstGeom>
          <a:solidFill>
            <a:srgbClr val="1A73E8"/>
          </a:solidFill>
          <a:ln w="12700">
            <a:solidFill>
              <a:srgbClr val="1A73E8"/>
            </a:solidFill>
            <a:prstDash val="solid"/>
          </a:ln>
        </p:spPr>
      </p:sp>
      <p:sp>
        <p:nvSpPr>
          <p:cNvPr id="24" name="Text 22"/>
          <p:cNvSpPr txBox="1"/>
          <p:nvPr/>
        </p:nvSpPr>
        <p:spPr>
          <a:xfrm>
            <a:off x="6583680" y="2880360"/>
            <a:ext cx="4754880" cy="685800"/>
          </a:xfrm>
          <a:prstGeom prst="rect">
            <a:avLst/>
          </a:prstGeom>
          <a:noFill/>
          <a:ln/>
        </p:spPr>
        <p:txBody>
          <a:bodyPr wrap="square" lIns="508" tIns="508" rIns="508" bIns="508" rtlCol="0" anchor="ctr"/>
          <a:lstStyle/>
          <a:p>
            <a:pPr algn="ctr" indent="0" marL="0">
              <a:lnSpc>
                <a:spcPct val="105000"/>
              </a:lnSpc>
              <a:buNone/>
            </a:pPr>
            <a:r>
              <a:rPr lang="en-US" sz="950" b="1" dirty="0">
                <a:solidFill>
                  <a:srgbClr val="FFFFFF"/>
                </a:solidFill>
                <a:latin typeface="Calibri" pitchFamily="34" charset="0"/>
                <a:ea typeface="Calibri" pitchFamily="34" charset="-122"/>
                <a:cs typeface="Calibri" pitchFamily="34" charset="-120"/>
              </a:rPr>
              <a:t>Any Fargo agent  ·  ADK LlmAgent</a:t>
            </a:r>
            <a:endParaRPr lang="en-US" sz="950" dirty="0"/>
          </a:p>
        </p:txBody>
      </p:sp>
      <p:sp>
        <p:nvSpPr>
          <p:cNvPr id="25" name="Shape 23"/>
          <p:cNvSpPr/>
          <p:nvPr/>
        </p:nvSpPr>
        <p:spPr>
          <a:xfrm>
            <a:off x="6583680" y="3794760"/>
            <a:ext cx="4754880" cy="502920"/>
          </a:xfrm>
          <a:prstGeom prst="roundRect">
            <a:avLst>
              <a:gd name="adj" fmla="val 9091"/>
            </a:avLst>
          </a:prstGeom>
          <a:solidFill>
            <a:srgbClr val="FFFFFF"/>
          </a:solidFill>
          <a:ln w="12700">
            <a:solidFill>
              <a:srgbClr val="1A73E8"/>
            </a:solidFill>
            <a:prstDash val="solid"/>
          </a:ln>
        </p:spPr>
      </p:sp>
      <p:sp>
        <p:nvSpPr>
          <p:cNvPr id="26" name="Text 24"/>
          <p:cNvSpPr txBox="1"/>
          <p:nvPr/>
        </p:nvSpPr>
        <p:spPr>
          <a:xfrm>
            <a:off x="6675120" y="3794760"/>
            <a:ext cx="4572000" cy="502920"/>
          </a:xfrm>
          <a:prstGeom prst="rect">
            <a:avLst/>
          </a:prstGeom>
          <a:noFill/>
          <a:ln/>
        </p:spPr>
        <p:txBody>
          <a:bodyPr wrap="square" lIns="508" tIns="508" rIns="508" bIns="508" rtlCol="0" anchor="ctr"/>
          <a:lstStyle/>
          <a:p>
            <a:pPr algn="l" indent="0" marL="0">
              <a:lnSpc>
                <a:spcPct val="105000"/>
              </a:lnSpc>
              <a:buNone/>
            </a:pPr>
            <a:r>
              <a:rPr lang="en-US" sz="900" b="1" dirty="0">
                <a:solidFill>
                  <a:srgbClr val="1A73E8"/>
                </a:solidFill>
                <a:latin typeface="Calibri" pitchFamily="34" charset="0"/>
                <a:ea typeface="Calibri" pitchFamily="34" charset="-122"/>
                <a:cs typeface="Calibri" pitchFamily="34" charset="-120"/>
              </a:rPr>
              <a:t>ADK  </a:t>
            </a:r>
            <a:pPr algn="l" indent="0" marL="0">
              <a:lnSpc>
                <a:spcPct val="105000"/>
              </a:lnSpc>
              <a:buNone/>
            </a:pPr>
            <a:r>
              <a:rPr lang="en-US" sz="900" b="1" dirty="0">
                <a:solidFill>
                  <a:srgbClr val="202124"/>
                </a:solidFill>
                <a:latin typeface="Calibri" pitchFamily="34" charset="0"/>
                <a:ea typeface="Calibri" pitchFamily="34" charset="-122"/>
                <a:cs typeface="Calibri" pitchFamily="34" charset="-120"/>
              </a:rPr>
              <a:t>MemoryService via TSDK adapter  —  </a:t>
            </a:r>
            <a:pPr algn="l" indent="0" marL="0">
              <a:lnSpc>
                <a:spcPct val="105000"/>
              </a:lnSpc>
              <a:buNone/>
            </a:pPr>
            <a:r>
              <a:rPr lang="en-US" sz="900" dirty="0">
                <a:solidFill>
                  <a:srgbClr val="5F6368"/>
                </a:solidFill>
                <a:latin typeface="Calibri" pitchFamily="34" charset="0"/>
                <a:ea typeface="Calibri" pitchFamily="34" charset="-122"/>
                <a:cs typeface="Calibri" pitchFamily="34" charset="-120"/>
              </a:rPr>
              <a:t>add_session_to_memory, search_memory / load_memory tool</a:t>
            </a:r>
            <a:endParaRPr lang="en-US" sz="900" dirty="0"/>
          </a:p>
        </p:txBody>
      </p:sp>
      <p:sp>
        <p:nvSpPr>
          <p:cNvPr id="27" name="Shape 25"/>
          <p:cNvSpPr/>
          <p:nvPr/>
        </p:nvSpPr>
        <p:spPr>
          <a:xfrm>
            <a:off x="8961120" y="3566160"/>
            <a:ext cx="914" cy="228600"/>
          </a:xfrm>
          <a:prstGeom prst="line">
            <a:avLst/>
          </a:prstGeom>
          <a:noFill/>
          <a:ln w="19050">
            <a:solidFill>
              <a:srgbClr val="1A73E8"/>
            </a:solidFill>
            <a:prstDash val="solid"/>
            <a:tailEnd type="triangle"/>
          </a:ln>
        </p:spPr>
      </p:sp>
      <p:sp>
        <p:nvSpPr>
          <p:cNvPr id="28" name="Shape 26"/>
          <p:cNvSpPr/>
          <p:nvPr/>
        </p:nvSpPr>
        <p:spPr>
          <a:xfrm>
            <a:off x="6583680" y="4526280"/>
            <a:ext cx="4754880" cy="731520"/>
          </a:xfrm>
          <a:prstGeom prst="roundRect">
            <a:avLst>
              <a:gd name="adj" fmla="val 6250"/>
            </a:avLst>
          </a:prstGeom>
          <a:solidFill>
            <a:srgbClr val="C2410C"/>
          </a:solidFill>
          <a:ln w="12700">
            <a:solidFill>
              <a:srgbClr val="C2410C"/>
            </a:solidFill>
            <a:prstDash val="solid"/>
          </a:ln>
        </p:spPr>
      </p:sp>
      <p:sp>
        <p:nvSpPr>
          <p:cNvPr id="29" name="Text 27"/>
          <p:cNvSpPr txBox="1"/>
          <p:nvPr/>
        </p:nvSpPr>
        <p:spPr>
          <a:xfrm>
            <a:off x="6675120" y="4526280"/>
            <a:ext cx="4572000" cy="731520"/>
          </a:xfrm>
          <a:prstGeom prst="rect">
            <a:avLst/>
          </a:prstGeom>
          <a:noFill/>
          <a:ln/>
        </p:spPr>
        <p:txBody>
          <a:bodyPr wrap="square" lIns="508" tIns="508" rIns="508" bIns="508" rtlCol="0" anchor="ctr"/>
          <a:lstStyle/>
          <a:p>
            <a:pPr algn="l" indent="0" marL="0">
              <a:lnSpc>
                <a:spcPct val="105000"/>
              </a:lnSpc>
              <a:buNone/>
            </a:pPr>
            <a:r>
              <a:rPr lang="en-US" sz="900" b="1" dirty="0">
                <a:solidFill>
                  <a:srgbClr val="FFE0CC"/>
                </a:solidFill>
                <a:latin typeface="Calibri" pitchFamily="34" charset="0"/>
                <a:ea typeface="Calibri" pitchFamily="34" charset="-122"/>
                <a:cs typeface="Calibri" pitchFamily="34" charset="-120"/>
              </a:rPr>
              <a:t>TACHYON  </a:t>
            </a:r>
            <a:pPr algn="l" indent="0" marL="0">
              <a:lnSpc>
                <a:spcPct val="105000"/>
              </a:lnSpc>
              <a:buNone/>
            </a:pPr>
            <a:r>
              <a:rPr lang="en-US" sz="900" b="1" dirty="0">
                <a:solidFill>
                  <a:srgbClr val="FFFFFF"/>
                </a:solidFill>
                <a:latin typeface="Calibri" pitchFamily="34" charset="0"/>
                <a:ea typeface="Calibri" pitchFamily="34" charset="-122"/>
                <a:cs typeface="Calibri" pitchFamily="34" charset="-120"/>
              </a:rPr>
              <a:t>Mem0 long-term memory  —  </a:t>
            </a:r>
            <a:pPr algn="l" indent="0" marL="0">
              <a:lnSpc>
                <a:spcPct val="105000"/>
              </a:lnSpc>
              <a:buNone/>
            </a:pPr>
            <a:r>
              <a:rPr lang="en-US" sz="900" dirty="0">
                <a:solidFill>
                  <a:srgbClr val="FFE8D9"/>
                </a:solidFill>
                <a:latin typeface="Calibri" pitchFamily="34" charset="0"/>
                <a:ea typeface="Calibri" pitchFamily="34" charset="-122"/>
                <a:cs typeface="Calibri" pitchFamily="34" charset="-120"/>
              </a:rPr>
              <a:t>PostgreSQL / MongoDB / Elasticsearch; persists preferences &amp; goals across sessions</a:t>
            </a:r>
            <a:endParaRPr lang="en-US" sz="900" dirty="0"/>
          </a:p>
        </p:txBody>
      </p:sp>
      <p:sp>
        <p:nvSpPr>
          <p:cNvPr id="30" name="Shape 28"/>
          <p:cNvSpPr/>
          <p:nvPr/>
        </p:nvSpPr>
        <p:spPr>
          <a:xfrm>
            <a:off x="8961120" y="4297680"/>
            <a:ext cx="914" cy="228600"/>
          </a:xfrm>
          <a:prstGeom prst="line">
            <a:avLst/>
          </a:prstGeom>
          <a:noFill/>
          <a:ln w="19050">
            <a:solidFill>
              <a:srgbClr val="C2410C"/>
            </a:solidFill>
            <a:prstDash val="solid"/>
            <a:tailEnd type="triangle"/>
          </a:ln>
        </p:spPr>
      </p:sp>
      <p:sp>
        <p:nvSpPr>
          <p:cNvPr id="31" name="Text 29"/>
          <p:cNvSpPr txBox="1"/>
          <p:nvPr/>
        </p:nvSpPr>
        <p:spPr>
          <a:xfrm>
            <a:off x="548640" y="5715000"/>
            <a:ext cx="11064240" cy="457200"/>
          </a:xfrm>
          <a:prstGeom prst="rect">
            <a:avLst/>
          </a:prstGeom>
          <a:noFill/>
          <a:ln/>
        </p:spPr>
        <p:txBody>
          <a:bodyPr wrap="square" lIns="508" tIns="508" rIns="508" bIns="508" rtlCol="0" anchor="ctr"/>
          <a:lstStyle/>
          <a:p>
            <a:pPr algn="l" indent="0" marL="0">
              <a:lnSpc>
                <a:spcPct val="105000"/>
              </a:lnSpc>
              <a:buNone/>
            </a:pPr>
            <a:r>
              <a:rPr lang="en-US" sz="1100" b="1" dirty="0">
                <a:solidFill>
                  <a:srgbClr val="202124"/>
                </a:solidFill>
                <a:latin typeface="Calibri" pitchFamily="34" charset="0"/>
                <a:ea typeface="Calibri" pitchFamily="34" charset="-122"/>
                <a:cs typeface="Calibri" pitchFamily="34" charset="-120"/>
              </a:rPr>
              <a:t>Note: </a:t>
            </a:r>
            <a:pPr algn="l" indent="0" marL="0">
              <a:lnSpc>
                <a:spcPct val="105000"/>
              </a:lnSpc>
              <a:buNone/>
            </a:pPr>
            <a:r>
              <a:rPr lang="en-US" sz="1100" dirty="0">
                <a:solidFill>
                  <a:srgbClr val="202124"/>
                </a:solidFill>
                <a:latin typeface="Calibri" pitchFamily="34" charset="0"/>
                <a:ea typeface="Calibri" pitchFamily="34" charset="-122"/>
                <a:cs typeface="Calibri" pitchFamily="34" charset="-120"/>
              </a:rPr>
              <a:t>Agents code against ADK interfaces only; swapping or hardening the store is a TSDK/Tachyon change, never an agent rewrite.</a:t>
            </a:r>
            <a:endParaRPr lang="en-US" sz="1100" dirty="0"/>
          </a:p>
        </p:txBody>
      </p:sp>
      <p:sp>
        <p:nvSpPr>
          <p:cNvPr id="32" name="Text 30"/>
          <p:cNvSpPr txBox="1"/>
          <p:nvPr/>
        </p:nvSpPr>
        <p:spPr>
          <a:xfrm>
            <a:off x="7863840" y="6355080"/>
            <a:ext cx="3749040" cy="310896"/>
          </a:xfrm>
          <a:prstGeom prst="rect">
            <a:avLst/>
          </a:prstGeom>
          <a:noFill/>
          <a:ln/>
        </p:spPr>
        <p:txBody>
          <a:bodyPr wrap="square" lIns="508" tIns="508" rIns="508" bIns="508" rtlCol="0" anchor="ctr"/>
          <a:lstStyle/>
          <a:p>
            <a:pPr algn="r" indent="0" marL="0">
              <a:lnSpc>
                <a:spcPct val="105000"/>
              </a:lnSpc>
              <a:buNone/>
            </a:pPr>
            <a:r>
              <a:rPr lang="en-US" sz="900" dirty="0">
                <a:solidFill>
                  <a:srgbClr val="9AA0A6"/>
                </a:solidFill>
                <a:latin typeface="Calibri" pitchFamily="34" charset="0"/>
                <a:ea typeface="Calibri" pitchFamily="34" charset="-122"/>
                <a:cs typeface="Calibri" pitchFamily="34" charset="-120"/>
              </a:rPr>
              <a:t>Fargo platform – internal</a:t>
            </a:r>
            <a:endParaRPr lang="en-US" sz="900" dirty="0"/>
          </a:p>
        </p:txBody>
      </p:sp>
      <p:sp>
        <p:nvSpPr>
          <p:cNvPr id="33" name="Text 31"/>
          <p:cNvSpPr txBox="1"/>
          <p:nvPr/>
        </p:nvSpPr>
        <p:spPr>
          <a:xfrm>
            <a:off x="11658600" y="6355080"/>
            <a:ext cx="365760" cy="310896"/>
          </a:xfrm>
          <a:prstGeom prst="rect">
            <a:avLst/>
          </a:prstGeom>
          <a:noFill/>
          <a:ln/>
        </p:spPr>
        <p:txBody>
          <a:bodyPr wrap="square" lIns="508" tIns="508" rIns="508" bIns="508" rtlCol="0" anchor="ctr"/>
          <a:lstStyle/>
          <a:p>
            <a:pPr algn="r" indent="0" marL="0">
              <a:lnSpc>
                <a:spcPct val="105000"/>
              </a:lnSpc>
              <a:buNone/>
            </a:pPr>
            <a:r>
              <a:rPr lang="en-US" sz="900" dirty="0">
                <a:solidFill>
                  <a:srgbClr val="9AA0A6"/>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457200"/>
            <a:ext cx="11064240" cy="548640"/>
          </a:xfrm>
          <a:prstGeom prst="rect">
            <a:avLst/>
          </a:prstGeom>
          <a:noFill/>
          <a:ln/>
        </p:spPr>
        <p:txBody>
          <a:bodyPr wrap="square" lIns="508" tIns="508" rIns="508" bIns="508" rtlCol="0" anchor="t"/>
          <a:lstStyle/>
          <a:p>
            <a:pPr algn="l" indent="0" marL="0">
              <a:lnSpc>
                <a:spcPct val="105000"/>
              </a:lnSpc>
              <a:buNone/>
            </a:pPr>
            <a:r>
              <a:rPr lang="en-US" sz="2600" b="1" dirty="0">
                <a:solidFill>
                  <a:srgbClr val="1B1F3B"/>
                </a:solidFill>
                <a:latin typeface="Calibri" pitchFamily="34" charset="0"/>
                <a:ea typeface="Calibri" pitchFamily="34" charset="-122"/>
                <a:cs typeface="Calibri" pitchFamily="34" charset="-120"/>
              </a:rPr>
              <a:t>Model routing and tool access</a:t>
            </a:r>
            <a:endParaRPr lang="en-US" sz="2600" dirty="0"/>
          </a:p>
        </p:txBody>
      </p:sp>
      <p:sp>
        <p:nvSpPr>
          <p:cNvPr id="3" name="Text 1"/>
          <p:cNvSpPr txBox="1"/>
          <p:nvPr/>
        </p:nvSpPr>
        <p:spPr>
          <a:xfrm>
            <a:off x="548640" y="1051560"/>
            <a:ext cx="11064240" cy="457200"/>
          </a:xfrm>
          <a:prstGeom prst="rect">
            <a:avLst/>
          </a:prstGeom>
          <a:noFill/>
          <a:ln/>
        </p:spPr>
        <p:txBody>
          <a:bodyPr wrap="square" lIns="508" tIns="508" rIns="508" bIns="508" rtlCol="0" anchor="t"/>
          <a:lstStyle/>
          <a:p>
            <a:pPr algn="l" indent="0" marL="0">
              <a:lnSpc>
                <a:spcPct val="105000"/>
              </a:lnSpc>
              <a:buNone/>
            </a:pPr>
            <a:r>
              <a:rPr lang="en-US" sz="1300" dirty="0">
                <a:solidFill>
                  <a:srgbClr val="5F6368"/>
                </a:solidFill>
                <a:latin typeface="Calibri" pitchFamily="34" charset="0"/>
                <a:ea typeface="Calibri" pitchFamily="34" charset="-122"/>
                <a:cs typeface="Calibri" pitchFamily="34" charset="-120"/>
              </a:rPr>
              <a:t>Agents ask ADK for a model and a tool. The TSDK wrapper routes both to the platform: the AI Bridge and the MCP Tool Registry decide what answers.</a:t>
            </a:r>
            <a:endParaRPr lang="en-US" sz="1300" dirty="0"/>
          </a:p>
        </p:txBody>
      </p:sp>
      <p:sp>
        <p:nvSpPr>
          <p:cNvPr id="4" name="Text 2"/>
          <p:cNvSpPr txBox="1"/>
          <p:nvPr/>
        </p:nvSpPr>
        <p:spPr>
          <a:xfrm>
            <a:off x="548640" y="1874520"/>
            <a:ext cx="2743200" cy="274320"/>
          </a:xfrm>
          <a:prstGeom prst="rect">
            <a:avLst/>
          </a:prstGeom>
          <a:noFill/>
          <a:ln/>
        </p:spPr>
        <p:txBody>
          <a:bodyPr wrap="square" lIns="508" tIns="508" rIns="508" bIns="508" rtlCol="0" anchor="t"/>
          <a:lstStyle/>
          <a:p>
            <a:pPr algn="l" indent="0" marL="0">
              <a:lnSpc>
                <a:spcPct val="105000"/>
              </a:lnSpc>
              <a:buNone/>
            </a:pPr>
            <a:r>
              <a:rPr lang="en-US" sz="1100" b="1" dirty="0">
                <a:solidFill>
                  <a:srgbClr val="C2410C"/>
                </a:solidFill>
                <a:latin typeface="Calibri" pitchFamily="34" charset="0"/>
                <a:ea typeface="Calibri" pitchFamily="34" charset="-122"/>
                <a:cs typeface="Calibri" pitchFamily="34" charset="-120"/>
              </a:rPr>
              <a:t>Models</a:t>
            </a:r>
            <a:endParaRPr lang="en-US" sz="1100" dirty="0"/>
          </a:p>
        </p:txBody>
      </p:sp>
      <p:sp>
        <p:nvSpPr>
          <p:cNvPr id="5" name="Shape 3"/>
          <p:cNvSpPr/>
          <p:nvPr/>
        </p:nvSpPr>
        <p:spPr>
          <a:xfrm>
            <a:off x="548640" y="2240280"/>
            <a:ext cx="1920240" cy="365760"/>
          </a:xfrm>
          <a:prstGeom prst="roundRect">
            <a:avLst>
              <a:gd name="adj" fmla="val 12500"/>
            </a:avLst>
          </a:prstGeom>
          <a:solidFill>
            <a:srgbClr val="1A73E8"/>
          </a:solidFill>
          <a:ln w="12700">
            <a:solidFill>
              <a:srgbClr val="1A73E8"/>
            </a:solidFill>
            <a:prstDash val="solid"/>
          </a:ln>
        </p:spPr>
      </p:sp>
      <p:sp>
        <p:nvSpPr>
          <p:cNvPr id="6" name="Text 4"/>
          <p:cNvSpPr txBox="1"/>
          <p:nvPr/>
        </p:nvSpPr>
        <p:spPr>
          <a:xfrm>
            <a:off x="548640" y="2240280"/>
            <a:ext cx="1920240" cy="365760"/>
          </a:xfrm>
          <a:prstGeom prst="rect">
            <a:avLst/>
          </a:prstGeom>
          <a:noFill/>
          <a:ln/>
        </p:spPr>
        <p:txBody>
          <a:bodyPr wrap="square" lIns="508" tIns="508" rIns="508" bIns="508" rtlCol="0" anchor="ctr"/>
          <a:lstStyle/>
          <a:p>
            <a:pPr algn="ctr" indent="0" marL="0">
              <a:lnSpc>
                <a:spcPct val="105000"/>
              </a:lnSpc>
              <a:buNone/>
            </a:pPr>
            <a:r>
              <a:rPr lang="en-US" sz="900" b="1" dirty="0">
                <a:solidFill>
                  <a:srgbClr val="FFFFFF"/>
                </a:solidFill>
                <a:latin typeface="Calibri" pitchFamily="34" charset="0"/>
                <a:ea typeface="Calibri" pitchFamily="34" charset="-122"/>
                <a:cs typeface="Calibri" pitchFamily="34" charset="-120"/>
              </a:rPr>
              <a:t>Transactions Agent</a:t>
            </a:r>
            <a:endParaRPr lang="en-US" sz="900" dirty="0"/>
          </a:p>
        </p:txBody>
      </p:sp>
      <p:sp>
        <p:nvSpPr>
          <p:cNvPr id="7" name="Shape 5"/>
          <p:cNvSpPr/>
          <p:nvPr/>
        </p:nvSpPr>
        <p:spPr>
          <a:xfrm>
            <a:off x="2468880" y="2423160"/>
            <a:ext cx="1188720" cy="685800"/>
          </a:xfrm>
          <a:prstGeom prst="line">
            <a:avLst/>
          </a:prstGeom>
          <a:noFill/>
          <a:ln w="15875">
            <a:solidFill>
              <a:srgbClr val="1A73E8"/>
            </a:solidFill>
            <a:prstDash val="solid"/>
            <a:tailEnd type="triangle"/>
          </a:ln>
        </p:spPr>
      </p:sp>
      <p:sp>
        <p:nvSpPr>
          <p:cNvPr id="8" name="Shape 6"/>
          <p:cNvSpPr/>
          <p:nvPr/>
        </p:nvSpPr>
        <p:spPr>
          <a:xfrm>
            <a:off x="548640" y="2697480"/>
            <a:ext cx="1920240" cy="365760"/>
          </a:xfrm>
          <a:prstGeom prst="roundRect">
            <a:avLst>
              <a:gd name="adj" fmla="val 12500"/>
            </a:avLst>
          </a:prstGeom>
          <a:solidFill>
            <a:srgbClr val="1A73E8"/>
          </a:solidFill>
          <a:ln w="12700">
            <a:solidFill>
              <a:srgbClr val="1A73E8"/>
            </a:solidFill>
            <a:prstDash val="solid"/>
          </a:ln>
        </p:spPr>
      </p:sp>
      <p:sp>
        <p:nvSpPr>
          <p:cNvPr id="9" name="Text 7"/>
          <p:cNvSpPr txBox="1"/>
          <p:nvPr/>
        </p:nvSpPr>
        <p:spPr>
          <a:xfrm>
            <a:off x="548640" y="2697480"/>
            <a:ext cx="1920240" cy="365760"/>
          </a:xfrm>
          <a:prstGeom prst="rect">
            <a:avLst/>
          </a:prstGeom>
          <a:noFill/>
          <a:ln/>
        </p:spPr>
        <p:txBody>
          <a:bodyPr wrap="square" lIns="508" tIns="508" rIns="508" bIns="508" rtlCol="0" anchor="ctr"/>
          <a:lstStyle/>
          <a:p>
            <a:pPr algn="ctr" indent="0" marL="0">
              <a:lnSpc>
                <a:spcPct val="105000"/>
              </a:lnSpc>
              <a:buNone/>
            </a:pPr>
            <a:r>
              <a:rPr lang="en-US" sz="900" b="1" dirty="0">
                <a:solidFill>
                  <a:srgbClr val="FFFFFF"/>
                </a:solidFill>
                <a:latin typeface="Calibri" pitchFamily="34" charset="0"/>
                <a:ea typeface="Calibri" pitchFamily="34" charset="-122"/>
                <a:cs typeface="Calibri" pitchFamily="34" charset="-120"/>
              </a:rPr>
              <a:t>Card Mgmt Agent</a:t>
            </a:r>
            <a:endParaRPr lang="en-US" sz="900" dirty="0"/>
          </a:p>
        </p:txBody>
      </p:sp>
      <p:sp>
        <p:nvSpPr>
          <p:cNvPr id="10" name="Shape 8"/>
          <p:cNvSpPr/>
          <p:nvPr/>
        </p:nvSpPr>
        <p:spPr>
          <a:xfrm>
            <a:off x="2468880" y="2880360"/>
            <a:ext cx="1188720" cy="228600"/>
          </a:xfrm>
          <a:prstGeom prst="line">
            <a:avLst/>
          </a:prstGeom>
          <a:noFill/>
          <a:ln w="15875">
            <a:solidFill>
              <a:srgbClr val="1A73E8"/>
            </a:solidFill>
            <a:prstDash val="solid"/>
            <a:tailEnd type="triangle"/>
          </a:ln>
        </p:spPr>
      </p:sp>
      <p:sp>
        <p:nvSpPr>
          <p:cNvPr id="11" name="Shape 9"/>
          <p:cNvSpPr/>
          <p:nvPr/>
        </p:nvSpPr>
        <p:spPr>
          <a:xfrm>
            <a:off x="548640" y="3154680"/>
            <a:ext cx="1920240" cy="365760"/>
          </a:xfrm>
          <a:prstGeom prst="roundRect">
            <a:avLst>
              <a:gd name="adj" fmla="val 12500"/>
            </a:avLst>
          </a:prstGeom>
          <a:solidFill>
            <a:srgbClr val="1A73E8"/>
          </a:solidFill>
          <a:ln w="12700">
            <a:solidFill>
              <a:srgbClr val="1A73E8"/>
            </a:solidFill>
            <a:prstDash val="solid"/>
          </a:ln>
        </p:spPr>
      </p:sp>
      <p:sp>
        <p:nvSpPr>
          <p:cNvPr id="12" name="Text 10"/>
          <p:cNvSpPr txBox="1"/>
          <p:nvPr/>
        </p:nvSpPr>
        <p:spPr>
          <a:xfrm>
            <a:off x="548640" y="3154680"/>
            <a:ext cx="1920240" cy="365760"/>
          </a:xfrm>
          <a:prstGeom prst="rect">
            <a:avLst/>
          </a:prstGeom>
          <a:noFill/>
          <a:ln/>
        </p:spPr>
        <p:txBody>
          <a:bodyPr wrap="square" lIns="508" tIns="508" rIns="508" bIns="508" rtlCol="0" anchor="ctr"/>
          <a:lstStyle/>
          <a:p>
            <a:pPr algn="ctr" indent="0" marL="0">
              <a:lnSpc>
                <a:spcPct val="105000"/>
              </a:lnSpc>
              <a:buNone/>
            </a:pPr>
            <a:r>
              <a:rPr lang="en-US" sz="900" b="1" dirty="0">
                <a:solidFill>
                  <a:srgbClr val="FFFFFF"/>
                </a:solidFill>
                <a:latin typeface="Calibri" pitchFamily="34" charset="0"/>
                <a:ea typeface="Calibri" pitchFamily="34" charset="-122"/>
                <a:cs typeface="Calibri" pitchFamily="34" charset="-120"/>
              </a:rPr>
              <a:t>Spending Agent</a:t>
            </a:r>
            <a:endParaRPr lang="en-US" sz="900" dirty="0"/>
          </a:p>
        </p:txBody>
      </p:sp>
      <p:sp>
        <p:nvSpPr>
          <p:cNvPr id="13" name="Shape 11"/>
          <p:cNvSpPr/>
          <p:nvPr/>
        </p:nvSpPr>
        <p:spPr>
          <a:xfrm flipV="1">
            <a:off x="2468880" y="3108960"/>
            <a:ext cx="1188720" cy="228600"/>
          </a:xfrm>
          <a:prstGeom prst="line">
            <a:avLst/>
          </a:prstGeom>
          <a:noFill/>
          <a:ln w="15875">
            <a:solidFill>
              <a:srgbClr val="1A73E8"/>
            </a:solidFill>
            <a:prstDash val="solid"/>
            <a:tailEnd type="triangle"/>
          </a:ln>
        </p:spPr>
      </p:sp>
      <p:sp>
        <p:nvSpPr>
          <p:cNvPr id="14" name="Shape 12"/>
          <p:cNvSpPr/>
          <p:nvPr/>
        </p:nvSpPr>
        <p:spPr>
          <a:xfrm>
            <a:off x="548640" y="3611880"/>
            <a:ext cx="1920240" cy="365760"/>
          </a:xfrm>
          <a:prstGeom prst="roundRect">
            <a:avLst>
              <a:gd name="adj" fmla="val 12500"/>
            </a:avLst>
          </a:prstGeom>
          <a:solidFill>
            <a:srgbClr val="1A73E8"/>
          </a:solidFill>
          <a:ln w="12700">
            <a:solidFill>
              <a:srgbClr val="1A73E8"/>
            </a:solidFill>
            <a:prstDash val="solid"/>
          </a:ln>
        </p:spPr>
      </p:sp>
      <p:sp>
        <p:nvSpPr>
          <p:cNvPr id="15" name="Text 13"/>
          <p:cNvSpPr txBox="1"/>
          <p:nvPr/>
        </p:nvSpPr>
        <p:spPr>
          <a:xfrm>
            <a:off x="548640" y="3611880"/>
            <a:ext cx="1920240" cy="365760"/>
          </a:xfrm>
          <a:prstGeom prst="rect">
            <a:avLst/>
          </a:prstGeom>
          <a:noFill/>
          <a:ln/>
        </p:spPr>
        <p:txBody>
          <a:bodyPr wrap="square" lIns="508" tIns="508" rIns="508" bIns="508" rtlCol="0" anchor="ctr"/>
          <a:lstStyle/>
          <a:p>
            <a:pPr algn="ctr" indent="0" marL="0">
              <a:lnSpc>
                <a:spcPct val="105000"/>
              </a:lnSpc>
              <a:buNone/>
            </a:pPr>
            <a:r>
              <a:rPr lang="en-US" sz="900" b="1" dirty="0">
                <a:solidFill>
                  <a:srgbClr val="FFFFFF"/>
                </a:solidFill>
                <a:latin typeface="Calibri" pitchFamily="34" charset="0"/>
                <a:ea typeface="Calibri" pitchFamily="34" charset="-122"/>
                <a:cs typeface="Calibri" pitchFamily="34" charset="-120"/>
              </a:rPr>
              <a:t>Answer Hub Agent</a:t>
            </a:r>
            <a:endParaRPr lang="en-US" sz="900" dirty="0"/>
          </a:p>
        </p:txBody>
      </p:sp>
      <p:sp>
        <p:nvSpPr>
          <p:cNvPr id="16" name="Shape 14"/>
          <p:cNvSpPr/>
          <p:nvPr/>
        </p:nvSpPr>
        <p:spPr>
          <a:xfrm flipV="1">
            <a:off x="2468880" y="3108960"/>
            <a:ext cx="1188720" cy="685800"/>
          </a:xfrm>
          <a:prstGeom prst="line">
            <a:avLst/>
          </a:prstGeom>
          <a:noFill/>
          <a:ln w="15875">
            <a:solidFill>
              <a:srgbClr val="1A73E8"/>
            </a:solidFill>
            <a:prstDash val="solid"/>
            <a:tailEnd type="triangle"/>
          </a:ln>
        </p:spPr>
      </p:sp>
      <p:sp>
        <p:nvSpPr>
          <p:cNvPr id="17" name="Text 15"/>
          <p:cNvSpPr txBox="1"/>
          <p:nvPr/>
        </p:nvSpPr>
        <p:spPr>
          <a:xfrm>
            <a:off x="548640" y="4069080"/>
            <a:ext cx="2194560" cy="274320"/>
          </a:xfrm>
          <a:prstGeom prst="rect">
            <a:avLst/>
          </a:prstGeom>
          <a:noFill/>
          <a:ln/>
        </p:spPr>
        <p:txBody>
          <a:bodyPr wrap="square" lIns="508" tIns="508" rIns="508" bIns="508" rtlCol="0" anchor="t"/>
          <a:lstStyle/>
          <a:p>
            <a:pPr algn="l" indent="0" marL="0">
              <a:lnSpc>
                <a:spcPct val="105000"/>
              </a:lnSpc>
              <a:buNone/>
            </a:pPr>
            <a:r>
              <a:rPr lang="en-US" sz="800" i="1" dirty="0">
                <a:solidFill>
                  <a:srgbClr val="174EA6"/>
                </a:solidFill>
                <a:latin typeface="Calibri" pitchFamily="34" charset="0"/>
                <a:ea typeface="Calibri" pitchFamily="34" charset="-122"/>
                <a:cs typeface="Calibri" pitchFamily="34" charset="-120"/>
              </a:rPr>
              <a:t>TSDK agents  ·  ADK LlmAgent inside</a:t>
            </a:r>
            <a:endParaRPr lang="en-US" sz="800" dirty="0"/>
          </a:p>
        </p:txBody>
      </p:sp>
      <p:sp>
        <p:nvSpPr>
          <p:cNvPr id="18" name="Shape 16"/>
          <p:cNvSpPr/>
          <p:nvPr/>
        </p:nvSpPr>
        <p:spPr>
          <a:xfrm>
            <a:off x="3657600" y="2240280"/>
            <a:ext cx="3017520" cy="1737360"/>
          </a:xfrm>
          <a:prstGeom prst="roundRect">
            <a:avLst>
              <a:gd name="adj" fmla="val 5263"/>
            </a:avLst>
          </a:prstGeom>
          <a:solidFill>
            <a:srgbClr val="1B1F3B"/>
          </a:solidFill>
          <a:ln w="12700">
            <a:solidFill>
              <a:srgbClr val="1B1F3B"/>
            </a:solidFill>
            <a:prstDash val="solid"/>
          </a:ln>
        </p:spPr>
      </p:sp>
      <p:sp>
        <p:nvSpPr>
          <p:cNvPr id="19" name="Text 17"/>
          <p:cNvSpPr txBox="1"/>
          <p:nvPr/>
        </p:nvSpPr>
        <p:spPr>
          <a:xfrm>
            <a:off x="3794760" y="2331720"/>
            <a:ext cx="2743200" cy="274320"/>
          </a:xfrm>
          <a:prstGeom prst="rect">
            <a:avLst/>
          </a:prstGeom>
          <a:noFill/>
          <a:ln/>
        </p:spPr>
        <p:txBody>
          <a:bodyPr wrap="square" lIns="508" tIns="508" rIns="508" bIns="508" rtlCol="0" anchor="t"/>
          <a:lstStyle/>
          <a:p>
            <a:pPr algn="l" indent="0" marL="0">
              <a:lnSpc>
                <a:spcPct val="105000"/>
              </a:lnSpc>
              <a:buNone/>
            </a:pPr>
            <a:r>
              <a:rPr lang="en-US" sz="1050" b="1" dirty="0">
                <a:solidFill>
                  <a:srgbClr val="FFFFFF"/>
                </a:solidFill>
                <a:latin typeface="Calibri" pitchFamily="34" charset="0"/>
                <a:ea typeface="Calibri" pitchFamily="34" charset="-122"/>
                <a:cs typeface="Calibri" pitchFamily="34" charset="-120"/>
              </a:rPr>
              <a:t>Tachyon AI Bridge</a:t>
            </a:r>
            <a:endParaRPr lang="en-US" sz="1050" dirty="0"/>
          </a:p>
        </p:txBody>
      </p:sp>
      <p:sp>
        <p:nvSpPr>
          <p:cNvPr id="20" name="Text 18"/>
          <p:cNvSpPr txBox="1"/>
          <p:nvPr/>
        </p:nvSpPr>
        <p:spPr>
          <a:xfrm>
            <a:off x="3794760" y="2624328"/>
            <a:ext cx="2788920" cy="1325880"/>
          </a:xfrm>
          <a:prstGeom prst="rect">
            <a:avLst/>
          </a:prstGeom>
          <a:noFill/>
          <a:ln/>
        </p:spPr>
        <p:txBody>
          <a:bodyPr wrap="square" lIns="508" tIns="508" rIns="508" bIns="508" rtlCol="0" anchor="t"/>
          <a:lstStyle/>
          <a:p>
            <a:pPr algn="l" marL="127000" indent="-127000">
              <a:lnSpc>
                <a:spcPct val="105000"/>
              </a:lnSpc>
              <a:spcAft>
                <a:spcPts val="200"/>
              </a:spcAft>
              <a:buSzPct val="100000"/>
              <a:buChar char="•"/>
            </a:pPr>
            <a:r>
              <a:rPr lang="en-US" sz="850" dirty="0">
                <a:solidFill>
                  <a:srgbClr val="DCE1EA"/>
                </a:solidFill>
                <a:latin typeface="Calibri" pitchFamily="34" charset="0"/>
                <a:ea typeface="Calibri" pitchFamily="34" charset="-122"/>
                <a:cs typeface="Calibri" pitchFamily="34" charset="-120"/>
              </a:rPr>
              <a:t>Registry.yml — model per agent, temp / top-P / tokens</a:t>
            </a:r>
            <a:endParaRPr lang="en-US" sz="850" dirty="0"/>
          </a:p>
          <a:p>
            <a:pPr algn="l" marL="127000" indent="-127000">
              <a:lnSpc>
                <a:spcPct val="105000"/>
              </a:lnSpc>
              <a:spcAft>
                <a:spcPts val="200"/>
              </a:spcAft>
              <a:buSzPct val="100000"/>
              <a:buChar char="•"/>
            </a:pPr>
            <a:r>
              <a:rPr lang="en-US" sz="850" dirty="0">
                <a:solidFill>
                  <a:srgbClr val="DCE1EA"/>
                </a:solidFill>
                <a:latin typeface="Calibri" pitchFamily="34" charset="0"/>
                <a:ea typeface="Calibri" pitchFamily="34" charset="-122"/>
                <a:cs typeface="Calibri" pitchFamily="34" charset="-120"/>
              </a:rPr>
              <a:t>Resiliency — retry &amp; failover on 429/503</a:t>
            </a:r>
            <a:endParaRPr lang="en-US" sz="850" dirty="0"/>
          </a:p>
          <a:p>
            <a:pPr algn="l" marL="127000" indent="-127000">
              <a:lnSpc>
                <a:spcPct val="105000"/>
              </a:lnSpc>
              <a:spcAft>
                <a:spcPts val="200"/>
              </a:spcAft>
              <a:buSzPct val="100000"/>
              <a:buChar char="•"/>
            </a:pPr>
            <a:r>
              <a:rPr lang="en-US" sz="850" dirty="0">
                <a:solidFill>
                  <a:srgbClr val="DCE1EA"/>
                </a:solidFill>
                <a:latin typeface="Calibri" pitchFamily="34" charset="0"/>
                <a:ea typeface="Calibri" pitchFamily="34" charset="-122"/>
                <a:cs typeface="Calibri" pitchFamily="34" charset="-120"/>
              </a:rPr>
              <a:t>Adaptive pairing — right model per task</a:t>
            </a:r>
            <a:endParaRPr lang="en-US" sz="850" dirty="0"/>
          </a:p>
          <a:p>
            <a:pPr algn="l" marL="127000" indent="-127000">
              <a:lnSpc>
                <a:spcPct val="105000"/>
              </a:lnSpc>
              <a:spcAft>
                <a:spcPts val="200"/>
              </a:spcAft>
              <a:buSzPct val="100000"/>
              <a:buChar char="•"/>
            </a:pPr>
            <a:r>
              <a:rPr lang="en-US" sz="850" dirty="0">
                <a:solidFill>
                  <a:srgbClr val="DCE1EA"/>
                </a:solidFill>
                <a:latin typeface="Calibri" pitchFamily="34" charset="0"/>
                <a:ea typeface="Calibri" pitchFamily="34" charset="-122"/>
                <a:cs typeface="Calibri" pitchFamily="34" charset="-120"/>
              </a:rPr>
              <a:t>Model fusion — blend outputs into one answer</a:t>
            </a:r>
            <a:endParaRPr lang="en-US" sz="850" dirty="0"/>
          </a:p>
        </p:txBody>
      </p:sp>
      <p:sp>
        <p:nvSpPr>
          <p:cNvPr id="21" name="Shape 19"/>
          <p:cNvSpPr/>
          <p:nvPr/>
        </p:nvSpPr>
        <p:spPr>
          <a:xfrm>
            <a:off x="7863840" y="2240280"/>
            <a:ext cx="1737360" cy="365760"/>
          </a:xfrm>
          <a:prstGeom prst="roundRect">
            <a:avLst>
              <a:gd name="adj" fmla="val 12500"/>
            </a:avLst>
          </a:prstGeom>
          <a:solidFill>
            <a:srgbClr val="1E8E3E"/>
          </a:solidFill>
          <a:ln w="12700">
            <a:solidFill>
              <a:srgbClr val="1E8E3E"/>
            </a:solidFill>
            <a:prstDash val="solid"/>
          </a:ln>
        </p:spPr>
      </p:sp>
      <p:sp>
        <p:nvSpPr>
          <p:cNvPr id="22" name="Text 20"/>
          <p:cNvSpPr txBox="1"/>
          <p:nvPr/>
        </p:nvSpPr>
        <p:spPr>
          <a:xfrm>
            <a:off x="7863840" y="2240280"/>
            <a:ext cx="1737360" cy="365760"/>
          </a:xfrm>
          <a:prstGeom prst="rect">
            <a:avLst/>
          </a:prstGeom>
          <a:noFill/>
          <a:ln/>
        </p:spPr>
        <p:txBody>
          <a:bodyPr wrap="square" lIns="508" tIns="508" rIns="508" bIns="508" rtlCol="0" anchor="ctr"/>
          <a:lstStyle/>
          <a:p>
            <a:pPr algn="ctr" indent="0" marL="0">
              <a:lnSpc>
                <a:spcPct val="105000"/>
              </a:lnSpc>
              <a:buNone/>
            </a:pPr>
            <a:r>
              <a:rPr lang="en-US" sz="900" b="1" dirty="0">
                <a:solidFill>
                  <a:srgbClr val="FFFFFF"/>
                </a:solidFill>
                <a:latin typeface="Calibri" pitchFamily="34" charset="0"/>
                <a:ea typeface="Calibri" pitchFamily="34" charset="-122"/>
                <a:cs typeface="Calibri" pitchFamily="34" charset="-120"/>
              </a:rPr>
              <a:t>Gemini</a:t>
            </a:r>
            <a:endParaRPr lang="en-US" sz="900" dirty="0"/>
          </a:p>
        </p:txBody>
      </p:sp>
      <p:sp>
        <p:nvSpPr>
          <p:cNvPr id="23" name="Shape 21"/>
          <p:cNvSpPr/>
          <p:nvPr/>
        </p:nvSpPr>
        <p:spPr>
          <a:xfrm flipV="1">
            <a:off x="6675120" y="2423160"/>
            <a:ext cx="1188720" cy="685800"/>
          </a:xfrm>
          <a:prstGeom prst="line">
            <a:avLst/>
          </a:prstGeom>
          <a:noFill/>
          <a:ln w="15875">
            <a:solidFill>
              <a:srgbClr val="C2410C"/>
            </a:solidFill>
            <a:prstDash val="solid"/>
            <a:tailEnd type="triangle"/>
          </a:ln>
        </p:spPr>
      </p:sp>
      <p:sp>
        <p:nvSpPr>
          <p:cNvPr id="24" name="Shape 22"/>
          <p:cNvSpPr/>
          <p:nvPr/>
        </p:nvSpPr>
        <p:spPr>
          <a:xfrm>
            <a:off x="7863840" y="2697480"/>
            <a:ext cx="1737360" cy="365760"/>
          </a:xfrm>
          <a:prstGeom prst="roundRect">
            <a:avLst>
              <a:gd name="adj" fmla="val 12500"/>
            </a:avLst>
          </a:prstGeom>
          <a:solidFill>
            <a:srgbClr val="174EA6"/>
          </a:solidFill>
          <a:ln w="12700">
            <a:solidFill>
              <a:srgbClr val="174EA6"/>
            </a:solidFill>
            <a:prstDash val="solid"/>
          </a:ln>
        </p:spPr>
      </p:sp>
      <p:sp>
        <p:nvSpPr>
          <p:cNvPr id="25" name="Text 23"/>
          <p:cNvSpPr txBox="1"/>
          <p:nvPr/>
        </p:nvSpPr>
        <p:spPr>
          <a:xfrm>
            <a:off x="7863840" y="2697480"/>
            <a:ext cx="1737360" cy="365760"/>
          </a:xfrm>
          <a:prstGeom prst="rect">
            <a:avLst/>
          </a:prstGeom>
          <a:noFill/>
          <a:ln/>
        </p:spPr>
        <p:txBody>
          <a:bodyPr wrap="square" lIns="508" tIns="508" rIns="508" bIns="508" rtlCol="0" anchor="ctr"/>
          <a:lstStyle/>
          <a:p>
            <a:pPr algn="ctr" indent="0" marL="0">
              <a:lnSpc>
                <a:spcPct val="105000"/>
              </a:lnSpc>
              <a:buNone/>
            </a:pPr>
            <a:r>
              <a:rPr lang="en-US" sz="900" b="1" dirty="0">
                <a:solidFill>
                  <a:srgbClr val="FFFFFF"/>
                </a:solidFill>
                <a:latin typeface="Calibri" pitchFamily="34" charset="0"/>
                <a:ea typeface="Calibri" pitchFamily="34" charset="-122"/>
                <a:cs typeface="Calibri" pitchFamily="34" charset="-120"/>
              </a:rPr>
              <a:t>GPT-4o</a:t>
            </a:r>
            <a:endParaRPr lang="en-US" sz="900" dirty="0"/>
          </a:p>
        </p:txBody>
      </p:sp>
      <p:sp>
        <p:nvSpPr>
          <p:cNvPr id="26" name="Shape 24"/>
          <p:cNvSpPr/>
          <p:nvPr/>
        </p:nvSpPr>
        <p:spPr>
          <a:xfrm flipV="1">
            <a:off x="6675120" y="2880360"/>
            <a:ext cx="1188720" cy="228600"/>
          </a:xfrm>
          <a:prstGeom prst="line">
            <a:avLst/>
          </a:prstGeom>
          <a:noFill/>
          <a:ln w="15875">
            <a:solidFill>
              <a:srgbClr val="C2410C"/>
            </a:solidFill>
            <a:prstDash val="solid"/>
            <a:tailEnd type="triangle"/>
          </a:ln>
        </p:spPr>
      </p:sp>
      <p:sp>
        <p:nvSpPr>
          <p:cNvPr id="27" name="Shape 25"/>
          <p:cNvSpPr/>
          <p:nvPr/>
        </p:nvSpPr>
        <p:spPr>
          <a:xfrm>
            <a:off x="7863840" y="3154680"/>
            <a:ext cx="1737360" cy="365760"/>
          </a:xfrm>
          <a:prstGeom prst="roundRect">
            <a:avLst>
              <a:gd name="adj" fmla="val 12500"/>
            </a:avLst>
          </a:prstGeom>
          <a:solidFill>
            <a:srgbClr val="C2410C"/>
          </a:solidFill>
          <a:ln w="12700">
            <a:solidFill>
              <a:srgbClr val="C2410C"/>
            </a:solidFill>
            <a:prstDash val="solid"/>
          </a:ln>
        </p:spPr>
      </p:sp>
      <p:sp>
        <p:nvSpPr>
          <p:cNvPr id="28" name="Text 26"/>
          <p:cNvSpPr txBox="1"/>
          <p:nvPr/>
        </p:nvSpPr>
        <p:spPr>
          <a:xfrm>
            <a:off x="7863840" y="3154680"/>
            <a:ext cx="1737360" cy="365760"/>
          </a:xfrm>
          <a:prstGeom prst="rect">
            <a:avLst/>
          </a:prstGeom>
          <a:noFill/>
          <a:ln/>
        </p:spPr>
        <p:txBody>
          <a:bodyPr wrap="square" lIns="508" tIns="508" rIns="508" bIns="508" rtlCol="0" anchor="ctr"/>
          <a:lstStyle/>
          <a:p>
            <a:pPr algn="ctr" indent="0" marL="0">
              <a:lnSpc>
                <a:spcPct val="105000"/>
              </a:lnSpc>
              <a:buNone/>
            </a:pPr>
            <a:r>
              <a:rPr lang="en-US" sz="900" b="1" dirty="0">
                <a:solidFill>
                  <a:srgbClr val="FFFFFF"/>
                </a:solidFill>
                <a:latin typeface="Calibri" pitchFamily="34" charset="0"/>
                <a:ea typeface="Calibri" pitchFamily="34" charset="-122"/>
                <a:cs typeface="Calibri" pitchFamily="34" charset="-120"/>
              </a:rPr>
              <a:t>Claude</a:t>
            </a:r>
            <a:endParaRPr lang="en-US" sz="900" dirty="0"/>
          </a:p>
        </p:txBody>
      </p:sp>
      <p:sp>
        <p:nvSpPr>
          <p:cNvPr id="29" name="Shape 27"/>
          <p:cNvSpPr/>
          <p:nvPr/>
        </p:nvSpPr>
        <p:spPr>
          <a:xfrm>
            <a:off x="6675120" y="3108960"/>
            <a:ext cx="1188720" cy="228600"/>
          </a:xfrm>
          <a:prstGeom prst="line">
            <a:avLst/>
          </a:prstGeom>
          <a:noFill/>
          <a:ln w="15875">
            <a:solidFill>
              <a:srgbClr val="C2410C"/>
            </a:solidFill>
            <a:prstDash val="solid"/>
            <a:tailEnd type="triangle"/>
          </a:ln>
        </p:spPr>
      </p:sp>
      <p:sp>
        <p:nvSpPr>
          <p:cNvPr id="30" name="Shape 28"/>
          <p:cNvSpPr/>
          <p:nvPr/>
        </p:nvSpPr>
        <p:spPr>
          <a:xfrm>
            <a:off x="7863840" y="3611880"/>
            <a:ext cx="1737360" cy="365760"/>
          </a:xfrm>
          <a:prstGeom prst="roundRect">
            <a:avLst>
              <a:gd name="adj" fmla="val 12500"/>
            </a:avLst>
          </a:prstGeom>
          <a:solidFill>
            <a:srgbClr val="B06000"/>
          </a:solidFill>
          <a:ln w="12700">
            <a:solidFill>
              <a:srgbClr val="B06000"/>
            </a:solidFill>
            <a:prstDash val="solid"/>
          </a:ln>
        </p:spPr>
      </p:sp>
      <p:sp>
        <p:nvSpPr>
          <p:cNvPr id="31" name="Text 29"/>
          <p:cNvSpPr txBox="1"/>
          <p:nvPr/>
        </p:nvSpPr>
        <p:spPr>
          <a:xfrm>
            <a:off x="7863840" y="3611880"/>
            <a:ext cx="1737360" cy="365760"/>
          </a:xfrm>
          <a:prstGeom prst="rect">
            <a:avLst/>
          </a:prstGeom>
          <a:noFill/>
          <a:ln/>
        </p:spPr>
        <p:txBody>
          <a:bodyPr wrap="square" lIns="508" tIns="508" rIns="508" bIns="508" rtlCol="0" anchor="ctr"/>
          <a:lstStyle/>
          <a:p>
            <a:pPr algn="ctr" indent="0" marL="0">
              <a:lnSpc>
                <a:spcPct val="105000"/>
              </a:lnSpc>
              <a:buNone/>
            </a:pPr>
            <a:r>
              <a:rPr lang="en-US" sz="900" b="1" dirty="0">
                <a:solidFill>
                  <a:srgbClr val="FFFFFF"/>
                </a:solidFill>
                <a:latin typeface="Calibri" pitchFamily="34" charset="0"/>
                <a:ea typeface="Calibri" pitchFamily="34" charset="-122"/>
                <a:cs typeface="Calibri" pitchFamily="34" charset="-120"/>
              </a:rPr>
              <a:t>Gemma / OSS</a:t>
            </a:r>
            <a:endParaRPr lang="en-US" sz="900" dirty="0"/>
          </a:p>
        </p:txBody>
      </p:sp>
      <p:sp>
        <p:nvSpPr>
          <p:cNvPr id="32" name="Shape 30"/>
          <p:cNvSpPr/>
          <p:nvPr/>
        </p:nvSpPr>
        <p:spPr>
          <a:xfrm>
            <a:off x="6675120" y="3108960"/>
            <a:ext cx="1188720" cy="685800"/>
          </a:xfrm>
          <a:prstGeom prst="line">
            <a:avLst/>
          </a:prstGeom>
          <a:noFill/>
          <a:ln w="15875">
            <a:solidFill>
              <a:srgbClr val="C2410C"/>
            </a:solidFill>
            <a:prstDash val="solid"/>
            <a:tailEnd type="triangle"/>
          </a:ln>
        </p:spPr>
      </p:sp>
      <p:sp>
        <p:nvSpPr>
          <p:cNvPr id="33" name="Shape 31"/>
          <p:cNvSpPr/>
          <p:nvPr/>
        </p:nvSpPr>
        <p:spPr>
          <a:xfrm>
            <a:off x="9829800" y="2240280"/>
            <a:ext cx="1783080" cy="1737360"/>
          </a:xfrm>
          <a:prstGeom prst="roundRect">
            <a:avLst>
              <a:gd name="adj" fmla="val 4211"/>
            </a:avLst>
          </a:prstGeom>
          <a:solidFill>
            <a:srgbClr val="FDEEE4"/>
          </a:solidFill>
          <a:ln w="12700">
            <a:solidFill>
              <a:srgbClr val="FDEEE4"/>
            </a:solidFill>
            <a:prstDash val="solid"/>
          </a:ln>
        </p:spPr>
      </p:sp>
      <p:sp>
        <p:nvSpPr>
          <p:cNvPr id="34" name="Text 32"/>
          <p:cNvSpPr txBox="1"/>
          <p:nvPr/>
        </p:nvSpPr>
        <p:spPr>
          <a:xfrm>
            <a:off x="9921240" y="2313432"/>
            <a:ext cx="1645920" cy="274320"/>
          </a:xfrm>
          <a:prstGeom prst="rect">
            <a:avLst/>
          </a:prstGeom>
          <a:noFill/>
          <a:ln/>
        </p:spPr>
        <p:txBody>
          <a:bodyPr wrap="square" lIns="508" tIns="508" rIns="508" bIns="508" rtlCol="0" anchor="t"/>
          <a:lstStyle/>
          <a:p>
            <a:pPr algn="l" indent="0" marL="0">
              <a:lnSpc>
                <a:spcPct val="105000"/>
              </a:lnSpc>
              <a:buNone/>
            </a:pPr>
            <a:r>
              <a:rPr lang="en-US" sz="950" b="1" dirty="0">
                <a:solidFill>
                  <a:srgbClr val="174EA6"/>
                </a:solidFill>
                <a:latin typeface="Calibri" pitchFamily="34" charset="0"/>
                <a:ea typeface="Calibri" pitchFamily="34" charset="-122"/>
                <a:cs typeface="Calibri" pitchFamily="34" charset="-120"/>
              </a:rPr>
              <a:t>ADK's role</a:t>
            </a:r>
            <a:endParaRPr lang="en-US" sz="950" dirty="0"/>
          </a:p>
        </p:txBody>
      </p:sp>
      <p:sp>
        <p:nvSpPr>
          <p:cNvPr id="35" name="Text 33"/>
          <p:cNvSpPr txBox="1"/>
          <p:nvPr/>
        </p:nvSpPr>
        <p:spPr>
          <a:xfrm>
            <a:off x="9921240" y="2587752"/>
            <a:ext cx="1627632" cy="1371600"/>
          </a:xfrm>
          <a:prstGeom prst="rect">
            <a:avLst/>
          </a:prstGeom>
          <a:noFill/>
          <a:ln/>
        </p:spPr>
        <p:txBody>
          <a:bodyPr wrap="square" lIns="508" tIns="508" rIns="508" bIns="508" rtlCol="0" anchor="t"/>
          <a:lstStyle/>
          <a:p>
            <a:pPr algn="l" indent="0" marL="0">
              <a:lnSpc>
                <a:spcPct val="105000"/>
              </a:lnSpc>
              <a:buNone/>
            </a:pPr>
            <a:r>
              <a:rPr lang="en-US" sz="850" dirty="0">
                <a:solidFill>
                  <a:srgbClr val="5F6368"/>
                </a:solidFill>
                <a:latin typeface="Calibri" pitchFamily="34" charset="0"/>
                <a:ea typeface="Calibri" pitchFamily="34" charset="-122"/>
                <a:cs typeface="Calibri" pitchFamily="34" charset="-120"/>
              </a:rPr>
              <a:t>The ADK agent declares a model; the TSDK wrapper routes generate() to the Bridge. The agent never knows which vendor answered.</a:t>
            </a:r>
            <a:endParaRPr lang="en-US" sz="850" dirty="0"/>
          </a:p>
        </p:txBody>
      </p:sp>
      <p:sp>
        <p:nvSpPr>
          <p:cNvPr id="36" name="Text 34"/>
          <p:cNvSpPr txBox="1"/>
          <p:nvPr/>
        </p:nvSpPr>
        <p:spPr>
          <a:xfrm>
            <a:off x="548640" y="4343400"/>
            <a:ext cx="2743200" cy="274320"/>
          </a:xfrm>
          <a:prstGeom prst="rect">
            <a:avLst/>
          </a:prstGeom>
          <a:noFill/>
          <a:ln/>
        </p:spPr>
        <p:txBody>
          <a:bodyPr wrap="square" lIns="508" tIns="508" rIns="508" bIns="508" rtlCol="0" anchor="t"/>
          <a:lstStyle/>
          <a:p>
            <a:pPr algn="l" indent="0" marL="0">
              <a:lnSpc>
                <a:spcPct val="105000"/>
              </a:lnSpc>
              <a:buNone/>
            </a:pPr>
            <a:r>
              <a:rPr lang="en-US" sz="1100" b="1" dirty="0">
                <a:solidFill>
                  <a:srgbClr val="6B4C9A"/>
                </a:solidFill>
                <a:latin typeface="Calibri" pitchFamily="34" charset="0"/>
                <a:ea typeface="Calibri" pitchFamily="34" charset="-122"/>
                <a:cs typeface="Calibri" pitchFamily="34" charset="-120"/>
              </a:rPr>
              <a:t>Tools</a:t>
            </a:r>
            <a:endParaRPr lang="en-US" sz="1100" dirty="0"/>
          </a:p>
        </p:txBody>
      </p:sp>
      <p:sp>
        <p:nvSpPr>
          <p:cNvPr id="37" name="Shape 35"/>
          <p:cNvSpPr/>
          <p:nvPr/>
        </p:nvSpPr>
        <p:spPr>
          <a:xfrm>
            <a:off x="548640" y="4709160"/>
            <a:ext cx="1920240" cy="1234440"/>
          </a:xfrm>
          <a:prstGeom prst="roundRect">
            <a:avLst>
              <a:gd name="adj" fmla="val 5185"/>
            </a:avLst>
          </a:prstGeom>
          <a:solidFill>
            <a:srgbClr val="1A73E8"/>
          </a:solidFill>
          <a:ln w="12700">
            <a:solidFill>
              <a:srgbClr val="1A73E8"/>
            </a:solidFill>
            <a:prstDash val="solid"/>
          </a:ln>
        </p:spPr>
      </p:sp>
      <p:sp>
        <p:nvSpPr>
          <p:cNvPr id="38" name="Text 36"/>
          <p:cNvSpPr txBox="1"/>
          <p:nvPr/>
        </p:nvSpPr>
        <p:spPr>
          <a:xfrm>
            <a:off x="548640" y="4709160"/>
            <a:ext cx="1920240" cy="1234440"/>
          </a:xfrm>
          <a:prstGeom prst="rect">
            <a:avLst/>
          </a:prstGeom>
          <a:noFill/>
          <a:ln/>
        </p:spPr>
        <p:txBody>
          <a:bodyPr wrap="square" lIns="508" tIns="508" rIns="508" bIns="508" rtlCol="0" anchor="ctr"/>
          <a:lstStyle/>
          <a:p>
            <a:pPr algn="ctr" indent="0" marL="0">
              <a:lnSpc>
                <a:spcPct val="105000"/>
              </a:lnSpc>
              <a:buNone/>
            </a:pPr>
            <a:r>
              <a:rPr lang="en-US" sz="900" b="1" dirty="0">
                <a:solidFill>
                  <a:srgbClr val="FFFFFF"/>
                </a:solidFill>
                <a:latin typeface="Calibri" pitchFamily="34" charset="0"/>
                <a:ea typeface="Calibri" pitchFamily="34" charset="-122"/>
                <a:cs typeface="Calibri" pitchFamily="34" charset="-120"/>
              </a:rPr>
              <a:t>Specialized Agent</a:t>
            </a:r>
            <a:endParaRPr lang="en-US" sz="900" dirty="0"/>
          </a:p>
          <a:p>
            <a:pPr algn="ctr" indent="0" marL="0">
              <a:lnSpc>
                <a:spcPct val="105000"/>
              </a:lnSpc>
              <a:buNone/>
            </a:pPr>
            <a:endParaRPr lang="en-US" sz="900" dirty="0"/>
          </a:p>
          <a:p>
            <a:pPr algn="ctr" indent="0" marL="0">
              <a:lnSpc>
                <a:spcPct val="105000"/>
              </a:lnSpc>
              <a:buNone/>
            </a:pPr>
            <a:r>
              <a:rPr lang="en-US" sz="900" b="1" dirty="0">
                <a:solidFill>
                  <a:srgbClr val="FFFFFF"/>
                </a:solidFill>
                <a:latin typeface="Calibri" pitchFamily="34" charset="0"/>
                <a:ea typeface="Calibri" pitchFamily="34" charset="-122"/>
                <a:cs typeface="Calibri" pitchFamily="34" charset="-120"/>
              </a:rPr>
              <a:t>ADK MCPToolset</a:t>
            </a:r>
            <a:endParaRPr lang="en-US" sz="900" dirty="0"/>
          </a:p>
          <a:p>
            <a:pPr algn="ctr" indent="0" marL="0">
              <a:lnSpc>
                <a:spcPct val="105000"/>
              </a:lnSpc>
              <a:buNone/>
            </a:pPr>
            <a:r>
              <a:rPr lang="en-US" sz="900" b="1" dirty="0">
                <a:solidFill>
                  <a:srgbClr val="FFFFFF"/>
                </a:solidFill>
                <a:latin typeface="Calibri" pitchFamily="34" charset="0"/>
                <a:ea typeface="Calibri" pitchFamily="34" charset="-122"/>
                <a:cs typeface="Calibri" pitchFamily="34" charset="-120"/>
              </a:rPr>
              <a:t>list_tools → call_tool</a:t>
            </a:r>
            <a:endParaRPr lang="en-US" sz="900" dirty="0"/>
          </a:p>
        </p:txBody>
      </p:sp>
      <p:sp>
        <p:nvSpPr>
          <p:cNvPr id="39" name="Shape 37"/>
          <p:cNvSpPr/>
          <p:nvPr/>
        </p:nvSpPr>
        <p:spPr>
          <a:xfrm>
            <a:off x="2468880" y="5321808"/>
            <a:ext cx="1188720" cy="914"/>
          </a:xfrm>
          <a:prstGeom prst="line">
            <a:avLst/>
          </a:prstGeom>
          <a:noFill/>
          <a:ln w="19050">
            <a:solidFill>
              <a:srgbClr val="6B4C9A"/>
            </a:solidFill>
            <a:prstDash val="solid"/>
            <a:tailEnd type="triangle"/>
          </a:ln>
        </p:spPr>
      </p:sp>
      <p:sp>
        <p:nvSpPr>
          <p:cNvPr id="40" name="Text 38"/>
          <p:cNvSpPr txBox="1"/>
          <p:nvPr/>
        </p:nvSpPr>
        <p:spPr>
          <a:xfrm>
            <a:off x="2468880" y="5001768"/>
            <a:ext cx="1188720" cy="274320"/>
          </a:xfrm>
          <a:prstGeom prst="rect">
            <a:avLst/>
          </a:prstGeom>
          <a:noFill/>
          <a:ln/>
        </p:spPr>
        <p:txBody>
          <a:bodyPr wrap="square" lIns="508" tIns="508" rIns="508" bIns="508" rtlCol="0" anchor="t"/>
          <a:lstStyle/>
          <a:p>
            <a:pPr algn="ctr" indent="0" marL="0">
              <a:lnSpc>
                <a:spcPct val="105000"/>
              </a:lnSpc>
              <a:buNone/>
            </a:pPr>
            <a:r>
              <a:rPr lang="en-US" sz="800" i="1" dirty="0">
                <a:solidFill>
                  <a:srgbClr val="6B4C9A"/>
                </a:solidFill>
                <a:latin typeface="Calibri" pitchFamily="34" charset="0"/>
                <a:ea typeface="Calibri" pitchFamily="34" charset="-122"/>
                <a:cs typeface="Calibri" pitchFamily="34" charset="-120"/>
              </a:rPr>
              <a:t>9 · discover / execute</a:t>
            </a:r>
            <a:endParaRPr lang="en-US" sz="800" dirty="0"/>
          </a:p>
        </p:txBody>
      </p:sp>
      <p:sp>
        <p:nvSpPr>
          <p:cNvPr id="41" name="Shape 39"/>
          <p:cNvSpPr/>
          <p:nvPr/>
        </p:nvSpPr>
        <p:spPr>
          <a:xfrm>
            <a:off x="3657600" y="4709160"/>
            <a:ext cx="3017520" cy="1234440"/>
          </a:xfrm>
          <a:prstGeom prst="roundRect">
            <a:avLst>
              <a:gd name="adj" fmla="val 5185"/>
            </a:avLst>
          </a:prstGeom>
          <a:solidFill>
            <a:srgbClr val="6B4C9A"/>
          </a:solidFill>
          <a:ln w="12700">
            <a:solidFill>
              <a:srgbClr val="6B4C9A"/>
            </a:solidFill>
            <a:prstDash val="solid"/>
          </a:ln>
        </p:spPr>
      </p:sp>
      <p:sp>
        <p:nvSpPr>
          <p:cNvPr id="42" name="Text 40"/>
          <p:cNvSpPr txBox="1"/>
          <p:nvPr/>
        </p:nvSpPr>
        <p:spPr>
          <a:xfrm>
            <a:off x="3749040" y="4709160"/>
            <a:ext cx="2834640" cy="1234440"/>
          </a:xfrm>
          <a:prstGeom prst="rect">
            <a:avLst/>
          </a:prstGeom>
          <a:noFill/>
          <a:ln/>
        </p:spPr>
        <p:txBody>
          <a:bodyPr wrap="square" lIns="508" tIns="508" rIns="508" bIns="508" rtlCol="0" anchor="ctr"/>
          <a:lstStyle/>
          <a:p>
            <a:pPr algn="ctr" indent="0" marL="0">
              <a:lnSpc>
                <a:spcPct val="105000"/>
              </a:lnSpc>
              <a:buNone/>
            </a:pPr>
            <a:r>
              <a:rPr lang="en-US" sz="900" b="1" dirty="0">
                <a:solidFill>
                  <a:srgbClr val="FFFFFF"/>
                </a:solidFill>
                <a:latin typeface="Calibri" pitchFamily="34" charset="0"/>
                <a:ea typeface="Calibri" pitchFamily="34" charset="-122"/>
                <a:cs typeface="Calibri" pitchFamily="34" charset="-120"/>
              </a:rPr>
              <a:t>MCP Server</a:t>
            </a:r>
            <a:endParaRPr lang="en-US" sz="900" dirty="0"/>
          </a:p>
          <a:p>
            <a:pPr algn="ctr" indent="0" marL="0">
              <a:lnSpc>
                <a:spcPct val="105000"/>
              </a:lnSpc>
              <a:buNone/>
            </a:pPr>
            <a:endParaRPr lang="en-US" sz="900" dirty="0"/>
          </a:p>
          <a:p>
            <a:pPr algn="ctr" indent="0" marL="0">
              <a:lnSpc>
                <a:spcPct val="105000"/>
              </a:lnSpc>
              <a:buNone/>
            </a:pPr>
            <a:r>
              <a:rPr lang="en-US" sz="900" b="1" dirty="0">
                <a:solidFill>
                  <a:srgbClr val="FFFFFF"/>
                </a:solidFill>
                <a:latin typeface="Calibri" pitchFamily="34" charset="0"/>
                <a:ea typeface="Calibri" pitchFamily="34" charset="-122"/>
                <a:cs typeface="Calibri" pitchFamily="34" charset="-120"/>
              </a:rPr>
              <a:t>Tachyon MCP Tool Registry — auto-registers servers &amp; tool schemas</a:t>
            </a:r>
            <a:endParaRPr lang="en-US" sz="900" dirty="0"/>
          </a:p>
        </p:txBody>
      </p:sp>
      <p:sp>
        <p:nvSpPr>
          <p:cNvPr id="43" name="Shape 41"/>
          <p:cNvSpPr/>
          <p:nvPr/>
        </p:nvSpPr>
        <p:spPr>
          <a:xfrm>
            <a:off x="6675120" y="5321808"/>
            <a:ext cx="1188720" cy="914"/>
          </a:xfrm>
          <a:prstGeom prst="line">
            <a:avLst/>
          </a:prstGeom>
          <a:noFill/>
          <a:ln w="19050">
            <a:solidFill>
              <a:srgbClr val="5F6368"/>
            </a:solidFill>
            <a:prstDash val="solid"/>
            <a:tailEnd type="triangle"/>
          </a:ln>
        </p:spPr>
      </p:sp>
      <p:sp>
        <p:nvSpPr>
          <p:cNvPr id="44" name="Shape 42"/>
          <p:cNvSpPr/>
          <p:nvPr/>
        </p:nvSpPr>
        <p:spPr>
          <a:xfrm>
            <a:off x="7863840" y="4709160"/>
            <a:ext cx="1737360" cy="274320"/>
          </a:xfrm>
          <a:prstGeom prst="roundRect">
            <a:avLst>
              <a:gd name="adj" fmla="val 13333"/>
            </a:avLst>
          </a:prstGeom>
          <a:solidFill>
            <a:srgbClr val="F1F3F4"/>
          </a:solidFill>
          <a:ln w="12700">
            <a:solidFill>
              <a:srgbClr val="DADCE0"/>
            </a:solidFill>
            <a:prstDash val="solid"/>
          </a:ln>
        </p:spPr>
      </p:sp>
      <p:sp>
        <p:nvSpPr>
          <p:cNvPr id="45" name="Text 43"/>
          <p:cNvSpPr txBox="1"/>
          <p:nvPr/>
        </p:nvSpPr>
        <p:spPr>
          <a:xfrm>
            <a:off x="7863840" y="4709160"/>
            <a:ext cx="1737360" cy="274320"/>
          </a:xfrm>
          <a:prstGeom prst="rect">
            <a:avLst/>
          </a:prstGeom>
          <a:noFill/>
          <a:ln/>
        </p:spPr>
        <p:txBody>
          <a:bodyPr wrap="square" lIns="508" tIns="508" rIns="508" bIns="508" rtlCol="0" anchor="ctr"/>
          <a:lstStyle/>
          <a:p>
            <a:pPr algn="ctr" indent="0" marL="0">
              <a:lnSpc>
                <a:spcPct val="105000"/>
              </a:lnSpc>
              <a:buNone/>
            </a:pPr>
            <a:r>
              <a:rPr lang="en-US" sz="850" dirty="0">
                <a:solidFill>
                  <a:srgbClr val="202124"/>
                </a:solidFill>
                <a:latin typeface="Courier New" pitchFamily="34" charset="0"/>
                <a:ea typeface="Courier New" pitchFamily="34" charset="-122"/>
                <a:cs typeface="Courier New" pitchFamily="34" charset="-120"/>
              </a:rPr>
              <a:t>get_transactions</a:t>
            </a:r>
            <a:endParaRPr lang="en-US" sz="850" dirty="0"/>
          </a:p>
        </p:txBody>
      </p:sp>
      <p:sp>
        <p:nvSpPr>
          <p:cNvPr id="46" name="Shape 44"/>
          <p:cNvSpPr/>
          <p:nvPr/>
        </p:nvSpPr>
        <p:spPr>
          <a:xfrm>
            <a:off x="7863840" y="5038344"/>
            <a:ext cx="1737360" cy="274320"/>
          </a:xfrm>
          <a:prstGeom prst="roundRect">
            <a:avLst>
              <a:gd name="adj" fmla="val 13333"/>
            </a:avLst>
          </a:prstGeom>
          <a:solidFill>
            <a:srgbClr val="F1F3F4"/>
          </a:solidFill>
          <a:ln w="12700">
            <a:solidFill>
              <a:srgbClr val="DADCE0"/>
            </a:solidFill>
            <a:prstDash val="solid"/>
          </a:ln>
        </p:spPr>
      </p:sp>
      <p:sp>
        <p:nvSpPr>
          <p:cNvPr id="47" name="Text 45"/>
          <p:cNvSpPr txBox="1"/>
          <p:nvPr/>
        </p:nvSpPr>
        <p:spPr>
          <a:xfrm>
            <a:off x="7863840" y="5038344"/>
            <a:ext cx="1737360" cy="274320"/>
          </a:xfrm>
          <a:prstGeom prst="rect">
            <a:avLst/>
          </a:prstGeom>
          <a:noFill/>
          <a:ln/>
        </p:spPr>
        <p:txBody>
          <a:bodyPr wrap="square" lIns="508" tIns="508" rIns="508" bIns="508" rtlCol="0" anchor="ctr"/>
          <a:lstStyle/>
          <a:p>
            <a:pPr algn="ctr" indent="0" marL="0">
              <a:lnSpc>
                <a:spcPct val="105000"/>
              </a:lnSpc>
              <a:buNone/>
            </a:pPr>
            <a:r>
              <a:rPr lang="en-US" sz="850" dirty="0">
                <a:solidFill>
                  <a:srgbClr val="202124"/>
                </a:solidFill>
                <a:latin typeface="Courier New" pitchFamily="34" charset="0"/>
                <a:ea typeface="Courier New" pitchFamily="34" charset="-122"/>
                <a:cs typeface="Courier New" pitchFamily="34" charset="-120"/>
              </a:rPr>
              <a:t>dispute_charge</a:t>
            </a:r>
            <a:endParaRPr lang="en-US" sz="850" dirty="0"/>
          </a:p>
        </p:txBody>
      </p:sp>
      <p:sp>
        <p:nvSpPr>
          <p:cNvPr id="48" name="Shape 46"/>
          <p:cNvSpPr/>
          <p:nvPr/>
        </p:nvSpPr>
        <p:spPr>
          <a:xfrm>
            <a:off x="7863840" y="5367528"/>
            <a:ext cx="1737360" cy="274320"/>
          </a:xfrm>
          <a:prstGeom prst="roundRect">
            <a:avLst>
              <a:gd name="adj" fmla="val 13333"/>
            </a:avLst>
          </a:prstGeom>
          <a:solidFill>
            <a:srgbClr val="F1F3F4"/>
          </a:solidFill>
          <a:ln w="12700">
            <a:solidFill>
              <a:srgbClr val="DADCE0"/>
            </a:solidFill>
            <a:prstDash val="solid"/>
          </a:ln>
        </p:spPr>
      </p:sp>
      <p:sp>
        <p:nvSpPr>
          <p:cNvPr id="49" name="Text 47"/>
          <p:cNvSpPr txBox="1"/>
          <p:nvPr/>
        </p:nvSpPr>
        <p:spPr>
          <a:xfrm>
            <a:off x="7863840" y="5367528"/>
            <a:ext cx="1737360" cy="274320"/>
          </a:xfrm>
          <a:prstGeom prst="rect">
            <a:avLst/>
          </a:prstGeom>
          <a:noFill/>
          <a:ln/>
        </p:spPr>
        <p:txBody>
          <a:bodyPr wrap="square" lIns="508" tIns="508" rIns="508" bIns="508" rtlCol="0" anchor="ctr"/>
          <a:lstStyle/>
          <a:p>
            <a:pPr algn="ctr" indent="0" marL="0">
              <a:lnSpc>
                <a:spcPct val="105000"/>
              </a:lnSpc>
              <a:buNone/>
            </a:pPr>
            <a:r>
              <a:rPr lang="en-US" sz="850" dirty="0">
                <a:solidFill>
                  <a:srgbClr val="202124"/>
                </a:solidFill>
                <a:latin typeface="Courier New" pitchFamily="34" charset="0"/>
                <a:ea typeface="Courier New" pitchFamily="34" charset="-122"/>
                <a:cs typeface="Courier New" pitchFamily="34" charset="-120"/>
              </a:rPr>
              <a:t>card_replace</a:t>
            </a:r>
            <a:endParaRPr lang="en-US" sz="850" dirty="0"/>
          </a:p>
        </p:txBody>
      </p:sp>
      <p:sp>
        <p:nvSpPr>
          <p:cNvPr id="50" name="Shape 48"/>
          <p:cNvSpPr/>
          <p:nvPr/>
        </p:nvSpPr>
        <p:spPr>
          <a:xfrm>
            <a:off x="7863840" y="5696712"/>
            <a:ext cx="1737360" cy="274320"/>
          </a:xfrm>
          <a:prstGeom prst="roundRect">
            <a:avLst>
              <a:gd name="adj" fmla="val 13333"/>
            </a:avLst>
          </a:prstGeom>
          <a:solidFill>
            <a:srgbClr val="F1F3F4"/>
          </a:solidFill>
          <a:ln w="12700">
            <a:solidFill>
              <a:srgbClr val="DADCE0"/>
            </a:solidFill>
            <a:prstDash val="solid"/>
          </a:ln>
        </p:spPr>
      </p:sp>
      <p:sp>
        <p:nvSpPr>
          <p:cNvPr id="51" name="Text 49"/>
          <p:cNvSpPr txBox="1"/>
          <p:nvPr/>
        </p:nvSpPr>
        <p:spPr>
          <a:xfrm>
            <a:off x="7863840" y="5696712"/>
            <a:ext cx="1737360" cy="274320"/>
          </a:xfrm>
          <a:prstGeom prst="rect">
            <a:avLst/>
          </a:prstGeom>
          <a:noFill/>
          <a:ln/>
        </p:spPr>
        <p:txBody>
          <a:bodyPr wrap="square" lIns="508" tIns="508" rIns="508" bIns="508" rtlCol="0" anchor="ctr"/>
          <a:lstStyle/>
          <a:p>
            <a:pPr algn="ctr" indent="0" marL="0">
              <a:lnSpc>
                <a:spcPct val="105000"/>
              </a:lnSpc>
              <a:buNone/>
            </a:pPr>
            <a:r>
              <a:rPr lang="en-US" sz="850" dirty="0">
                <a:solidFill>
                  <a:srgbClr val="202124"/>
                </a:solidFill>
                <a:latin typeface="Courier New" pitchFamily="34" charset="0"/>
                <a:ea typeface="Courier New" pitchFamily="34" charset="-122"/>
                <a:cs typeface="Courier New" pitchFamily="34" charset="-120"/>
              </a:rPr>
              <a:t>policy_search (RAG)</a:t>
            </a:r>
            <a:endParaRPr lang="en-US" sz="850" dirty="0"/>
          </a:p>
        </p:txBody>
      </p:sp>
      <p:sp>
        <p:nvSpPr>
          <p:cNvPr id="52" name="Shape 50"/>
          <p:cNvSpPr/>
          <p:nvPr/>
        </p:nvSpPr>
        <p:spPr>
          <a:xfrm>
            <a:off x="9829800" y="4709160"/>
            <a:ext cx="1783080" cy="1234440"/>
          </a:xfrm>
          <a:prstGeom prst="roundRect">
            <a:avLst>
              <a:gd name="adj" fmla="val 5926"/>
            </a:avLst>
          </a:prstGeom>
          <a:solidFill>
            <a:srgbClr val="FDEEE4"/>
          </a:solidFill>
          <a:ln w="12700">
            <a:solidFill>
              <a:srgbClr val="FDEEE4"/>
            </a:solidFill>
            <a:prstDash val="solid"/>
          </a:ln>
        </p:spPr>
      </p:sp>
      <p:sp>
        <p:nvSpPr>
          <p:cNvPr id="53" name="Text 51"/>
          <p:cNvSpPr txBox="1"/>
          <p:nvPr/>
        </p:nvSpPr>
        <p:spPr>
          <a:xfrm>
            <a:off x="9921240" y="4782312"/>
            <a:ext cx="1645920" cy="274320"/>
          </a:xfrm>
          <a:prstGeom prst="rect">
            <a:avLst/>
          </a:prstGeom>
          <a:noFill/>
          <a:ln/>
        </p:spPr>
        <p:txBody>
          <a:bodyPr wrap="square" lIns="508" tIns="508" rIns="508" bIns="508" rtlCol="0" anchor="t"/>
          <a:lstStyle/>
          <a:p>
            <a:pPr algn="l" indent="0" marL="0">
              <a:lnSpc>
                <a:spcPct val="105000"/>
              </a:lnSpc>
              <a:buNone/>
            </a:pPr>
            <a:r>
              <a:rPr lang="en-US" sz="950" b="1" dirty="0">
                <a:solidFill>
                  <a:srgbClr val="C2410C"/>
                </a:solidFill>
                <a:latin typeface="Calibri" pitchFamily="34" charset="0"/>
                <a:ea typeface="Calibri" pitchFamily="34" charset="-122"/>
                <a:cs typeface="Calibri" pitchFamily="34" charset="-120"/>
              </a:rPr>
              <a:t>Tachyon's role</a:t>
            </a:r>
            <a:endParaRPr lang="en-US" sz="950" dirty="0"/>
          </a:p>
        </p:txBody>
      </p:sp>
      <p:sp>
        <p:nvSpPr>
          <p:cNvPr id="54" name="Text 52"/>
          <p:cNvSpPr txBox="1"/>
          <p:nvPr/>
        </p:nvSpPr>
        <p:spPr>
          <a:xfrm>
            <a:off x="9921240" y="5056632"/>
            <a:ext cx="1627632" cy="914400"/>
          </a:xfrm>
          <a:prstGeom prst="rect">
            <a:avLst/>
          </a:prstGeom>
          <a:noFill/>
          <a:ln/>
        </p:spPr>
        <p:txBody>
          <a:bodyPr wrap="square" lIns="508" tIns="508" rIns="508" bIns="508" rtlCol="0" anchor="t"/>
          <a:lstStyle/>
          <a:p>
            <a:pPr algn="l" indent="0" marL="0">
              <a:lnSpc>
                <a:spcPct val="105000"/>
              </a:lnSpc>
              <a:buNone/>
            </a:pPr>
            <a:r>
              <a:rPr lang="en-US" sz="850" dirty="0">
                <a:solidFill>
                  <a:srgbClr val="5F6368"/>
                </a:solidFill>
                <a:latin typeface="Calibri" pitchFamily="34" charset="0"/>
                <a:ea typeface="Calibri" pitchFamily="34" charset="-122"/>
                <a:cs typeface="Calibri" pitchFamily="34" charset="-120"/>
              </a:rPr>
              <a:t>Registry, safe-tool policy &amp; budgets, RAG pipeline behind policy_search. The platform is not in the tool call path.</a:t>
            </a:r>
            <a:endParaRPr lang="en-US" sz="850" dirty="0"/>
          </a:p>
        </p:txBody>
      </p:sp>
      <p:sp>
        <p:nvSpPr>
          <p:cNvPr id="55" name="Shape 53"/>
          <p:cNvSpPr/>
          <p:nvPr/>
        </p:nvSpPr>
        <p:spPr>
          <a:xfrm>
            <a:off x="548640" y="6428232"/>
            <a:ext cx="164592" cy="164592"/>
          </a:xfrm>
          <a:prstGeom prst="roundRect">
            <a:avLst>
              <a:gd name="adj" fmla="val 16667"/>
            </a:avLst>
          </a:prstGeom>
          <a:solidFill>
            <a:srgbClr val="1A73E8"/>
          </a:solidFill>
          <a:ln w="12700">
            <a:solidFill>
              <a:srgbClr val="1A73E8"/>
            </a:solidFill>
            <a:prstDash val="solid"/>
          </a:ln>
        </p:spPr>
      </p:sp>
      <p:sp>
        <p:nvSpPr>
          <p:cNvPr id="56" name="Text 54"/>
          <p:cNvSpPr txBox="1"/>
          <p:nvPr/>
        </p:nvSpPr>
        <p:spPr>
          <a:xfrm>
            <a:off x="768096" y="6355080"/>
            <a:ext cx="1645920" cy="310896"/>
          </a:xfrm>
          <a:prstGeom prst="rect">
            <a:avLst/>
          </a:prstGeom>
          <a:noFill/>
          <a:ln/>
        </p:spPr>
        <p:txBody>
          <a:bodyPr wrap="square" lIns="508" tIns="508" rIns="508" bIns="508" rtlCol="0" anchor="ctr"/>
          <a:lstStyle/>
          <a:p>
            <a:pPr algn="l" indent="0" marL="0">
              <a:lnSpc>
                <a:spcPct val="105000"/>
              </a:lnSpc>
              <a:buNone/>
            </a:pPr>
            <a:r>
              <a:rPr lang="en-US" sz="950" dirty="0">
                <a:solidFill>
                  <a:srgbClr val="5F6368"/>
                </a:solidFill>
                <a:latin typeface="Calibri" pitchFamily="34" charset="0"/>
                <a:ea typeface="Calibri" pitchFamily="34" charset="-122"/>
                <a:cs typeface="Calibri" pitchFamily="34" charset="-120"/>
              </a:rPr>
              <a:t>Google ADK core</a:t>
            </a:r>
            <a:endParaRPr lang="en-US" sz="950" dirty="0"/>
          </a:p>
        </p:txBody>
      </p:sp>
      <p:sp>
        <p:nvSpPr>
          <p:cNvPr id="57" name="Shape 55"/>
          <p:cNvSpPr/>
          <p:nvPr/>
        </p:nvSpPr>
        <p:spPr>
          <a:xfrm>
            <a:off x="2331720" y="6428232"/>
            <a:ext cx="164592" cy="164592"/>
          </a:xfrm>
          <a:prstGeom prst="roundRect">
            <a:avLst>
              <a:gd name="adj" fmla="val 16667"/>
            </a:avLst>
          </a:prstGeom>
          <a:solidFill>
            <a:srgbClr val="C2410C"/>
          </a:solidFill>
          <a:ln w="12700">
            <a:solidFill>
              <a:srgbClr val="C2410C"/>
            </a:solidFill>
            <a:prstDash val="solid"/>
          </a:ln>
        </p:spPr>
      </p:sp>
      <p:sp>
        <p:nvSpPr>
          <p:cNvPr id="58" name="Text 56"/>
          <p:cNvSpPr txBox="1"/>
          <p:nvPr/>
        </p:nvSpPr>
        <p:spPr>
          <a:xfrm>
            <a:off x="2551176" y="6355080"/>
            <a:ext cx="1645920" cy="310896"/>
          </a:xfrm>
          <a:prstGeom prst="rect">
            <a:avLst/>
          </a:prstGeom>
          <a:noFill/>
          <a:ln/>
        </p:spPr>
        <p:txBody>
          <a:bodyPr wrap="square" lIns="508" tIns="508" rIns="508" bIns="508" rtlCol="0" anchor="ctr"/>
          <a:lstStyle/>
          <a:p>
            <a:pPr algn="l" indent="0" marL="0">
              <a:lnSpc>
                <a:spcPct val="105000"/>
              </a:lnSpc>
              <a:buNone/>
            </a:pPr>
            <a:r>
              <a:rPr lang="en-US" sz="950" dirty="0">
                <a:solidFill>
                  <a:srgbClr val="5F6368"/>
                </a:solidFill>
                <a:latin typeface="Calibri" pitchFamily="34" charset="0"/>
                <a:ea typeface="Calibri" pitchFamily="34" charset="-122"/>
                <a:cs typeface="Calibri" pitchFamily="34" charset="-120"/>
              </a:rPr>
              <a:t>Tachyon platform</a:t>
            </a:r>
            <a:endParaRPr lang="en-US" sz="950" dirty="0"/>
          </a:p>
        </p:txBody>
      </p:sp>
      <p:sp>
        <p:nvSpPr>
          <p:cNvPr id="59" name="Shape 57"/>
          <p:cNvSpPr/>
          <p:nvPr/>
        </p:nvSpPr>
        <p:spPr>
          <a:xfrm>
            <a:off x="4114800" y="6428232"/>
            <a:ext cx="164592" cy="164592"/>
          </a:xfrm>
          <a:prstGeom prst="roundRect">
            <a:avLst>
              <a:gd name="adj" fmla="val 16667"/>
            </a:avLst>
          </a:prstGeom>
          <a:solidFill>
            <a:srgbClr val="6B4C9A"/>
          </a:solidFill>
          <a:ln w="12700">
            <a:solidFill>
              <a:srgbClr val="6B4C9A"/>
            </a:solidFill>
            <a:prstDash val="solid"/>
          </a:ln>
        </p:spPr>
      </p:sp>
      <p:sp>
        <p:nvSpPr>
          <p:cNvPr id="60" name="Text 58"/>
          <p:cNvSpPr txBox="1"/>
          <p:nvPr/>
        </p:nvSpPr>
        <p:spPr>
          <a:xfrm>
            <a:off x="4334256" y="6355080"/>
            <a:ext cx="1645920" cy="310896"/>
          </a:xfrm>
          <a:prstGeom prst="rect">
            <a:avLst/>
          </a:prstGeom>
          <a:noFill/>
          <a:ln/>
        </p:spPr>
        <p:txBody>
          <a:bodyPr wrap="square" lIns="508" tIns="508" rIns="508" bIns="508" rtlCol="0" anchor="ctr"/>
          <a:lstStyle/>
          <a:p>
            <a:pPr algn="l" indent="0" marL="0">
              <a:lnSpc>
                <a:spcPct val="105000"/>
              </a:lnSpc>
              <a:buNone/>
            </a:pPr>
            <a:r>
              <a:rPr lang="en-US" sz="950" dirty="0">
                <a:solidFill>
                  <a:srgbClr val="5F6368"/>
                </a:solidFill>
                <a:latin typeface="Calibri" pitchFamily="34" charset="0"/>
                <a:ea typeface="Calibri" pitchFamily="34" charset="-122"/>
                <a:cs typeface="Calibri" pitchFamily="34" charset="-120"/>
              </a:rPr>
              <a:t>TSDK wrapper layer</a:t>
            </a:r>
            <a:endParaRPr lang="en-US" sz="950" dirty="0"/>
          </a:p>
        </p:txBody>
      </p:sp>
      <p:sp>
        <p:nvSpPr>
          <p:cNvPr id="61" name="Text 59"/>
          <p:cNvSpPr txBox="1"/>
          <p:nvPr/>
        </p:nvSpPr>
        <p:spPr>
          <a:xfrm>
            <a:off x="7863840" y="6355080"/>
            <a:ext cx="3749040" cy="310896"/>
          </a:xfrm>
          <a:prstGeom prst="rect">
            <a:avLst/>
          </a:prstGeom>
          <a:noFill/>
          <a:ln/>
        </p:spPr>
        <p:txBody>
          <a:bodyPr wrap="square" lIns="508" tIns="508" rIns="508" bIns="508" rtlCol="0" anchor="ctr"/>
          <a:lstStyle/>
          <a:p>
            <a:pPr algn="r" indent="0" marL="0">
              <a:lnSpc>
                <a:spcPct val="105000"/>
              </a:lnSpc>
              <a:buNone/>
            </a:pPr>
            <a:r>
              <a:rPr lang="en-US" sz="900" dirty="0">
                <a:solidFill>
                  <a:srgbClr val="9AA0A6"/>
                </a:solidFill>
                <a:latin typeface="Calibri" pitchFamily="34" charset="0"/>
                <a:ea typeface="Calibri" pitchFamily="34" charset="-122"/>
                <a:cs typeface="Calibri" pitchFamily="34" charset="-120"/>
              </a:rPr>
              <a:t>Fargo platform – internal</a:t>
            </a:r>
            <a:endParaRPr lang="en-US" sz="900" dirty="0"/>
          </a:p>
        </p:txBody>
      </p:sp>
      <p:sp>
        <p:nvSpPr>
          <p:cNvPr id="62" name="Text 60"/>
          <p:cNvSpPr txBox="1"/>
          <p:nvPr/>
        </p:nvSpPr>
        <p:spPr>
          <a:xfrm>
            <a:off x="11658600" y="6355080"/>
            <a:ext cx="365760" cy="310896"/>
          </a:xfrm>
          <a:prstGeom prst="rect">
            <a:avLst/>
          </a:prstGeom>
          <a:noFill/>
          <a:ln/>
        </p:spPr>
        <p:txBody>
          <a:bodyPr wrap="square" lIns="508" tIns="508" rIns="508" bIns="508" rtlCol="0" anchor="ctr"/>
          <a:lstStyle/>
          <a:p>
            <a:pPr algn="r" indent="0" marL="0">
              <a:lnSpc>
                <a:spcPct val="105000"/>
              </a:lnSpc>
              <a:buNone/>
            </a:pPr>
            <a:r>
              <a:rPr lang="en-US" sz="900" dirty="0">
                <a:solidFill>
                  <a:srgbClr val="9AA0A6"/>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457200"/>
            <a:ext cx="11064240" cy="548640"/>
          </a:xfrm>
          <a:prstGeom prst="rect">
            <a:avLst/>
          </a:prstGeom>
          <a:noFill/>
          <a:ln/>
        </p:spPr>
        <p:txBody>
          <a:bodyPr wrap="square" lIns="508" tIns="508" rIns="508" bIns="508" rtlCol="0" anchor="t"/>
          <a:lstStyle/>
          <a:p>
            <a:pPr algn="l" indent="0" marL="0">
              <a:lnSpc>
                <a:spcPct val="105000"/>
              </a:lnSpc>
              <a:buNone/>
            </a:pPr>
            <a:r>
              <a:rPr lang="en-US" sz="2600" b="1" dirty="0">
                <a:solidFill>
                  <a:srgbClr val="1B1F3B"/>
                </a:solidFill>
                <a:latin typeface="Calibri" pitchFamily="34" charset="0"/>
                <a:ea typeface="Calibri" pitchFamily="34" charset="-122"/>
                <a:cs typeface="Calibri" pitchFamily="34" charset="-120"/>
              </a:rPr>
              <a:t>Capability comparison</a:t>
            </a:r>
            <a:endParaRPr lang="en-US" sz="2600" dirty="0"/>
          </a:p>
        </p:txBody>
      </p:sp>
      <p:sp>
        <p:nvSpPr>
          <p:cNvPr id="3" name="Text 1"/>
          <p:cNvSpPr txBox="1"/>
          <p:nvPr/>
        </p:nvSpPr>
        <p:spPr>
          <a:xfrm>
            <a:off x="548640" y="1051560"/>
            <a:ext cx="11064240" cy="457200"/>
          </a:xfrm>
          <a:prstGeom prst="rect">
            <a:avLst/>
          </a:prstGeom>
          <a:noFill/>
          <a:ln/>
        </p:spPr>
        <p:txBody>
          <a:bodyPr wrap="square" lIns="508" tIns="508" rIns="508" bIns="508" rtlCol="0" anchor="t"/>
          <a:lstStyle/>
          <a:p>
            <a:pPr algn="l" indent="0" marL="0">
              <a:lnSpc>
                <a:spcPct val="105000"/>
              </a:lnSpc>
              <a:buNone/>
            </a:pPr>
            <a:r>
              <a:rPr lang="en-US" sz="1300" dirty="0">
                <a:solidFill>
                  <a:srgbClr val="5F6368"/>
                </a:solidFill>
                <a:latin typeface="Calibri" pitchFamily="34" charset="0"/>
                <a:ea typeface="Calibri" pitchFamily="34" charset="-122"/>
                <a:cs typeface="Calibri" pitchFamily="34" charset="-120"/>
              </a:rPr>
              <a:t>Same 13 capabilities as the Tachyon comparison deck. ADK = the core primitive; TSDK = the wrapper plus the Tachyon platform service Fargo actually runs on.</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64240" cy="914400"/>
        </p:xfrm>
        <a:graphic>
          <a:graphicData uri="http://schemas.openxmlformats.org/drawingml/2006/table">
            <a:tbl>
              <a:tblPr/>
              <a:tblGrid>
                <a:gridCol w="2743200"/>
                <a:gridCol w="3794760"/>
                <a:gridCol w="3794760"/>
                <a:gridCol w="731520"/>
              </a:tblGrid>
              <a:tr h="292608">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Capability</a:t>
                      </a:r>
                      <a:endParaRPr lang="en-US" sz="9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B1F3B"/>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Google ADK core provides</a:t>
                      </a:r>
                      <a:endParaRPr lang="en-US" sz="9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A73E8"/>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TSDK + Tachyon platform provide</a:t>
                      </a:r>
                      <a:endParaRPr lang="en-US" sz="9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2410C"/>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Fargo runs on</a:t>
                      </a:r>
                      <a:endParaRPr lang="en-US" sz="9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B1F3B"/>
                    </a:solidFill>
                  </a:tcPr>
                </a:tc>
              </a:tr>
              <a:tr h="301752">
                <a:tc>
                  <a:txBody>
                    <a:bodyPr/>
                    <a:lstStyle/>
                    <a:p>
                      <a:pPr indent="0" marL="0">
                        <a:buNone/>
                      </a:pPr>
                      <a:r>
                        <a:rPr lang="en-US" sz="900" b="1" dirty="0">
                          <a:solidFill>
                            <a:srgbClr val="202124"/>
                          </a:solidFill>
                          <a:latin typeface="Calibri" pitchFamily="34" charset="0"/>
                          <a:ea typeface="Calibri" pitchFamily="34" charset="-122"/>
                          <a:cs typeface="Calibri" pitchFamily="34" charset="-120"/>
                        </a:rPr>
                        <a:t>Vendor lock-in / model choice</a:t>
                      </a:r>
                      <a:endParaRPr lang="en-US" sz="90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3F4"/>
                    </a:solidFill>
                  </a:tcPr>
                </a:tc>
                <a:tc>
                  <a:txBody>
                    <a:bodyPr/>
                    <a:lstStyle/>
                    <a:p>
                      <a:pPr indent="0" marL="0">
                        <a:buNone/>
                      </a:pPr>
                      <a:r>
                        <a:rPr lang="en-US" sz="850" dirty="0">
                          <a:solidFill>
                            <a:srgbClr val="202124"/>
                          </a:solidFill>
                          <a:latin typeface="Calibri" pitchFamily="34" charset="0"/>
                          <a:ea typeface="Calibri" pitchFamily="34" charset="-122"/>
                          <a:cs typeface="Calibri" pitchFamily="34" charset="-120"/>
                        </a:rPr>
                        <a:t>Model-agnostic LlmAgent (Gemini native; others via LiteLLM / custom BaseLlm)</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F0FE"/>
                    </a:solidFill>
                  </a:tcPr>
                </a:tc>
                <a:tc>
                  <a:txBody>
                    <a:bodyPr/>
                    <a:lstStyle/>
                    <a:p>
                      <a:pPr indent="0" marL="0">
                        <a:buNone/>
                      </a:pPr>
                      <a:r>
                        <a:rPr lang="en-US" sz="850" dirty="0">
                          <a:solidFill>
                            <a:srgbClr val="202124"/>
                          </a:solidFill>
                          <a:latin typeface="Calibri" pitchFamily="34" charset="0"/>
                          <a:ea typeface="Calibri" pitchFamily="34" charset="-122"/>
                          <a:cs typeface="Calibri" pitchFamily="34" charset="-120"/>
                        </a:rPr>
                        <a:t>AI Bridge swaps models via registry config on WF infra</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DEEE4"/>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TSDK</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2410C"/>
                    </a:solidFill>
                  </a:tcPr>
                </a:tc>
              </a:tr>
              <a:tr h="301752">
                <a:tc>
                  <a:txBody>
                    <a:bodyPr/>
                    <a:lstStyle/>
                    <a:p>
                      <a:pPr indent="0" marL="0">
                        <a:buNone/>
                      </a:pPr>
                      <a:r>
                        <a:rPr lang="en-US" sz="900" b="1" dirty="0">
                          <a:solidFill>
                            <a:srgbClr val="202124"/>
                          </a:solidFill>
                          <a:latin typeface="Calibri" pitchFamily="34" charset="0"/>
                          <a:ea typeface="Calibri" pitchFamily="34" charset="-122"/>
                          <a:cs typeface="Calibri" pitchFamily="34" charset="-120"/>
                        </a:rPr>
                        <a:t>Model control (params)</a:t>
                      </a:r>
                      <a:endParaRPr lang="en-US" sz="90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3F4"/>
                    </a:solidFill>
                  </a:tcPr>
                </a:tc>
                <a:tc>
                  <a:txBody>
                    <a:bodyPr/>
                    <a:lstStyle/>
                    <a:p>
                      <a:pPr indent="0" marL="0">
                        <a:buNone/>
                      </a:pPr>
                      <a:r>
                        <a:rPr lang="en-US" sz="850" dirty="0">
                          <a:solidFill>
                            <a:srgbClr val="202124"/>
                          </a:solidFill>
                          <a:latin typeface="Calibri" pitchFamily="34" charset="0"/>
                          <a:ea typeface="Calibri" pitchFamily="34" charset="-122"/>
                          <a:cs typeface="Calibri" pitchFamily="34" charset="-120"/>
                        </a:rPr>
                        <a:t>generate_content_config per agent</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F0FE"/>
                    </a:solidFill>
                  </a:tcPr>
                </a:tc>
                <a:tc>
                  <a:txBody>
                    <a:bodyPr/>
                    <a:lstStyle/>
                    <a:p>
                      <a:pPr indent="0" marL="0">
                        <a:buNone/>
                      </a:pPr>
                      <a:r>
                        <a:rPr lang="en-US" sz="850" dirty="0">
                          <a:solidFill>
                            <a:srgbClr val="202124"/>
                          </a:solidFill>
                          <a:latin typeface="Calibri" pitchFamily="34" charset="0"/>
                          <a:ea typeface="Calibri" pitchFamily="34" charset="-122"/>
                          <a:cs typeface="Calibri" pitchFamily="34" charset="-120"/>
                        </a:rPr>
                        <a:t>registry.yml per-model + per-agent overrides, version-controlled</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DEEE4"/>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TSDK</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2410C"/>
                    </a:solidFill>
                  </a:tcPr>
                </a:tc>
              </a:tr>
              <a:tr h="301752">
                <a:tc>
                  <a:txBody>
                    <a:bodyPr/>
                    <a:lstStyle/>
                    <a:p>
                      <a:pPr indent="0" marL="0">
                        <a:buNone/>
                      </a:pPr>
                      <a:r>
                        <a:rPr lang="en-US" sz="900" b="1" dirty="0">
                          <a:solidFill>
                            <a:srgbClr val="202124"/>
                          </a:solidFill>
                          <a:latin typeface="Calibri" pitchFamily="34" charset="0"/>
                          <a:ea typeface="Calibri" pitchFamily="34" charset="-122"/>
                          <a:cs typeface="Calibri" pitchFamily="34" charset="-120"/>
                        </a:rPr>
                        <a:t>Failover, pairing &amp; fusion</a:t>
                      </a:r>
                      <a:endParaRPr lang="en-US" sz="90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3F4"/>
                    </a:solidFill>
                  </a:tcPr>
                </a:tc>
                <a:tc>
                  <a:txBody>
                    <a:bodyPr/>
                    <a:lstStyle/>
                    <a:p>
                      <a:pPr indent="0" marL="0">
                        <a:buNone/>
                      </a:pPr>
                      <a:r>
                        <a:rPr lang="en-US" sz="850" dirty="0">
                          <a:solidFill>
                            <a:srgbClr val="9AA0A6"/>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850" dirty="0">
                          <a:solidFill>
                            <a:srgbClr val="202124"/>
                          </a:solidFill>
                          <a:latin typeface="Calibri" pitchFamily="34" charset="0"/>
                          <a:ea typeface="Calibri" pitchFamily="34" charset="-122"/>
                          <a:cs typeface="Calibri" pitchFamily="34" charset="-120"/>
                        </a:rPr>
                        <a:t>Round-robin / priority routing, auto-failover, fusion</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DEEE4"/>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TSDK</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2410C"/>
                    </a:solidFill>
                  </a:tcPr>
                </a:tc>
              </a:tr>
              <a:tr h="301752">
                <a:tc>
                  <a:txBody>
                    <a:bodyPr/>
                    <a:lstStyle/>
                    <a:p>
                      <a:pPr indent="0" marL="0">
                        <a:buNone/>
                      </a:pPr>
                      <a:r>
                        <a:rPr lang="en-US" sz="900" b="1" dirty="0">
                          <a:solidFill>
                            <a:srgbClr val="202124"/>
                          </a:solidFill>
                          <a:latin typeface="Calibri" pitchFamily="34" charset="0"/>
                          <a:ea typeface="Calibri" pitchFamily="34" charset="-122"/>
                          <a:cs typeface="Calibri" pitchFamily="34" charset="-120"/>
                        </a:rPr>
                        <a:t>RAG / chunking</a:t>
                      </a:r>
                      <a:endParaRPr lang="en-US" sz="90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3F4"/>
                    </a:solidFill>
                  </a:tcPr>
                </a:tc>
                <a:tc>
                  <a:txBody>
                    <a:bodyPr/>
                    <a:lstStyle/>
                    <a:p>
                      <a:pPr indent="0" marL="0">
                        <a:buNone/>
                      </a:pPr>
                      <a:r>
                        <a:rPr lang="en-US" sz="850" dirty="0">
                          <a:solidFill>
                            <a:srgbClr val="202124"/>
                          </a:solidFill>
                          <a:latin typeface="Calibri" pitchFamily="34" charset="0"/>
                          <a:ea typeface="Calibri" pitchFamily="34" charset="-122"/>
                          <a:cs typeface="Calibri" pitchFamily="34" charset="-120"/>
                        </a:rPr>
                        <a:t>Built-in Vertex AI Search / RAG tools</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F0FE"/>
                    </a:solidFill>
                  </a:tcPr>
                </a:tc>
                <a:tc>
                  <a:txBody>
                    <a:bodyPr/>
                    <a:lstStyle/>
                    <a:p>
                      <a:pPr indent="0" marL="0">
                        <a:buNone/>
                      </a:pPr>
                      <a:r>
                        <a:rPr lang="en-US" sz="850" dirty="0">
                          <a:solidFill>
                            <a:srgbClr val="202124"/>
                          </a:solidFill>
                          <a:latin typeface="Calibri" pitchFamily="34" charset="0"/>
                          <a:ea typeface="Calibri" pitchFamily="34" charset="-122"/>
                          <a:cs typeface="Calibri" pitchFamily="34" charset="-120"/>
                        </a:rPr>
                        <a:t>Full pipeline: hybrid search, custom embeddings, re-rankers</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DEEE4"/>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TSDK</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2410C"/>
                    </a:solidFill>
                  </a:tcPr>
                </a:tc>
              </a:tr>
              <a:tr h="301752">
                <a:tc>
                  <a:txBody>
                    <a:bodyPr/>
                    <a:lstStyle/>
                    <a:p>
                      <a:pPr indent="0" marL="0">
                        <a:buNone/>
                      </a:pPr>
                      <a:r>
                        <a:rPr lang="en-US" sz="900" b="1" dirty="0">
                          <a:solidFill>
                            <a:srgbClr val="202124"/>
                          </a:solidFill>
                          <a:latin typeface="Calibri" pitchFamily="34" charset="0"/>
                          <a:ea typeface="Calibri" pitchFamily="34" charset="-122"/>
                          <a:cs typeface="Calibri" pitchFamily="34" charset="-120"/>
                        </a:rPr>
                        <a:t>Eval / testing</a:t>
                      </a:r>
                      <a:endParaRPr lang="en-US" sz="90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3F4"/>
                    </a:solidFill>
                  </a:tcPr>
                </a:tc>
                <a:tc>
                  <a:txBody>
                    <a:bodyPr/>
                    <a:lstStyle/>
                    <a:p>
                      <a:pPr indent="0" marL="0">
                        <a:buNone/>
                      </a:pPr>
                      <a:r>
                        <a:rPr lang="en-US" sz="850" dirty="0">
                          <a:solidFill>
                            <a:srgbClr val="202124"/>
                          </a:solidFill>
                          <a:latin typeface="Calibri" pitchFamily="34" charset="0"/>
                          <a:ea typeface="Calibri" pitchFamily="34" charset="-122"/>
                          <a:cs typeface="Calibri" pitchFamily="34" charset="-120"/>
                        </a:rPr>
                        <a:t>adk eval, evalsets, criteria &amp; user simulation</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F0FE"/>
                    </a:solidFill>
                  </a:tcPr>
                </a:tc>
                <a:tc>
                  <a:txBody>
                    <a:bodyPr/>
                    <a:lstStyle/>
                    <a:p>
                      <a:pPr indent="0" marL="0">
                        <a:buNone/>
                      </a:pPr>
                      <a:r>
                        <a:rPr lang="en-US" sz="850" dirty="0">
                          <a:solidFill>
                            <a:srgbClr val="202124"/>
                          </a:solidFill>
                          <a:latin typeface="Calibri" pitchFamily="34" charset="0"/>
                          <a:ea typeface="Calibri" pitchFamily="34" charset="-122"/>
                          <a:cs typeface="Calibri" pitchFamily="34" charset="-120"/>
                        </a:rPr>
                        <a:t>Guardrail evals, LLM-as-judge, Arize traces, pytest CI</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DEEE4"/>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BOTH</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6B4C9A"/>
                    </a:solidFill>
                  </a:tcPr>
                </a:tc>
              </a:tr>
              <a:tr h="301752">
                <a:tc>
                  <a:txBody>
                    <a:bodyPr/>
                    <a:lstStyle/>
                    <a:p>
                      <a:pPr indent="0" marL="0">
                        <a:buNone/>
                      </a:pPr>
                      <a:r>
                        <a:rPr lang="en-US" sz="900" b="1" dirty="0">
                          <a:solidFill>
                            <a:srgbClr val="202124"/>
                          </a:solidFill>
                          <a:latin typeface="Calibri" pitchFamily="34" charset="0"/>
                          <a:ea typeface="Calibri" pitchFamily="34" charset="-122"/>
                          <a:cs typeface="Calibri" pitchFamily="34" charset="-120"/>
                        </a:rPr>
                        <a:t>Short-term memory</a:t>
                      </a:r>
                      <a:endParaRPr lang="en-US" sz="90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3F4"/>
                    </a:solidFill>
                  </a:tcPr>
                </a:tc>
                <a:tc>
                  <a:txBody>
                    <a:bodyPr/>
                    <a:lstStyle/>
                    <a:p>
                      <a:pPr indent="0" marL="0">
                        <a:buNone/>
                      </a:pPr>
                      <a:r>
                        <a:rPr lang="en-US" sz="850" dirty="0">
                          <a:solidFill>
                            <a:srgbClr val="202124"/>
                          </a:solidFill>
                          <a:latin typeface="Calibri" pitchFamily="34" charset="0"/>
                          <a:ea typeface="Calibri" pitchFamily="34" charset="-122"/>
                          <a:cs typeface="Calibri" pitchFamily="34" charset="-120"/>
                        </a:rPr>
                        <a:t>Session / State / SessionService</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F0FE"/>
                    </a:solidFill>
                  </a:tcPr>
                </a:tc>
                <a:tc>
                  <a:txBody>
                    <a:bodyPr/>
                    <a:lstStyle/>
                    <a:p>
                      <a:pPr indent="0" marL="0">
                        <a:buNone/>
                      </a:pPr>
                      <a:r>
                        <a:rPr lang="en-US" sz="850" dirty="0">
                          <a:solidFill>
                            <a:srgbClr val="202124"/>
                          </a:solidFill>
                          <a:latin typeface="Calibri" pitchFamily="34" charset="0"/>
                          <a:ea typeface="Calibri" pitchFamily="34" charset="-122"/>
                          <a:cs typeface="Calibri" pitchFamily="34" charset="-120"/>
                        </a:rPr>
                        <a:t>Redis store: TTL, multi-cluster, mTLS, cross-agent</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DEEE4"/>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BOTH</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6B4C9A"/>
                    </a:solidFill>
                  </a:tcPr>
                </a:tc>
              </a:tr>
              <a:tr h="301752">
                <a:tc>
                  <a:txBody>
                    <a:bodyPr/>
                    <a:lstStyle/>
                    <a:p>
                      <a:pPr indent="0" marL="0">
                        <a:buNone/>
                      </a:pPr>
                      <a:r>
                        <a:rPr lang="en-US" sz="900" b="1" dirty="0">
                          <a:solidFill>
                            <a:srgbClr val="202124"/>
                          </a:solidFill>
                          <a:latin typeface="Calibri" pitchFamily="34" charset="0"/>
                          <a:ea typeface="Calibri" pitchFamily="34" charset="-122"/>
                          <a:cs typeface="Calibri" pitchFamily="34" charset="-120"/>
                        </a:rPr>
                        <a:t>Long-term memory</a:t>
                      </a:r>
                      <a:endParaRPr lang="en-US" sz="90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3F4"/>
                    </a:solidFill>
                  </a:tcPr>
                </a:tc>
                <a:tc>
                  <a:txBody>
                    <a:bodyPr/>
                    <a:lstStyle/>
                    <a:p>
                      <a:pPr indent="0" marL="0">
                        <a:buNone/>
                      </a:pPr>
                      <a:r>
                        <a:rPr lang="en-US" sz="850" dirty="0">
                          <a:solidFill>
                            <a:srgbClr val="202124"/>
                          </a:solidFill>
                          <a:latin typeface="Calibri" pitchFamily="34" charset="0"/>
                          <a:ea typeface="Calibri" pitchFamily="34" charset="-122"/>
                          <a:cs typeface="Calibri" pitchFamily="34" charset="-120"/>
                        </a:rPr>
                        <a:t>MemoryService interface</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F0FE"/>
                    </a:solidFill>
                  </a:tcPr>
                </a:tc>
                <a:tc>
                  <a:txBody>
                    <a:bodyPr/>
                    <a:lstStyle/>
                    <a:p>
                      <a:pPr indent="0" marL="0">
                        <a:buNone/>
                      </a:pPr>
                      <a:r>
                        <a:rPr lang="en-US" sz="850" dirty="0">
                          <a:solidFill>
                            <a:srgbClr val="202124"/>
                          </a:solidFill>
                          <a:latin typeface="Calibri" pitchFamily="34" charset="0"/>
                          <a:ea typeface="Calibri" pitchFamily="34" charset="-122"/>
                          <a:cs typeface="Calibri" pitchFamily="34" charset="-120"/>
                        </a:rPr>
                        <a:t>Mem0 on PostgreSQL / Mongo / Elastic</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DEEE4"/>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BOTH</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6B4C9A"/>
                    </a:solidFill>
                  </a:tcPr>
                </a:tc>
              </a:tr>
              <a:tr h="301752">
                <a:tc>
                  <a:txBody>
                    <a:bodyPr/>
                    <a:lstStyle/>
                    <a:p>
                      <a:pPr indent="0" marL="0">
                        <a:buNone/>
                      </a:pPr>
                      <a:r>
                        <a:rPr lang="en-US" sz="900" b="1" dirty="0">
                          <a:solidFill>
                            <a:srgbClr val="202124"/>
                          </a:solidFill>
                          <a:latin typeface="Calibri" pitchFamily="34" charset="0"/>
                          <a:ea typeface="Calibri" pitchFamily="34" charset="-122"/>
                          <a:cs typeface="Calibri" pitchFamily="34" charset="-120"/>
                        </a:rPr>
                        <a:t>Guardrails</a:t>
                      </a:r>
                      <a:endParaRPr lang="en-US" sz="90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3F4"/>
                    </a:solidFill>
                  </a:tcPr>
                </a:tc>
                <a:tc>
                  <a:txBody>
                    <a:bodyPr/>
                    <a:lstStyle/>
                    <a:p>
                      <a:pPr indent="0" marL="0">
                        <a:buNone/>
                      </a:pPr>
                      <a:r>
                        <a:rPr lang="en-US" sz="850" dirty="0">
                          <a:solidFill>
                            <a:srgbClr val="202124"/>
                          </a:solidFill>
                          <a:latin typeface="Calibri" pitchFamily="34" charset="0"/>
                          <a:ea typeface="Calibri" pitchFamily="34" charset="-122"/>
                          <a:cs typeface="Calibri" pitchFamily="34" charset="-120"/>
                        </a:rPr>
                        <a:t>Callbacks &amp; plugins as hook points; LoopAgent max_iterations</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F0FE"/>
                    </a:solidFill>
                  </a:tcPr>
                </a:tc>
                <a:tc>
                  <a:txBody>
                    <a:bodyPr/>
                    <a:lstStyle/>
                    <a:p>
                      <a:pPr indent="0" marL="0">
                        <a:buNone/>
                      </a:pPr>
                      <a:r>
                        <a:rPr lang="en-US" sz="850" dirty="0">
                          <a:solidFill>
                            <a:srgbClr val="202124"/>
                          </a:solidFill>
                          <a:latin typeface="Calibri" pitchFamily="34" charset="0"/>
                          <a:ea typeface="Calibri" pitchFamily="34" charset="-122"/>
                          <a:cs typeface="Calibri" pitchFamily="34" charset="-120"/>
                        </a:rPr>
                        <a:t>Declarative YAML: budgets, loop detection, safe-tool, goal drift</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DEEE4"/>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TSDK</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2410C"/>
                    </a:solidFill>
                  </a:tcPr>
                </a:tc>
              </a:tr>
              <a:tr h="301752">
                <a:tc>
                  <a:txBody>
                    <a:bodyPr/>
                    <a:lstStyle/>
                    <a:p>
                      <a:pPr indent="0" marL="0">
                        <a:buNone/>
                      </a:pPr>
                      <a:r>
                        <a:rPr lang="en-US" sz="900" b="1" dirty="0">
                          <a:solidFill>
                            <a:srgbClr val="202124"/>
                          </a:solidFill>
                          <a:latin typeface="Calibri" pitchFamily="34" charset="0"/>
                          <a:ea typeface="Calibri" pitchFamily="34" charset="-122"/>
                          <a:cs typeface="Calibri" pitchFamily="34" charset="-120"/>
                        </a:rPr>
                        <a:t>Multi-agent orchestration</a:t>
                      </a:r>
                      <a:endParaRPr lang="en-US" sz="90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3F4"/>
                    </a:solidFill>
                  </a:tcPr>
                </a:tc>
                <a:tc>
                  <a:txBody>
                    <a:bodyPr/>
                    <a:lstStyle/>
                    <a:p>
                      <a:pPr indent="0" marL="0">
                        <a:buNone/>
                      </a:pPr>
                      <a:r>
                        <a:rPr lang="en-US" sz="850" dirty="0">
                          <a:solidFill>
                            <a:srgbClr val="202124"/>
                          </a:solidFill>
                          <a:latin typeface="Calibri" pitchFamily="34" charset="0"/>
                          <a:ea typeface="Calibri" pitchFamily="34" charset="-122"/>
                          <a:cs typeface="Calibri" pitchFamily="34" charset="-120"/>
                        </a:rPr>
                        <a:t>sub_agents, workflow agents, A2A (to_a2a / RemoteA2aAgent)</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F0FE"/>
                    </a:solidFill>
                  </a:tcPr>
                </a:tc>
                <a:tc>
                  <a:txBody>
                    <a:bodyPr/>
                    <a:lstStyle/>
                    <a:p>
                      <a:pPr indent="0" marL="0">
                        <a:buNone/>
                      </a:pPr>
                      <a:r>
                        <a:rPr lang="en-US" sz="850" dirty="0">
                          <a:solidFill>
                            <a:srgbClr val="202124"/>
                          </a:solidFill>
                          <a:latin typeface="Calibri" pitchFamily="34" charset="0"/>
                          <a:ea typeface="Calibri" pitchFamily="34" charset="-122"/>
                          <a:cs typeface="Calibri" pitchFamily="34" charset="-120"/>
                        </a:rPr>
                        <a:t>A2A discovery + token exchange on WF infra</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DEEE4"/>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BOTH</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6B4C9A"/>
                    </a:solidFill>
                  </a:tcPr>
                </a:tc>
              </a:tr>
              <a:tr h="301752">
                <a:tc>
                  <a:txBody>
                    <a:bodyPr/>
                    <a:lstStyle/>
                    <a:p>
                      <a:pPr indent="0" marL="0">
                        <a:buNone/>
                      </a:pPr>
                      <a:r>
                        <a:rPr lang="en-US" sz="900" b="1" dirty="0">
                          <a:solidFill>
                            <a:srgbClr val="202124"/>
                          </a:solidFill>
                          <a:latin typeface="Calibri" pitchFamily="34" charset="0"/>
                          <a:ea typeface="Calibri" pitchFamily="34" charset="-122"/>
                          <a:cs typeface="Calibri" pitchFamily="34" charset="-120"/>
                        </a:rPr>
                        <a:t>Observability</a:t>
                      </a:r>
                      <a:endParaRPr lang="en-US" sz="90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3F4"/>
                    </a:solidFill>
                  </a:tcPr>
                </a:tc>
                <a:tc>
                  <a:txBody>
                    <a:bodyPr/>
                    <a:lstStyle/>
                    <a:p>
                      <a:pPr indent="0" marL="0">
                        <a:buNone/>
                      </a:pPr>
                      <a:r>
                        <a:rPr lang="en-US" sz="850" dirty="0">
                          <a:solidFill>
                            <a:srgbClr val="202124"/>
                          </a:solidFill>
                          <a:latin typeface="Calibri" pitchFamily="34" charset="0"/>
                          <a:ea typeface="Calibri" pitchFamily="34" charset="-122"/>
                          <a:cs typeface="Calibri" pitchFamily="34" charset="-120"/>
                        </a:rPr>
                        <a:t>OpenTelemetry instrumentation, Dev UI trace view</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F0FE"/>
                    </a:solidFill>
                  </a:tcPr>
                </a:tc>
                <a:tc>
                  <a:txBody>
                    <a:bodyPr/>
                    <a:lstStyle/>
                    <a:p>
                      <a:pPr indent="0" marL="0">
                        <a:buNone/>
                      </a:pPr>
                      <a:r>
                        <a:rPr lang="en-US" sz="850" dirty="0">
                          <a:solidFill>
                            <a:srgbClr val="202124"/>
                          </a:solidFill>
                          <a:latin typeface="Calibri" pitchFamily="34" charset="0"/>
                          <a:ea typeface="Calibri" pitchFamily="34" charset="-122"/>
                          <a:cs typeface="Calibri" pitchFamily="34" charset="-120"/>
                        </a:rPr>
                        <a:t>Arize Phoenix + OTel export; Overwatch monitoring</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DEEE4"/>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BOTH</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6B4C9A"/>
                    </a:solidFill>
                  </a:tcPr>
                </a:tc>
              </a:tr>
              <a:tr h="301752">
                <a:tc>
                  <a:txBody>
                    <a:bodyPr/>
                    <a:lstStyle/>
                    <a:p>
                      <a:pPr indent="0" marL="0">
                        <a:buNone/>
                      </a:pPr>
                      <a:r>
                        <a:rPr lang="en-US" sz="900" b="1" dirty="0">
                          <a:solidFill>
                            <a:srgbClr val="202124"/>
                          </a:solidFill>
                          <a:latin typeface="Calibri" pitchFamily="34" charset="0"/>
                          <a:ea typeface="Calibri" pitchFamily="34" charset="-122"/>
                          <a:cs typeface="Calibri" pitchFamily="34" charset="-120"/>
                        </a:rPr>
                        <a:t>MMR compliance</a:t>
                      </a:r>
                      <a:endParaRPr lang="en-US" sz="90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3F4"/>
                    </a:solidFill>
                  </a:tcPr>
                </a:tc>
                <a:tc>
                  <a:txBody>
                    <a:bodyPr/>
                    <a:lstStyle/>
                    <a:p>
                      <a:pPr indent="0" marL="0">
                        <a:buNone/>
                      </a:pPr>
                      <a:r>
                        <a:rPr lang="en-US" sz="850" dirty="0">
                          <a:solidFill>
                            <a:srgbClr val="9AA0A6"/>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850" dirty="0">
                          <a:solidFill>
                            <a:srgbClr val="202124"/>
                          </a:solidFill>
                          <a:latin typeface="Calibri" pitchFamily="34" charset="0"/>
                          <a:ea typeface="Calibri" pitchFamily="34" charset="-122"/>
                          <a:cs typeface="Calibri" pitchFamily="34" charset="-120"/>
                        </a:rPr>
                        <a:t>Registry + guardrails + evals + observability = one approval surface</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DEEE4"/>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TSDK</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2410C"/>
                    </a:solidFill>
                  </a:tcPr>
                </a:tc>
              </a:tr>
              <a:tr h="301752">
                <a:tc>
                  <a:txBody>
                    <a:bodyPr/>
                    <a:lstStyle/>
                    <a:p>
                      <a:pPr indent="0" marL="0">
                        <a:buNone/>
                      </a:pPr>
                      <a:r>
                        <a:rPr lang="en-US" sz="900" b="1" dirty="0">
                          <a:solidFill>
                            <a:srgbClr val="202124"/>
                          </a:solidFill>
                          <a:latin typeface="Calibri" pitchFamily="34" charset="0"/>
                          <a:ea typeface="Calibri" pitchFamily="34" charset="-122"/>
                          <a:cs typeface="Calibri" pitchFamily="34" charset="-120"/>
                        </a:rPr>
                        <a:t>Deployment</a:t>
                      </a:r>
                      <a:endParaRPr lang="en-US" sz="90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3F4"/>
                    </a:solidFill>
                  </a:tcPr>
                </a:tc>
                <a:tc>
                  <a:txBody>
                    <a:bodyPr/>
                    <a:lstStyle/>
                    <a:p>
                      <a:pPr indent="0" marL="0">
                        <a:buNone/>
                      </a:pPr>
                      <a:r>
                        <a:rPr lang="en-US" sz="850" dirty="0">
                          <a:solidFill>
                            <a:srgbClr val="202124"/>
                          </a:solidFill>
                          <a:latin typeface="Calibri" pitchFamily="34" charset="0"/>
                          <a:ea typeface="Calibri" pitchFamily="34" charset="-122"/>
                          <a:cs typeface="Calibri" pitchFamily="34" charset="-120"/>
                        </a:rPr>
                        <a:t>Cloud Run / GKE / Agent Engine / container</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F0FE"/>
                    </a:solidFill>
                  </a:tcPr>
                </a:tc>
                <a:tc>
                  <a:txBody>
                    <a:bodyPr/>
                    <a:lstStyle/>
                    <a:p>
                      <a:pPr indent="0" marL="0">
                        <a:buNone/>
                      </a:pPr>
                      <a:r>
                        <a:rPr lang="en-US" sz="850" dirty="0">
                          <a:solidFill>
                            <a:srgbClr val="202124"/>
                          </a:solidFill>
                          <a:latin typeface="Calibri" pitchFamily="34" charset="0"/>
                          <a:ea typeface="Calibri" pitchFamily="34" charset="-122"/>
                          <a:cs typeface="Calibri" pitchFamily="34" charset="-120"/>
                        </a:rPr>
                        <a:t>OCP via EPLX pipeline on WF infrastructure</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DEEE4"/>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TSDK</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2410C"/>
                    </a:solidFill>
                  </a:tcPr>
                </a:tc>
              </a:tr>
              <a:tr h="301752">
                <a:tc>
                  <a:txBody>
                    <a:bodyPr/>
                    <a:lstStyle/>
                    <a:p>
                      <a:pPr indent="0" marL="0">
                        <a:buNone/>
                      </a:pPr>
                      <a:r>
                        <a:rPr lang="en-US" sz="900" b="1" dirty="0">
                          <a:solidFill>
                            <a:srgbClr val="202124"/>
                          </a:solidFill>
                          <a:latin typeface="Calibri" pitchFamily="34" charset="0"/>
                          <a:ea typeface="Calibri" pitchFamily="34" charset="-122"/>
                          <a:cs typeface="Calibri" pitchFamily="34" charset="-120"/>
                        </a:rPr>
                        <a:t>Cost model</a:t>
                      </a:r>
                      <a:endParaRPr lang="en-US" sz="90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3F4"/>
                    </a:solidFill>
                  </a:tcPr>
                </a:tc>
                <a:tc>
                  <a:txBody>
                    <a:bodyPr/>
                    <a:lstStyle/>
                    <a:p>
                      <a:pPr indent="0" marL="0">
                        <a:buNone/>
                      </a:pPr>
                      <a:r>
                        <a:rPr lang="en-US" sz="850" dirty="0">
                          <a:solidFill>
                            <a:srgbClr val="202124"/>
                          </a:solidFill>
                          <a:latin typeface="Calibri" pitchFamily="34" charset="0"/>
                          <a:ea typeface="Calibri" pitchFamily="34" charset="-122"/>
                          <a:cs typeface="Calibri" pitchFamily="34" charset="-120"/>
                        </a:rPr>
                        <a:t>Open-source SDK (no licence)</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F0FE"/>
                    </a:solidFill>
                  </a:tcPr>
                </a:tc>
                <a:tc>
                  <a:txBody>
                    <a:bodyPr/>
                    <a:lstStyle/>
                    <a:p>
                      <a:pPr indent="0" marL="0">
                        <a:buNone/>
                      </a:pPr>
                      <a:r>
                        <a:rPr lang="en-US" sz="850" dirty="0">
                          <a:solidFill>
                            <a:srgbClr val="202124"/>
                          </a:solidFill>
                          <a:latin typeface="Calibri" pitchFamily="34" charset="0"/>
                          <a:ea typeface="Calibri" pitchFamily="34" charset="-122"/>
                          <a:cs typeface="Calibri" pitchFamily="34" charset="-120"/>
                        </a:rPr>
                        <a:t>Internal platform, predictable run-rate</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DEEE4"/>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TSDK</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2410C"/>
                    </a:solidFill>
                  </a:tcPr>
                </a:tc>
              </a:tr>
            </a:tbl>
          </a:graphicData>
        </a:graphic>
      </p:graphicFrame>
      <p:sp>
        <p:nvSpPr>
          <p:cNvPr id="5" name="Text 2"/>
          <p:cNvSpPr txBox="1"/>
          <p:nvPr/>
        </p:nvSpPr>
        <p:spPr>
          <a:xfrm>
            <a:off x="7863840" y="6355080"/>
            <a:ext cx="3749040" cy="310896"/>
          </a:xfrm>
          <a:prstGeom prst="rect">
            <a:avLst/>
          </a:prstGeom>
          <a:noFill/>
          <a:ln/>
        </p:spPr>
        <p:txBody>
          <a:bodyPr wrap="square" lIns="508" tIns="508" rIns="508" bIns="508" rtlCol="0" anchor="ctr"/>
          <a:lstStyle/>
          <a:p>
            <a:pPr algn="r" indent="0" marL="0">
              <a:lnSpc>
                <a:spcPct val="105000"/>
              </a:lnSpc>
              <a:buNone/>
            </a:pPr>
            <a:r>
              <a:rPr lang="en-US" sz="900" dirty="0">
                <a:solidFill>
                  <a:srgbClr val="9AA0A6"/>
                </a:solidFill>
                <a:latin typeface="Calibri" pitchFamily="34" charset="0"/>
                <a:ea typeface="Calibri" pitchFamily="34" charset="-122"/>
                <a:cs typeface="Calibri" pitchFamily="34" charset="-120"/>
              </a:rPr>
              <a:t>Fargo platform – internal</a:t>
            </a:r>
            <a:endParaRPr lang="en-US" sz="900" dirty="0"/>
          </a:p>
        </p:txBody>
      </p:sp>
      <p:sp>
        <p:nvSpPr>
          <p:cNvPr id="6" name="Text 3"/>
          <p:cNvSpPr txBox="1"/>
          <p:nvPr/>
        </p:nvSpPr>
        <p:spPr>
          <a:xfrm>
            <a:off x="11658600" y="6355080"/>
            <a:ext cx="365760" cy="310896"/>
          </a:xfrm>
          <a:prstGeom prst="rect">
            <a:avLst/>
          </a:prstGeom>
          <a:noFill/>
          <a:ln/>
        </p:spPr>
        <p:txBody>
          <a:bodyPr wrap="square" lIns="508" tIns="508" rIns="508" bIns="508" rtlCol="0" anchor="ctr"/>
          <a:lstStyle/>
          <a:p>
            <a:pPr algn="r" indent="0" marL="0">
              <a:lnSpc>
                <a:spcPct val="105000"/>
              </a:lnSpc>
              <a:buNone/>
            </a:pPr>
            <a:r>
              <a:rPr lang="en-US" sz="900" dirty="0">
                <a:solidFill>
                  <a:srgbClr val="9AA0A6"/>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457200"/>
            <a:ext cx="11064240" cy="548640"/>
          </a:xfrm>
          <a:prstGeom prst="rect">
            <a:avLst/>
          </a:prstGeom>
          <a:noFill/>
          <a:ln/>
        </p:spPr>
        <p:txBody>
          <a:bodyPr wrap="square" lIns="508" tIns="508" rIns="508" bIns="508" rtlCol="0" anchor="t"/>
          <a:lstStyle/>
          <a:p>
            <a:pPr algn="l" indent="0" marL="0">
              <a:lnSpc>
                <a:spcPct val="105000"/>
              </a:lnSpc>
              <a:buNone/>
            </a:pPr>
            <a:r>
              <a:rPr lang="en-US" sz="2600" b="1" dirty="0">
                <a:solidFill>
                  <a:srgbClr val="1B1F3B"/>
                </a:solidFill>
                <a:latin typeface="Calibri" pitchFamily="34" charset="0"/>
                <a:ea typeface="Calibri" pitchFamily="34" charset="-122"/>
                <a:cs typeface="Calibri" pitchFamily="34" charset="-120"/>
              </a:rPr>
              <a:t>Summary</a:t>
            </a:r>
            <a:endParaRPr lang="en-US" sz="2600" dirty="0"/>
          </a:p>
        </p:txBody>
      </p:sp>
      <p:sp>
        <p:nvSpPr>
          <p:cNvPr id="3" name="Text 1"/>
          <p:cNvSpPr txBox="1"/>
          <p:nvPr/>
        </p:nvSpPr>
        <p:spPr>
          <a:xfrm>
            <a:off x="548640" y="1051560"/>
            <a:ext cx="11064240" cy="457200"/>
          </a:xfrm>
          <a:prstGeom prst="rect">
            <a:avLst/>
          </a:prstGeom>
          <a:noFill/>
          <a:ln/>
        </p:spPr>
        <p:txBody>
          <a:bodyPr wrap="square" lIns="508" tIns="508" rIns="508" bIns="508" rtlCol="0" anchor="t"/>
          <a:lstStyle/>
          <a:p>
            <a:pPr algn="l" indent="0" marL="0">
              <a:lnSpc>
                <a:spcPct val="105000"/>
              </a:lnSpc>
              <a:buNone/>
            </a:pPr>
            <a:r>
              <a:rPr lang="en-US" sz="1300" dirty="0">
                <a:solidFill>
                  <a:srgbClr val="5F6368"/>
                </a:solidFill>
                <a:latin typeface="Calibri" pitchFamily="34" charset="0"/>
                <a:ea typeface="Calibri" pitchFamily="34" charset="-122"/>
                <a:cs typeface="Calibri" pitchFamily="34" charset="-120"/>
              </a:rPr>
              <a:t>ADK builds the agent, TSDK wires it into the platform, Tachyon runs the services.</a:t>
            </a:r>
            <a:endParaRPr lang="en-US" sz="1300" dirty="0"/>
          </a:p>
        </p:txBody>
      </p:sp>
      <p:sp>
        <p:nvSpPr>
          <p:cNvPr id="4" name="Shape 2"/>
          <p:cNvSpPr/>
          <p:nvPr/>
        </p:nvSpPr>
        <p:spPr>
          <a:xfrm>
            <a:off x="548640" y="1737360"/>
            <a:ext cx="3383280" cy="2926080"/>
          </a:xfrm>
          <a:prstGeom prst="roundRect">
            <a:avLst>
              <a:gd name="adj" fmla="val 3125"/>
            </a:avLst>
          </a:prstGeom>
          <a:solidFill>
            <a:srgbClr val="E8F0FE"/>
          </a:solidFill>
          <a:ln w="15875">
            <a:solidFill>
              <a:srgbClr val="1A73E8"/>
            </a:solidFill>
            <a:prstDash val="solid"/>
          </a:ln>
        </p:spPr>
      </p:sp>
      <p:sp>
        <p:nvSpPr>
          <p:cNvPr id="5" name="Shape 3"/>
          <p:cNvSpPr/>
          <p:nvPr/>
        </p:nvSpPr>
        <p:spPr>
          <a:xfrm>
            <a:off x="731520" y="1920240"/>
            <a:ext cx="457200" cy="457200"/>
          </a:xfrm>
          <a:prstGeom prst="roundRect">
            <a:avLst>
              <a:gd name="adj" fmla="val 50000"/>
            </a:avLst>
          </a:prstGeom>
          <a:solidFill>
            <a:srgbClr val="1A73E8"/>
          </a:solidFill>
          <a:ln w="12700">
            <a:solidFill>
              <a:srgbClr val="1A73E8"/>
            </a:solidFill>
            <a:prstDash val="solid"/>
          </a:ln>
        </p:spPr>
      </p:sp>
      <p:sp>
        <p:nvSpPr>
          <p:cNvPr id="6" name="Text 4"/>
          <p:cNvSpPr txBox="1"/>
          <p:nvPr/>
        </p:nvSpPr>
        <p:spPr>
          <a:xfrm>
            <a:off x="1325880" y="1920240"/>
            <a:ext cx="2468880" cy="457200"/>
          </a:xfrm>
          <a:prstGeom prst="rect">
            <a:avLst/>
          </a:prstGeom>
          <a:noFill/>
          <a:ln/>
        </p:spPr>
        <p:txBody>
          <a:bodyPr wrap="square" lIns="508" tIns="508" rIns="508" bIns="508" rtlCol="0" anchor="ctr"/>
          <a:lstStyle/>
          <a:p>
            <a:pPr algn="l" indent="0" marL="0">
              <a:lnSpc>
                <a:spcPct val="105000"/>
              </a:lnSpc>
              <a:buNone/>
            </a:pPr>
            <a:r>
              <a:rPr lang="en-US" sz="1400" b="1" dirty="0">
                <a:solidFill>
                  <a:srgbClr val="1A73E8"/>
                </a:solidFill>
                <a:latin typeface="Calibri" pitchFamily="34" charset="0"/>
                <a:ea typeface="Calibri" pitchFamily="34" charset="-122"/>
                <a:cs typeface="Calibri" pitchFamily="34" charset="-120"/>
              </a:rPr>
              <a:t>Google ADK core</a:t>
            </a:r>
            <a:endParaRPr lang="en-US" sz="1400" dirty="0"/>
          </a:p>
        </p:txBody>
      </p:sp>
      <p:sp>
        <p:nvSpPr>
          <p:cNvPr id="7" name="Text 5"/>
          <p:cNvSpPr txBox="1"/>
          <p:nvPr/>
        </p:nvSpPr>
        <p:spPr>
          <a:xfrm>
            <a:off x="731520" y="2560320"/>
            <a:ext cx="3017520" cy="2011680"/>
          </a:xfrm>
          <a:prstGeom prst="rect">
            <a:avLst/>
          </a:prstGeom>
          <a:noFill/>
          <a:ln/>
        </p:spPr>
        <p:txBody>
          <a:bodyPr wrap="square" lIns="508" tIns="508" rIns="508" bIns="508" rtlCol="0" anchor="t"/>
          <a:lstStyle/>
          <a:p>
            <a:pPr algn="l" marL="342900" indent="-342900">
              <a:lnSpc>
                <a:spcPct val="105000"/>
              </a:lnSpc>
              <a:spcAft>
                <a:spcPts val="600"/>
              </a:spcAft>
              <a:buSzPct val="100000"/>
              <a:buChar char="•"/>
            </a:pPr>
            <a:r>
              <a:rPr lang="en-US" sz="1100" dirty="0">
                <a:solidFill>
                  <a:srgbClr val="202124"/>
                </a:solidFill>
                <a:latin typeface="Calibri" pitchFamily="34" charset="0"/>
                <a:ea typeface="Calibri" pitchFamily="34" charset="-122"/>
                <a:cs typeface="Calibri" pitchFamily="34" charset="-120"/>
              </a:rPr>
              <a:t>Agent definition (LlmAgent, workflow agents)</a:t>
            </a:r>
            <a:endParaRPr lang="en-US" sz="1100" dirty="0"/>
          </a:p>
          <a:p>
            <a:pPr algn="l" marL="342900" indent="-342900">
              <a:lnSpc>
                <a:spcPct val="105000"/>
              </a:lnSpc>
              <a:spcAft>
                <a:spcPts val="600"/>
              </a:spcAft>
              <a:buSzPct val="100000"/>
              <a:buChar char="•"/>
            </a:pPr>
            <a:r>
              <a:rPr lang="en-US" sz="1100" dirty="0">
                <a:solidFill>
                  <a:srgbClr val="202124"/>
                </a:solidFill>
                <a:latin typeface="Calibri" pitchFamily="34" charset="0"/>
                <a:ea typeface="Calibri" pitchFamily="34" charset="-122"/>
                <a:cs typeface="Calibri" pitchFamily="34" charset="-120"/>
              </a:rPr>
              <a:t>Reasoning loop, Runner &amp; event stream</a:t>
            </a:r>
            <a:endParaRPr lang="en-US" sz="1100" dirty="0"/>
          </a:p>
          <a:p>
            <a:pPr algn="l" marL="342900" indent="-342900">
              <a:lnSpc>
                <a:spcPct val="105000"/>
              </a:lnSpc>
              <a:spcAft>
                <a:spcPts val="600"/>
              </a:spcAft>
              <a:buSzPct val="100000"/>
              <a:buChar char="•"/>
            </a:pPr>
            <a:r>
              <a:rPr lang="en-US" sz="1100" dirty="0">
                <a:solidFill>
                  <a:srgbClr val="202124"/>
                </a:solidFill>
                <a:latin typeface="Calibri" pitchFamily="34" charset="0"/>
                <a:ea typeface="Calibri" pitchFamily="34" charset="-122"/>
                <a:cs typeface="Calibri" pitchFamily="34" charset="-120"/>
              </a:rPr>
              <a:t>Tool &amp; MCP client abstractions</a:t>
            </a:r>
            <a:endParaRPr lang="en-US" sz="1100" dirty="0"/>
          </a:p>
          <a:p>
            <a:pPr algn="l" marL="342900" indent="-342900">
              <a:lnSpc>
                <a:spcPct val="105000"/>
              </a:lnSpc>
              <a:spcAft>
                <a:spcPts val="600"/>
              </a:spcAft>
              <a:buSzPct val="100000"/>
              <a:buChar char="•"/>
            </a:pPr>
            <a:r>
              <a:rPr lang="en-US" sz="1100" dirty="0">
                <a:solidFill>
                  <a:srgbClr val="202124"/>
                </a:solidFill>
                <a:latin typeface="Calibri" pitchFamily="34" charset="0"/>
                <a:ea typeface="Calibri" pitchFamily="34" charset="-122"/>
                <a:cs typeface="Calibri" pitchFamily="34" charset="-120"/>
              </a:rPr>
              <a:t>Session / State / Memory interfaces</a:t>
            </a:r>
            <a:endParaRPr lang="en-US" sz="1100" dirty="0"/>
          </a:p>
          <a:p>
            <a:pPr algn="l" marL="342900" indent="-342900">
              <a:lnSpc>
                <a:spcPct val="105000"/>
              </a:lnSpc>
              <a:spcAft>
                <a:spcPts val="600"/>
              </a:spcAft>
              <a:buSzPct val="100000"/>
              <a:buChar char="•"/>
            </a:pPr>
            <a:r>
              <a:rPr lang="en-US" sz="1100" dirty="0">
                <a:solidFill>
                  <a:srgbClr val="202124"/>
                </a:solidFill>
                <a:latin typeface="Calibri" pitchFamily="34" charset="0"/>
                <a:ea typeface="Calibri" pitchFamily="34" charset="-122"/>
                <a:cs typeface="Calibri" pitchFamily="34" charset="-120"/>
              </a:rPr>
              <a:t>Callback seams and A2A primitives</a:t>
            </a:r>
            <a:endParaRPr lang="en-US" sz="1100" dirty="0"/>
          </a:p>
        </p:txBody>
      </p:sp>
      <p:sp>
        <p:nvSpPr>
          <p:cNvPr id="8" name="Shape 6"/>
          <p:cNvSpPr/>
          <p:nvPr/>
        </p:nvSpPr>
        <p:spPr>
          <a:xfrm>
            <a:off x="4389120" y="1737360"/>
            <a:ext cx="3383280" cy="2926080"/>
          </a:xfrm>
          <a:prstGeom prst="roundRect">
            <a:avLst>
              <a:gd name="adj" fmla="val 3125"/>
            </a:avLst>
          </a:prstGeom>
          <a:solidFill>
            <a:srgbClr val="EFE9F7"/>
          </a:solidFill>
          <a:ln w="15875">
            <a:solidFill>
              <a:srgbClr val="6B4C9A"/>
            </a:solidFill>
            <a:prstDash val="solid"/>
          </a:ln>
        </p:spPr>
      </p:sp>
      <p:sp>
        <p:nvSpPr>
          <p:cNvPr id="9" name="Shape 7"/>
          <p:cNvSpPr/>
          <p:nvPr/>
        </p:nvSpPr>
        <p:spPr>
          <a:xfrm>
            <a:off x="4572000" y="1920240"/>
            <a:ext cx="457200" cy="457200"/>
          </a:xfrm>
          <a:prstGeom prst="roundRect">
            <a:avLst>
              <a:gd name="adj" fmla="val 50000"/>
            </a:avLst>
          </a:prstGeom>
          <a:solidFill>
            <a:srgbClr val="6B4C9A"/>
          </a:solidFill>
          <a:ln w="12700">
            <a:solidFill>
              <a:srgbClr val="6B4C9A"/>
            </a:solidFill>
            <a:prstDash val="solid"/>
          </a:ln>
        </p:spPr>
      </p:sp>
      <p:sp>
        <p:nvSpPr>
          <p:cNvPr id="10" name="Text 8"/>
          <p:cNvSpPr txBox="1"/>
          <p:nvPr/>
        </p:nvSpPr>
        <p:spPr>
          <a:xfrm>
            <a:off x="5166360" y="1920240"/>
            <a:ext cx="2468880" cy="457200"/>
          </a:xfrm>
          <a:prstGeom prst="rect">
            <a:avLst/>
          </a:prstGeom>
          <a:noFill/>
          <a:ln/>
        </p:spPr>
        <p:txBody>
          <a:bodyPr wrap="square" lIns="508" tIns="508" rIns="508" bIns="508" rtlCol="0" anchor="ctr"/>
          <a:lstStyle/>
          <a:p>
            <a:pPr algn="l" indent="0" marL="0">
              <a:lnSpc>
                <a:spcPct val="105000"/>
              </a:lnSpc>
              <a:buNone/>
            </a:pPr>
            <a:r>
              <a:rPr lang="en-US" sz="1400" b="1" dirty="0">
                <a:solidFill>
                  <a:srgbClr val="6B4C9A"/>
                </a:solidFill>
                <a:latin typeface="Calibri" pitchFamily="34" charset="0"/>
                <a:ea typeface="Calibri" pitchFamily="34" charset="-122"/>
                <a:cs typeface="Calibri" pitchFamily="34" charset="-120"/>
              </a:rPr>
              <a:t>TSDK library adds</a:t>
            </a:r>
            <a:endParaRPr lang="en-US" sz="1400" dirty="0"/>
          </a:p>
        </p:txBody>
      </p:sp>
      <p:sp>
        <p:nvSpPr>
          <p:cNvPr id="11" name="Text 9"/>
          <p:cNvSpPr txBox="1"/>
          <p:nvPr/>
        </p:nvSpPr>
        <p:spPr>
          <a:xfrm>
            <a:off x="4572000" y="2560320"/>
            <a:ext cx="3017520" cy="2011680"/>
          </a:xfrm>
          <a:prstGeom prst="rect">
            <a:avLst/>
          </a:prstGeom>
          <a:noFill/>
          <a:ln/>
        </p:spPr>
        <p:txBody>
          <a:bodyPr wrap="square" lIns="508" tIns="508" rIns="508" bIns="508" rtlCol="0" anchor="t"/>
          <a:lstStyle/>
          <a:p>
            <a:pPr algn="l" marL="342900" indent="-342900">
              <a:lnSpc>
                <a:spcPct val="105000"/>
              </a:lnSpc>
              <a:spcAft>
                <a:spcPts val="600"/>
              </a:spcAft>
              <a:buSzPct val="100000"/>
              <a:buChar char="•"/>
            </a:pPr>
            <a:r>
              <a:rPr lang="en-US" sz="1100" dirty="0">
                <a:solidFill>
                  <a:srgbClr val="202124"/>
                </a:solidFill>
                <a:latin typeface="Calibri" pitchFamily="34" charset="0"/>
                <a:ea typeface="Calibri" pitchFamily="34" charset="-122"/>
                <a:cs typeface="Calibri" pitchFamily="34" charset="-120"/>
              </a:rPr>
              <a:t>Wrapper classes around ADK agents</a:t>
            </a:r>
            <a:endParaRPr lang="en-US" sz="1100" dirty="0"/>
          </a:p>
          <a:p>
            <a:pPr algn="l" marL="342900" indent="-342900">
              <a:lnSpc>
                <a:spcPct val="105000"/>
              </a:lnSpc>
              <a:spcAft>
                <a:spcPts val="600"/>
              </a:spcAft>
              <a:buSzPct val="100000"/>
              <a:buChar char="•"/>
            </a:pPr>
            <a:r>
              <a:rPr lang="en-US" sz="1100" dirty="0">
                <a:solidFill>
                  <a:srgbClr val="202124"/>
                </a:solidFill>
                <a:latin typeface="Calibri" pitchFamily="34" charset="0"/>
                <a:ea typeface="Calibri" pitchFamily="34" charset="-122"/>
                <a:cs typeface="Calibri" pitchFamily="34" charset="-120"/>
              </a:rPr>
              <a:t>Auto-registration with Tachyon on construction</a:t>
            </a:r>
            <a:endParaRPr lang="en-US" sz="1100" dirty="0"/>
          </a:p>
          <a:p>
            <a:pPr algn="l" marL="342900" indent="-342900">
              <a:lnSpc>
                <a:spcPct val="105000"/>
              </a:lnSpc>
              <a:spcAft>
                <a:spcPts val="600"/>
              </a:spcAft>
              <a:buSzPct val="100000"/>
              <a:buChar char="•"/>
            </a:pPr>
            <a:r>
              <a:rPr lang="en-US" sz="1100" dirty="0">
                <a:solidFill>
                  <a:srgbClr val="202124"/>
                </a:solidFill>
                <a:latin typeface="Calibri" pitchFamily="34" charset="0"/>
                <a:ea typeface="Calibri" pitchFamily="34" charset="-122"/>
                <a:cs typeface="Calibri" pitchFamily="34" charset="-120"/>
              </a:rPr>
              <a:t>Arize / OTel tracer attached automatically</a:t>
            </a:r>
            <a:endParaRPr lang="en-US" sz="1100" dirty="0"/>
          </a:p>
          <a:p>
            <a:pPr algn="l" marL="342900" indent="-342900">
              <a:lnSpc>
                <a:spcPct val="105000"/>
              </a:lnSpc>
              <a:spcAft>
                <a:spcPts val="600"/>
              </a:spcAft>
              <a:buSzPct val="100000"/>
              <a:buChar char="•"/>
            </a:pPr>
            <a:r>
              <a:rPr lang="en-US" sz="1100" dirty="0">
                <a:solidFill>
                  <a:srgbClr val="202124"/>
                </a:solidFill>
                <a:latin typeface="Calibri" pitchFamily="34" charset="0"/>
                <a:ea typeface="Calibri" pitchFamily="34" charset="-122"/>
                <a:cs typeface="Calibri" pitchFamily="34" charset="-120"/>
              </a:rPr>
              <a:t>Callbacks pre-wired to Bridge, guardrails, Overwatch</a:t>
            </a:r>
            <a:endParaRPr lang="en-US" sz="1100" dirty="0"/>
          </a:p>
          <a:p>
            <a:pPr algn="l" marL="342900" indent="-342900">
              <a:lnSpc>
                <a:spcPct val="105000"/>
              </a:lnSpc>
              <a:spcAft>
                <a:spcPts val="600"/>
              </a:spcAft>
              <a:buSzPct val="100000"/>
              <a:buChar char="•"/>
            </a:pPr>
            <a:r>
              <a:rPr lang="en-US" sz="1100" dirty="0">
                <a:solidFill>
                  <a:srgbClr val="202124"/>
                </a:solidFill>
                <a:latin typeface="Calibri" pitchFamily="34" charset="0"/>
                <a:ea typeface="Calibri" pitchFamily="34" charset="-122"/>
                <a:cs typeface="Calibri" pitchFamily="34" charset="-120"/>
              </a:rPr>
              <a:t>Session, memory, MCP and A2A adapters</a:t>
            </a:r>
            <a:endParaRPr lang="en-US" sz="1100" dirty="0"/>
          </a:p>
        </p:txBody>
      </p:sp>
      <p:sp>
        <p:nvSpPr>
          <p:cNvPr id="12" name="Shape 10"/>
          <p:cNvSpPr/>
          <p:nvPr/>
        </p:nvSpPr>
        <p:spPr>
          <a:xfrm>
            <a:off x="8229600" y="1737360"/>
            <a:ext cx="3383280" cy="2926080"/>
          </a:xfrm>
          <a:prstGeom prst="roundRect">
            <a:avLst>
              <a:gd name="adj" fmla="val 3125"/>
            </a:avLst>
          </a:prstGeom>
          <a:solidFill>
            <a:srgbClr val="FDEEE4"/>
          </a:solidFill>
          <a:ln w="15875">
            <a:solidFill>
              <a:srgbClr val="C2410C"/>
            </a:solidFill>
            <a:prstDash val="solid"/>
          </a:ln>
        </p:spPr>
      </p:sp>
      <p:sp>
        <p:nvSpPr>
          <p:cNvPr id="13" name="Shape 11"/>
          <p:cNvSpPr/>
          <p:nvPr/>
        </p:nvSpPr>
        <p:spPr>
          <a:xfrm>
            <a:off x="8412480" y="1920240"/>
            <a:ext cx="457200" cy="457200"/>
          </a:xfrm>
          <a:prstGeom prst="roundRect">
            <a:avLst>
              <a:gd name="adj" fmla="val 50000"/>
            </a:avLst>
          </a:prstGeom>
          <a:solidFill>
            <a:srgbClr val="C2410C"/>
          </a:solidFill>
          <a:ln w="12700">
            <a:solidFill>
              <a:srgbClr val="C2410C"/>
            </a:solidFill>
            <a:prstDash val="solid"/>
          </a:ln>
        </p:spPr>
      </p:sp>
      <p:sp>
        <p:nvSpPr>
          <p:cNvPr id="14" name="Text 12"/>
          <p:cNvSpPr txBox="1"/>
          <p:nvPr/>
        </p:nvSpPr>
        <p:spPr>
          <a:xfrm>
            <a:off x="9006840" y="1920240"/>
            <a:ext cx="2468880" cy="457200"/>
          </a:xfrm>
          <a:prstGeom prst="rect">
            <a:avLst/>
          </a:prstGeom>
          <a:noFill/>
          <a:ln/>
        </p:spPr>
        <p:txBody>
          <a:bodyPr wrap="square" lIns="508" tIns="508" rIns="508" bIns="508" rtlCol="0" anchor="ctr"/>
          <a:lstStyle/>
          <a:p>
            <a:pPr algn="l" indent="0" marL="0">
              <a:lnSpc>
                <a:spcPct val="105000"/>
              </a:lnSpc>
              <a:buNone/>
            </a:pPr>
            <a:r>
              <a:rPr lang="en-US" sz="1400" b="1" dirty="0">
                <a:solidFill>
                  <a:srgbClr val="C2410C"/>
                </a:solidFill>
                <a:latin typeface="Calibri" pitchFamily="34" charset="0"/>
                <a:ea typeface="Calibri" pitchFamily="34" charset="-122"/>
                <a:cs typeface="Calibri" pitchFamily="34" charset="-120"/>
              </a:rPr>
              <a:t>Tachyon platform provides</a:t>
            </a:r>
            <a:endParaRPr lang="en-US" sz="1400" dirty="0"/>
          </a:p>
        </p:txBody>
      </p:sp>
      <p:sp>
        <p:nvSpPr>
          <p:cNvPr id="15" name="Text 13"/>
          <p:cNvSpPr txBox="1"/>
          <p:nvPr/>
        </p:nvSpPr>
        <p:spPr>
          <a:xfrm>
            <a:off x="8412480" y="2560320"/>
            <a:ext cx="3017520" cy="2011680"/>
          </a:xfrm>
          <a:prstGeom prst="rect">
            <a:avLst/>
          </a:prstGeom>
          <a:noFill/>
          <a:ln/>
        </p:spPr>
        <p:txBody>
          <a:bodyPr wrap="square" lIns="508" tIns="508" rIns="508" bIns="508" rtlCol="0" anchor="t"/>
          <a:lstStyle/>
          <a:p>
            <a:pPr algn="l" marL="342900" indent="-342900">
              <a:lnSpc>
                <a:spcPct val="105000"/>
              </a:lnSpc>
              <a:spcAft>
                <a:spcPts val="600"/>
              </a:spcAft>
              <a:buSzPct val="100000"/>
              <a:buChar char="•"/>
            </a:pPr>
            <a:r>
              <a:rPr lang="en-US" sz="1100" dirty="0">
                <a:solidFill>
                  <a:srgbClr val="202124"/>
                </a:solidFill>
                <a:latin typeface="Calibri" pitchFamily="34" charset="0"/>
                <a:ea typeface="Calibri" pitchFamily="34" charset="-122"/>
                <a:cs typeface="Calibri" pitchFamily="34" charset="-120"/>
              </a:rPr>
              <a:t>Model strategy: routing, params, failover, fusion</a:t>
            </a:r>
            <a:endParaRPr lang="en-US" sz="1100" dirty="0"/>
          </a:p>
          <a:p>
            <a:pPr algn="l" marL="342900" indent="-342900">
              <a:lnSpc>
                <a:spcPct val="105000"/>
              </a:lnSpc>
              <a:spcAft>
                <a:spcPts val="600"/>
              </a:spcAft>
              <a:buSzPct val="100000"/>
              <a:buChar char="•"/>
            </a:pPr>
            <a:r>
              <a:rPr lang="en-US" sz="1100" dirty="0">
                <a:solidFill>
                  <a:srgbClr val="202124"/>
                </a:solidFill>
                <a:latin typeface="Calibri" pitchFamily="34" charset="0"/>
                <a:ea typeface="Calibri" pitchFamily="34" charset="-122"/>
                <a:cs typeface="Calibri" pitchFamily="34" charset="-120"/>
              </a:rPr>
              <a:t>Declarative guardrails &amp; eval harness</a:t>
            </a:r>
            <a:endParaRPr lang="en-US" sz="1100" dirty="0"/>
          </a:p>
          <a:p>
            <a:pPr algn="l" marL="342900" indent="-342900">
              <a:lnSpc>
                <a:spcPct val="105000"/>
              </a:lnSpc>
              <a:spcAft>
                <a:spcPts val="600"/>
              </a:spcAft>
              <a:buSzPct val="100000"/>
              <a:buChar char="•"/>
            </a:pPr>
            <a:r>
              <a:rPr lang="en-US" sz="1100" dirty="0">
                <a:solidFill>
                  <a:srgbClr val="202124"/>
                </a:solidFill>
                <a:latin typeface="Calibri" pitchFamily="34" charset="0"/>
                <a:ea typeface="Calibri" pitchFamily="34" charset="-122"/>
                <a:cs typeface="Calibri" pitchFamily="34" charset="-120"/>
              </a:rPr>
              <a:t>Monitoring, tracing, MMR approval surface</a:t>
            </a:r>
            <a:endParaRPr lang="en-US" sz="1100" dirty="0"/>
          </a:p>
          <a:p>
            <a:pPr algn="l" marL="342900" indent="-342900">
              <a:lnSpc>
                <a:spcPct val="105000"/>
              </a:lnSpc>
              <a:spcAft>
                <a:spcPts val="600"/>
              </a:spcAft>
              <a:buSzPct val="100000"/>
              <a:buChar char="•"/>
            </a:pPr>
            <a:r>
              <a:rPr lang="en-US" sz="1100" dirty="0">
                <a:solidFill>
                  <a:srgbClr val="202124"/>
                </a:solidFill>
                <a:latin typeface="Calibri" pitchFamily="34" charset="0"/>
                <a:ea typeface="Calibri" pitchFamily="34" charset="-122"/>
                <a:cs typeface="Calibri" pitchFamily="34" charset="-120"/>
              </a:rPr>
              <a:t>Durable memory &amp; RAG infrastructure</a:t>
            </a:r>
            <a:endParaRPr lang="en-US" sz="1100" dirty="0"/>
          </a:p>
          <a:p>
            <a:pPr algn="l" marL="342900" indent="-342900">
              <a:lnSpc>
                <a:spcPct val="105000"/>
              </a:lnSpc>
              <a:spcAft>
                <a:spcPts val="600"/>
              </a:spcAft>
              <a:buSzPct val="100000"/>
              <a:buChar char="•"/>
            </a:pPr>
            <a:r>
              <a:rPr lang="en-US" sz="1100" dirty="0">
                <a:solidFill>
                  <a:srgbClr val="202124"/>
                </a:solidFill>
                <a:latin typeface="Calibri" pitchFamily="34" charset="0"/>
                <a:ea typeface="Calibri" pitchFamily="34" charset="-122"/>
                <a:cs typeface="Calibri" pitchFamily="34" charset="-120"/>
              </a:rPr>
              <a:t>Deployment on WF infrastructure (OCP)</a:t>
            </a:r>
            <a:endParaRPr lang="en-US" sz="1100" dirty="0"/>
          </a:p>
        </p:txBody>
      </p:sp>
      <p:sp>
        <p:nvSpPr>
          <p:cNvPr id="16" name="Shape 14"/>
          <p:cNvSpPr/>
          <p:nvPr/>
        </p:nvSpPr>
        <p:spPr>
          <a:xfrm>
            <a:off x="548640" y="4937760"/>
            <a:ext cx="2651760" cy="777240"/>
          </a:xfrm>
          <a:prstGeom prst="roundRect">
            <a:avLst>
              <a:gd name="adj" fmla="val 9412"/>
            </a:avLst>
          </a:prstGeom>
          <a:solidFill>
            <a:srgbClr val="F1F3F4"/>
          </a:solidFill>
          <a:ln w="12700">
            <a:solidFill>
              <a:srgbClr val="F1F3F4"/>
            </a:solidFill>
            <a:prstDash val="solid"/>
          </a:ln>
        </p:spPr>
      </p:sp>
      <p:sp>
        <p:nvSpPr>
          <p:cNvPr id="17" name="Text 15"/>
          <p:cNvSpPr txBox="1"/>
          <p:nvPr/>
        </p:nvSpPr>
        <p:spPr>
          <a:xfrm>
            <a:off x="685800" y="4937760"/>
            <a:ext cx="2377440" cy="777240"/>
          </a:xfrm>
          <a:prstGeom prst="rect">
            <a:avLst/>
          </a:prstGeom>
          <a:noFill/>
          <a:ln/>
        </p:spPr>
        <p:txBody>
          <a:bodyPr wrap="square" lIns="508" tIns="508" rIns="508" bIns="508" rtlCol="0" anchor="ctr"/>
          <a:lstStyle/>
          <a:p>
            <a:pPr algn="l" indent="0" marL="0">
              <a:lnSpc>
                <a:spcPct val="105000"/>
              </a:lnSpc>
              <a:buNone/>
            </a:pPr>
            <a:r>
              <a:rPr lang="en-US" sz="1050" b="1" dirty="0">
                <a:solidFill>
                  <a:srgbClr val="202124"/>
                </a:solidFill>
                <a:latin typeface="Calibri" pitchFamily="34" charset="0"/>
                <a:ea typeface="Calibri" pitchFamily="34" charset="-122"/>
                <a:cs typeface="Calibri" pitchFamily="34" charset="-120"/>
              </a:rPr>
              <a:t>Control  </a:t>
            </a:r>
            <a:pPr algn="l" indent="0" marL="0">
              <a:lnSpc>
                <a:spcPct val="105000"/>
              </a:lnSpc>
              <a:buNone/>
            </a:pPr>
            <a:r>
              <a:rPr lang="en-US" sz="1050" dirty="0">
                <a:solidFill>
                  <a:srgbClr val="5F6368"/>
                </a:solidFill>
                <a:latin typeface="Calibri" pitchFamily="34" charset="0"/>
                <a:ea typeface="Calibri" pitchFamily="34" charset="-122"/>
                <a:cs typeface="Calibri" pitchFamily="34" charset="-120"/>
              </a:rPr>
              <a:t>we tune, swap and constrain models ourselves</a:t>
            </a:r>
            <a:endParaRPr lang="en-US" sz="1050" dirty="0"/>
          </a:p>
        </p:txBody>
      </p:sp>
      <p:sp>
        <p:nvSpPr>
          <p:cNvPr id="18" name="Shape 16"/>
          <p:cNvSpPr/>
          <p:nvPr/>
        </p:nvSpPr>
        <p:spPr>
          <a:xfrm>
            <a:off x="3337560" y="4937760"/>
            <a:ext cx="2651760" cy="777240"/>
          </a:xfrm>
          <a:prstGeom prst="roundRect">
            <a:avLst>
              <a:gd name="adj" fmla="val 9412"/>
            </a:avLst>
          </a:prstGeom>
          <a:solidFill>
            <a:srgbClr val="F1F3F4"/>
          </a:solidFill>
          <a:ln w="12700">
            <a:solidFill>
              <a:srgbClr val="F1F3F4"/>
            </a:solidFill>
            <a:prstDash val="solid"/>
          </a:ln>
        </p:spPr>
      </p:sp>
      <p:sp>
        <p:nvSpPr>
          <p:cNvPr id="19" name="Text 17"/>
          <p:cNvSpPr txBox="1"/>
          <p:nvPr/>
        </p:nvSpPr>
        <p:spPr>
          <a:xfrm>
            <a:off x="3474720" y="4937760"/>
            <a:ext cx="2377440" cy="777240"/>
          </a:xfrm>
          <a:prstGeom prst="rect">
            <a:avLst/>
          </a:prstGeom>
          <a:noFill/>
          <a:ln/>
        </p:spPr>
        <p:txBody>
          <a:bodyPr wrap="square" lIns="508" tIns="508" rIns="508" bIns="508" rtlCol="0" anchor="ctr"/>
          <a:lstStyle/>
          <a:p>
            <a:pPr algn="l" indent="0" marL="0">
              <a:lnSpc>
                <a:spcPct val="105000"/>
              </a:lnSpc>
              <a:buNone/>
            </a:pPr>
            <a:r>
              <a:rPr lang="en-US" sz="1050" b="1" dirty="0">
                <a:solidFill>
                  <a:srgbClr val="202124"/>
                </a:solidFill>
                <a:latin typeface="Calibri" pitchFamily="34" charset="0"/>
                <a:ea typeface="Calibri" pitchFamily="34" charset="-122"/>
                <a:cs typeface="Calibri" pitchFamily="34" charset="-120"/>
              </a:rPr>
              <a:t>Resilience  </a:t>
            </a:r>
            <a:pPr algn="l" indent="0" marL="0">
              <a:lnSpc>
                <a:spcPct val="105000"/>
              </a:lnSpc>
              <a:buNone/>
            </a:pPr>
            <a:r>
              <a:rPr lang="en-US" sz="1050" dirty="0">
                <a:solidFill>
                  <a:srgbClr val="5F6368"/>
                </a:solidFill>
                <a:latin typeface="Calibri" pitchFamily="34" charset="0"/>
                <a:ea typeface="Calibri" pitchFamily="34" charset="-122"/>
                <a:cs typeface="Calibri" pitchFamily="34" charset="-120"/>
              </a:rPr>
              <a:t>failover, pairing and fusion are defaults</a:t>
            </a:r>
            <a:endParaRPr lang="en-US" sz="1050" dirty="0"/>
          </a:p>
        </p:txBody>
      </p:sp>
      <p:sp>
        <p:nvSpPr>
          <p:cNvPr id="20" name="Shape 18"/>
          <p:cNvSpPr/>
          <p:nvPr/>
        </p:nvSpPr>
        <p:spPr>
          <a:xfrm>
            <a:off x="6126480" y="4937760"/>
            <a:ext cx="2651760" cy="777240"/>
          </a:xfrm>
          <a:prstGeom prst="roundRect">
            <a:avLst>
              <a:gd name="adj" fmla="val 9412"/>
            </a:avLst>
          </a:prstGeom>
          <a:solidFill>
            <a:srgbClr val="F1F3F4"/>
          </a:solidFill>
          <a:ln w="12700">
            <a:solidFill>
              <a:srgbClr val="F1F3F4"/>
            </a:solidFill>
            <a:prstDash val="solid"/>
          </a:ln>
        </p:spPr>
      </p:sp>
      <p:sp>
        <p:nvSpPr>
          <p:cNvPr id="21" name="Text 19"/>
          <p:cNvSpPr txBox="1"/>
          <p:nvPr/>
        </p:nvSpPr>
        <p:spPr>
          <a:xfrm>
            <a:off x="6263640" y="4937760"/>
            <a:ext cx="2377440" cy="777240"/>
          </a:xfrm>
          <a:prstGeom prst="rect">
            <a:avLst/>
          </a:prstGeom>
          <a:noFill/>
          <a:ln/>
        </p:spPr>
        <p:txBody>
          <a:bodyPr wrap="square" lIns="508" tIns="508" rIns="508" bIns="508" rtlCol="0" anchor="ctr"/>
          <a:lstStyle/>
          <a:p>
            <a:pPr algn="l" indent="0" marL="0">
              <a:lnSpc>
                <a:spcPct val="105000"/>
              </a:lnSpc>
              <a:buNone/>
            </a:pPr>
            <a:r>
              <a:rPr lang="en-US" sz="1050" b="1" dirty="0">
                <a:solidFill>
                  <a:srgbClr val="202124"/>
                </a:solidFill>
                <a:latin typeface="Calibri" pitchFamily="34" charset="0"/>
                <a:ea typeface="Calibri" pitchFamily="34" charset="-122"/>
                <a:cs typeface="Calibri" pitchFamily="34" charset="-120"/>
              </a:rPr>
              <a:t>Trust  </a:t>
            </a:r>
            <a:pPr algn="l" indent="0" marL="0">
              <a:lnSpc>
                <a:spcPct val="105000"/>
              </a:lnSpc>
              <a:buNone/>
            </a:pPr>
            <a:r>
              <a:rPr lang="en-US" sz="1050" dirty="0">
                <a:solidFill>
                  <a:srgbClr val="5F6368"/>
                </a:solidFill>
                <a:latin typeface="Calibri" pitchFamily="34" charset="0"/>
                <a:ea typeface="Calibri" pitchFamily="34" charset="-122"/>
                <a:cs typeface="Calibri" pitchFamily="34" charset="-120"/>
              </a:rPr>
              <a:t>evals, observability and MMR alignment built in</a:t>
            </a:r>
            <a:endParaRPr lang="en-US" sz="1050" dirty="0"/>
          </a:p>
        </p:txBody>
      </p:sp>
      <p:sp>
        <p:nvSpPr>
          <p:cNvPr id="22" name="Shape 20"/>
          <p:cNvSpPr/>
          <p:nvPr/>
        </p:nvSpPr>
        <p:spPr>
          <a:xfrm>
            <a:off x="8915400" y="4937760"/>
            <a:ext cx="2651760" cy="777240"/>
          </a:xfrm>
          <a:prstGeom prst="roundRect">
            <a:avLst>
              <a:gd name="adj" fmla="val 9412"/>
            </a:avLst>
          </a:prstGeom>
          <a:solidFill>
            <a:srgbClr val="F1F3F4"/>
          </a:solidFill>
          <a:ln w="12700">
            <a:solidFill>
              <a:srgbClr val="F1F3F4"/>
            </a:solidFill>
            <a:prstDash val="solid"/>
          </a:ln>
        </p:spPr>
      </p:sp>
      <p:sp>
        <p:nvSpPr>
          <p:cNvPr id="23" name="Text 21"/>
          <p:cNvSpPr txBox="1"/>
          <p:nvPr/>
        </p:nvSpPr>
        <p:spPr>
          <a:xfrm>
            <a:off x="9052560" y="4937760"/>
            <a:ext cx="2377440" cy="777240"/>
          </a:xfrm>
          <a:prstGeom prst="rect">
            <a:avLst/>
          </a:prstGeom>
          <a:noFill/>
          <a:ln/>
        </p:spPr>
        <p:txBody>
          <a:bodyPr wrap="square" lIns="508" tIns="508" rIns="508" bIns="508" rtlCol="0" anchor="ctr"/>
          <a:lstStyle/>
          <a:p>
            <a:pPr algn="l" indent="0" marL="0">
              <a:lnSpc>
                <a:spcPct val="105000"/>
              </a:lnSpc>
              <a:buNone/>
            </a:pPr>
            <a:r>
              <a:rPr lang="en-US" sz="1050" b="1" dirty="0">
                <a:solidFill>
                  <a:srgbClr val="202124"/>
                </a:solidFill>
                <a:latin typeface="Calibri" pitchFamily="34" charset="0"/>
                <a:ea typeface="Calibri" pitchFamily="34" charset="-122"/>
                <a:cs typeface="Calibri" pitchFamily="34" charset="-120"/>
              </a:rPr>
              <a:t>Economics  </a:t>
            </a:r>
            <a:pPr algn="l" indent="0" marL="0">
              <a:lnSpc>
                <a:spcPct val="105000"/>
              </a:lnSpc>
              <a:buNone/>
            </a:pPr>
            <a:r>
              <a:rPr lang="en-US" sz="1050" dirty="0">
                <a:solidFill>
                  <a:srgbClr val="5F6368"/>
                </a:solidFill>
                <a:latin typeface="Calibri" pitchFamily="34" charset="0"/>
                <a:ea typeface="Calibri" pitchFamily="34" charset="-122"/>
                <a:cs typeface="Calibri" pitchFamily="34" charset="-120"/>
              </a:rPr>
              <a:t>predictable internal cost; agents stay portable</a:t>
            </a:r>
            <a:endParaRPr lang="en-US" sz="1050" dirty="0"/>
          </a:p>
        </p:txBody>
      </p:sp>
      <p:sp>
        <p:nvSpPr>
          <p:cNvPr id="24" name="Text 22"/>
          <p:cNvSpPr txBox="1"/>
          <p:nvPr/>
        </p:nvSpPr>
        <p:spPr>
          <a:xfrm>
            <a:off x="548640" y="5897880"/>
            <a:ext cx="11064240" cy="457200"/>
          </a:xfrm>
          <a:prstGeom prst="rect">
            <a:avLst/>
          </a:prstGeom>
          <a:noFill/>
          <a:ln/>
        </p:spPr>
        <p:txBody>
          <a:bodyPr wrap="square" lIns="508" tIns="508" rIns="508" bIns="508" rtlCol="0" anchor="ctr"/>
          <a:lstStyle/>
          <a:p>
            <a:pPr algn="l" indent="0" marL="0">
              <a:lnSpc>
                <a:spcPct val="105000"/>
              </a:lnSpc>
              <a:buNone/>
            </a:pPr>
            <a:r>
              <a:rPr lang="en-US" sz="1100" b="1" dirty="0">
                <a:solidFill>
                  <a:srgbClr val="202124"/>
                </a:solidFill>
                <a:latin typeface="Calibri" pitchFamily="34" charset="0"/>
                <a:ea typeface="Calibri" pitchFamily="34" charset="-122"/>
                <a:cs typeface="Calibri" pitchFamily="34" charset="-120"/>
              </a:rPr>
              <a:t>Note: </a:t>
            </a:r>
            <a:pPr algn="l" indent="0" marL="0">
              <a:lnSpc>
                <a:spcPct val="105000"/>
              </a:lnSpc>
              <a:buNone/>
            </a:pPr>
            <a:r>
              <a:rPr lang="en-US" sz="1100" dirty="0">
                <a:solidFill>
                  <a:srgbClr val="202124"/>
                </a:solidFill>
                <a:latin typeface="Calibri" pitchFamily="34" charset="0"/>
                <a:ea typeface="Calibri" pitchFamily="34" charset="-122"/>
                <a:cs typeface="Calibri" pitchFamily="34" charset="-120"/>
              </a:rPr>
              <a:t>Since ADK ships inside TSDK, any team that adopts the library gets registration, tracing and guardrails without extra integration work. The ADK core and the platform can also be upgraded independently.</a:t>
            </a:r>
            <a:endParaRPr lang="en-US" sz="1100" dirty="0"/>
          </a:p>
        </p:txBody>
      </p:sp>
      <p:sp>
        <p:nvSpPr>
          <p:cNvPr id="25" name="Text 23"/>
          <p:cNvSpPr txBox="1"/>
          <p:nvPr/>
        </p:nvSpPr>
        <p:spPr>
          <a:xfrm>
            <a:off x="7863840" y="6355080"/>
            <a:ext cx="3749040" cy="310896"/>
          </a:xfrm>
          <a:prstGeom prst="rect">
            <a:avLst/>
          </a:prstGeom>
          <a:noFill/>
          <a:ln/>
        </p:spPr>
        <p:txBody>
          <a:bodyPr wrap="square" lIns="508" tIns="508" rIns="508" bIns="508" rtlCol="0" anchor="ctr"/>
          <a:lstStyle/>
          <a:p>
            <a:pPr algn="r" indent="0" marL="0">
              <a:lnSpc>
                <a:spcPct val="105000"/>
              </a:lnSpc>
              <a:buNone/>
            </a:pPr>
            <a:r>
              <a:rPr lang="en-US" sz="900" dirty="0">
                <a:solidFill>
                  <a:srgbClr val="9AA0A6"/>
                </a:solidFill>
                <a:latin typeface="Calibri" pitchFamily="34" charset="0"/>
                <a:ea typeface="Calibri" pitchFamily="34" charset="-122"/>
                <a:cs typeface="Calibri" pitchFamily="34" charset="-120"/>
              </a:rPr>
              <a:t>Fargo platform – internal</a:t>
            </a:r>
            <a:endParaRPr lang="en-US" sz="900" dirty="0"/>
          </a:p>
        </p:txBody>
      </p:sp>
      <p:sp>
        <p:nvSpPr>
          <p:cNvPr id="26" name="Text 24"/>
          <p:cNvSpPr txBox="1"/>
          <p:nvPr/>
        </p:nvSpPr>
        <p:spPr>
          <a:xfrm>
            <a:off x="11658600" y="6355080"/>
            <a:ext cx="365760" cy="310896"/>
          </a:xfrm>
          <a:prstGeom prst="rect">
            <a:avLst/>
          </a:prstGeom>
          <a:noFill/>
          <a:ln/>
        </p:spPr>
        <p:txBody>
          <a:bodyPr wrap="square" lIns="508" tIns="508" rIns="508" bIns="508" rtlCol="0" anchor="ctr"/>
          <a:lstStyle/>
          <a:p>
            <a:pPr algn="r" indent="0" marL="0">
              <a:lnSpc>
                <a:spcPct val="105000"/>
              </a:lnSpc>
              <a:buNone/>
            </a:pPr>
            <a:r>
              <a:rPr lang="en-US" sz="900" dirty="0">
                <a:solidFill>
                  <a:srgbClr val="9AA0A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Fargo — Tachyon SDK × Google ADK</dc:title>
  <dc:subject>PptxGenJS Presentation</dc:subject>
  <dc:creator>PptxGenJS</dc:creator>
  <cp:lastModifiedBy>PptxGenJS</cp:lastModifiedBy>
  <cp:revision>1</cp:revision>
  <dcterms:created xsi:type="dcterms:W3CDTF">2026-09-15T12:18:59Z</dcterms:created>
  <dcterms:modified xsi:type="dcterms:W3CDTF">2026-09-15T12:18:59Z</dcterms:modified>
</cp:coreProperties>
</file>