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7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-457200" y="-457200"/>
            <a:ext cx="2286000" cy="228600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274320" y="3474720"/>
            <a:ext cx="1645920" cy="164592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37160" y="10972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4DB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EXCELLENCE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749040" y="822960"/>
            <a:ext cx="51206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Testing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Strategy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3749040" y="265176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Reducing 7-Day Cycles to Under 1 Day Through Smart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Architecture &amp; Tooling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749040" y="3794760"/>
            <a:ext cx="914400" cy="548640"/>
          </a:xfrm>
          <a:prstGeom prst="rect">
            <a:avLst/>
          </a:prstGeom>
          <a:solidFill>
            <a:srgbClr val="00897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749040" y="379476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Triage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4754880" y="3794760"/>
            <a:ext cx="914400" cy="548640"/>
          </a:xfrm>
          <a:prstGeom prst="rect">
            <a:avLst/>
          </a:prstGeom>
          <a:solidFill>
            <a:srgbClr val="00897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54880" y="379476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Parallelism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5760720" y="3794760"/>
            <a:ext cx="914400" cy="548640"/>
          </a:xfrm>
          <a:prstGeom prst="rect">
            <a:avLst/>
          </a:prstGeom>
          <a:solidFill>
            <a:srgbClr val="00897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760720" y="379476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 Stability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6766560" y="3794760"/>
            <a:ext cx="914400" cy="548640"/>
          </a:xfrm>
          <a:prstGeom prst="rect">
            <a:avLst/>
          </a:prstGeom>
          <a:solidFill>
            <a:srgbClr val="00897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766560" y="379476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Analysis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7772400" y="3794760"/>
            <a:ext cx="914400" cy="548640"/>
          </a:xfrm>
          <a:prstGeom prst="rect">
            <a:avLst/>
          </a:prstGeom>
          <a:solidFill>
            <a:srgbClr val="00897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772400" y="379476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Release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3749040" y="3611880"/>
            <a:ext cx="4937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Strategic Pillars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749040" y="45262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2025  |  v1.0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64008" cy="685800"/>
          </a:xfrm>
          <a:prstGeom prst="rect">
            <a:avLst/>
          </a:prstGeom>
          <a:solidFill>
            <a:srgbClr val="F57C0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164592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State: Where Time Is Being Lost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bottlenecks before we can solve them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8503920" cy="22860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20040" y="1234440"/>
            <a:ext cx="2103120" cy="1554480"/>
          </a:xfrm>
          <a:prstGeom prst="rect">
            <a:avLst/>
          </a:prstGeom>
          <a:solidFill>
            <a:srgbClr val="C6282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20040" y="132588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Days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20040" y="210312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Regression Cycle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51760" y="1234440"/>
            <a:ext cx="2103120" cy="1554480"/>
          </a:xfrm>
          <a:prstGeom prst="rect">
            <a:avLst/>
          </a:prstGeom>
          <a:solidFill>
            <a:srgbClr val="1565C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2651760" y="132588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15,000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651760" y="210312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Test Cases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983480" y="1234440"/>
            <a:ext cx="2103120" cy="1554480"/>
          </a:xfrm>
          <a:prstGeom prst="rect">
            <a:avLst/>
          </a:prstGeom>
          <a:solidFill>
            <a:srgbClr val="FF6F0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983480" y="132588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Sessions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983480" y="210312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Sessions (of 350 available)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287768" y="1234440"/>
            <a:ext cx="2103120" cy="1554480"/>
          </a:xfrm>
          <a:prstGeom prst="rect">
            <a:avLst/>
          </a:prstGeom>
          <a:solidFill>
            <a:srgbClr val="6A1B9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287768" y="132588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24–72h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7287768" y="210312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to Env. Instability / Cycle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0040" y="292608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Pain Points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0040" y="3328416"/>
            <a:ext cx="201168" cy="201168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3291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test execution wastes available BrowserStack capacity (350 devices, only 5 used in parallel)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0040" y="3630168"/>
            <a:ext cx="201168" cy="201168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3593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test prioritisation — all 15,000 cases run regardless of release scope or risk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20040" y="3931920"/>
            <a:ext cx="201168" cy="201168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24" name="Text 22"/>
          <p:cNvSpPr/>
          <p:nvPr/>
        </p:nvSpPr>
        <p:spPr>
          <a:xfrm>
            <a:off x="594360" y="38953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instability silently burns 1–3 days of each regression window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0040" y="4233672"/>
            <a:ext cx="201168" cy="201168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26" name="Text 24"/>
          <p:cNvSpPr/>
          <p:nvPr/>
        </p:nvSpPr>
        <p:spPr>
          <a:xfrm>
            <a:off x="594360" y="41970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effort needed to map release changes to impacted test areas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20040" y="4535424"/>
            <a:ext cx="201168" cy="201168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28" name="Text 26"/>
          <p:cNvSpPr/>
          <p:nvPr/>
        </p:nvSpPr>
        <p:spPr>
          <a:xfrm>
            <a:off x="594360" y="44988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dedicated environment for continuous weekly regression validation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64008" cy="685800"/>
          </a:xfrm>
          <a:prstGeom prst="rect">
            <a:avLst/>
          </a:prstGeom>
          <a:solidFill>
            <a:srgbClr val="F57C0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164592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1 — Intelligent Test Categorisation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Right-size the suite: run what matters, drop what doesn't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8503920" cy="22860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274320" y="1234440"/>
            <a:ext cx="425196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274320" y="1234440"/>
            <a:ext cx="64008" cy="164592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38912" y="13258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UI Tests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38912" y="164592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Links &amp; deep link navigation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38912" y="190195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user journeys (Login, Checkout, Onboarding)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215798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&amp; rendering on target devices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91840" y="1325880"/>
            <a:ext cx="1097280" cy="27432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3291840" y="1325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~20% of suite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709160" y="1234440"/>
            <a:ext cx="425196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4709160" y="1234440"/>
            <a:ext cx="64008" cy="1645920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873752" y="13258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API-Replaceable Tests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73752" y="164592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validation currently done via UI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873752" y="190195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operations testable at service layer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873752" y="215798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state setup (login, seeding) via API calls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726680" y="1325880"/>
            <a:ext cx="1097280" cy="274320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7726680" y="1325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~30% of suite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74320" y="3063240"/>
            <a:ext cx="425196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274320" y="3063240"/>
            <a:ext cx="64008" cy="1645920"/>
          </a:xfrm>
          <a:prstGeom prst="rect">
            <a:avLst/>
          </a:prstGeom>
          <a:solidFill>
            <a:srgbClr val="7B1FA2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438912" y="31546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Test Per Widget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38912" y="347472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all UI widgets (dropdowns, modals, pickers)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38912" y="373075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canonical test per widget type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38912" y="398678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 duplicate widget coverage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291840" y="3154680"/>
            <a:ext cx="1097280" cy="274320"/>
          </a:xfrm>
          <a:prstGeom prst="rect">
            <a:avLst/>
          </a:prstGeom>
          <a:solidFill>
            <a:srgbClr val="7B1FA2"/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3291840" y="31546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~25% reduction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709160" y="3063240"/>
            <a:ext cx="425196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4709160" y="3063240"/>
            <a:ext cx="64008" cy="1645920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4873752" y="31546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Obsolete Tests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873752" y="347472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no longer in production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873752" y="373075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test logic / copy-paste tests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873752" y="398678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for deprecated APIs or removed screens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7726680" y="3154680"/>
            <a:ext cx="1097280" cy="274320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7726680" y="31546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~15–20% removal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274320" y="4663440"/>
            <a:ext cx="8595360" cy="256032"/>
          </a:xfrm>
          <a:prstGeom prst="rect">
            <a:avLst/>
          </a:prstGeom>
          <a:solidFill>
            <a:srgbClr val="FFF3E0"/>
          </a:solidFill>
          <a:ln w="12700">
            <a:solidFill>
              <a:srgbClr val="F57C00"/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274320" y="4663440"/>
            <a:ext cx="54864" cy="256032"/>
          </a:xfrm>
          <a:prstGeom prst="rect">
            <a:avLst/>
          </a:prstGeom>
          <a:solidFill>
            <a:srgbClr val="F57C00"/>
          </a:solidFill>
          <a:ln/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457200" y="4663440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Outcome: Reduce active test count from 15,000 → ~6,000–8,000 high-value tests (waterfall: −15% obsolete, −25% duplicate widgets, −30% migrated to API)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64008" cy="685800"/>
          </a:xfrm>
          <a:prstGeom prst="rect">
            <a:avLst/>
          </a:prstGeom>
          <a:solidFill>
            <a:srgbClr val="F57C0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164592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2 — Maximise BrowserStack Parallelism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350 idle devices into an execution powerhouse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8503920" cy="22860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274320" y="1234440"/>
            <a:ext cx="3840480" cy="3337560"/>
          </a:xfrm>
          <a:prstGeom prst="rect">
            <a:avLst/>
          </a:prstGeom>
          <a:solidFill>
            <a:srgbClr val="FFEBEE"/>
          </a:solidFill>
          <a:ln w="12700">
            <a:solidFill>
              <a:srgbClr val="EF9A9A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274320" y="1234440"/>
            <a:ext cx="3840480" cy="384048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274320" y="123444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71907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350 devices available on BrowserStack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20574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5 parallel test sessions running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239572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~5 concurrent sessions used during regression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273405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Massive underutilisation of paid capacity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307238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takes ~7 days end-to-end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11480" y="341071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cannot use devices during regression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0" y="1234440"/>
            <a:ext cx="3840480" cy="333756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5029200" y="1234440"/>
            <a:ext cx="3840480" cy="384048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029200" y="123444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STATE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166360" y="171907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to 50–100 parallel sessions for regression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166360" y="20574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 separate device pool for dev / QA manual use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166360" y="239572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15k tests across parallel CI agents (Jenkins / GH Actions)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166360" y="273405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BrowserStack Automate Turboscale for burst capacity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166360" y="307238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time: 7 days → 4–8 hours (combined with Pillars 1 &amp; 4)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166360" y="341071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retain device access throughout regression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187952" y="2560320"/>
            <a:ext cx="768096" cy="548640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25" name="Text 23"/>
          <p:cNvSpPr/>
          <p:nvPr/>
        </p:nvSpPr>
        <p:spPr>
          <a:xfrm>
            <a:off x="4187952" y="2560320"/>
            <a:ext cx="7680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26" name="Shape 24"/>
          <p:cNvSpPr/>
          <p:nvPr/>
        </p:nvSpPr>
        <p:spPr>
          <a:xfrm>
            <a:off x="274320" y="4663440"/>
            <a:ext cx="8595360" cy="256032"/>
          </a:xfrm>
          <a:prstGeom prst="rect">
            <a:avLst/>
          </a:prstGeom>
          <a:solidFill>
            <a:srgbClr val="FFF3E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4320" y="4663440"/>
            <a:ext cx="54864" cy="256032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4663440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Work with BrowserStack to configure dedicated regression pool + reserve separate manual-testing slots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64008" cy="685800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64592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3 — End-to-End Environment Stability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losing 1–3 days per cycle to environment issues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8503920" cy="2286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234440"/>
            <a:ext cx="2286000" cy="2103120"/>
          </a:xfrm>
          <a:prstGeom prst="rect">
            <a:avLst/>
          </a:prstGeom>
          <a:solidFill>
            <a:srgbClr val="C6282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132588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24–72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274320" y="233172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WASTED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regression cycle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to env. instability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697480" y="12344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852160" y="123444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/ Mitigation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697480" y="1554480"/>
            <a:ext cx="3017520" cy="658368"/>
          </a:xfrm>
          <a:prstGeom prst="rect">
            <a:avLst/>
          </a:prstGeom>
          <a:solidFill>
            <a:srgbClr val="FFEBEE"/>
          </a:solidFill>
          <a:ln w="6350">
            <a:solidFill>
              <a:srgbClr val="EF9A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88920" y="1591056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going down mid-run → test failures misattributed to code bugs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852160" y="1554480"/>
            <a:ext cx="2971800" cy="658368"/>
          </a:xfrm>
          <a:prstGeom prst="rect">
            <a:avLst/>
          </a:prstGeom>
          <a:solidFill>
            <a:srgbClr val="E8F5E9"/>
          </a:solidFill>
          <a:ln w="6350">
            <a:solidFill>
              <a:srgbClr val="A5D6A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0" y="1591056"/>
            <a:ext cx="2788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health-check dashboard with Slack / Teams alerts before run starts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697480" y="2313432"/>
            <a:ext cx="3017520" cy="658368"/>
          </a:xfrm>
          <a:prstGeom prst="rect">
            <a:avLst/>
          </a:prstGeom>
          <a:solidFill>
            <a:srgbClr val="FFEBEE"/>
          </a:solidFill>
          <a:ln w="6350">
            <a:solidFill>
              <a:srgbClr val="EF9A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88920" y="2350008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data corruption / stale state between runs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852160" y="2313432"/>
            <a:ext cx="2971800" cy="658368"/>
          </a:xfrm>
          <a:prstGeom prst="rect">
            <a:avLst/>
          </a:prstGeom>
          <a:solidFill>
            <a:srgbClr val="E8F5E9"/>
          </a:solidFill>
          <a:ln w="6350">
            <a:solidFill>
              <a:srgbClr val="A5D6A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0" y="2350008"/>
            <a:ext cx="2788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data reset scripts run before each regression; isolated data namespaces per run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697480" y="3072384"/>
            <a:ext cx="3017520" cy="658368"/>
          </a:xfrm>
          <a:prstGeom prst="rect">
            <a:avLst/>
          </a:prstGeom>
          <a:solidFill>
            <a:srgbClr val="FFEBEE"/>
          </a:solidFill>
          <a:ln w="6350">
            <a:solidFill>
              <a:srgbClr val="EF9A9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88920" y="310896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dependency outages (payment gateways, identity providers)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852160" y="3072384"/>
            <a:ext cx="2971800" cy="658368"/>
          </a:xfrm>
          <a:prstGeom prst="rect">
            <a:avLst/>
          </a:prstGeom>
          <a:solidFill>
            <a:srgbClr val="E8F5E9"/>
          </a:solidFill>
          <a:ln w="6350">
            <a:solidFill>
              <a:srgbClr val="A5D6A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3108960"/>
            <a:ext cx="2788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/ stub external dependencies in regression environment; monitor upstream SLAs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697480" y="3831336"/>
            <a:ext cx="3017520" cy="658368"/>
          </a:xfrm>
          <a:prstGeom prst="rect">
            <a:avLst/>
          </a:prstGeom>
          <a:solidFill>
            <a:srgbClr val="FFEBEE"/>
          </a:solidFill>
          <a:ln w="6350">
            <a:solidFill>
              <a:srgbClr val="EF9A9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88920" y="3867912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provisioning failures in CI pipelines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852160" y="3831336"/>
            <a:ext cx="2971800" cy="658368"/>
          </a:xfrm>
          <a:prstGeom prst="rect">
            <a:avLst/>
          </a:prstGeom>
          <a:solidFill>
            <a:srgbClr val="E8F5E9"/>
          </a:solidFill>
          <a:ln w="6350">
            <a:solidFill>
              <a:srgbClr val="A5D6A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0" y="3867912"/>
            <a:ext cx="2788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Container-based ephemeral environments (Docker / K8s) with auto-restart policies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74320" y="4663440"/>
            <a:ext cx="8595360" cy="256032"/>
          </a:xfrm>
          <a:prstGeom prst="rect">
            <a:avLst/>
          </a:prstGeom>
          <a:solidFill>
            <a:srgbClr val="FFF3E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4320" y="4663440"/>
            <a:ext cx="54864" cy="256032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4663440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Zero unplanned environment downtime during regression windows — all failures attributable to code, not infrastructure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64008" cy="685800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64592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4 — AI-Powered Release Impact Analysis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Copilot, Devin &amp; Agents to predict what needs testing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8503920" cy="2286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280160"/>
            <a:ext cx="1600200" cy="914400"/>
          </a:xfrm>
          <a:prstGeom prst="rect">
            <a:avLst/>
          </a:prstGeom>
          <a:solidFill>
            <a:srgbClr val="0D1B3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1280160"/>
            <a:ext cx="1600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Changes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874520" y="1664208"/>
            <a:ext cx="548640" cy="155448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9" name="Text 7"/>
          <p:cNvSpPr/>
          <p:nvPr/>
        </p:nvSpPr>
        <p:spPr>
          <a:xfrm>
            <a:off x="1874520" y="1664208"/>
            <a:ext cx="5486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148840" y="1280160"/>
            <a:ext cx="1600200" cy="914400"/>
          </a:xfrm>
          <a:prstGeom prst="rect">
            <a:avLst/>
          </a:prstGeom>
          <a:solidFill>
            <a:srgbClr val="1565C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148840" y="1280160"/>
            <a:ext cx="1600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Diff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749040" y="1664208"/>
            <a:ext cx="548640" cy="155448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13" name="Text 11"/>
          <p:cNvSpPr/>
          <p:nvPr/>
        </p:nvSpPr>
        <p:spPr>
          <a:xfrm>
            <a:off x="3749040" y="1664208"/>
            <a:ext cx="5486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023360" y="1280160"/>
            <a:ext cx="1600200" cy="914400"/>
          </a:xfrm>
          <a:prstGeom prst="rect">
            <a:avLst/>
          </a:prstGeom>
          <a:solidFill>
            <a:srgbClr val="7B1FA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023360" y="1280160"/>
            <a:ext cx="1600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Impact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623560" y="1664208"/>
            <a:ext cx="548640" cy="155448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17" name="Text 15"/>
          <p:cNvSpPr/>
          <p:nvPr/>
        </p:nvSpPr>
        <p:spPr>
          <a:xfrm>
            <a:off x="5623560" y="1664208"/>
            <a:ext cx="5486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897880" y="1280160"/>
            <a:ext cx="1600200" cy="914400"/>
          </a:xfrm>
          <a:prstGeom prst="rect">
            <a:avLst/>
          </a:prstGeom>
          <a:solidFill>
            <a:srgbClr val="00897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897880" y="1280160"/>
            <a:ext cx="1600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Test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498080" y="1664208"/>
            <a:ext cx="548640" cy="155448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21" name="Text 19"/>
          <p:cNvSpPr/>
          <p:nvPr/>
        </p:nvSpPr>
        <p:spPr>
          <a:xfrm>
            <a:off x="7498080" y="1664208"/>
            <a:ext cx="5486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7772400" y="1280160"/>
            <a:ext cx="1600200" cy="914400"/>
          </a:xfrm>
          <a:prstGeom prst="rect">
            <a:avLst/>
          </a:prstGeom>
          <a:solidFill>
            <a:srgbClr val="2E7D3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772400" y="1280160"/>
            <a:ext cx="1600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2423160"/>
            <a:ext cx="42519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2423160"/>
            <a:ext cx="64008" cy="91440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26" name="Text 24"/>
          <p:cNvSpPr/>
          <p:nvPr/>
        </p:nvSpPr>
        <p:spPr>
          <a:xfrm>
            <a:off x="438912" y="249631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38912" y="277063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Analyses PR diffs to identify which UI components, routes and business logic are touched by the release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709160" y="2423160"/>
            <a:ext cx="42519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09160" y="2423160"/>
            <a:ext cx="64008" cy="9144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0" name="Text 28"/>
          <p:cNvSpPr/>
          <p:nvPr/>
        </p:nvSpPr>
        <p:spPr>
          <a:xfrm>
            <a:off x="4873752" y="249631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Devin / AI Dev Agents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73752" y="277063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traces code-to-UI dependency maps; flags screens and widgets likely affected by backend changes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74320" y="3520440"/>
            <a:ext cx="42519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74320" y="3520440"/>
            <a:ext cx="64008" cy="914400"/>
          </a:xfrm>
          <a:prstGeom prst="rect">
            <a:avLst/>
          </a:prstGeom>
          <a:solidFill>
            <a:srgbClr val="7B1FA2"/>
          </a:solidFill>
          <a:ln/>
        </p:spPr>
      </p:sp>
      <p:sp>
        <p:nvSpPr>
          <p:cNvPr id="34" name="Text 32"/>
          <p:cNvSpPr/>
          <p:nvPr/>
        </p:nvSpPr>
        <p:spPr>
          <a:xfrm>
            <a:off x="438912" y="35935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Impact Agents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38912" y="386791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Cross-references changed modules against test-case tags; outputs a ranked list of must-run regression tests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709160" y="3520440"/>
            <a:ext cx="42519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709160" y="3520440"/>
            <a:ext cx="64008" cy="91440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38" name="Text 36"/>
          <p:cNvSpPr/>
          <p:nvPr/>
        </p:nvSpPr>
        <p:spPr>
          <a:xfrm>
            <a:off x="4873752" y="35935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Notes Generator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873752" y="386791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Auto-generates structured release notes listing UI changes for QA sign-off and stakeholder communication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74320" y="4663440"/>
            <a:ext cx="8595360" cy="256032"/>
          </a:xfrm>
          <a:prstGeom prst="rect">
            <a:avLst/>
          </a:prstGeom>
          <a:solidFill>
            <a:srgbClr val="FFF3E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74320" y="4663440"/>
            <a:ext cx="54864" cy="256032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42" name="Text 40"/>
          <p:cNvSpPr/>
          <p:nvPr/>
        </p:nvSpPr>
        <p:spPr>
          <a:xfrm>
            <a:off x="457200" y="4663440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Outcome: Only 20–40% of test suite runs per release — fully justified by AI change analysis, reducing cycle time by 60–80%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64008" cy="685800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64592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5 — New RQ2 Environment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faster with confidence using a dedicated regression environment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8503920" cy="2286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234440"/>
            <a:ext cx="8595360" cy="33375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234440"/>
            <a:ext cx="64008" cy="333756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2984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RQ2?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71907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environment mirroring production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54880" y="171907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from development / QA (RQ1) environments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22199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Stable, always-on — no teardown between releases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0" y="222199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Pre-populated with representative test data sets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272491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smoke check runs on every deployment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0" y="272491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regression triggered on schedule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4663440"/>
            <a:ext cx="8595360" cy="256032"/>
          </a:xfrm>
          <a:prstGeom prst="rect">
            <a:avLst/>
          </a:prstGeom>
          <a:solidFill>
            <a:srgbClr val="FFF3E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4663440"/>
            <a:ext cx="54864" cy="256032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4663440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Predictable, weekly release rhythm with full regression confidence — no more multi-week ad-hoc testing cycles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64008" cy="685800"/>
          </a:xfrm>
          <a:prstGeom prst="rect">
            <a:avLst/>
          </a:prstGeom>
          <a:solidFill>
            <a:srgbClr val="F57C0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164592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Impact — Before vs After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Quantified benefits across all 5 pillars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8503920" cy="22860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274320" y="1234440"/>
            <a:ext cx="2651760" cy="347472"/>
          </a:xfrm>
          <a:prstGeom prst="rect">
            <a:avLst/>
          </a:prstGeom>
          <a:solidFill>
            <a:srgbClr val="0D1B3E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47472" y="1234440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017520" y="1234440"/>
            <a:ext cx="2194560" cy="347472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090672" y="1234440"/>
            <a:ext cx="2121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303520" y="1234440"/>
            <a:ext cx="2011680" cy="347472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376672" y="1234440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406640" y="1234440"/>
            <a:ext cx="1463040" cy="347472"/>
          </a:xfrm>
          <a:prstGeom prst="rect">
            <a:avLst/>
          </a:prstGeom>
          <a:solidFill>
            <a:srgbClr val="E65100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479792" y="1234440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Change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1600200"/>
            <a:ext cx="8595360" cy="356616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365760" y="161848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Cycle Time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108960" y="161848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Days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394960" y="161848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 Day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406640" y="1655064"/>
            <a:ext cx="1417320" cy="246888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7406640" y="1655064"/>
            <a:ext cx="1417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−85%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1975104"/>
            <a:ext cx="8595360" cy="356616"/>
          </a:xfrm>
          <a:prstGeom prst="rect">
            <a:avLst/>
          </a:prstGeom>
          <a:solidFill>
            <a:srgbClr val="E3EAF2"/>
          </a:solidFill>
          <a:ln w="381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365760" y="199339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Executed per Cycle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108960" y="199339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15,000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394960" y="199339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6,000–8,000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406640" y="2029968"/>
            <a:ext cx="1417320" cy="246888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7406640" y="2029968"/>
            <a:ext cx="1417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−50%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74320" y="2350008"/>
            <a:ext cx="8595360" cy="356616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236829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BrowserStack Parallelism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108960" y="2368296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Sessions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394960" y="2368296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50–100 Sessions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406640" y="2404872"/>
            <a:ext cx="1417320" cy="246888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31" name="Text 29"/>
          <p:cNvSpPr/>
          <p:nvPr/>
        </p:nvSpPr>
        <p:spPr>
          <a:xfrm>
            <a:off x="7406640" y="2404872"/>
            <a:ext cx="1417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20×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74320" y="2724912"/>
            <a:ext cx="8595360" cy="356616"/>
          </a:xfrm>
          <a:prstGeom prst="rect">
            <a:avLst/>
          </a:prstGeom>
          <a:solidFill>
            <a:srgbClr val="E3EAF2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27432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Downtime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108960" y="27432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24–72 hours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394960" y="27432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 hours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7406640" y="2779776"/>
            <a:ext cx="1417320" cy="246888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37" name="Text 35"/>
          <p:cNvSpPr/>
          <p:nvPr/>
        </p:nvSpPr>
        <p:spPr>
          <a:xfrm>
            <a:off x="7406640" y="2779776"/>
            <a:ext cx="1417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−95%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74320" y="3099816"/>
            <a:ext cx="8595360" cy="356616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311810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Suite Relevance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3108960" y="311810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Unfiltered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394960" y="311810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AI-selected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7406640" y="3154680"/>
            <a:ext cx="1417320" cy="246888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43" name="Text 41"/>
          <p:cNvSpPr/>
          <p:nvPr/>
        </p:nvSpPr>
        <p:spPr>
          <a:xfrm>
            <a:off x="7406640" y="3154680"/>
            <a:ext cx="1417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74320" y="3474720"/>
            <a:ext cx="8595360" cy="356616"/>
          </a:xfrm>
          <a:prstGeom prst="rect">
            <a:avLst/>
          </a:prstGeom>
          <a:solidFill>
            <a:srgbClr val="E3EAF2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349300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Frequency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3108960" y="349300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Ad-hoc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5394960" y="349300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7406640" y="3529584"/>
            <a:ext cx="1417320" cy="246888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49" name="Text 47"/>
          <p:cNvSpPr/>
          <p:nvPr/>
        </p:nvSpPr>
        <p:spPr>
          <a:xfrm>
            <a:off x="7406640" y="3529584"/>
            <a:ext cx="1417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Predictable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274320" y="3849624"/>
            <a:ext cx="8595360" cy="356616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65760" y="386791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Device Availability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3108960" y="386791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5394960" y="386791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available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7406640" y="3904488"/>
            <a:ext cx="1417320" cy="246888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55" name="Text 53"/>
          <p:cNvSpPr/>
          <p:nvPr/>
        </p:nvSpPr>
        <p:spPr>
          <a:xfrm>
            <a:off x="7406640" y="3904488"/>
            <a:ext cx="1417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274320" y="4663440"/>
            <a:ext cx="8595360" cy="256032"/>
          </a:xfrm>
          <a:prstGeom prst="rect">
            <a:avLst/>
          </a:prstGeom>
          <a:solidFill>
            <a:srgbClr val="FFF3E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74320" y="4663440"/>
            <a:ext cx="54864" cy="256032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58" name="Text 56"/>
          <p:cNvSpPr/>
          <p:nvPr/>
        </p:nvSpPr>
        <p:spPr>
          <a:xfrm>
            <a:off x="457200" y="4663440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impact: From a 7-day manual regression bottleneck to a fully automated, predictable, weekly quality gate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64008" cy="685800"/>
          </a:xfrm>
          <a:prstGeom prst="rect">
            <a:avLst/>
          </a:prstGeom>
          <a:solidFill>
            <a:srgbClr val="F57C0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164592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Roadmap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approach for low-risk, high-impact delivery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8503920" cy="22860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274320" y="1874520"/>
            <a:ext cx="8595360" cy="109728"/>
          </a:xfrm>
          <a:prstGeom prst="rect">
            <a:avLst/>
          </a:prstGeom>
          <a:solidFill>
            <a:srgbClr val="E3EAF2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188720" y="1810512"/>
            <a:ext cx="237744" cy="237744"/>
          </a:xfrm>
          <a:prstGeom prst="ellipse">
            <a:avLst/>
          </a:prstGeom>
          <a:solidFill>
            <a:srgbClr val="F57C00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3337560" y="1810512"/>
            <a:ext cx="237744" cy="237744"/>
          </a:xfrm>
          <a:prstGeom prst="ellipse">
            <a:avLst/>
          </a:prstGeom>
          <a:solidFill>
            <a:srgbClr val="1565C0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5486400" y="1810512"/>
            <a:ext cx="237744" cy="237744"/>
          </a:xfrm>
          <a:prstGeom prst="ellipse">
            <a:avLst/>
          </a:prstGeom>
          <a:solidFill>
            <a:srgbClr val="7B1FA2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7635240" y="1810512"/>
            <a:ext cx="237744" cy="237744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274320" y="2148840"/>
            <a:ext cx="2011680" cy="26060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274320" y="2148840"/>
            <a:ext cx="64008" cy="2606040"/>
          </a:xfrm>
          <a:prstGeom prst="rect">
            <a:avLst/>
          </a:prstGeom>
          <a:solidFill>
            <a:srgbClr val="F57C00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02336" y="221284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02336" y="245059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1–3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02336" y="26517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Categorisation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02336" y="294436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all 15,000 tests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02336" y="3282696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Tag: Mandatory UI / API / Widget / Obsolete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02336" y="3621024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duplicate &amp; obsolete tests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423160" y="2148840"/>
            <a:ext cx="2011680" cy="26060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2423160" y="2148840"/>
            <a:ext cx="64008" cy="260604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2551176" y="221284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551176" y="245059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4–8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551176" y="26517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Categories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551176" y="294436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 API-replaceable tests to service layer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551176" y="3282696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test per UI widget policy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551176" y="3621024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 categorised regression suite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0" y="2148840"/>
            <a:ext cx="2011680" cy="26060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4572000" y="2148840"/>
            <a:ext cx="64008" cy="2606040"/>
          </a:xfrm>
          <a:prstGeom prst="rect">
            <a:avLst/>
          </a:prstGeom>
          <a:solidFill>
            <a:srgbClr val="7B1FA2"/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4700016" y="221284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700016" y="245059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9–14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700016" y="26517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 &amp; Parallelism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700016" y="294436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BrowserStack sessions to 50+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700016" y="3282696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RQ2 environment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700016" y="3621024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Stabilise env health-check &amp; alerts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720840" y="2148840"/>
            <a:ext cx="2011680" cy="26060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6720840" y="2148840"/>
            <a:ext cx="64008" cy="2606040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6848856" y="221284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848856" y="245059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15–20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848856" y="26517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Steady State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848856" y="294436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/ Devin impact analysis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848856" y="3282696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test selection pipeline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848856" y="3621024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regression &lt; 1 day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74320" y="4663440"/>
            <a:ext cx="8595360" cy="256032"/>
          </a:xfrm>
          <a:prstGeom prst="rect">
            <a:avLst/>
          </a:prstGeom>
          <a:solidFill>
            <a:srgbClr val="FFF3E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74320" y="4663440"/>
            <a:ext cx="54864" cy="256032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45" name="Text 43"/>
          <p:cNvSpPr/>
          <p:nvPr/>
        </p:nvSpPr>
        <p:spPr>
          <a:xfrm>
            <a:off x="457200" y="4663440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phases are designed to be incremental — benefits are realised from Week 1 without requiring a big-bang cutover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914400"/>
            <a:ext cx="4114800" cy="4114800"/>
          </a:xfrm>
          <a:prstGeom prst="ellipse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315200" y="3200400"/>
            <a:ext cx="2743200" cy="2743200"/>
          </a:xfrm>
          <a:prstGeom prst="ellipse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DB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Path Forward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Regression from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Bottleneck to a Competitive Edge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2331720"/>
            <a:ext cx="411480" cy="34747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331720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60120" y="233172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BrowserStack parallel session increase (immediate)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834640"/>
            <a:ext cx="411480" cy="347472"/>
          </a:xfrm>
          <a:prstGeom prst="rect">
            <a:avLst/>
          </a:prstGeom>
          <a:solidFill>
            <a:srgbClr val="7B1FA2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834640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60120" y="283464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 off test categorisation workshop with QA leads (Week 1)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337560"/>
            <a:ext cx="411480" cy="347472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337560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60120" y="333756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 RQ2 environment (DevOps — Week 2)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840480"/>
            <a:ext cx="411480" cy="347472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840480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60120" y="384048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AI impact analysis on next release (Week 3)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320040" y="201168"/>
            <a:ext cx="64008" cy="685800"/>
          </a:xfrm>
          <a:prstGeom prst="rect">
            <a:avLst/>
          </a:prstGeom>
          <a:solidFill>
            <a:srgbClr val="F57C0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164592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Risks &amp; Mitigations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could derail this — and how we'll handle it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8503920" cy="22860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274320" y="1234440"/>
            <a:ext cx="2651760" cy="347472"/>
          </a:xfrm>
          <a:prstGeom prst="rect">
            <a:avLst/>
          </a:prstGeom>
          <a:solidFill>
            <a:srgbClr val="0D1B3E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47472" y="1234440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017520" y="1234440"/>
            <a:ext cx="2194560" cy="347472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090672" y="1234440"/>
            <a:ext cx="2121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Likelihood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303520" y="1234440"/>
            <a:ext cx="2011680" cy="347472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376672" y="1234440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406640" y="1234440"/>
            <a:ext cx="1463040" cy="347472"/>
          </a:xfrm>
          <a:prstGeom prst="rect">
            <a:avLst/>
          </a:prstGeom>
          <a:solidFill>
            <a:srgbClr val="E65100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479792" y="1234440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1600200"/>
            <a:ext cx="8595360" cy="356616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365760" y="161848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selection misses impacted tests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108960" y="161848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394960" y="161848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Shadow-run vs full regression for 4 weeks before trusting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406640" y="1655064"/>
            <a:ext cx="1417320" cy="246888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7406640" y="1655064"/>
            <a:ext cx="1417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Lead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1975104"/>
            <a:ext cx="8595360" cy="356616"/>
          </a:xfrm>
          <a:prstGeom prst="rect">
            <a:avLst/>
          </a:prstGeom>
          <a:solidFill>
            <a:srgbClr val="E3EAF2"/>
          </a:solidFill>
          <a:ln w="381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365760" y="199339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BrowserStack cost increase from parallelism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108960" y="199339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394960" y="199339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Negotiate volume pricing; offset via shorter cycles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406640" y="2029968"/>
            <a:ext cx="1417320" cy="246888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7406640" y="2029968"/>
            <a:ext cx="1417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 Mgr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74320" y="2350008"/>
            <a:ext cx="8595360" cy="356616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365760" y="236829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RQ2 drift from production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108960" y="2368296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394960" y="2368296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nightly sync of schema &amp; seed data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406640" y="2404872"/>
            <a:ext cx="1417320" cy="246888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7406640" y="2404872"/>
            <a:ext cx="1417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74320" y="2724912"/>
            <a:ext cx="8595360" cy="356616"/>
          </a:xfrm>
          <a:prstGeom prst="rect">
            <a:avLst/>
          </a:prstGeom>
          <a:solidFill>
            <a:srgbClr val="E3EAF2"/>
          </a:solidFill>
          <a:ln w="381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365760" y="27432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capacity for 15k test audit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108960" y="27432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394960" y="27432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audit across 3 weeks; dedicate 2 QA engineers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7406640" y="2779776"/>
            <a:ext cx="1417320" cy="246888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7406640" y="2779776"/>
            <a:ext cx="1417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Lead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74320" y="3099816"/>
            <a:ext cx="8595360" cy="356616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365760" y="311810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Flaky tests after parallelism increase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3108960" y="311810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394960" y="311810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Quarantine + auto-retry policy; flake dashboard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7406640" y="3154680"/>
            <a:ext cx="1417320" cy="246888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7406640" y="3154680"/>
            <a:ext cx="1417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Lead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74320" y="3474720"/>
            <a:ext cx="8595360" cy="356616"/>
          </a:xfrm>
          <a:prstGeom prst="rect">
            <a:avLst/>
          </a:prstGeom>
          <a:solidFill>
            <a:srgbClr val="E3EAF2"/>
          </a:solidFill>
          <a:ln w="381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365760" y="349300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lock-in on AI tooling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3108960" y="349300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5394960" y="349300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tool-agnostic test tags; portable selection logic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7406640" y="3529584"/>
            <a:ext cx="1417320" cy="246888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7406640" y="3529584"/>
            <a:ext cx="1417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 Mgr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274320" y="3849624"/>
            <a:ext cx="8595360" cy="356616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365760" y="386791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resistance to skipping tests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3108960" y="386791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5394960" y="386791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coverage metrics; sign-off gate per release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7406640" y="3904488"/>
            <a:ext cx="1417320" cy="246888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p/>
        </p:txBody>
      </p:sp>
      <p:sp>
        <p:nvSpPr>
          <p:cNvPr id="55" name="Text 53"/>
          <p:cNvSpPr/>
          <p:nvPr/>
        </p:nvSpPr>
        <p:spPr>
          <a:xfrm>
            <a:off x="7406640" y="3904488"/>
            <a:ext cx="1417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Lead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274320" y="4663440"/>
            <a:ext cx="8595360" cy="256032"/>
          </a:xfrm>
          <a:prstGeom prst="rect">
            <a:avLst/>
          </a:prstGeom>
          <a:solidFill>
            <a:srgbClr val="FFF3E0"/>
          </a:solidFill>
          <a:ln w="12700">
            <a:solidFill>
              <a:srgbClr val="F57C00"/>
            </a:solidFill>
            <a:prstDash val="solid"/>
          </a:ln>
        </p:spPr>
        <p:txBody>
          <a:bodyPr/>
          <a:p/>
        </p:txBody>
      </p:sp>
      <p:sp>
        <p:nvSpPr>
          <p:cNvPr id="57" name="Shape 55"/>
          <p:cNvSpPr/>
          <p:nvPr/>
        </p:nvSpPr>
        <p:spPr>
          <a:xfrm>
            <a:off x="274320" y="4663440"/>
            <a:ext cx="54864" cy="256032"/>
          </a:xfrm>
          <a:prstGeom prst="rect">
            <a:avLst/>
          </a:prstGeom>
          <a:solidFill>
            <a:srgbClr val="F57C00"/>
          </a:solidFill>
          <a:ln/>
        </p:spPr>
        <p:txBody>
          <a:bodyPr/>
          <a:p/>
        </p:txBody>
      </p:sp>
      <p:sp>
        <p:nvSpPr>
          <p:cNvPr id="58" name="Text 56"/>
          <p:cNvSpPr/>
          <p:nvPr/>
        </p:nvSpPr>
        <p:spPr>
          <a:xfrm>
            <a:off x="457200" y="4663440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risks are tracked weekly; mitigations begin in Phase 1 alongside test categorisation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Regression Testing Optimization</dc:title>
  <dc:subject>PptxGenJS Presentation</dc:subject>
  <dc:creator>PptxGenJS</dc:creator>
  <cp:lastModifiedBy>PptxGenJS</cp:lastModifiedBy>
  <cp:revision>1</cp:revision>
  <dcterms:created xsi:type="dcterms:W3CDTF">2026-04-10T13:46:27Z</dcterms:created>
  <dcterms:modified xsi:type="dcterms:W3CDTF">2026-04-10T13:46:27Z</dcterms:modified>
</cp:coreProperties>
</file>