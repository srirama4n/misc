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deck: Tachyon is the platform, TSDK is its client library, and Google ADK is the agent runtime that ships inside TSDK. We are not choosing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from the outside in. Anything a team gets 'for free' by importing TSDK is in the purple band. The ADK box is what developers actually code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E2E block diagram we used for the FMEA, minus the risk callouts. Step 9 is worth calling out: the agent talks to the MCP server directly, the platform is not in that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 ADK primitives. Middle = wrapper behaviour. Right = platform services. If someone asks 'where does X live', this is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request through. Most steps are ADK orchestration with the wrapper routing calls to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'on construction' line: registration, Arize tracer and callbacks are installed when the agent object is created, not by the agent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Short-term state goes through ADK Session/State; long-term through ADK MemoryService. TSDK adapters point both at Tachyon-managed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calls always go through the Bridge. Tool calls go from the agent to the registered MCP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13 capabilities as the earlier comparison deck, now split by where the capability actually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adopt the library and you get the platform integration; upgrade ADK or Tachyon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05840"/>
            <a:ext cx="10972800" cy="822960"/>
          </a:xfrm>
          <a:prstGeom prst="rect">
            <a:avLst/>
          </a:prstGeom>
          <a:noFill/>
          <a:ln/>
        </p:spPr>
        <p:txBody>
          <a:bodyPr wrap="square" lIns="508" tIns="508" rIns="508" bIns="508" rtlCol="0" anchor="t"/>
          <a:lstStyle/>
          <a:p>
            <a:pPr algn="l" indent="0" marL="0">
              <a:lnSpc>
                <a:spcPct val="105000"/>
              </a:lnSpc>
              <a:buNone/>
            </a:pPr>
            <a:r>
              <a:rPr lang="en-US" sz="3600" b="1" dirty="0">
                <a:solidFill>
                  <a:srgbClr val="1B1F3B"/>
                </a:solidFill>
                <a:latin typeface="Calibri" pitchFamily="34" charset="0"/>
                <a:ea typeface="Calibri" pitchFamily="34" charset="-122"/>
                <a:cs typeface="Calibri" pitchFamily="34" charset="-120"/>
              </a:rPr>
              <a:t>Fargo agent stack: Google ADK, TSDK and Tachyon</a:t>
            </a:r>
            <a:endParaRPr lang="en-US" sz="3600" dirty="0"/>
          </a:p>
        </p:txBody>
      </p:sp>
      <p:sp>
        <p:nvSpPr>
          <p:cNvPr id="3" name="Text 1"/>
          <p:cNvSpPr txBox="1"/>
          <p:nvPr/>
        </p:nvSpPr>
        <p:spPr>
          <a:xfrm>
            <a:off x="640080" y="1920240"/>
            <a:ext cx="10515600" cy="731520"/>
          </a:xfrm>
          <a:prstGeom prst="rect">
            <a:avLst/>
          </a:prstGeom>
          <a:noFill/>
          <a:ln/>
        </p:spPr>
        <p:txBody>
          <a:bodyPr wrap="square" lIns="508" tIns="508" rIns="508" bIns="508" rtlCol="0" anchor="t"/>
          <a:lstStyle/>
          <a:p>
            <a:pPr algn="l" indent="0" marL="0">
              <a:lnSpc>
                <a:spcPct val="105000"/>
              </a:lnSpc>
              <a:buNone/>
            </a:pPr>
            <a:r>
              <a:rPr lang="en-US" sz="1600" dirty="0">
                <a:solidFill>
                  <a:srgbClr val="5F6368"/>
                </a:solidFill>
                <a:latin typeface="Calibri" pitchFamily="34" charset="0"/>
                <a:ea typeface="Calibri" pitchFamily="34" charset="-122"/>
                <a:cs typeface="Calibri" pitchFamily="34" charset="-120"/>
              </a:rPr>
              <a:t>Which features come from the ADK core, which come from the TSDK library, and which come from the Tachyon platform</a:t>
            </a:r>
            <a:endParaRPr lang="en-US" sz="1600" dirty="0"/>
          </a:p>
        </p:txBody>
      </p:sp>
      <p:sp>
        <p:nvSpPr>
          <p:cNvPr id="4" name="Shape 2"/>
          <p:cNvSpPr/>
          <p:nvPr/>
        </p:nvSpPr>
        <p:spPr>
          <a:xfrm>
            <a:off x="640080" y="3063240"/>
            <a:ext cx="10881360" cy="2834640"/>
          </a:xfrm>
          <a:prstGeom prst="roundRect">
            <a:avLst>
              <a:gd name="adj" fmla="val 4516"/>
            </a:avLst>
          </a:prstGeom>
          <a:solidFill>
            <a:srgbClr val="FDEEE4"/>
          </a:solidFill>
          <a:ln w="19050">
            <a:solidFill>
              <a:srgbClr val="C2410C"/>
            </a:solidFill>
            <a:prstDash val="solid"/>
          </a:ln>
        </p:spPr>
      </p:sp>
      <p:sp>
        <p:nvSpPr>
          <p:cNvPr id="5" name="Text 3"/>
          <p:cNvSpPr txBox="1"/>
          <p:nvPr/>
        </p:nvSpPr>
        <p:spPr>
          <a:xfrm>
            <a:off x="914400" y="3200400"/>
            <a:ext cx="5486400" cy="320040"/>
          </a:xfrm>
          <a:prstGeom prst="rect">
            <a:avLst/>
          </a:prstGeom>
          <a:noFill/>
          <a:ln/>
        </p:spPr>
        <p:txBody>
          <a:bodyPr wrap="square" lIns="508" tIns="508" rIns="508" bIns="508" rtlCol="0" anchor="t"/>
          <a:lstStyle/>
          <a:p>
            <a:pPr algn="l" indent="0" marL="0">
              <a:lnSpc>
                <a:spcPct val="105000"/>
              </a:lnSpc>
              <a:buNone/>
            </a:pPr>
            <a:r>
              <a:rPr lang="en-US" sz="1200" b="1" dirty="0">
                <a:solidFill>
                  <a:srgbClr val="C2410C"/>
                </a:solidFill>
                <a:latin typeface="Calibri" pitchFamily="34" charset="0"/>
                <a:ea typeface="Calibri" pitchFamily="34" charset="-122"/>
                <a:cs typeface="Calibri" pitchFamily="34" charset="-120"/>
              </a:rPr>
              <a:t>Tachyon – enterprise platform</a:t>
            </a:r>
            <a:endParaRPr lang="en-US" sz="1200" dirty="0"/>
          </a:p>
        </p:txBody>
      </p:sp>
      <p:sp>
        <p:nvSpPr>
          <p:cNvPr id="6" name="Text 4"/>
          <p:cNvSpPr txBox="1"/>
          <p:nvPr/>
        </p:nvSpPr>
        <p:spPr>
          <a:xfrm>
            <a:off x="914400" y="3502152"/>
            <a:ext cx="7315200" cy="274320"/>
          </a:xfrm>
          <a:prstGeom prst="rect">
            <a:avLst/>
          </a:prstGeom>
          <a:noFill/>
          <a:ln/>
        </p:spPr>
        <p:txBody>
          <a:bodyPr wrap="square" lIns="508" tIns="508" rIns="508" bIns="508" rtlCol="0" anchor="t"/>
          <a:lstStyle/>
          <a:p>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AI Bridge · Overwatch · Arize · registries · guardrails · evals · memory infra · OCP deployment · MMR</a:t>
            </a:r>
            <a:endParaRPr lang="en-US" sz="1050" dirty="0"/>
          </a:p>
        </p:txBody>
      </p:sp>
      <p:sp>
        <p:nvSpPr>
          <p:cNvPr id="7" name="Shape 5"/>
          <p:cNvSpPr/>
          <p:nvPr/>
        </p:nvSpPr>
        <p:spPr>
          <a:xfrm>
            <a:off x="914400" y="3886200"/>
            <a:ext cx="10332720" cy="1783080"/>
          </a:xfrm>
          <a:prstGeom prst="roundRect">
            <a:avLst>
              <a:gd name="adj" fmla="val 6154"/>
            </a:avLst>
          </a:prstGeom>
          <a:solidFill>
            <a:srgbClr val="EFE9F7"/>
          </a:solidFill>
          <a:ln w="19050">
            <a:solidFill>
              <a:srgbClr val="6B4C9A"/>
            </a:solidFill>
            <a:prstDash val="solid"/>
          </a:ln>
        </p:spPr>
      </p:sp>
      <p:sp>
        <p:nvSpPr>
          <p:cNvPr id="8" name="Text 6"/>
          <p:cNvSpPr txBox="1"/>
          <p:nvPr/>
        </p:nvSpPr>
        <p:spPr>
          <a:xfrm>
            <a:off x="1188720" y="4005072"/>
            <a:ext cx="5486400" cy="320040"/>
          </a:xfrm>
          <a:prstGeom prst="rect">
            <a:avLst/>
          </a:prstGeom>
          <a:noFill/>
          <a:ln/>
        </p:spPr>
        <p:txBody>
          <a:bodyPr wrap="square" lIns="508" tIns="508" rIns="508" bIns="508" rtlCol="0" anchor="t"/>
          <a:lstStyle/>
          <a:p>
            <a:pPr algn="l" indent="0" marL="0">
              <a:lnSpc>
                <a:spcPct val="105000"/>
              </a:lnSpc>
              <a:buNone/>
            </a:pPr>
            <a:r>
              <a:rPr lang="en-US" sz="1200" b="1" dirty="0">
                <a:solidFill>
                  <a:srgbClr val="6B4C9A"/>
                </a:solidFill>
                <a:latin typeface="Calibri" pitchFamily="34" charset="0"/>
                <a:ea typeface="Calibri" pitchFamily="34" charset="-122"/>
                <a:cs typeface="Calibri" pitchFamily="34" charset="-120"/>
              </a:rPr>
              <a:t>TSDK – client library for the platform</a:t>
            </a:r>
            <a:endParaRPr lang="en-US" sz="1200" dirty="0"/>
          </a:p>
        </p:txBody>
      </p:sp>
      <p:sp>
        <p:nvSpPr>
          <p:cNvPr id="9" name="Text 7"/>
          <p:cNvSpPr txBox="1"/>
          <p:nvPr/>
        </p:nvSpPr>
        <p:spPr>
          <a:xfrm>
            <a:off x="1188720" y="4297680"/>
            <a:ext cx="7772400" cy="274320"/>
          </a:xfrm>
          <a:prstGeom prst="rect">
            <a:avLst/>
          </a:prstGeom>
          <a:noFill/>
          <a:ln/>
        </p:spPr>
        <p:txBody>
          <a:bodyPr wrap="square" lIns="508" tIns="508" rIns="508" bIns="508" rtlCol="0" anchor="t"/>
          <a:lstStyle/>
          <a:p>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Wrapper classes around ADK — every agent built with it is auto-registered with Tachyon and traced in Arize</a:t>
            </a:r>
            <a:endParaRPr lang="en-US" sz="1050" dirty="0"/>
          </a:p>
        </p:txBody>
      </p:sp>
      <p:sp>
        <p:nvSpPr>
          <p:cNvPr id="10" name="Shape 8"/>
          <p:cNvSpPr/>
          <p:nvPr/>
        </p:nvSpPr>
        <p:spPr>
          <a:xfrm>
            <a:off x="1188720" y="4663440"/>
            <a:ext cx="9784080" cy="822960"/>
          </a:xfrm>
          <a:prstGeom prst="roundRect">
            <a:avLst>
              <a:gd name="adj" fmla="val 11111"/>
            </a:avLst>
          </a:prstGeom>
          <a:solidFill>
            <a:srgbClr val="E8F0FE"/>
          </a:solidFill>
          <a:ln w="19050">
            <a:solidFill>
              <a:srgbClr val="1A73E8"/>
            </a:solidFill>
            <a:prstDash val="solid"/>
          </a:ln>
        </p:spPr>
      </p:sp>
      <p:sp>
        <p:nvSpPr>
          <p:cNvPr id="11" name="Text 9"/>
          <p:cNvSpPr txBox="1"/>
          <p:nvPr/>
        </p:nvSpPr>
        <p:spPr>
          <a:xfrm>
            <a:off x="1463040" y="4663440"/>
            <a:ext cx="9235440" cy="822960"/>
          </a:xfrm>
          <a:prstGeom prst="rect">
            <a:avLst/>
          </a:prstGeom>
          <a:noFill/>
          <a:ln/>
        </p:spPr>
        <p:txBody>
          <a:bodyPr wrap="square" lIns="508" tIns="508" rIns="508" bIns="508" rtlCol="0" anchor="ctr"/>
          <a:lstStyle/>
          <a:p>
            <a:pPr algn="l" indent="0" marL="0">
              <a:lnSpc>
                <a:spcPct val="105000"/>
              </a:lnSpc>
              <a:buNone/>
            </a:pPr>
            <a:r>
              <a:rPr lang="en-US" sz="1150" b="1" dirty="0">
                <a:solidFill>
                  <a:srgbClr val="1A73E8"/>
                </a:solidFill>
                <a:latin typeface="Calibri" pitchFamily="34" charset="0"/>
                <a:ea typeface="Calibri" pitchFamily="34" charset="-122"/>
                <a:cs typeface="Calibri" pitchFamily="34" charset="-120"/>
              </a:rPr>
              <a:t>Google ADK – agent runtime core    </a:t>
            </a:r>
            <a:pPr algn="l" indent="0" marL="0">
              <a:lnSpc>
                <a:spcPct val="105000"/>
              </a:lnSpc>
              <a:buNone/>
            </a:pPr>
            <a:r>
              <a:rPr lang="en-US" sz="1150" dirty="0">
                <a:solidFill>
                  <a:srgbClr val="5F6368"/>
                </a:solidFill>
                <a:latin typeface="Calibri" pitchFamily="34" charset="0"/>
                <a:ea typeface="Calibri" pitchFamily="34" charset="-122"/>
                <a:cs typeface="Calibri" pitchFamily="34" charset="-120"/>
              </a:rPr>
              <a:t>LlmAgent · workflow agents · tools · sessions · callbacks · A2A</a:t>
            </a:r>
            <a:endParaRPr lang="en-US" sz="1150" dirty="0"/>
          </a:p>
        </p:txBody>
      </p:sp>
      <p:sp>
        <p:nvSpPr>
          <p:cNvPr id="12" name="Text 10"/>
          <p:cNvSpPr txBox="1"/>
          <p:nvPr/>
        </p:nvSpPr>
        <p:spPr>
          <a:xfrm>
            <a:off x="640080" y="6126480"/>
            <a:ext cx="7315200" cy="365760"/>
          </a:xfrm>
          <a:prstGeom prst="rect">
            <a:avLst/>
          </a:prstGeom>
          <a:noFill/>
          <a:ln/>
        </p:spPr>
        <p:txBody>
          <a:bodyPr wrap="square" lIns="508" tIns="508" rIns="508" bIns="508" rtlCol="0" anchor="t"/>
          <a:lstStyle/>
          <a:p>
            <a:pPr algn="l" indent="0" marL="0">
              <a:lnSpc>
                <a:spcPct val="105000"/>
              </a:lnSpc>
              <a:buNone/>
            </a:pPr>
            <a:r>
              <a:rPr lang="en-US" sz="1100" dirty="0">
                <a:solidFill>
                  <a:srgbClr val="9AA0A6"/>
                </a:solidFill>
                <a:latin typeface="Calibri" pitchFamily="34" charset="0"/>
                <a:ea typeface="Calibri" pitchFamily="34" charset="-122"/>
                <a:cs typeface="Calibri" pitchFamily="34" charset="-120"/>
              </a:rPr>
              <a:t>Fargo Platform Engineering  |  Sept 2026  |  Draft for discussion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How the three layers fit together</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ADK is the agent runtime. TSDK wraps it so every agent is registered, traced and guarded when it is created. Tachyon runs the services behind that.</a:t>
            </a:r>
            <a:endParaRPr lang="en-US" sz="1300" dirty="0"/>
          </a:p>
        </p:txBody>
      </p:sp>
      <p:sp>
        <p:nvSpPr>
          <p:cNvPr id="4" name="Shape 2"/>
          <p:cNvSpPr/>
          <p:nvPr/>
        </p:nvSpPr>
        <p:spPr>
          <a:xfrm>
            <a:off x="548640" y="1874520"/>
            <a:ext cx="11064240" cy="4251960"/>
          </a:xfrm>
          <a:prstGeom prst="roundRect">
            <a:avLst>
              <a:gd name="adj" fmla="val 2581"/>
            </a:avLst>
          </a:prstGeom>
          <a:solidFill>
            <a:srgbClr val="FDEEE4"/>
          </a:solidFill>
          <a:ln w="19050">
            <a:solidFill>
              <a:srgbClr val="C2410C"/>
            </a:solidFill>
            <a:prstDash val="solid"/>
          </a:ln>
        </p:spPr>
      </p:sp>
      <p:sp>
        <p:nvSpPr>
          <p:cNvPr id="5" name="Text 3"/>
          <p:cNvSpPr txBox="1"/>
          <p:nvPr/>
        </p:nvSpPr>
        <p:spPr>
          <a:xfrm>
            <a:off x="731520" y="1965960"/>
            <a:ext cx="54864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C2410C"/>
                </a:solidFill>
                <a:latin typeface="Calibri" pitchFamily="34" charset="0"/>
                <a:ea typeface="Calibri" pitchFamily="34" charset="-122"/>
                <a:cs typeface="Calibri" pitchFamily="34" charset="-120"/>
              </a:rPr>
              <a:t>Tachyon platform (services)</a:t>
            </a:r>
            <a:endParaRPr lang="en-US" sz="1100" dirty="0"/>
          </a:p>
        </p:txBody>
      </p:sp>
      <p:sp>
        <p:nvSpPr>
          <p:cNvPr id="6" name="Shape 4"/>
          <p:cNvSpPr/>
          <p:nvPr/>
        </p:nvSpPr>
        <p:spPr>
          <a:xfrm>
            <a:off x="731520" y="2331720"/>
            <a:ext cx="2423160" cy="658368"/>
          </a:xfrm>
          <a:prstGeom prst="roundRect">
            <a:avLst>
              <a:gd name="adj" fmla="val 8333"/>
            </a:avLst>
          </a:prstGeom>
          <a:solidFill>
            <a:srgbClr val="FFFFFF"/>
          </a:solidFill>
          <a:ln w="12700">
            <a:solidFill>
              <a:srgbClr val="F5CDB4"/>
            </a:solidFill>
            <a:prstDash val="solid"/>
          </a:ln>
        </p:spPr>
      </p:sp>
      <p:sp>
        <p:nvSpPr>
          <p:cNvPr id="7" name="Text 5"/>
          <p:cNvSpPr txBox="1"/>
          <p:nvPr/>
        </p:nvSpPr>
        <p:spPr>
          <a:xfrm>
            <a:off x="841248" y="2404872"/>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AI Bridge</a:t>
            </a:r>
            <a:endParaRPr lang="en-US" sz="1050" dirty="0"/>
          </a:p>
        </p:txBody>
      </p:sp>
      <p:sp>
        <p:nvSpPr>
          <p:cNvPr id="8" name="Text 6"/>
          <p:cNvSpPr txBox="1"/>
          <p:nvPr/>
        </p:nvSpPr>
        <p:spPr>
          <a:xfrm>
            <a:off x="841248" y="2660904"/>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Model registry, routing, failover, pairing &amp; fusion</a:t>
            </a:r>
            <a:endParaRPr lang="en-US" sz="900" dirty="0"/>
          </a:p>
        </p:txBody>
      </p:sp>
      <p:sp>
        <p:nvSpPr>
          <p:cNvPr id="9" name="Shape 7"/>
          <p:cNvSpPr/>
          <p:nvPr/>
        </p:nvSpPr>
        <p:spPr>
          <a:xfrm>
            <a:off x="731520" y="3081528"/>
            <a:ext cx="2423160" cy="658368"/>
          </a:xfrm>
          <a:prstGeom prst="roundRect">
            <a:avLst>
              <a:gd name="adj" fmla="val 8333"/>
            </a:avLst>
          </a:prstGeom>
          <a:solidFill>
            <a:srgbClr val="FFFFFF"/>
          </a:solidFill>
          <a:ln w="12700">
            <a:solidFill>
              <a:srgbClr val="F5CDB4"/>
            </a:solidFill>
            <a:prstDash val="solid"/>
          </a:ln>
        </p:spPr>
      </p:sp>
      <p:sp>
        <p:nvSpPr>
          <p:cNvPr id="10" name="Text 8"/>
          <p:cNvSpPr txBox="1"/>
          <p:nvPr/>
        </p:nvSpPr>
        <p:spPr>
          <a:xfrm>
            <a:off x="841248" y="3154680"/>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Guardrails</a:t>
            </a:r>
            <a:endParaRPr lang="en-US" sz="1050" dirty="0"/>
          </a:p>
        </p:txBody>
      </p:sp>
      <p:sp>
        <p:nvSpPr>
          <p:cNvPr id="11" name="Text 9"/>
          <p:cNvSpPr txBox="1"/>
          <p:nvPr/>
        </p:nvSpPr>
        <p:spPr>
          <a:xfrm>
            <a:off x="841248" y="3410712"/>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Budgets, loop detection, safe-tool policy, goal drift</a:t>
            </a:r>
            <a:endParaRPr lang="en-US" sz="900" dirty="0"/>
          </a:p>
        </p:txBody>
      </p:sp>
      <p:sp>
        <p:nvSpPr>
          <p:cNvPr id="12" name="Shape 10"/>
          <p:cNvSpPr/>
          <p:nvPr/>
        </p:nvSpPr>
        <p:spPr>
          <a:xfrm>
            <a:off x="731520" y="3831336"/>
            <a:ext cx="2423160" cy="658368"/>
          </a:xfrm>
          <a:prstGeom prst="roundRect">
            <a:avLst>
              <a:gd name="adj" fmla="val 8333"/>
            </a:avLst>
          </a:prstGeom>
          <a:solidFill>
            <a:srgbClr val="FFFFFF"/>
          </a:solidFill>
          <a:ln w="12700">
            <a:solidFill>
              <a:srgbClr val="F5CDB4"/>
            </a:solidFill>
            <a:prstDash val="solid"/>
          </a:ln>
        </p:spPr>
      </p:sp>
      <p:sp>
        <p:nvSpPr>
          <p:cNvPr id="13" name="Text 11"/>
          <p:cNvSpPr txBox="1"/>
          <p:nvPr/>
        </p:nvSpPr>
        <p:spPr>
          <a:xfrm>
            <a:off x="841248" y="3904488"/>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Overwatch</a:t>
            </a:r>
            <a:endParaRPr lang="en-US" sz="1050" dirty="0"/>
          </a:p>
        </p:txBody>
      </p:sp>
      <p:sp>
        <p:nvSpPr>
          <p:cNvPr id="14" name="Text 12"/>
          <p:cNvSpPr txBox="1"/>
          <p:nvPr/>
        </p:nvSpPr>
        <p:spPr>
          <a:xfrm>
            <a:off x="841248" y="4160520"/>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Monitoring, LLM metrics, goal validation</a:t>
            </a:r>
            <a:endParaRPr lang="en-US" sz="900" dirty="0"/>
          </a:p>
        </p:txBody>
      </p:sp>
      <p:sp>
        <p:nvSpPr>
          <p:cNvPr id="15" name="Shape 13"/>
          <p:cNvSpPr/>
          <p:nvPr/>
        </p:nvSpPr>
        <p:spPr>
          <a:xfrm>
            <a:off x="731520" y="4581144"/>
            <a:ext cx="2423160" cy="658368"/>
          </a:xfrm>
          <a:prstGeom prst="roundRect">
            <a:avLst>
              <a:gd name="adj" fmla="val 8333"/>
            </a:avLst>
          </a:prstGeom>
          <a:solidFill>
            <a:srgbClr val="FFFFFF"/>
          </a:solidFill>
          <a:ln w="12700">
            <a:solidFill>
              <a:srgbClr val="F5CDB4"/>
            </a:solidFill>
            <a:prstDash val="solid"/>
          </a:ln>
        </p:spPr>
      </p:sp>
      <p:sp>
        <p:nvSpPr>
          <p:cNvPr id="16" name="Text 14"/>
          <p:cNvSpPr txBox="1"/>
          <p:nvPr/>
        </p:nvSpPr>
        <p:spPr>
          <a:xfrm>
            <a:off x="841248" y="4654296"/>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Arize Phoenix</a:t>
            </a:r>
            <a:endParaRPr lang="en-US" sz="1050" dirty="0"/>
          </a:p>
        </p:txBody>
      </p:sp>
      <p:sp>
        <p:nvSpPr>
          <p:cNvPr id="17" name="Text 15"/>
          <p:cNvSpPr txBox="1"/>
          <p:nvPr/>
        </p:nvSpPr>
        <p:spPr>
          <a:xfrm>
            <a:off x="841248" y="4910328"/>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Trace store; OpenTelemetry export</a:t>
            </a:r>
            <a:endParaRPr lang="en-US" sz="900" dirty="0"/>
          </a:p>
        </p:txBody>
      </p:sp>
      <p:sp>
        <p:nvSpPr>
          <p:cNvPr id="18" name="Shape 16"/>
          <p:cNvSpPr/>
          <p:nvPr/>
        </p:nvSpPr>
        <p:spPr>
          <a:xfrm>
            <a:off x="731520" y="5330952"/>
            <a:ext cx="2423160" cy="658368"/>
          </a:xfrm>
          <a:prstGeom prst="roundRect">
            <a:avLst>
              <a:gd name="adj" fmla="val 8333"/>
            </a:avLst>
          </a:prstGeom>
          <a:solidFill>
            <a:srgbClr val="FFFFFF"/>
          </a:solidFill>
          <a:ln w="12700">
            <a:solidFill>
              <a:srgbClr val="F5CDB4"/>
            </a:solidFill>
            <a:prstDash val="solid"/>
          </a:ln>
        </p:spPr>
      </p:sp>
      <p:sp>
        <p:nvSpPr>
          <p:cNvPr id="19" name="Text 17"/>
          <p:cNvSpPr txBox="1"/>
          <p:nvPr/>
        </p:nvSpPr>
        <p:spPr>
          <a:xfrm>
            <a:off x="841248" y="5404104"/>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Evals</a:t>
            </a:r>
            <a:endParaRPr lang="en-US" sz="1050" dirty="0"/>
          </a:p>
        </p:txBody>
      </p:sp>
      <p:sp>
        <p:nvSpPr>
          <p:cNvPr id="20" name="Text 18"/>
          <p:cNvSpPr txBox="1"/>
          <p:nvPr/>
        </p:nvSpPr>
        <p:spPr>
          <a:xfrm>
            <a:off x="841248" y="5660136"/>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Guardrail evals, LLM-as-judge, pytest in CI</a:t>
            </a:r>
            <a:endParaRPr lang="en-US" sz="900" dirty="0"/>
          </a:p>
        </p:txBody>
      </p:sp>
      <p:sp>
        <p:nvSpPr>
          <p:cNvPr id="21" name="Shape 19"/>
          <p:cNvSpPr/>
          <p:nvPr/>
        </p:nvSpPr>
        <p:spPr>
          <a:xfrm>
            <a:off x="9006840" y="2331720"/>
            <a:ext cx="2423160" cy="658368"/>
          </a:xfrm>
          <a:prstGeom prst="roundRect">
            <a:avLst>
              <a:gd name="adj" fmla="val 8333"/>
            </a:avLst>
          </a:prstGeom>
          <a:solidFill>
            <a:srgbClr val="FFFFFF"/>
          </a:solidFill>
          <a:ln w="12700">
            <a:solidFill>
              <a:srgbClr val="F5CDB4"/>
            </a:solidFill>
            <a:prstDash val="solid"/>
          </a:ln>
        </p:spPr>
      </p:sp>
      <p:sp>
        <p:nvSpPr>
          <p:cNvPr id="22" name="Text 20"/>
          <p:cNvSpPr txBox="1"/>
          <p:nvPr/>
        </p:nvSpPr>
        <p:spPr>
          <a:xfrm>
            <a:off x="9116568" y="2404872"/>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MCP Tool Registry</a:t>
            </a:r>
            <a:endParaRPr lang="en-US" sz="1050" dirty="0"/>
          </a:p>
        </p:txBody>
      </p:sp>
      <p:sp>
        <p:nvSpPr>
          <p:cNvPr id="23" name="Text 21"/>
          <p:cNvSpPr txBox="1"/>
          <p:nvPr/>
        </p:nvSpPr>
        <p:spPr>
          <a:xfrm>
            <a:off x="9116568" y="2660904"/>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Registered MCP servers &amp; tool schemas</a:t>
            </a:r>
            <a:endParaRPr lang="en-US" sz="900" dirty="0"/>
          </a:p>
        </p:txBody>
      </p:sp>
      <p:sp>
        <p:nvSpPr>
          <p:cNvPr id="24" name="Shape 22"/>
          <p:cNvSpPr/>
          <p:nvPr/>
        </p:nvSpPr>
        <p:spPr>
          <a:xfrm>
            <a:off x="9006840" y="3081528"/>
            <a:ext cx="2423160" cy="658368"/>
          </a:xfrm>
          <a:prstGeom prst="roundRect">
            <a:avLst>
              <a:gd name="adj" fmla="val 8333"/>
            </a:avLst>
          </a:prstGeom>
          <a:solidFill>
            <a:srgbClr val="FFFFFF"/>
          </a:solidFill>
          <a:ln w="12700">
            <a:solidFill>
              <a:srgbClr val="F5CDB4"/>
            </a:solidFill>
            <a:prstDash val="solid"/>
          </a:ln>
        </p:spPr>
      </p:sp>
      <p:sp>
        <p:nvSpPr>
          <p:cNvPr id="25" name="Text 23"/>
          <p:cNvSpPr txBox="1"/>
          <p:nvPr/>
        </p:nvSpPr>
        <p:spPr>
          <a:xfrm>
            <a:off x="9116568" y="3154680"/>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Memory infra</a:t>
            </a:r>
            <a:endParaRPr lang="en-US" sz="1050" dirty="0"/>
          </a:p>
        </p:txBody>
      </p:sp>
      <p:sp>
        <p:nvSpPr>
          <p:cNvPr id="26" name="Text 24"/>
          <p:cNvSpPr txBox="1"/>
          <p:nvPr/>
        </p:nvSpPr>
        <p:spPr>
          <a:xfrm>
            <a:off x="9116568" y="3410712"/>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Redis (TTL, mTLS) · Mem0 long-term</a:t>
            </a:r>
            <a:endParaRPr lang="en-US" sz="900" dirty="0"/>
          </a:p>
        </p:txBody>
      </p:sp>
      <p:sp>
        <p:nvSpPr>
          <p:cNvPr id="27" name="Shape 25"/>
          <p:cNvSpPr/>
          <p:nvPr/>
        </p:nvSpPr>
        <p:spPr>
          <a:xfrm>
            <a:off x="9006840" y="3831336"/>
            <a:ext cx="2423160" cy="658368"/>
          </a:xfrm>
          <a:prstGeom prst="roundRect">
            <a:avLst>
              <a:gd name="adj" fmla="val 8333"/>
            </a:avLst>
          </a:prstGeom>
          <a:solidFill>
            <a:srgbClr val="FFFFFF"/>
          </a:solidFill>
          <a:ln w="12700">
            <a:solidFill>
              <a:srgbClr val="F5CDB4"/>
            </a:solidFill>
            <a:prstDash val="solid"/>
          </a:ln>
        </p:spPr>
      </p:sp>
      <p:sp>
        <p:nvSpPr>
          <p:cNvPr id="28" name="Text 26"/>
          <p:cNvSpPr txBox="1"/>
          <p:nvPr/>
        </p:nvSpPr>
        <p:spPr>
          <a:xfrm>
            <a:off x="9116568" y="3904488"/>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RAG pipeline</a:t>
            </a:r>
            <a:endParaRPr lang="en-US" sz="1050" dirty="0"/>
          </a:p>
        </p:txBody>
      </p:sp>
      <p:sp>
        <p:nvSpPr>
          <p:cNvPr id="29" name="Text 27"/>
          <p:cNvSpPr txBox="1"/>
          <p:nvPr/>
        </p:nvSpPr>
        <p:spPr>
          <a:xfrm>
            <a:off x="9116568" y="4160520"/>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Chunking, hybrid search, re-rankers</a:t>
            </a:r>
            <a:endParaRPr lang="en-US" sz="900" dirty="0"/>
          </a:p>
        </p:txBody>
      </p:sp>
      <p:sp>
        <p:nvSpPr>
          <p:cNvPr id="30" name="Shape 28"/>
          <p:cNvSpPr/>
          <p:nvPr/>
        </p:nvSpPr>
        <p:spPr>
          <a:xfrm>
            <a:off x="9006840" y="4581144"/>
            <a:ext cx="2423160" cy="658368"/>
          </a:xfrm>
          <a:prstGeom prst="roundRect">
            <a:avLst>
              <a:gd name="adj" fmla="val 8333"/>
            </a:avLst>
          </a:prstGeom>
          <a:solidFill>
            <a:srgbClr val="FFFFFF"/>
          </a:solidFill>
          <a:ln w="12700">
            <a:solidFill>
              <a:srgbClr val="F5CDB4"/>
            </a:solidFill>
            <a:prstDash val="solid"/>
          </a:ln>
        </p:spPr>
      </p:sp>
      <p:sp>
        <p:nvSpPr>
          <p:cNvPr id="31" name="Text 29"/>
          <p:cNvSpPr txBox="1"/>
          <p:nvPr/>
        </p:nvSpPr>
        <p:spPr>
          <a:xfrm>
            <a:off x="9116568" y="4654296"/>
            <a:ext cx="220370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Deployment &amp; MMR</a:t>
            </a:r>
            <a:endParaRPr lang="en-US" sz="1050" dirty="0"/>
          </a:p>
        </p:txBody>
      </p:sp>
      <p:sp>
        <p:nvSpPr>
          <p:cNvPr id="32" name="Text 30"/>
          <p:cNvSpPr txBox="1"/>
          <p:nvPr/>
        </p:nvSpPr>
        <p:spPr>
          <a:xfrm>
            <a:off x="9116568" y="4910328"/>
            <a:ext cx="2203704" cy="274320"/>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OCP via EPLX · single approval surface</a:t>
            </a:r>
            <a:endParaRPr lang="en-US" sz="900" dirty="0"/>
          </a:p>
        </p:txBody>
      </p:sp>
      <p:sp>
        <p:nvSpPr>
          <p:cNvPr id="33" name="Shape 31"/>
          <p:cNvSpPr/>
          <p:nvPr/>
        </p:nvSpPr>
        <p:spPr>
          <a:xfrm>
            <a:off x="3429000" y="2331720"/>
            <a:ext cx="5303520" cy="3611880"/>
          </a:xfrm>
          <a:prstGeom prst="roundRect">
            <a:avLst>
              <a:gd name="adj" fmla="val 2532"/>
            </a:avLst>
          </a:prstGeom>
          <a:solidFill>
            <a:srgbClr val="EFE9F7"/>
          </a:solidFill>
          <a:ln w="19050">
            <a:solidFill>
              <a:srgbClr val="6B4C9A"/>
            </a:solidFill>
            <a:prstDash val="solid"/>
          </a:ln>
        </p:spPr>
      </p:sp>
      <p:sp>
        <p:nvSpPr>
          <p:cNvPr id="34" name="Text 32"/>
          <p:cNvSpPr txBox="1"/>
          <p:nvPr/>
        </p:nvSpPr>
        <p:spPr>
          <a:xfrm>
            <a:off x="3611880" y="2423160"/>
            <a:ext cx="45720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TSDK library (wrapper classes)</a:t>
            </a:r>
            <a:endParaRPr lang="en-US" sz="1100" dirty="0"/>
          </a:p>
        </p:txBody>
      </p:sp>
      <p:sp>
        <p:nvSpPr>
          <p:cNvPr id="35" name="Shape 33"/>
          <p:cNvSpPr/>
          <p:nvPr/>
        </p:nvSpPr>
        <p:spPr>
          <a:xfrm>
            <a:off x="3611880" y="2743200"/>
            <a:ext cx="1584960" cy="566928"/>
          </a:xfrm>
          <a:prstGeom prst="roundRect">
            <a:avLst>
              <a:gd name="adj" fmla="val 8065"/>
            </a:avLst>
          </a:prstGeom>
          <a:solidFill>
            <a:srgbClr val="FFFFFF"/>
          </a:solidFill>
          <a:ln w="12700">
            <a:solidFill>
              <a:srgbClr val="D6C9EA"/>
            </a:solidFill>
            <a:prstDash val="solid"/>
          </a:ln>
        </p:spPr>
      </p:sp>
      <p:sp>
        <p:nvSpPr>
          <p:cNvPr id="36" name="Text 34"/>
          <p:cNvSpPr txBox="1"/>
          <p:nvPr/>
        </p:nvSpPr>
        <p:spPr>
          <a:xfrm>
            <a:off x="3685032" y="2770632"/>
            <a:ext cx="1438656"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6B4C9A"/>
                </a:solidFill>
                <a:latin typeface="Calibri" pitchFamily="34" charset="0"/>
                <a:ea typeface="Calibri" pitchFamily="34" charset="-122"/>
                <a:cs typeface="Calibri" pitchFamily="34" charset="-120"/>
              </a:rPr>
              <a:t>Auto-registration</a:t>
            </a:r>
            <a:endParaRPr lang="en-US" sz="950" dirty="0"/>
          </a:p>
        </p:txBody>
      </p:sp>
      <p:sp>
        <p:nvSpPr>
          <p:cNvPr id="37" name="Text 35"/>
          <p:cNvSpPr txBox="1"/>
          <p:nvPr/>
        </p:nvSpPr>
        <p:spPr>
          <a:xfrm>
            <a:off x="3685032" y="2990088"/>
            <a:ext cx="1438656" cy="32004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agent registered with Tachyon on construction</a:t>
            </a:r>
            <a:endParaRPr lang="en-US" sz="850" dirty="0"/>
          </a:p>
        </p:txBody>
      </p:sp>
      <p:sp>
        <p:nvSpPr>
          <p:cNvPr id="38" name="Shape 36"/>
          <p:cNvSpPr/>
          <p:nvPr/>
        </p:nvSpPr>
        <p:spPr>
          <a:xfrm>
            <a:off x="5288280" y="2743200"/>
            <a:ext cx="1584960" cy="566928"/>
          </a:xfrm>
          <a:prstGeom prst="roundRect">
            <a:avLst>
              <a:gd name="adj" fmla="val 8065"/>
            </a:avLst>
          </a:prstGeom>
          <a:solidFill>
            <a:srgbClr val="FFFFFF"/>
          </a:solidFill>
          <a:ln w="12700">
            <a:solidFill>
              <a:srgbClr val="D6C9EA"/>
            </a:solidFill>
            <a:prstDash val="solid"/>
          </a:ln>
        </p:spPr>
      </p:sp>
      <p:sp>
        <p:nvSpPr>
          <p:cNvPr id="39" name="Text 37"/>
          <p:cNvSpPr txBox="1"/>
          <p:nvPr/>
        </p:nvSpPr>
        <p:spPr>
          <a:xfrm>
            <a:off x="5361432" y="2770632"/>
            <a:ext cx="1438656"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6B4C9A"/>
                </a:solidFill>
                <a:latin typeface="Calibri" pitchFamily="34" charset="0"/>
                <a:ea typeface="Calibri" pitchFamily="34" charset="-122"/>
                <a:cs typeface="Calibri" pitchFamily="34" charset="-120"/>
              </a:rPr>
              <a:t>Arize instrumentation</a:t>
            </a:r>
            <a:endParaRPr lang="en-US" sz="950" dirty="0"/>
          </a:p>
        </p:txBody>
      </p:sp>
      <p:sp>
        <p:nvSpPr>
          <p:cNvPr id="40" name="Text 38"/>
          <p:cNvSpPr txBox="1"/>
          <p:nvPr/>
        </p:nvSpPr>
        <p:spPr>
          <a:xfrm>
            <a:off x="5361432" y="2990088"/>
            <a:ext cx="1438656" cy="32004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OTel tracer attached automatically</a:t>
            </a:r>
            <a:endParaRPr lang="en-US" sz="850" dirty="0"/>
          </a:p>
        </p:txBody>
      </p:sp>
      <p:sp>
        <p:nvSpPr>
          <p:cNvPr id="41" name="Shape 39"/>
          <p:cNvSpPr/>
          <p:nvPr/>
        </p:nvSpPr>
        <p:spPr>
          <a:xfrm>
            <a:off x="6964680" y="2743200"/>
            <a:ext cx="1584960" cy="566928"/>
          </a:xfrm>
          <a:prstGeom prst="roundRect">
            <a:avLst>
              <a:gd name="adj" fmla="val 8065"/>
            </a:avLst>
          </a:prstGeom>
          <a:solidFill>
            <a:srgbClr val="FFFFFF"/>
          </a:solidFill>
          <a:ln w="12700">
            <a:solidFill>
              <a:srgbClr val="D6C9EA"/>
            </a:solidFill>
            <a:prstDash val="solid"/>
          </a:ln>
        </p:spPr>
      </p:sp>
      <p:sp>
        <p:nvSpPr>
          <p:cNvPr id="42" name="Text 40"/>
          <p:cNvSpPr txBox="1"/>
          <p:nvPr/>
        </p:nvSpPr>
        <p:spPr>
          <a:xfrm>
            <a:off x="7037832" y="2770632"/>
            <a:ext cx="1438656"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6B4C9A"/>
                </a:solidFill>
                <a:latin typeface="Calibri" pitchFamily="34" charset="0"/>
                <a:ea typeface="Calibri" pitchFamily="34" charset="-122"/>
                <a:cs typeface="Calibri" pitchFamily="34" charset="-120"/>
              </a:rPr>
              <a:t>Pre-wired callbacks</a:t>
            </a:r>
            <a:endParaRPr lang="en-US" sz="950" dirty="0"/>
          </a:p>
        </p:txBody>
      </p:sp>
      <p:sp>
        <p:nvSpPr>
          <p:cNvPr id="43" name="Text 41"/>
          <p:cNvSpPr txBox="1"/>
          <p:nvPr/>
        </p:nvSpPr>
        <p:spPr>
          <a:xfrm>
            <a:off x="7037832" y="2990088"/>
            <a:ext cx="1438656" cy="32004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Bridge, guardrails, Overwatch hooked in</a:t>
            </a:r>
            <a:endParaRPr lang="en-US" sz="850" dirty="0"/>
          </a:p>
        </p:txBody>
      </p:sp>
      <p:sp>
        <p:nvSpPr>
          <p:cNvPr id="44" name="Shape 42"/>
          <p:cNvSpPr/>
          <p:nvPr/>
        </p:nvSpPr>
        <p:spPr>
          <a:xfrm>
            <a:off x="3611880" y="3474720"/>
            <a:ext cx="4937760" cy="2286000"/>
          </a:xfrm>
          <a:prstGeom prst="roundRect">
            <a:avLst>
              <a:gd name="adj" fmla="val 4000"/>
            </a:avLst>
          </a:prstGeom>
          <a:solidFill>
            <a:srgbClr val="E8F0FE"/>
          </a:solidFill>
          <a:ln w="19050">
            <a:solidFill>
              <a:srgbClr val="1A73E8"/>
            </a:solidFill>
            <a:prstDash val="solid"/>
          </a:ln>
        </p:spPr>
      </p:sp>
      <p:sp>
        <p:nvSpPr>
          <p:cNvPr id="45" name="Text 43"/>
          <p:cNvSpPr txBox="1"/>
          <p:nvPr/>
        </p:nvSpPr>
        <p:spPr>
          <a:xfrm>
            <a:off x="3794760" y="3566160"/>
            <a:ext cx="45720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1A73E8"/>
                </a:solidFill>
                <a:latin typeface="Calibri" pitchFamily="34" charset="0"/>
                <a:ea typeface="Calibri" pitchFamily="34" charset="-122"/>
                <a:cs typeface="Calibri" pitchFamily="34" charset="-120"/>
              </a:rPr>
              <a:t>Google ADK core</a:t>
            </a:r>
            <a:endParaRPr lang="en-US" sz="1100" dirty="0"/>
          </a:p>
        </p:txBody>
      </p:sp>
      <p:sp>
        <p:nvSpPr>
          <p:cNvPr id="46" name="Shape 44"/>
          <p:cNvSpPr/>
          <p:nvPr/>
        </p:nvSpPr>
        <p:spPr>
          <a:xfrm>
            <a:off x="3794760" y="3886200"/>
            <a:ext cx="2217420" cy="384048"/>
          </a:xfrm>
          <a:prstGeom prst="roundRect">
            <a:avLst>
              <a:gd name="adj" fmla="val 11905"/>
            </a:avLst>
          </a:prstGeom>
          <a:solidFill>
            <a:srgbClr val="FFFFFF"/>
          </a:solidFill>
          <a:ln w="12700">
            <a:solidFill>
              <a:srgbClr val="C6DAFC"/>
            </a:solidFill>
            <a:prstDash val="solid"/>
          </a:ln>
        </p:spPr>
      </p:sp>
      <p:sp>
        <p:nvSpPr>
          <p:cNvPr id="47" name="Text 45"/>
          <p:cNvSpPr txBox="1"/>
          <p:nvPr/>
        </p:nvSpPr>
        <p:spPr>
          <a:xfrm>
            <a:off x="3886200" y="3886200"/>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LlmAgent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Supervisor &amp; specialized agents</a:t>
            </a:r>
            <a:endParaRPr lang="en-US" sz="900" dirty="0"/>
          </a:p>
        </p:txBody>
      </p:sp>
      <p:sp>
        <p:nvSpPr>
          <p:cNvPr id="48" name="Shape 46"/>
          <p:cNvSpPr/>
          <p:nvPr/>
        </p:nvSpPr>
        <p:spPr>
          <a:xfrm>
            <a:off x="6149340" y="3886200"/>
            <a:ext cx="2217420" cy="384048"/>
          </a:xfrm>
          <a:prstGeom prst="roundRect">
            <a:avLst>
              <a:gd name="adj" fmla="val 11905"/>
            </a:avLst>
          </a:prstGeom>
          <a:solidFill>
            <a:srgbClr val="FFFFFF"/>
          </a:solidFill>
          <a:ln w="12700">
            <a:solidFill>
              <a:srgbClr val="C6DAFC"/>
            </a:solidFill>
            <a:prstDash val="solid"/>
          </a:ln>
        </p:spPr>
      </p:sp>
      <p:sp>
        <p:nvSpPr>
          <p:cNvPr id="49" name="Text 47"/>
          <p:cNvSpPr txBox="1"/>
          <p:nvPr/>
        </p:nvSpPr>
        <p:spPr>
          <a:xfrm>
            <a:off x="6240780" y="3886200"/>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Workflow agents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Sequential / Parallel / Loop</a:t>
            </a:r>
            <a:endParaRPr lang="en-US" sz="900" dirty="0"/>
          </a:p>
        </p:txBody>
      </p:sp>
      <p:sp>
        <p:nvSpPr>
          <p:cNvPr id="50" name="Shape 48"/>
          <p:cNvSpPr/>
          <p:nvPr/>
        </p:nvSpPr>
        <p:spPr>
          <a:xfrm>
            <a:off x="3794760" y="4325112"/>
            <a:ext cx="2217420" cy="384048"/>
          </a:xfrm>
          <a:prstGeom prst="roundRect">
            <a:avLst>
              <a:gd name="adj" fmla="val 11905"/>
            </a:avLst>
          </a:prstGeom>
          <a:solidFill>
            <a:srgbClr val="FFFFFF"/>
          </a:solidFill>
          <a:ln w="12700">
            <a:solidFill>
              <a:srgbClr val="C6DAFC"/>
            </a:solidFill>
            <a:prstDash val="solid"/>
          </a:ln>
        </p:spPr>
      </p:sp>
      <p:sp>
        <p:nvSpPr>
          <p:cNvPr id="51" name="Text 49"/>
          <p:cNvSpPr txBox="1"/>
          <p:nvPr/>
        </p:nvSpPr>
        <p:spPr>
          <a:xfrm>
            <a:off x="3886200" y="4325112"/>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Tools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FunctionTool · AgentTool · MCPToolset</a:t>
            </a:r>
            <a:endParaRPr lang="en-US" sz="900" dirty="0"/>
          </a:p>
        </p:txBody>
      </p:sp>
      <p:sp>
        <p:nvSpPr>
          <p:cNvPr id="52" name="Shape 50"/>
          <p:cNvSpPr/>
          <p:nvPr/>
        </p:nvSpPr>
        <p:spPr>
          <a:xfrm>
            <a:off x="6149340" y="4325112"/>
            <a:ext cx="2217420" cy="384048"/>
          </a:xfrm>
          <a:prstGeom prst="roundRect">
            <a:avLst>
              <a:gd name="adj" fmla="val 11905"/>
            </a:avLst>
          </a:prstGeom>
          <a:solidFill>
            <a:srgbClr val="FFFFFF"/>
          </a:solidFill>
          <a:ln w="12700">
            <a:solidFill>
              <a:srgbClr val="C6DAFC"/>
            </a:solidFill>
            <a:prstDash val="solid"/>
          </a:ln>
        </p:spPr>
      </p:sp>
      <p:sp>
        <p:nvSpPr>
          <p:cNvPr id="53" name="Text 51"/>
          <p:cNvSpPr txBox="1"/>
          <p:nvPr/>
        </p:nvSpPr>
        <p:spPr>
          <a:xfrm>
            <a:off x="6240780" y="4325112"/>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Session &amp; State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user: / app: / temp: scopes</a:t>
            </a:r>
            <a:endParaRPr lang="en-US" sz="900" dirty="0"/>
          </a:p>
        </p:txBody>
      </p:sp>
      <p:sp>
        <p:nvSpPr>
          <p:cNvPr id="54" name="Shape 52"/>
          <p:cNvSpPr/>
          <p:nvPr/>
        </p:nvSpPr>
        <p:spPr>
          <a:xfrm>
            <a:off x="3794760" y="4764024"/>
            <a:ext cx="2217420" cy="384048"/>
          </a:xfrm>
          <a:prstGeom prst="roundRect">
            <a:avLst>
              <a:gd name="adj" fmla="val 11905"/>
            </a:avLst>
          </a:prstGeom>
          <a:solidFill>
            <a:srgbClr val="FFFFFF"/>
          </a:solidFill>
          <a:ln w="12700">
            <a:solidFill>
              <a:srgbClr val="C6DAFC"/>
            </a:solidFill>
            <a:prstDash val="solid"/>
          </a:ln>
        </p:spPr>
      </p:sp>
      <p:sp>
        <p:nvSpPr>
          <p:cNvPr id="55" name="Text 53"/>
          <p:cNvSpPr txBox="1"/>
          <p:nvPr/>
        </p:nvSpPr>
        <p:spPr>
          <a:xfrm>
            <a:off x="3886200" y="4764024"/>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Runner &amp; Events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Async event loop, streaming</a:t>
            </a:r>
            <a:endParaRPr lang="en-US" sz="900" dirty="0"/>
          </a:p>
        </p:txBody>
      </p:sp>
      <p:sp>
        <p:nvSpPr>
          <p:cNvPr id="56" name="Shape 54"/>
          <p:cNvSpPr/>
          <p:nvPr/>
        </p:nvSpPr>
        <p:spPr>
          <a:xfrm>
            <a:off x="6149340" y="4764024"/>
            <a:ext cx="2217420" cy="384048"/>
          </a:xfrm>
          <a:prstGeom prst="roundRect">
            <a:avLst>
              <a:gd name="adj" fmla="val 11905"/>
            </a:avLst>
          </a:prstGeom>
          <a:solidFill>
            <a:srgbClr val="FFFFFF"/>
          </a:solidFill>
          <a:ln w="12700">
            <a:solidFill>
              <a:srgbClr val="C6DAFC"/>
            </a:solidFill>
            <a:prstDash val="solid"/>
          </a:ln>
        </p:spPr>
      </p:sp>
      <p:sp>
        <p:nvSpPr>
          <p:cNvPr id="57" name="Text 55"/>
          <p:cNvSpPr txBox="1"/>
          <p:nvPr/>
        </p:nvSpPr>
        <p:spPr>
          <a:xfrm>
            <a:off x="6240780" y="4764024"/>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Callbacks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before/after model · tool · agent</a:t>
            </a:r>
            <a:endParaRPr lang="en-US" sz="900" dirty="0"/>
          </a:p>
        </p:txBody>
      </p:sp>
      <p:sp>
        <p:nvSpPr>
          <p:cNvPr id="58" name="Shape 56"/>
          <p:cNvSpPr/>
          <p:nvPr/>
        </p:nvSpPr>
        <p:spPr>
          <a:xfrm>
            <a:off x="3794760" y="5202936"/>
            <a:ext cx="2217420" cy="384048"/>
          </a:xfrm>
          <a:prstGeom prst="roundRect">
            <a:avLst>
              <a:gd name="adj" fmla="val 11905"/>
            </a:avLst>
          </a:prstGeom>
          <a:solidFill>
            <a:srgbClr val="FFFFFF"/>
          </a:solidFill>
          <a:ln w="12700">
            <a:solidFill>
              <a:srgbClr val="C6DAFC"/>
            </a:solidFill>
            <a:prstDash val="solid"/>
          </a:ln>
        </p:spPr>
      </p:sp>
      <p:sp>
        <p:nvSpPr>
          <p:cNvPr id="59" name="Text 57"/>
          <p:cNvSpPr txBox="1"/>
          <p:nvPr/>
        </p:nvSpPr>
        <p:spPr>
          <a:xfrm>
            <a:off x="3886200" y="5202936"/>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A2A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RemoteA2aAgent, agent cards</a:t>
            </a:r>
            <a:endParaRPr lang="en-US" sz="900" dirty="0"/>
          </a:p>
        </p:txBody>
      </p:sp>
      <p:sp>
        <p:nvSpPr>
          <p:cNvPr id="60" name="Shape 58"/>
          <p:cNvSpPr/>
          <p:nvPr/>
        </p:nvSpPr>
        <p:spPr>
          <a:xfrm>
            <a:off x="6149340" y="5202936"/>
            <a:ext cx="2217420" cy="384048"/>
          </a:xfrm>
          <a:prstGeom prst="roundRect">
            <a:avLst>
              <a:gd name="adj" fmla="val 11905"/>
            </a:avLst>
          </a:prstGeom>
          <a:solidFill>
            <a:srgbClr val="FFFFFF"/>
          </a:solidFill>
          <a:ln w="12700">
            <a:solidFill>
              <a:srgbClr val="C6DAFC"/>
            </a:solidFill>
            <a:prstDash val="solid"/>
          </a:ln>
        </p:spPr>
      </p:sp>
      <p:sp>
        <p:nvSpPr>
          <p:cNvPr id="61" name="Text 59"/>
          <p:cNvSpPr txBox="1"/>
          <p:nvPr/>
        </p:nvSpPr>
        <p:spPr>
          <a:xfrm>
            <a:off x="6240780" y="5202936"/>
            <a:ext cx="2034540" cy="384048"/>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Structured output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output_schema / Pydantic</a:t>
            </a:r>
            <a:endParaRPr lang="en-US" sz="900" dirty="0"/>
          </a:p>
        </p:txBody>
      </p:sp>
      <p:sp>
        <p:nvSpPr>
          <p:cNvPr id="62" name="Text 60"/>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63" name="Text 61"/>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E2E agent flow – which layer each component comes from</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Same block diagram as the FMEA deck, colored by layer. Agents are TSDK wrappers around ADK LlmAgents; the control plane is the Tachyon platform.</a:t>
            </a:r>
            <a:endParaRPr lang="en-US" sz="1300" dirty="0"/>
          </a:p>
        </p:txBody>
      </p:sp>
      <p:sp>
        <p:nvSpPr>
          <p:cNvPr id="4" name="Shape 2"/>
          <p:cNvSpPr/>
          <p:nvPr/>
        </p:nvSpPr>
        <p:spPr>
          <a:xfrm>
            <a:off x="548640" y="2011680"/>
            <a:ext cx="3429000" cy="3794760"/>
          </a:xfrm>
          <a:prstGeom prst="roundRect">
            <a:avLst>
              <a:gd name="adj" fmla="val 2667"/>
            </a:avLst>
          </a:prstGeom>
          <a:solidFill>
            <a:srgbClr val="F1F3F4"/>
          </a:solidFill>
          <a:ln w="12700">
            <a:solidFill>
              <a:srgbClr val="F1F3F4"/>
            </a:solidFill>
            <a:prstDash val="solid"/>
          </a:ln>
        </p:spPr>
      </p:sp>
      <p:sp>
        <p:nvSpPr>
          <p:cNvPr id="5" name="Text 3"/>
          <p:cNvSpPr txBox="1"/>
          <p:nvPr/>
        </p:nvSpPr>
        <p:spPr>
          <a:xfrm>
            <a:off x="658368" y="2066544"/>
            <a:ext cx="324612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5F6368"/>
                </a:solidFill>
                <a:latin typeface="Calibri" pitchFamily="34" charset="0"/>
                <a:ea typeface="Calibri" pitchFamily="34" charset="-122"/>
                <a:cs typeface="Calibri" pitchFamily="34" charset="-120"/>
              </a:rPr>
              <a:t>Entry Layer  (WF developed)</a:t>
            </a:r>
            <a:endParaRPr lang="en-US" sz="1000" dirty="0"/>
          </a:p>
        </p:txBody>
      </p:sp>
      <p:sp>
        <p:nvSpPr>
          <p:cNvPr id="6" name="Shape 4"/>
          <p:cNvSpPr/>
          <p:nvPr/>
        </p:nvSpPr>
        <p:spPr>
          <a:xfrm>
            <a:off x="4160520" y="2011680"/>
            <a:ext cx="2926080" cy="3794760"/>
          </a:xfrm>
          <a:prstGeom prst="roundRect">
            <a:avLst>
              <a:gd name="adj" fmla="val 3125"/>
            </a:avLst>
          </a:prstGeom>
          <a:solidFill>
            <a:srgbClr val="E8F0FE"/>
          </a:solidFill>
          <a:ln w="12700">
            <a:solidFill>
              <a:srgbClr val="E8F0FE"/>
            </a:solidFill>
            <a:prstDash val="solid"/>
          </a:ln>
        </p:spPr>
      </p:sp>
      <p:sp>
        <p:nvSpPr>
          <p:cNvPr id="7" name="Text 5"/>
          <p:cNvSpPr txBox="1"/>
          <p:nvPr/>
        </p:nvSpPr>
        <p:spPr>
          <a:xfrm>
            <a:off x="4270248" y="2066544"/>
            <a:ext cx="274320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1A73E8"/>
                </a:solidFill>
                <a:latin typeface="Calibri" pitchFamily="34" charset="0"/>
                <a:ea typeface="Calibri" pitchFamily="34" charset="-122"/>
                <a:cs typeface="Calibri" pitchFamily="34" charset="-120"/>
              </a:rPr>
              <a:t>Agent Layer</a:t>
            </a:r>
            <a:endParaRPr lang="en-US" sz="1000" dirty="0"/>
          </a:p>
        </p:txBody>
      </p:sp>
      <p:sp>
        <p:nvSpPr>
          <p:cNvPr id="8" name="Shape 6"/>
          <p:cNvSpPr/>
          <p:nvPr/>
        </p:nvSpPr>
        <p:spPr>
          <a:xfrm>
            <a:off x="7269480" y="2011680"/>
            <a:ext cx="2148840" cy="3794760"/>
          </a:xfrm>
          <a:prstGeom prst="roundRect">
            <a:avLst>
              <a:gd name="adj" fmla="val 4255"/>
            </a:avLst>
          </a:prstGeom>
          <a:solidFill>
            <a:srgbClr val="FDEEE4"/>
          </a:solidFill>
          <a:ln w="12700">
            <a:solidFill>
              <a:srgbClr val="FDEEE4"/>
            </a:solidFill>
            <a:prstDash val="solid"/>
          </a:ln>
        </p:spPr>
      </p:sp>
      <p:sp>
        <p:nvSpPr>
          <p:cNvPr id="9" name="Text 7"/>
          <p:cNvSpPr txBox="1"/>
          <p:nvPr/>
        </p:nvSpPr>
        <p:spPr>
          <a:xfrm>
            <a:off x="7379208" y="2066544"/>
            <a:ext cx="196596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C2410C"/>
                </a:solidFill>
                <a:latin typeface="Calibri" pitchFamily="34" charset="0"/>
                <a:ea typeface="Calibri" pitchFamily="34" charset="-122"/>
                <a:cs typeface="Calibri" pitchFamily="34" charset="-120"/>
              </a:rPr>
              <a:t>Tachyon Platform</a:t>
            </a:r>
            <a:endParaRPr lang="en-US" sz="1000" dirty="0"/>
          </a:p>
        </p:txBody>
      </p:sp>
      <p:sp>
        <p:nvSpPr>
          <p:cNvPr id="10" name="Shape 8"/>
          <p:cNvSpPr/>
          <p:nvPr/>
        </p:nvSpPr>
        <p:spPr>
          <a:xfrm>
            <a:off x="9601200" y="2011680"/>
            <a:ext cx="2011680" cy="3794760"/>
          </a:xfrm>
          <a:prstGeom prst="roundRect">
            <a:avLst>
              <a:gd name="adj" fmla="val 4545"/>
            </a:avLst>
          </a:prstGeom>
          <a:solidFill>
            <a:srgbClr val="EFE9F7"/>
          </a:solidFill>
          <a:ln w="12700">
            <a:solidFill>
              <a:srgbClr val="EFE9F7"/>
            </a:solidFill>
            <a:prstDash val="solid"/>
          </a:ln>
        </p:spPr>
      </p:sp>
      <p:sp>
        <p:nvSpPr>
          <p:cNvPr id="11" name="Text 9"/>
          <p:cNvSpPr txBox="1"/>
          <p:nvPr/>
        </p:nvSpPr>
        <p:spPr>
          <a:xfrm>
            <a:off x="9710928" y="2066544"/>
            <a:ext cx="1828800" cy="274320"/>
          </a:xfrm>
          <a:prstGeom prst="rect">
            <a:avLst/>
          </a:prstGeom>
          <a:noFill/>
          <a:ln/>
        </p:spPr>
        <p:txBody>
          <a:bodyPr wrap="square" lIns="508" tIns="508" rIns="508" bIns="508" rtlCol="0" anchor="t"/>
          <a:lstStyle/>
          <a:p>
            <a:pPr algn="l" indent="0" marL="0">
              <a:lnSpc>
                <a:spcPct val="105000"/>
              </a:lnSpc>
              <a:buNone/>
            </a:pPr>
            <a:r>
              <a:rPr lang="en-US" sz="1000" b="1" dirty="0">
                <a:solidFill>
                  <a:srgbClr val="6B4C9A"/>
                </a:solidFill>
                <a:latin typeface="Calibri" pitchFamily="34" charset="0"/>
                <a:ea typeface="Calibri" pitchFamily="34" charset="-122"/>
                <a:cs typeface="Calibri" pitchFamily="34" charset="-120"/>
              </a:rPr>
              <a:t>MCP Layer / Backend</a:t>
            </a:r>
            <a:endParaRPr lang="en-US" sz="1000" dirty="0"/>
          </a:p>
        </p:txBody>
      </p:sp>
      <p:sp>
        <p:nvSpPr>
          <p:cNvPr id="12" name="Shape 10"/>
          <p:cNvSpPr/>
          <p:nvPr/>
        </p:nvSpPr>
        <p:spPr>
          <a:xfrm>
            <a:off x="685800" y="2834640"/>
            <a:ext cx="91440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3" name="Text 11"/>
          <p:cNvSpPr txBox="1"/>
          <p:nvPr/>
        </p:nvSpPr>
        <p:spPr>
          <a:xfrm>
            <a:off x="731520" y="2889504"/>
            <a:ext cx="82296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Customer</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iOS | Android</a:t>
            </a:r>
            <a:endParaRPr lang="en-US" sz="1000" dirty="0"/>
          </a:p>
        </p:txBody>
      </p:sp>
      <p:sp>
        <p:nvSpPr>
          <p:cNvPr id="14" name="Shape 12"/>
          <p:cNvSpPr/>
          <p:nvPr/>
        </p:nvSpPr>
        <p:spPr>
          <a:xfrm>
            <a:off x="1783080" y="2834640"/>
            <a:ext cx="100584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5" name="Text 13"/>
          <p:cNvSpPr txBox="1"/>
          <p:nvPr/>
        </p:nvSpPr>
        <p:spPr>
          <a:xfrm>
            <a:off x="1828800" y="2889504"/>
            <a:ext cx="91440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Chat API</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(PAA)</a:t>
            </a:r>
            <a:endParaRPr lang="en-US" sz="1000" dirty="0"/>
          </a:p>
        </p:txBody>
      </p:sp>
      <p:sp>
        <p:nvSpPr>
          <p:cNvPr id="16" name="Shape 14"/>
          <p:cNvSpPr/>
          <p:nvPr/>
        </p:nvSpPr>
        <p:spPr>
          <a:xfrm>
            <a:off x="2880360" y="2834640"/>
            <a:ext cx="100584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7" name="Text 15"/>
          <p:cNvSpPr txBox="1"/>
          <p:nvPr/>
        </p:nvSpPr>
        <p:spPr>
          <a:xfrm>
            <a:off x="2926080" y="2889504"/>
            <a:ext cx="91440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Digital Svc</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(Filtering)</a:t>
            </a:r>
            <a:endParaRPr lang="en-US" sz="1000" dirty="0"/>
          </a:p>
        </p:txBody>
      </p:sp>
      <p:sp>
        <p:nvSpPr>
          <p:cNvPr id="18" name="Shape 16"/>
          <p:cNvSpPr/>
          <p:nvPr/>
        </p:nvSpPr>
        <p:spPr>
          <a:xfrm>
            <a:off x="1783080" y="4343400"/>
            <a:ext cx="2103120" cy="868680"/>
          </a:xfrm>
          <a:prstGeom prst="roundRect">
            <a:avLst>
              <a:gd name="adj" fmla="val 7368"/>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19" name="Text 17"/>
          <p:cNvSpPr txBox="1"/>
          <p:nvPr/>
        </p:nvSpPr>
        <p:spPr>
          <a:xfrm>
            <a:off x="1828800" y="4398264"/>
            <a:ext cx="2011680" cy="5029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Orchestrator (Flink)</a:t>
            </a:r>
            <a:endParaRPr lang="en-US" sz="1000" dirty="0"/>
          </a:p>
        </p:txBody>
      </p:sp>
      <p:sp>
        <p:nvSpPr>
          <p:cNvPr id="20" name="Text 18"/>
          <p:cNvSpPr txBox="1"/>
          <p:nvPr/>
        </p:nvSpPr>
        <p:spPr>
          <a:xfrm>
            <a:off x="1828800" y="4919472"/>
            <a:ext cx="201168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stream orchestration, WF-built</a:t>
            </a:r>
            <a:endParaRPr lang="en-US" sz="800" dirty="0"/>
          </a:p>
        </p:txBody>
      </p:sp>
      <p:sp>
        <p:nvSpPr>
          <p:cNvPr id="21" name="Shape 19"/>
          <p:cNvSpPr/>
          <p:nvPr/>
        </p:nvSpPr>
        <p:spPr>
          <a:xfrm>
            <a:off x="1600200" y="3264408"/>
            <a:ext cx="182880" cy="914"/>
          </a:xfrm>
          <a:prstGeom prst="line">
            <a:avLst/>
          </a:prstGeom>
          <a:noFill/>
          <a:ln w="19050">
            <a:solidFill>
              <a:srgbClr val="5F6368"/>
            </a:solidFill>
            <a:prstDash val="solid"/>
            <a:tailEnd type="triangle"/>
          </a:ln>
        </p:spPr>
      </p:sp>
      <p:sp>
        <p:nvSpPr>
          <p:cNvPr id="22" name="Shape 20"/>
          <p:cNvSpPr/>
          <p:nvPr/>
        </p:nvSpPr>
        <p:spPr>
          <a:xfrm>
            <a:off x="2788920" y="3264408"/>
            <a:ext cx="91440" cy="914"/>
          </a:xfrm>
          <a:prstGeom prst="line">
            <a:avLst/>
          </a:prstGeom>
          <a:noFill/>
          <a:ln w="19050">
            <a:solidFill>
              <a:srgbClr val="5F6368"/>
            </a:solidFill>
            <a:prstDash val="solid"/>
            <a:tailEnd type="triangle"/>
          </a:ln>
        </p:spPr>
      </p:sp>
      <p:sp>
        <p:nvSpPr>
          <p:cNvPr id="23" name="Shape 21"/>
          <p:cNvSpPr/>
          <p:nvPr/>
        </p:nvSpPr>
        <p:spPr>
          <a:xfrm>
            <a:off x="3383280" y="3703320"/>
            <a:ext cx="914" cy="640080"/>
          </a:xfrm>
          <a:prstGeom prst="line">
            <a:avLst/>
          </a:prstGeom>
          <a:noFill/>
          <a:ln w="19050">
            <a:solidFill>
              <a:srgbClr val="5F6368"/>
            </a:solidFill>
            <a:prstDash val="solid"/>
            <a:tailEnd type="triangle"/>
          </a:ln>
        </p:spPr>
      </p:sp>
      <p:sp>
        <p:nvSpPr>
          <p:cNvPr id="24" name="Text 22"/>
          <p:cNvSpPr txBox="1"/>
          <p:nvPr/>
        </p:nvSpPr>
        <p:spPr>
          <a:xfrm>
            <a:off x="685800" y="3749040"/>
            <a:ext cx="109728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1 · message</a:t>
            </a:r>
            <a:endParaRPr lang="en-US" sz="800" dirty="0"/>
          </a:p>
        </p:txBody>
      </p:sp>
      <p:sp>
        <p:nvSpPr>
          <p:cNvPr id="25" name="Text 23"/>
          <p:cNvSpPr txBox="1"/>
          <p:nvPr/>
        </p:nvSpPr>
        <p:spPr>
          <a:xfrm>
            <a:off x="1783080" y="2560320"/>
            <a:ext cx="128016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2 · forward (auth)</a:t>
            </a:r>
            <a:endParaRPr lang="en-US" sz="800" dirty="0"/>
          </a:p>
        </p:txBody>
      </p:sp>
      <p:sp>
        <p:nvSpPr>
          <p:cNvPr id="26" name="Text 24"/>
          <p:cNvSpPr txBox="1"/>
          <p:nvPr/>
        </p:nvSpPr>
        <p:spPr>
          <a:xfrm>
            <a:off x="3520440" y="3931920"/>
            <a:ext cx="73152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3 · route</a:t>
            </a:r>
            <a:endParaRPr lang="en-US" sz="800" dirty="0"/>
          </a:p>
        </p:txBody>
      </p:sp>
      <p:sp>
        <p:nvSpPr>
          <p:cNvPr id="27" name="Shape 25"/>
          <p:cNvSpPr/>
          <p:nvPr/>
        </p:nvSpPr>
        <p:spPr>
          <a:xfrm>
            <a:off x="4343400" y="2606040"/>
            <a:ext cx="1234440" cy="822960"/>
          </a:xfrm>
          <a:prstGeom prst="roundRect">
            <a:avLst>
              <a:gd name="adj" fmla="val 7778"/>
            </a:avLst>
          </a:prstGeom>
          <a:solidFill>
            <a:srgbClr val="1A73E8"/>
          </a:solidFill>
          <a:ln w="12700">
            <a:solidFill>
              <a:srgbClr val="1A73E8"/>
            </a:solidFill>
            <a:prstDash val="solid"/>
          </a:ln>
          <a:effectLst>
            <a:outerShdw sx="100000" sy="100000" kx="0" ky="0" algn="bl" rotWithShape="0" blurRad="50800" dist="19050" dir="5400000">
              <a:srgbClr val="000000">
                <a:alpha val="12000"/>
              </a:srgbClr>
            </a:outerShdw>
          </a:effectLst>
        </p:spPr>
      </p:sp>
      <p:sp>
        <p:nvSpPr>
          <p:cNvPr id="28" name="Text 26"/>
          <p:cNvSpPr txBox="1"/>
          <p:nvPr/>
        </p:nvSpPr>
        <p:spPr>
          <a:xfrm>
            <a:off x="4389120" y="2660904"/>
            <a:ext cx="114300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Supervisor</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Agent</a:t>
            </a:r>
            <a:endParaRPr lang="en-US" sz="1000" dirty="0"/>
          </a:p>
        </p:txBody>
      </p:sp>
      <p:sp>
        <p:nvSpPr>
          <p:cNvPr id="29" name="Text 27"/>
          <p:cNvSpPr txBox="1"/>
          <p:nvPr/>
        </p:nvSpPr>
        <p:spPr>
          <a:xfrm>
            <a:off x="4389120" y="3136392"/>
            <a:ext cx="114300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TSDK wrapper · ADK</a:t>
            </a:r>
            <a:endParaRPr lang="en-US" sz="800" dirty="0"/>
          </a:p>
        </p:txBody>
      </p:sp>
      <p:sp>
        <p:nvSpPr>
          <p:cNvPr id="30" name="Shape 28"/>
          <p:cNvSpPr/>
          <p:nvPr/>
        </p:nvSpPr>
        <p:spPr>
          <a:xfrm>
            <a:off x="5010912" y="2496312"/>
            <a:ext cx="548640" cy="201168"/>
          </a:xfrm>
          <a:prstGeom prst="roundRect">
            <a:avLst>
              <a:gd name="adj" fmla="val 50000"/>
            </a:avLst>
          </a:prstGeom>
          <a:solidFill>
            <a:srgbClr val="6B4C9A"/>
          </a:solidFill>
          <a:ln w="12700">
            <a:solidFill>
              <a:srgbClr val="FFFFFF"/>
            </a:solidFill>
            <a:prstDash val="solid"/>
          </a:ln>
        </p:spPr>
      </p:sp>
      <p:sp>
        <p:nvSpPr>
          <p:cNvPr id="31" name="Text 29"/>
          <p:cNvSpPr txBox="1"/>
          <p:nvPr/>
        </p:nvSpPr>
        <p:spPr>
          <a:xfrm>
            <a:off x="5010912" y="249631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32" name="Shape 30"/>
          <p:cNvSpPr/>
          <p:nvPr/>
        </p:nvSpPr>
        <p:spPr>
          <a:xfrm>
            <a:off x="5760720" y="2606040"/>
            <a:ext cx="1188720" cy="822960"/>
          </a:xfrm>
          <a:prstGeom prst="roundRect">
            <a:avLst>
              <a:gd name="adj" fmla="val 7778"/>
            </a:avLst>
          </a:prstGeom>
          <a:solidFill>
            <a:srgbClr val="1A73E8"/>
          </a:solidFill>
          <a:ln w="12700">
            <a:solidFill>
              <a:srgbClr val="1A73E8"/>
            </a:solidFill>
            <a:prstDash val="solid"/>
          </a:ln>
          <a:effectLst>
            <a:outerShdw sx="100000" sy="100000" kx="0" ky="0" algn="bl" rotWithShape="0" blurRad="50800" dist="19050" dir="5400000">
              <a:srgbClr val="000000">
                <a:alpha val="12000"/>
              </a:srgbClr>
            </a:outerShdw>
          </a:effectLst>
        </p:spPr>
      </p:sp>
      <p:sp>
        <p:nvSpPr>
          <p:cNvPr id="33" name="Text 31"/>
          <p:cNvSpPr txBox="1"/>
          <p:nvPr/>
        </p:nvSpPr>
        <p:spPr>
          <a:xfrm>
            <a:off x="5806440" y="2660904"/>
            <a:ext cx="109728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Specialized</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Agent</a:t>
            </a:r>
            <a:endParaRPr lang="en-US" sz="1000" dirty="0"/>
          </a:p>
        </p:txBody>
      </p:sp>
      <p:sp>
        <p:nvSpPr>
          <p:cNvPr id="34" name="Text 32"/>
          <p:cNvSpPr txBox="1"/>
          <p:nvPr/>
        </p:nvSpPr>
        <p:spPr>
          <a:xfrm>
            <a:off x="5806440" y="3136392"/>
            <a:ext cx="109728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TSDK wrapper · ADK</a:t>
            </a:r>
            <a:endParaRPr lang="en-US" sz="800" dirty="0"/>
          </a:p>
        </p:txBody>
      </p:sp>
      <p:sp>
        <p:nvSpPr>
          <p:cNvPr id="35" name="Shape 33"/>
          <p:cNvSpPr/>
          <p:nvPr/>
        </p:nvSpPr>
        <p:spPr>
          <a:xfrm>
            <a:off x="6382512" y="2496312"/>
            <a:ext cx="548640" cy="201168"/>
          </a:xfrm>
          <a:prstGeom prst="roundRect">
            <a:avLst>
              <a:gd name="adj" fmla="val 50000"/>
            </a:avLst>
          </a:prstGeom>
          <a:solidFill>
            <a:srgbClr val="6B4C9A"/>
          </a:solidFill>
          <a:ln w="12700">
            <a:solidFill>
              <a:srgbClr val="FFFFFF"/>
            </a:solidFill>
            <a:prstDash val="solid"/>
          </a:ln>
        </p:spPr>
      </p:sp>
      <p:sp>
        <p:nvSpPr>
          <p:cNvPr id="36" name="Text 34"/>
          <p:cNvSpPr txBox="1"/>
          <p:nvPr/>
        </p:nvSpPr>
        <p:spPr>
          <a:xfrm>
            <a:off x="6382512" y="249631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37" name="Shape 35"/>
          <p:cNvSpPr/>
          <p:nvPr/>
        </p:nvSpPr>
        <p:spPr>
          <a:xfrm>
            <a:off x="4343400" y="4160520"/>
            <a:ext cx="1234440" cy="822960"/>
          </a:xfrm>
          <a:prstGeom prst="roundRect">
            <a:avLst>
              <a:gd name="adj" fmla="val 7778"/>
            </a:avLst>
          </a:prstGeom>
          <a:solidFill>
            <a:srgbClr val="6B4C9A"/>
          </a:solidFill>
          <a:ln w="12700">
            <a:solidFill>
              <a:srgbClr val="6B4C9A"/>
            </a:solidFill>
            <a:prstDash val="solid"/>
          </a:ln>
          <a:effectLst>
            <a:outerShdw sx="100000" sy="100000" kx="0" ky="0" algn="bl" rotWithShape="0" blurRad="50800" dist="19050" dir="5400000">
              <a:srgbClr val="000000">
                <a:alpha val="12000"/>
              </a:srgbClr>
            </a:outerShdw>
          </a:effectLst>
        </p:spPr>
      </p:sp>
      <p:sp>
        <p:nvSpPr>
          <p:cNvPr id="38" name="Text 36"/>
          <p:cNvSpPr txBox="1"/>
          <p:nvPr/>
        </p:nvSpPr>
        <p:spPr>
          <a:xfrm>
            <a:off x="4389120" y="4215384"/>
            <a:ext cx="114300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Redis</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State Store</a:t>
            </a:r>
            <a:endParaRPr lang="en-US" sz="1000" dirty="0"/>
          </a:p>
        </p:txBody>
      </p:sp>
      <p:sp>
        <p:nvSpPr>
          <p:cNvPr id="39" name="Text 37"/>
          <p:cNvSpPr txBox="1"/>
          <p:nvPr/>
        </p:nvSpPr>
        <p:spPr>
          <a:xfrm>
            <a:off x="4389120" y="4690872"/>
            <a:ext cx="114300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ADK Session · Tachyon Redis</a:t>
            </a:r>
            <a:endParaRPr lang="en-US" sz="800" dirty="0"/>
          </a:p>
        </p:txBody>
      </p:sp>
      <p:sp>
        <p:nvSpPr>
          <p:cNvPr id="40" name="Shape 38"/>
          <p:cNvSpPr/>
          <p:nvPr/>
        </p:nvSpPr>
        <p:spPr>
          <a:xfrm>
            <a:off x="5010912" y="4050792"/>
            <a:ext cx="548640" cy="201168"/>
          </a:xfrm>
          <a:prstGeom prst="roundRect">
            <a:avLst>
              <a:gd name="adj" fmla="val 50000"/>
            </a:avLst>
          </a:prstGeom>
          <a:solidFill>
            <a:srgbClr val="4A3470"/>
          </a:solidFill>
          <a:ln w="12700">
            <a:solidFill>
              <a:srgbClr val="FFFFFF"/>
            </a:solidFill>
            <a:prstDash val="solid"/>
          </a:ln>
        </p:spPr>
      </p:sp>
      <p:sp>
        <p:nvSpPr>
          <p:cNvPr id="41" name="Text 39"/>
          <p:cNvSpPr txBox="1"/>
          <p:nvPr/>
        </p:nvSpPr>
        <p:spPr>
          <a:xfrm>
            <a:off x="5010912" y="405079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42" name="Shape 40"/>
          <p:cNvSpPr/>
          <p:nvPr/>
        </p:nvSpPr>
        <p:spPr>
          <a:xfrm>
            <a:off x="5760720" y="4160520"/>
            <a:ext cx="1188720" cy="822960"/>
          </a:xfrm>
          <a:prstGeom prst="roundRect">
            <a:avLst>
              <a:gd name="adj" fmla="val 7778"/>
            </a:avLst>
          </a:prstGeom>
          <a:solidFill>
            <a:srgbClr val="6B4C9A"/>
          </a:solidFill>
          <a:ln w="12700">
            <a:solidFill>
              <a:srgbClr val="6B4C9A"/>
            </a:solidFill>
            <a:prstDash val="solid"/>
          </a:ln>
          <a:effectLst>
            <a:outerShdw sx="100000" sy="100000" kx="0" ky="0" algn="bl" rotWithShape="0" blurRad="50800" dist="19050" dir="5400000">
              <a:srgbClr val="000000">
                <a:alpha val="12000"/>
              </a:srgbClr>
            </a:outerShdw>
          </a:effectLst>
        </p:spPr>
      </p:sp>
      <p:sp>
        <p:nvSpPr>
          <p:cNvPr id="43" name="Text 41"/>
          <p:cNvSpPr txBox="1"/>
          <p:nvPr/>
        </p:nvSpPr>
        <p:spPr>
          <a:xfrm>
            <a:off x="5806440" y="4215384"/>
            <a:ext cx="109728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A2A</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hand-off</a:t>
            </a:r>
            <a:endParaRPr lang="en-US" sz="1000" dirty="0"/>
          </a:p>
        </p:txBody>
      </p:sp>
      <p:sp>
        <p:nvSpPr>
          <p:cNvPr id="44" name="Text 42"/>
          <p:cNvSpPr txBox="1"/>
          <p:nvPr/>
        </p:nvSpPr>
        <p:spPr>
          <a:xfrm>
            <a:off x="5806440" y="4690872"/>
            <a:ext cx="109728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ADK A2A · Tachyon tokens</a:t>
            </a:r>
            <a:endParaRPr lang="en-US" sz="800" dirty="0"/>
          </a:p>
        </p:txBody>
      </p:sp>
      <p:sp>
        <p:nvSpPr>
          <p:cNvPr id="45" name="Shape 43"/>
          <p:cNvSpPr/>
          <p:nvPr/>
        </p:nvSpPr>
        <p:spPr>
          <a:xfrm>
            <a:off x="6382512" y="4050792"/>
            <a:ext cx="548640" cy="201168"/>
          </a:xfrm>
          <a:prstGeom prst="roundRect">
            <a:avLst>
              <a:gd name="adj" fmla="val 50000"/>
            </a:avLst>
          </a:prstGeom>
          <a:solidFill>
            <a:srgbClr val="4A3470"/>
          </a:solidFill>
          <a:ln w="12700">
            <a:solidFill>
              <a:srgbClr val="FFFFFF"/>
            </a:solidFill>
            <a:prstDash val="solid"/>
          </a:ln>
        </p:spPr>
      </p:sp>
      <p:sp>
        <p:nvSpPr>
          <p:cNvPr id="46" name="Text 44"/>
          <p:cNvSpPr txBox="1"/>
          <p:nvPr/>
        </p:nvSpPr>
        <p:spPr>
          <a:xfrm>
            <a:off x="6382512" y="405079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47" name="Shape 45"/>
          <p:cNvSpPr/>
          <p:nvPr/>
        </p:nvSpPr>
        <p:spPr>
          <a:xfrm>
            <a:off x="4343400" y="5166360"/>
            <a:ext cx="2606040" cy="502920"/>
          </a:xfrm>
          <a:prstGeom prst="roundRect">
            <a:avLst>
              <a:gd name="adj" fmla="val 9091"/>
            </a:avLst>
          </a:prstGeom>
          <a:solidFill>
            <a:srgbClr val="FFFFFF"/>
          </a:solidFill>
          <a:ln w="12700">
            <a:solidFill>
              <a:srgbClr val="1A73E8"/>
            </a:solidFill>
            <a:prstDash val="dash"/>
          </a:ln>
        </p:spPr>
      </p:sp>
      <p:sp>
        <p:nvSpPr>
          <p:cNvPr id="48" name="Text 46"/>
          <p:cNvSpPr txBox="1"/>
          <p:nvPr/>
        </p:nvSpPr>
        <p:spPr>
          <a:xfrm>
            <a:off x="4389120" y="5166360"/>
            <a:ext cx="2514600" cy="502920"/>
          </a:xfrm>
          <a:prstGeom prst="rect">
            <a:avLst/>
          </a:prstGeom>
          <a:noFill/>
          <a:ln/>
        </p:spPr>
        <p:txBody>
          <a:bodyPr wrap="square" lIns="508" tIns="508" rIns="508" bIns="508" rtlCol="0" anchor="ctr"/>
          <a:lstStyle/>
          <a:p>
            <a:pPr algn="l" indent="0" marL="0">
              <a:lnSpc>
                <a:spcPct val="105000"/>
              </a:lnSpc>
              <a:buNone/>
            </a:pPr>
            <a:r>
              <a:rPr lang="en-US" sz="800" dirty="0">
                <a:solidFill>
                  <a:srgbClr val="174EA6"/>
                </a:solidFill>
                <a:latin typeface="Calibri" pitchFamily="34" charset="0"/>
                <a:ea typeface="Calibri" pitchFamily="34" charset="-122"/>
                <a:cs typeface="Calibri" pitchFamily="34" charset="-120"/>
              </a:rPr>
              <a:t>TSDK wrappers pre-wire ADK callbacks to Bridge, guardrails &amp; Overwatch, and auto-register + Arize-trace each agent</a:t>
            </a:r>
            <a:endParaRPr lang="en-US" sz="800" dirty="0"/>
          </a:p>
        </p:txBody>
      </p:sp>
      <p:sp>
        <p:nvSpPr>
          <p:cNvPr id="49" name="Shape 47"/>
          <p:cNvSpPr/>
          <p:nvPr/>
        </p:nvSpPr>
        <p:spPr>
          <a:xfrm flipV="1">
            <a:off x="3886200" y="4572000"/>
            <a:ext cx="457200" cy="201168"/>
          </a:xfrm>
          <a:prstGeom prst="line">
            <a:avLst/>
          </a:prstGeom>
          <a:noFill/>
          <a:ln w="19050">
            <a:solidFill>
              <a:srgbClr val="5F6368"/>
            </a:solidFill>
            <a:prstDash val="solid"/>
            <a:tailEnd type="triangle"/>
          </a:ln>
        </p:spPr>
      </p:sp>
      <p:sp>
        <p:nvSpPr>
          <p:cNvPr id="50" name="Text 48"/>
          <p:cNvSpPr txBox="1"/>
          <p:nvPr/>
        </p:nvSpPr>
        <p:spPr>
          <a:xfrm>
            <a:off x="4005072" y="4434840"/>
            <a:ext cx="274320" cy="228600"/>
          </a:xfrm>
          <a:prstGeom prst="rect">
            <a:avLst/>
          </a:prstGeom>
          <a:noFill/>
          <a:ln/>
        </p:spPr>
        <p:txBody>
          <a:bodyPr wrap="square" lIns="508" tIns="508" rIns="508" bIns="508" rtlCol="0" anchor="t"/>
          <a:lstStyle/>
          <a:p>
            <a:pPr algn="l" indent="0" marL="0">
              <a:lnSpc>
                <a:spcPct val="105000"/>
              </a:lnSpc>
              <a:buNone/>
            </a:pPr>
            <a:r>
              <a:rPr lang="en-US" sz="800" b="1" dirty="0">
                <a:solidFill>
                  <a:srgbClr val="5F6368"/>
                </a:solidFill>
                <a:latin typeface="Calibri" pitchFamily="34" charset="0"/>
                <a:ea typeface="Calibri" pitchFamily="34" charset="-122"/>
                <a:cs typeface="Calibri" pitchFamily="34" charset="-120"/>
              </a:rPr>
              <a:t>4</a:t>
            </a:r>
            <a:endParaRPr lang="en-US" sz="800" dirty="0"/>
          </a:p>
        </p:txBody>
      </p:sp>
      <p:sp>
        <p:nvSpPr>
          <p:cNvPr id="51" name="Shape 49"/>
          <p:cNvSpPr/>
          <p:nvPr/>
        </p:nvSpPr>
        <p:spPr>
          <a:xfrm>
            <a:off x="5577840" y="3017520"/>
            <a:ext cx="182880" cy="914"/>
          </a:xfrm>
          <a:prstGeom prst="line">
            <a:avLst/>
          </a:prstGeom>
          <a:noFill/>
          <a:ln w="19050">
            <a:solidFill>
              <a:srgbClr val="1A73E8"/>
            </a:solidFill>
            <a:prstDash val="solid"/>
            <a:tailEnd type="triangle"/>
          </a:ln>
        </p:spPr>
      </p:sp>
      <p:sp>
        <p:nvSpPr>
          <p:cNvPr id="52" name="Text 50"/>
          <p:cNvSpPr txBox="1"/>
          <p:nvPr/>
        </p:nvSpPr>
        <p:spPr>
          <a:xfrm>
            <a:off x="5596128" y="2761488"/>
            <a:ext cx="182880" cy="182880"/>
          </a:xfrm>
          <a:prstGeom prst="rect">
            <a:avLst/>
          </a:prstGeom>
          <a:noFill/>
          <a:ln/>
        </p:spPr>
        <p:txBody>
          <a:bodyPr wrap="square" lIns="508" tIns="508" rIns="508" bIns="508" rtlCol="0" anchor="t"/>
          <a:lstStyle/>
          <a:p>
            <a:pPr algn="l" indent="0" marL="0">
              <a:lnSpc>
                <a:spcPct val="105000"/>
              </a:lnSpc>
              <a:buNone/>
            </a:pPr>
            <a:r>
              <a:rPr lang="en-US" sz="800" b="1" dirty="0">
                <a:solidFill>
                  <a:srgbClr val="1A73E8"/>
                </a:solidFill>
                <a:latin typeface="Calibri" pitchFamily="34" charset="0"/>
                <a:ea typeface="Calibri" pitchFamily="34" charset="-122"/>
                <a:cs typeface="Calibri" pitchFamily="34" charset="-120"/>
              </a:rPr>
              <a:t>6</a:t>
            </a:r>
            <a:endParaRPr lang="en-US" sz="800" dirty="0"/>
          </a:p>
        </p:txBody>
      </p:sp>
      <p:sp>
        <p:nvSpPr>
          <p:cNvPr id="53" name="Shape 51"/>
          <p:cNvSpPr/>
          <p:nvPr/>
        </p:nvSpPr>
        <p:spPr>
          <a:xfrm>
            <a:off x="4956048" y="3429000"/>
            <a:ext cx="914" cy="731520"/>
          </a:xfrm>
          <a:prstGeom prst="line">
            <a:avLst/>
          </a:prstGeom>
          <a:noFill/>
          <a:ln w="19050">
            <a:solidFill>
              <a:srgbClr val="6B4C9A"/>
            </a:solidFill>
            <a:prstDash val="solid"/>
            <a:tailEnd type="triangle"/>
          </a:ln>
        </p:spPr>
      </p:sp>
      <p:sp>
        <p:nvSpPr>
          <p:cNvPr id="54" name="Text 52"/>
          <p:cNvSpPr txBox="1"/>
          <p:nvPr/>
        </p:nvSpPr>
        <p:spPr>
          <a:xfrm>
            <a:off x="5029200" y="3749040"/>
            <a:ext cx="82296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6B4C9A"/>
                </a:solidFill>
                <a:latin typeface="Calibri" pitchFamily="34" charset="0"/>
                <a:ea typeface="Calibri" pitchFamily="34" charset="-122"/>
                <a:cs typeface="Calibri" pitchFamily="34" charset="-120"/>
              </a:rPr>
              <a:t>7 · context</a:t>
            </a:r>
            <a:endParaRPr lang="en-US" sz="800" dirty="0"/>
          </a:p>
        </p:txBody>
      </p:sp>
      <p:sp>
        <p:nvSpPr>
          <p:cNvPr id="55" name="Shape 53"/>
          <p:cNvSpPr/>
          <p:nvPr/>
        </p:nvSpPr>
        <p:spPr>
          <a:xfrm>
            <a:off x="7452360" y="2606040"/>
            <a:ext cx="1783080" cy="914400"/>
          </a:xfrm>
          <a:prstGeom prst="roundRect">
            <a:avLst>
              <a:gd name="adj" fmla="val 7000"/>
            </a:avLst>
          </a:prstGeom>
          <a:solidFill>
            <a:srgbClr val="C2410C"/>
          </a:solidFill>
          <a:ln w="12700">
            <a:solidFill>
              <a:srgbClr val="C2410C"/>
            </a:solidFill>
            <a:prstDash val="solid"/>
          </a:ln>
          <a:effectLst>
            <a:outerShdw sx="100000" sy="100000" kx="0" ky="0" algn="bl" rotWithShape="0" blurRad="50800" dist="19050" dir="5400000">
              <a:srgbClr val="000000">
                <a:alpha val="12000"/>
              </a:srgbClr>
            </a:outerShdw>
          </a:effectLst>
        </p:spPr>
      </p:sp>
      <p:sp>
        <p:nvSpPr>
          <p:cNvPr id="56" name="Text 54"/>
          <p:cNvSpPr txBox="1"/>
          <p:nvPr/>
        </p:nvSpPr>
        <p:spPr>
          <a:xfrm>
            <a:off x="7498080" y="2660904"/>
            <a:ext cx="1691640" cy="54864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Tachyon AI Bridge</a:t>
            </a:r>
            <a:endParaRPr lang="en-US" sz="1000" dirty="0"/>
          </a:p>
        </p:txBody>
      </p:sp>
      <p:sp>
        <p:nvSpPr>
          <p:cNvPr id="57" name="Text 55"/>
          <p:cNvSpPr txBox="1"/>
          <p:nvPr/>
        </p:nvSpPr>
        <p:spPr>
          <a:xfrm>
            <a:off x="7498080" y="3227832"/>
            <a:ext cx="169164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LLM interface · registry.yml</a:t>
            </a:r>
            <a:endParaRPr lang="en-US" sz="800" dirty="0"/>
          </a:p>
        </p:txBody>
      </p:sp>
      <p:sp>
        <p:nvSpPr>
          <p:cNvPr id="58" name="Shape 56"/>
          <p:cNvSpPr/>
          <p:nvPr/>
        </p:nvSpPr>
        <p:spPr>
          <a:xfrm>
            <a:off x="8668512" y="2496312"/>
            <a:ext cx="548640" cy="201168"/>
          </a:xfrm>
          <a:prstGeom prst="roundRect">
            <a:avLst>
              <a:gd name="adj" fmla="val 50000"/>
            </a:avLst>
          </a:prstGeom>
          <a:solidFill>
            <a:srgbClr val="8A2C06"/>
          </a:solidFill>
          <a:ln w="12700">
            <a:solidFill>
              <a:srgbClr val="FFFFFF"/>
            </a:solidFill>
            <a:prstDash val="solid"/>
          </a:ln>
        </p:spPr>
      </p:sp>
      <p:sp>
        <p:nvSpPr>
          <p:cNvPr id="59" name="Text 57"/>
          <p:cNvSpPr txBox="1"/>
          <p:nvPr/>
        </p:nvSpPr>
        <p:spPr>
          <a:xfrm>
            <a:off x="8668512" y="249631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60" name="Shape 58"/>
          <p:cNvSpPr/>
          <p:nvPr/>
        </p:nvSpPr>
        <p:spPr>
          <a:xfrm>
            <a:off x="7452360" y="4023360"/>
            <a:ext cx="1783080" cy="777240"/>
          </a:xfrm>
          <a:prstGeom prst="roundRect">
            <a:avLst>
              <a:gd name="adj" fmla="val 8235"/>
            </a:avLst>
          </a:prstGeom>
          <a:solidFill>
            <a:srgbClr val="C2410C"/>
          </a:solidFill>
          <a:ln w="12700">
            <a:solidFill>
              <a:srgbClr val="C2410C"/>
            </a:solidFill>
            <a:prstDash val="solid"/>
          </a:ln>
          <a:effectLst>
            <a:outerShdw sx="100000" sy="100000" kx="0" ky="0" algn="bl" rotWithShape="0" blurRad="50800" dist="19050" dir="5400000">
              <a:srgbClr val="000000">
                <a:alpha val="12000"/>
              </a:srgbClr>
            </a:outerShdw>
          </a:effectLst>
        </p:spPr>
      </p:sp>
      <p:sp>
        <p:nvSpPr>
          <p:cNvPr id="61" name="Text 59"/>
          <p:cNvSpPr txBox="1"/>
          <p:nvPr/>
        </p:nvSpPr>
        <p:spPr>
          <a:xfrm>
            <a:off x="7498080" y="4078224"/>
            <a:ext cx="1691640" cy="41148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Overwatch</a:t>
            </a:r>
            <a:endParaRPr lang="en-US" sz="1000" dirty="0"/>
          </a:p>
        </p:txBody>
      </p:sp>
      <p:sp>
        <p:nvSpPr>
          <p:cNvPr id="62" name="Text 60"/>
          <p:cNvSpPr txBox="1"/>
          <p:nvPr/>
        </p:nvSpPr>
        <p:spPr>
          <a:xfrm>
            <a:off x="7498080" y="4507992"/>
            <a:ext cx="169164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monitoring · goal validation</a:t>
            </a:r>
            <a:endParaRPr lang="en-US" sz="800" dirty="0"/>
          </a:p>
        </p:txBody>
      </p:sp>
      <p:sp>
        <p:nvSpPr>
          <p:cNvPr id="63" name="Shape 61"/>
          <p:cNvSpPr/>
          <p:nvPr/>
        </p:nvSpPr>
        <p:spPr>
          <a:xfrm>
            <a:off x="8668512" y="3913632"/>
            <a:ext cx="548640" cy="201168"/>
          </a:xfrm>
          <a:prstGeom prst="roundRect">
            <a:avLst>
              <a:gd name="adj" fmla="val 50000"/>
            </a:avLst>
          </a:prstGeom>
          <a:solidFill>
            <a:srgbClr val="8A2C06"/>
          </a:solidFill>
          <a:ln w="12700">
            <a:solidFill>
              <a:srgbClr val="FFFFFF"/>
            </a:solidFill>
            <a:prstDash val="solid"/>
          </a:ln>
        </p:spPr>
      </p:sp>
      <p:sp>
        <p:nvSpPr>
          <p:cNvPr id="64" name="Text 62"/>
          <p:cNvSpPr txBox="1"/>
          <p:nvPr/>
        </p:nvSpPr>
        <p:spPr>
          <a:xfrm>
            <a:off x="8668512" y="391363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65" name="Shape 63"/>
          <p:cNvSpPr/>
          <p:nvPr/>
        </p:nvSpPr>
        <p:spPr>
          <a:xfrm>
            <a:off x="7452360" y="4983480"/>
            <a:ext cx="1783080" cy="731520"/>
          </a:xfrm>
          <a:prstGeom prst="roundRect">
            <a:avLst>
              <a:gd name="adj" fmla="val 8750"/>
            </a:avLst>
          </a:prstGeom>
          <a:solidFill>
            <a:srgbClr val="C2410C"/>
          </a:solidFill>
          <a:ln w="12700">
            <a:solidFill>
              <a:srgbClr val="C2410C"/>
            </a:solidFill>
            <a:prstDash val="solid"/>
          </a:ln>
          <a:effectLst>
            <a:outerShdw sx="100000" sy="100000" kx="0" ky="0" algn="bl" rotWithShape="0" blurRad="50800" dist="19050" dir="5400000">
              <a:srgbClr val="000000">
                <a:alpha val="12000"/>
              </a:srgbClr>
            </a:outerShdw>
          </a:effectLst>
        </p:spPr>
      </p:sp>
      <p:sp>
        <p:nvSpPr>
          <p:cNvPr id="66" name="Text 64"/>
          <p:cNvSpPr txBox="1"/>
          <p:nvPr/>
        </p:nvSpPr>
        <p:spPr>
          <a:xfrm>
            <a:off x="7498080" y="5038344"/>
            <a:ext cx="1691640" cy="36576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Guardrails &amp; Evals</a:t>
            </a:r>
            <a:endParaRPr lang="en-US" sz="1000" dirty="0"/>
          </a:p>
        </p:txBody>
      </p:sp>
      <p:sp>
        <p:nvSpPr>
          <p:cNvPr id="67" name="Text 65"/>
          <p:cNvSpPr txBox="1"/>
          <p:nvPr/>
        </p:nvSpPr>
        <p:spPr>
          <a:xfrm>
            <a:off x="7498080" y="5422392"/>
            <a:ext cx="169164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budgets · loops · drift</a:t>
            </a:r>
            <a:endParaRPr lang="en-US" sz="800" dirty="0"/>
          </a:p>
        </p:txBody>
      </p:sp>
      <p:sp>
        <p:nvSpPr>
          <p:cNvPr id="68" name="Shape 66"/>
          <p:cNvSpPr/>
          <p:nvPr/>
        </p:nvSpPr>
        <p:spPr>
          <a:xfrm>
            <a:off x="8668512" y="4873752"/>
            <a:ext cx="548640" cy="201168"/>
          </a:xfrm>
          <a:prstGeom prst="roundRect">
            <a:avLst>
              <a:gd name="adj" fmla="val 50000"/>
            </a:avLst>
          </a:prstGeom>
          <a:solidFill>
            <a:srgbClr val="8A2C06"/>
          </a:solidFill>
          <a:ln w="12700">
            <a:solidFill>
              <a:srgbClr val="FFFFFF"/>
            </a:solidFill>
            <a:prstDash val="solid"/>
          </a:ln>
        </p:spPr>
      </p:sp>
      <p:sp>
        <p:nvSpPr>
          <p:cNvPr id="69" name="Text 67"/>
          <p:cNvSpPr txBox="1"/>
          <p:nvPr/>
        </p:nvSpPr>
        <p:spPr>
          <a:xfrm>
            <a:off x="8668512" y="487375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70" name="Shape 68"/>
          <p:cNvSpPr/>
          <p:nvPr/>
        </p:nvSpPr>
        <p:spPr>
          <a:xfrm>
            <a:off x="6949440" y="2926080"/>
            <a:ext cx="502920" cy="914"/>
          </a:xfrm>
          <a:prstGeom prst="line">
            <a:avLst/>
          </a:prstGeom>
          <a:noFill/>
          <a:ln w="19050">
            <a:solidFill>
              <a:srgbClr val="C2410C"/>
            </a:solidFill>
            <a:prstDash val="solid"/>
            <a:tailEnd type="triangle"/>
          </a:ln>
        </p:spPr>
      </p:sp>
      <p:sp>
        <p:nvSpPr>
          <p:cNvPr id="71" name="Text 69"/>
          <p:cNvSpPr txBox="1"/>
          <p:nvPr/>
        </p:nvSpPr>
        <p:spPr>
          <a:xfrm>
            <a:off x="5486400" y="2212848"/>
            <a:ext cx="1600200" cy="274320"/>
          </a:xfrm>
          <a:prstGeom prst="rect">
            <a:avLst/>
          </a:prstGeom>
          <a:noFill/>
          <a:ln/>
        </p:spPr>
        <p:txBody>
          <a:bodyPr wrap="square" lIns="508" tIns="508" rIns="508" bIns="508" rtlCol="0" anchor="t"/>
          <a:lstStyle/>
          <a:p>
            <a:pPr algn="r" indent="0" marL="0">
              <a:lnSpc>
                <a:spcPct val="105000"/>
              </a:lnSpc>
              <a:buNone/>
            </a:pPr>
            <a:r>
              <a:rPr lang="en-US" sz="750" i="1" dirty="0">
                <a:solidFill>
                  <a:srgbClr val="C2410C"/>
                </a:solidFill>
                <a:latin typeface="Calibri" pitchFamily="34" charset="0"/>
                <a:ea typeface="Calibri" pitchFamily="34" charset="-122"/>
                <a:cs typeface="Calibri" pitchFamily="34" charset="-120"/>
              </a:rPr>
              <a:t>5 classify · 8 plan · 11 generate →</a:t>
            </a:r>
            <a:endParaRPr lang="en-US" sz="750" dirty="0"/>
          </a:p>
        </p:txBody>
      </p:sp>
      <p:sp>
        <p:nvSpPr>
          <p:cNvPr id="72" name="Shape 70"/>
          <p:cNvSpPr/>
          <p:nvPr/>
        </p:nvSpPr>
        <p:spPr>
          <a:xfrm>
            <a:off x="6949440" y="4434840"/>
            <a:ext cx="502920" cy="914"/>
          </a:xfrm>
          <a:prstGeom prst="line">
            <a:avLst/>
          </a:prstGeom>
          <a:noFill/>
          <a:ln w="19050">
            <a:solidFill>
              <a:srgbClr val="C2410C"/>
            </a:solidFill>
            <a:prstDash val="solid"/>
            <a:tailEnd type="triangle"/>
          </a:ln>
        </p:spPr>
      </p:sp>
      <p:sp>
        <p:nvSpPr>
          <p:cNvPr id="73" name="Text 71"/>
          <p:cNvSpPr txBox="1"/>
          <p:nvPr/>
        </p:nvSpPr>
        <p:spPr>
          <a:xfrm>
            <a:off x="7452360" y="4773168"/>
            <a:ext cx="1783080" cy="201168"/>
          </a:xfrm>
          <a:prstGeom prst="rect">
            <a:avLst/>
          </a:prstGeom>
          <a:noFill/>
          <a:ln/>
        </p:spPr>
        <p:txBody>
          <a:bodyPr wrap="square" lIns="508" tIns="508" rIns="508" bIns="508" rtlCol="0" anchor="t"/>
          <a:lstStyle/>
          <a:p>
            <a:pPr algn="ctr" indent="0" marL="0">
              <a:lnSpc>
                <a:spcPct val="105000"/>
              </a:lnSpc>
              <a:buNone/>
            </a:pPr>
            <a:r>
              <a:rPr lang="en-US" sz="700" i="1" dirty="0">
                <a:solidFill>
                  <a:srgbClr val="C2410C"/>
                </a:solidFill>
                <a:latin typeface="Calibri" pitchFamily="34" charset="0"/>
                <a:ea typeface="Calibri" pitchFamily="34" charset="-122"/>
                <a:cs typeface="Calibri" pitchFamily="34" charset="-120"/>
              </a:rPr>
              <a:t>12 · validate goal, log LLM metrics</a:t>
            </a:r>
            <a:endParaRPr lang="en-US" sz="700" dirty="0"/>
          </a:p>
        </p:txBody>
      </p:sp>
      <p:sp>
        <p:nvSpPr>
          <p:cNvPr id="74" name="Shape 72"/>
          <p:cNvSpPr/>
          <p:nvPr/>
        </p:nvSpPr>
        <p:spPr>
          <a:xfrm>
            <a:off x="9784080" y="3200400"/>
            <a:ext cx="1645920" cy="822960"/>
          </a:xfrm>
          <a:prstGeom prst="roundRect">
            <a:avLst>
              <a:gd name="adj" fmla="val 7778"/>
            </a:avLst>
          </a:prstGeom>
          <a:solidFill>
            <a:srgbClr val="6B4C9A"/>
          </a:solidFill>
          <a:ln w="12700">
            <a:solidFill>
              <a:srgbClr val="6B4C9A"/>
            </a:solidFill>
            <a:prstDash val="solid"/>
          </a:ln>
          <a:effectLst>
            <a:outerShdw sx="100000" sy="100000" kx="0" ky="0" algn="bl" rotWithShape="0" blurRad="50800" dist="19050" dir="5400000">
              <a:srgbClr val="000000">
                <a:alpha val="12000"/>
              </a:srgbClr>
            </a:outerShdw>
          </a:effectLst>
        </p:spPr>
      </p:sp>
      <p:sp>
        <p:nvSpPr>
          <p:cNvPr id="75" name="Text 73"/>
          <p:cNvSpPr txBox="1"/>
          <p:nvPr/>
        </p:nvSpPr>
        <p:spPr>
          <a:xfrm>
            <a:off x="9829800" y="3255264"/>
            <a:ext cx="1554480" cy="4572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MCP Server</a:t>
            </a:r>
            <a:endParaRPr lang="en-US" sz="1000" dirty="0"/>
          </a:p>
        </p:txBody>
      </p:sp>
      <p:sp>
        <p:nvSpPr>
          <p:cNvPr id="76" name="Text 74"/>
          <p:cNvSpPr txBox="1"/>
          <p:nvPr/>
        </p:nvSpPr>
        <p:spPr>
          <a:xfrm>
            <a:off x="9829800" y="3730752"/>
            <a:ext cx="155448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Tachyon registry · ADK MCPToolset</a:t>
            </a:r>
            <a:endParaRPr lang="en-US" sz="800" dirty="0"/>
          </a:p>
        </p:txBody>
      </p:sp>
      <p:sp>
        <p:nvSpPr>
          <p:cNvPr id="77" name="Shape 75"/>
          <p:cNvSpPr/>
          <p:nvPr/>
        </p:nvSpPr>
        <p:spPr>
          <a:xfrm>
            <a:off x="10863072" y="3090672"/>
            <a:ext cx="548640" cy="201168"/>
          </a:xfrm>
          <a:prstGeom prst="roundRect">
            <a:avLst>
              <a:gd name="adj" fmla="val 50000"/>
            </a:avLst>
          </a:prstGeom>
          <a:solidFill>
            <a:srgbClr val="4A3470"/>
          </a:solidFill>
          <a:ln w="12700">
            <a:solidFill>
              <a:srgbClr val="FFFFFF"/>
            </a:solidFill>
            <a:prstDash val="solid"/>
          </a:ln>
        </p:spPr>
      </p:sp>
      <p:sp>
        <p:nvSpPr>
          <p:cNvPr id="78" name="Text 76"/>
          <p:cNvSpPr txBox="1"/>
          <p:nvPr/>
        </p:nvSpPr>
        <p:spPr>
          <a:xfrm>
            <a:off x="10863072" y="3090672"/>
            <a:ext cx="548640" cy="201168"/>
          </a:xfrm>
          <a:prstGeom prst="rect">
            <a:avLst/>
          </a:prstGeom>
          <a:noFill/>
          <a:ln/>
        </p:spPr>
        <p:txBody>
          <a:bodyPr wrap="square" lIns="508" tIns="508" rIns="508" bIns="508" rtlCol="0" anchor="ctr"/>
          <a:lstStyle/>
          <a:p>
            <a:pPr algn="ctr" indent="0" marL="0">
              <a:lnSpc>
                <a:spcPct val="105000"/>
              </a:lnSpc>
              <a:buNone/>
            </a:pPr>
            <a:r>
              <a:rPr lang="en-US" sz="700" b="1" dirty="0">
                <a:solidFill>
                  <a:srgbClr val="FFFFFF"/>
                </a:solidFill>
                <a:latin typeface="Calibri" pitchFamily="34" charset="0"/>
                <a:ea typeface="Calibri" pitchFamily="34" charset="-122"/>
                <a:cs typeface="Calibri" pitchFamily="34" charset="-120"/>
              </a:rPr>
              <a:t>TSDK</a:t>
            </a:r>
            <a:endParaRPr lang="en-US" sz="700" dirty="0"/>
          </a:p>
        </p:txBody>
      </p:sp>
      <p:sp>
        <p:nvSpPr>
          <p:cNvPr id="79" name="Shape 77"/>
          <p:cNvSpPr/>
          <p:nvPr/>
        </p:nvSpPr>
        <p:spPr>
          <a:xfrm>
            <a:off x="9784080" y="4297680"/>
            <a:ext cx="1645920" cy="640080"/>
          </a:xfrm>
          <a:prstGeom prst="roundRect">
            <a:avLst>
              <a:gd name="adj" fmla="val 10000"/>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80" name="Text 78"/>
          <p:cNvSpPr txBox="1"/>
          <p:nvPr/>
        </p:nvSpPr>
        <p:spPr>
          <a:xfrm>
            <a:off x="9829800" y="4352544"/>
            <a:ext cx="1554480" cy="27432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Tools</a:t>
            </a:r>
            <a:endParaRPr lang="en-US" sz="1000" dirty="0"/>
          </a:p>
        </p:txBody>
      </p:sp>
      <p:sp>
        <p:nvSpPr>
          <p:cNvPr id="81" name="Text 79"/>
          <p:cNvSpPr txBox="1"/>
          <p:nvPr/>
        </p:nvSpPr>
        <p:spPr>
          <a:xfrm>
            <a:off x="9829800" y="4645152"/>
            <a:ext cx="155448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WF-built MCP tools</a:t>
            </a:r>
            <a:endParaRPr lang="en-US" sz="800" dirty="0"/>
          </a:p>
        </p:txBody>
      </p:sp>
      <p:sp>
        <p:nvSpPr>
          <p:cNvPr id="82" name="Shape 80"/>
          <p:cNvSpPr/>
          <p:nvPr/>
        </p:nvSpPr>
        <p:spPr>
          <a:xfrm>
            <a:off x="9784080" y="5166360"/>
            <a:ext cx="1645920" cy="594360"/>
          </a:xfrm>
          <a:prstGeom prst="roundRect">
            <a:avLst>
              <a:gd name="adj" fmla="val 10769"/>
            </a:avLst>
          </a:prstGeom>
          <a:solidFill>
            <a:srgbClr val="5F6368"/>
          </a:solidFill>
          <a:ln w="12700">
            <a:solidFill>
              <a:srgbClr val="5F6368"/>
            </a:solidFill>
            <a:prstDash val="solid"/>
          </a:ln>
          <a:effectLst>
            <a:outerShdw sx="100000" sy="100000" kx="0" ky="0" algn="bl" rotWithShape="0" blurRad="50800" dist="19050" dir="5400000">
              <a:srgbClr val="000000">
                <a:alpha val="12000"/>
              </a:srgbClr>
            </a:outerShdw>
          </a:effectLst>
        </p:spPr>
      </p:sp>
      <p:sp>
        <p:nvSpPr>
          <p:cNvPr id="83" name="Text 81"/>
          <p:cNvSpPr txBox="1"/>
          <p:nvPr/>
        </p:nvSpPr>
        <p:spPr>
          <a:xfrm>
            <a:off x="9829800" y="5221224"/>
            <a:ext cx="1554480" cy="228600"/>
          </a:xfrm>
          <a:prstGeom prst="rect">
            <a:avLst/>
          </a:prstGeom>
          <a:noFill/>
          <a:ln/>
        </p:spPr>
        <p:txBody>
          <a:bodyPr wrap="square" lIns="508" tIns="508" rIns="508" bIns="508"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chat-data-service</a:t>
            </a:r>
            <a:endParaRPr lang="en-US" sz="1000" dirty="0"/>
          </a:p>
        </p:txBody>
      </p:sp>
      <p:sp>
        <p:nvSpPr>
          <p:cNvPr id="84" name="Text 82"/>
          <p:cNvSpPr txBox="1"/>
          <p:nvPr/>
        </p:nvSpPr>
        <p:spPr>
          <a:xfrm>
            <a:off x="9829800" y="5468112"/>
            <a:ext cx="1554480" cy="256032"/>
          </a:xfrm>
          <a:prstGeom prst="rect">
            <a:avLst/>
          </a:prstGeom>
          <a:noFill/>
          <a:ln/>
        </p:spPr>
        <p:txBody>
          <a:bodyPr wrap="square" lIns="508" tIns="508" rIns="508" bIns="508" rtlCol="0" anchor="ctr"/>
          <a:lstStyle/>
          <a:p>
            <a:pPr algn="ctr" indent="0" marL="0">
              <a:lnSpc>
                <a:spcPct val="105000"/>
              </a:lnSpc>
              <a:buNone/>
            </a:pPr>
            <a:r>
              <a:rPr lang="en-US" sz="800" dirty="0">
                <a:solidFill>
                  <a:srgbClr val="E8EAED"/>
                </a:solidFill>
                <a:latin typeface="Calibri" pitchFamily="34" charset="0"/>
                <a:ea typeface="Calibri" pitchFamily="34" charset="-122"/>
                <a:cs typeface="Calibri" pitchFamily="34" charset="-120"/>
              </a:rPr>
              <a:t>backend services</a:t>
            </a:r>
            <a:endParaRPr lang="en-US" sz="800" dirty="0"/>
          </a:p>
        </p:txBody>
      </p:sp>
      <p:sp>
        <p:nvSpPr>
          <p:cNvPr id="85" name="Shape 83"/>
          <p:cNvSpPr/>
          <p:nvPr/>
        </p:nvSpPr>
        <p:spPr>
          <a:xfrm>
            <a:off x="10607040" y="4023360"/>
            <a:ext cx="914" cy="274320"/>
          </a:xfrm>
          <a:prstGeom prst="line">
            <a:avLst/>
          </a:prstGeom>
          <a:noFill/>
          <a:ln w="19050">
            <a:solidFill>
              <a:srgbClr val="6B4C9A"/>
            </a:solidFill>
            <a:prstDash val="solid"/>
            <a:tailEnd type="triangle"/>
          </a:ln>
        </p:spPr>
      </p:sp>
      <p:sp>
        <p:nvSpPr>
          <p:cNvPr id="86" name="Shape 84"/>
          <p:cNvSpPr/>
          <p:nvPr/>
        </p:nvSpPr>
        <p:spPr>
          <a:xfrm>
            <a:off x="10607040" y="4937760"/>
            <a:ext cx="914" cy="228600"/>
          </a:xfrm>
          <a:prstGeom prst="line">
            <a:avLst/>
          </a:prstGeom>
          <a:noFill/>
          <a:ln w="19050">
            <a:solidFill>
              <a:srgbClr val="5F6368"/>
            </a:solidFill>
            <a:prstDash val="solid"/>
            <a:tailEnd type="triangle"/>
          </a:ln>
        </p:spPr>
      </p:sp>
      <p:sp>
        <p:nvSpPr>
          <p:cNvPr id="87" name="Shape 85"/>
          <p:cNvSpPr/>
          <p:nvPr/>
        </p:nvSpPr>
        <p:spPr>
          <a:xfrm>
            <a:off x="6355080" y="3429000"/>
            <a:ext cx="914" cy="301752"/>
          </a:xfrm>
          <a:prstGeom prst="line">
            <a:avLst/>
          </a:prstGeom>
          <a:noFill/>
          <a:ln w="19050">
            <a:solidFill>
              <a:srgbClr val="6B4C9A"/>
            </a:solidFill>
            <a:prstDash val="dash"/>
          </a:ln>
        </p:spPr>
      </p:sp>
      <p:sp>
        <p:nvSpPr>
          <p:cNvPr id="88" name="Shape 86"/>
          <p:cNvSpPr/>
          <p:nvPr/>
        </p:nvSpPr>
        <p:spPr>
          <a:xfrm>
            <a:off x="6355080" y="3730752"/>
            <a:ext cx="3429000" cy="914"/>
          </a:xfrm>
          <a:prstGeom prst="line">
            <a:avLst/>
          </a:prstGeom>
          <a:noFill/>
          <a:ln w="19050">
            <a:solidFill>
              <a:srgbClr val="6B4C9A"/>
            </a:solidFill>
            <a:prstDash val="dash"/>
            <a:tailEnd type="triangle"/>
          </a:ln>
        </p:spPr>
      </p:sp>
      <p:sp>
        <p:nvSpPr>
          <p:cNvPr id="89" name="Text 87"/>
          <p:cNvSpPr txBox="1"/>
          <p:nvPr/>
        </p:nvSpPr>
        <p:spPr>
          <a:xfrm>
            <a:off x="7452360" y="3767328"/>
            <a:ext cx="2194560" cy="228600"/>
          </a:xfrm>
          <a:prstGeom prst="rect">
            <a:avLst/>
          </a:prstGeom>
          <a:noFill/>
          <a:ln/>
        </p:spPr>
        <p:txBody>
          <a:bodyPr wrap="square" lIns="508" tIns="508" rIns="508" bIns="508" rtlCol="0" anchor="t"/>
          <a:lstStyle/>
          <a:p>
            <a:pPr algn="l" indent="0" marL="0">
              <a:lnSpc>
                <a:spcPct val="105000"/>
              </a:lnSpc>
              <a:buNone/>
            </a:pPr>
            <a:r>
              <a:rPr lang="en-US" sz="700" i="1" dirty="0">
                <a:solidFill>
                  <a:srgbClr val="6B4C9A"/>
                </a:solidFill>
                <a:latin typeface="Calibri" pitchFamily="34" charset="0"/>
                <a:ea typeface="Calibri" pitchFamily="34" charset="-122"/>
                <a:cs typeface="Calibri" pitchFamily="34" charset="-120"/>
              </a:rPr>
              <a:t>9 · discover / execute tool (agent → MCP direct)</a:t>
            </a:r>
            <a:endParaRPr lang="en-US" sz="700" dirty="0"/>
          </a:p>
        </p:txBody>
      </p:sp>
      <p:sp>
        <p:nvSpPr>
          <p:cNvPr id="90" name="Text 88"/>
          <p:cNvSpPr txBox="1"/>
          <p:nvPr/>
        </p:nvSpPr>
        <p:spPr>
          <a:xfrm>
            <a:off x="10716768" y="4956048"/>
            <a:ext cx="731520" cy="201168"/>
          </a:xfrm>
          <a:prstGeom prst="rect">
            <a:avLst/>
          </a:prstGeom>
          <a:noFill/>
          <a:ln/>
        </p:spPr>
        <p:txBody>
          <a:bodyPr wrap="square" lIns="508" tIns="508" rIns="508" bIns="508" rtlCol="0" anchor="t"/>
          <a:lstStyle/>
          <a:p>
            <a:pPr algn="l" indent="0" marL="0">
              <a:lnSpc>
                <a:spcPct val="105000"/>
              </a:lnSpc>
              <a:buNone/>
            </a:pPr>
            <a:r>
              <a:rPr lang="en-US" sz="700" i="1" dirty="0">
                <a:solidFill>
                  <a:srgbClr val="5F6368"/>
                </a:solidFill>
                <a:latin typeface="Calibri" pitchFamily="34" charset="0"/>
                <a:ea typeface="Calibri" pitchFamily="34" charset="-122"/>
                <a:cs typeface="Calibri" pitchFamily="34" charset="-120"/>
              </a:rPr>
              <a:t>10 · query</a:t>
            </a:r>
            <a:endParaRPr lang="en-US" sz="700" dirty="0"/>
          </a:p>
        </p:txBody>
      </p:sp>
      <p:sp>
        <p:nvSpPr>
          <p:cNvPr id="91" name="Text 89"/>
          <p:cNvSpPr txBox="1"/>
          <p:nvPr/>
        </p:nvSpPr>
        <p:spPr>
          <a:xfrm>
            <a:off x="685800" y="5349240"/>
            <a:ext cx="3017520" cy="228600"/>
          </a:xfrm>
          <a:prstGeom prst="rect">
            <a:avLst/>
          </a:prstGeom>
          <a:noFill/>
          <a:ln/>
        </p:spPr>
        <p:txBody>
          <a:bodyPr wrap="square" lIns="508" tIns="508" rIns="508" bIns="508" rtlCol="0" anchor="t"/>
          <a:lstStyle/>
          <a:p>
            <a:pPr algn="l" indent="0" marL="0">
              <a:lnSpc>
                <a:spcPct val="105000"/>
              </a:lnSpc>
              <a:buNone/>
            </a:pPr>
            <a:r>
              <a:rPr lang="en-US" sz="800" i="1" dirty="0">
                <a:solidFill>
                  <a:srgbClr val="5F6368"/>
                </a:solidFill>
                <a:latin typeface="Calibri" pitchFamily="34" charset="0"/>
                <a:ea typeface="Calibri" pitchFamily="34" charset="-122"/>
                <a:cs typeface="Calibri" pitchFamily="34" charset="-120"/>
              </a:rPr>
              <a:t>13 · response returns the same path</a:t>
            </a:r>
            <a:endParaRPr lang="en-US" sz="800" dirty="0"/>
          </a:p>
        </p:txBody>
      </p:sp>
      <p:sp>
        <p:nvSpPr>
          <p:cNvPr id="92" name="Shape 90"/>
          <p:cNvSpPr/>
          <p:nvPr/>
        </p:nvSpPr>
        <p:spPr>
          <a:xfrm>
            <a:off x="548640" y="6428232"/>
            <a:ext cx="164592" cy="164592"/>
          </a:xfrm>
          <a:prstGeom prst="roundRect">
            <a:avLst>
              <a:gd name="adj" fmla="val 16667"/>
            </a:avLst>
          </a:prstGeom>
          <a:solidFill>
            <a:srgbClr val="1A73E8"/>
          </a:solidFill>
          <a:ln w="12700">
            <a:solidFill>
              <a:srgbClr val="1A73E8"/>
            </a:solidFill>
            <a:prstDash val="solid"/>
          </a:ln>
        </p:spPr>
      </p:sp>
      <p:sp>
        <p:nvSpPr>
          <p:cNvPr id="93" name="Text 91"/>
          <p:cNvSpPr txBox="1"/>
          <p:nvPr/>
        </p:nvSpPr>
        <p:spPr>
          <a:xfrm>
            <a:off x="76809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Google ADK core</a:t>
            </a:r>
            <a:endParaRPr lang="en-US" sz="950" dirty="0"/>
          </a:p>
        </p:txBody>
      </p:sp>
      <p:sp>
        <p:nvSpPr>
          <p:cNvPr id="94" name="Shape 92"/>
          <p:cNvSpPr/>
          <p:nvPr/>
        </p:nvSpPr>
        <p:spPr>
          <a:xfrm>
            <a:off x="2331720" y="6428232"/>
            <a:ext cx="164592" cy="164592"/>
          </a:xfrm>
          <a:prstGeom prst="roundRect">
            <a:avLst>
              <a:gd name="adj" fmla="val 16667"/>
            </a:avLst>
          </a:prstGeom>
          <a:solidFill>
            <a:srgbClr val="C2410C"/>
          </a:solidFill>
          <a:ln w="12700">
            <a:solidFill>
              <a:srgbClr val="C2410C"/>
            </a:solidFill>
            <a:prstDash val="solid"/>
          </a:ln>
        </p:spPr>
      </p:sp>
      <p:sp>
        <p:nvSpPr>
          <p:cNvPr id="95" name="Text 93"/>
          <p:cNvSpPr txBox="1"/>
          <p:nvPr/>
        </p:nvSpPr>
        <p:spPr>
          <a:xfrm>
            <a:off x="255117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Tachyon platform</a:t>
            </a:r>
            <a:endParaRPr lang="en-US" sz="950" dirty="0"/>
          </a:p>
        </p:txBody>
      </p:sp>
      <p:sp>
        <p:nvSpPr>
          <p:cNvPr id="96" name="Shape 94"/>
          <p:cNvSpPr/>
          <p:nvPr/>
        </p:nvSpPr>
        <p:spPr>
          <a:xfrm>
            <a:off x="4114800" y="6428232"/>
            <a:ext cx="164592" cy="164592"/>
          </a:xfrm>
          <a:prstGeom prst="roundRect">
            <a:avLst>
              <a:gd name="adj" fmla="val 16667"/>
            </a:avLst>
          </a:prstGeom>
          <a:solidFill>
            <a:srgbClr val="6B4C9A"/>
          </a:solidFill>
          <a:ln w="12700">
            <a:solidFill>
              <a:srgbClr val="6B4C9A"/>
            </a:solidFill>
            <a:prstDash val="solid"/>
          </a:ln>
        </p:spPr>
      </p:sp>
      <p:sp>
        <p:nvSpPr>
          <p:cNvPr id="97" name="Text 95"/>
          <p:cNvSpPr txBox="1"/>
          <p:nvPr/>
        </p:nvSpPr>
        <p:spPr>
          <a:xfrm>
            <a:off x="433425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wrapper layer</a:t>
            </a:r>
            <a:endParaRPr lang="en-US" sz="950" dirty="0"/>
          </a:p>
        </p:txBody>
      </p:sp>
      <p:sp>
        <p:nvSpPr>
          <p:cNvPr id="98" name="Shape 96"/>
          <p:cNvSpPr/>
          <p:nvPr/>
        </p:nvSpPr>
        <p:spPr>
          <a:xfrm>
            <a:off x="5897880" y="6428232"/>
            <a:ext cx="164592" cy="164592"/>
          </a:xfrm>
          <a:prstGeom prst="roundRect">
            <a:avLst>
              <a:gd name="adj" fmla="val 16667"/>
            </a:avLst>
          </a:prstGeom>
          <a:solidFill>
            <a:srgbClr val="5F6368"/>
          </a:solidFill>
          <a:ln w="12700">
            <a:solidFill>
              <a:srgbClr val="5F6368"/>
            </a:solidFill>
            <a:prstDash val="solid"/>
          </a:ln>
        </p:spPr>
      </p:sp>
      <p:sp>
        <p:nvSpPr>
          <p:cNvPr id="99" name="Text 97"/>
          <p:cNvSpPr txBox="1"/>
          <p:nvPr/>
        </p:nvSpPr>
        <p:spPr>
          <a:xfrm>
            <a:off x="611733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WF-built / other</a:t>
            </a:r>
            <a:endParaRPr lang="en-US" sz="950" dirty="0"/>
          </a:p>
        </p:txBody>
      </p:sp>
      <p:sp>
        <p:nvSpPr>
          <p:cNvPr id="100" name="Text 98"/>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101" name="Text 99"/>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Feature list by layer</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The middle column is what the TSDK library adds around the ADK core to connect it to the platform.</a:t>
            </a:r>
            <a:endParaRPr lang="en-US" sz="1300" dirty="0"/>
          </a:p>
        </p:txBody>
      </p:sp>
      <p:sp>
        <p:nvSpPr>
          <p:cNvPr id="4" name="Shape 2"/>
          <p:cNvSpPr/>
          <p:nvPr/>
        </p:nvSpPr>
        <p:spPr>
          <a:xfrm>
            <a:off x="548640" y="1874520"/>
            <a:ext cx="3566160" cy="4343400"/>
          </a:xfrm>
          <a:prstGeom prst="roundRect">
            <a:avLst>
              <a:gd name="adj" fmla="val 2564"/>
            </a:avLst>
          </a:prstGeom>
          <a:solidFill>
            <a:srgbClr val="E8F0FE"/>
          </a:solidFill>
          <a:ln w="12700">
            <a:solidFill>
              <a:srgbClr val="E8F0FE"/>
            </a:solidFill>
            <a:prstDash val="solid"/>
          </a:ln>
        </p:spPr>
      </p:sp>
      <p:sp>
        <p:nvSpPr>
          <p:cNvPr id="5" name="Text 3"/>
          <p:cNvSpPr txBox="1"/>
          <p:nvPr/>
        </p:nvSpPr>
        <p:spPr>
          <a:xfrm>
            <a:off x="713232" y="1984248"/>
            <a:ext cx="329184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1A73E8"/>
                </a:solidFill>
                <a:latin typeface="Calibri" pitchFamily="34" charset="0"/>
                <a:ea typeface="Calibri" pitchFamily="34" charset="-122"/>
                <a:cs typeface="Calibri" pitchFamily="34" charset="-120"/>
              </a:rPr>
              <a:t>Google ADK core</a:t>
            </a:r>
            <a:endParaRPr lang="en-US" sz="1100" dirty="0"/>
          </a:p>
        </p:txBody>
      </p:sp>
      <p:sp>
        <p:nvSpPr>
          <p:cNvPr id="6" name="Text 4"/>
          <p:cNvSpPr txBox="1"/>
          <p:nvPr/>
        </p:nvSpPr>
        <p:spPr>
          <a:xfrm>
            <a:off x="713232" y="2240280"/>
            <a:ext cx="3291840" cy="256032"/>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Agent runtime primitives, shipped inside TSDK</a:t>
            </a:r>
            <a:endParaRPr lang="en-US" sz="950" dirty="0"/>
          </a:p>
        </p:txBody>
      </p:sp>
      <p:sp>
        <p:nvSpPr>
          <p:cNvPr id="7" name="Shape 5"/>
          <p:cNvSpPr/>
          <p:nvPr/>
        </p:nvSpPr>
        <p:spPr>
          <a:xfrm>
            <a:off x="685800" y="2560320"/>
            <a:ext cx="3291840" cy="454587"/>
          </a:xfrm>
          <a:prstGeom prst="roundRect">
            <a:avLst>
              <a:gd name="adj" fmla="val 10057"/>
            </a:avLst>
          </a:prstGeom>
          <a:solidFill>
            <a:srgbClr val="FFFFFF"/>
          </a:solidFill>
          <a:ln w="12700">
            <a:solidFill>
              <a:srgbClr val="FFFFFF"/>
            </a:solidFill>
            <a:prstDash val="solid"/>
          </a:ln>
        </p:spPr>
      </p:sp>
      <p:sp>
        <p:nvSpPr>
          <p:cNvPr id="8" name="Shape 6"/>
          <p:cNvSpPr/>
          <p:nvPr/>
        </p:nvSpPr>
        <p:spPr>
          <a:xfrm>
            <a:off x="685800" y="2560320"/>
            <a:ext cx="73152" cy="454587"/>
          </a:xfrm>
          <a:prstGeom prst="rect">
            <a:avLst>
              <a:gd name="adj" fmla="val 100000"/>
            </a:avLst>
          </a:prstGeom>
          <a:solidFill>
            <a:srgbClr val="1A73E8"/>
          </a:solidFill>
          <a:ln w="12700">
            <a:solidFill>
              <a:srgbClr val="1A73E8"/>
            </a:solidFill>
            <a:prstDash val="solid"/>
          </a:ln>
        </p:spPr>
      </p:sp>
      <p:sp>
        <p:nvSpPr>
          <p:cNvPr id="9" name="Text 7"/>
          <p:cNvSpPr txBox="1"/>
          <p:nvPr/>
        </p:nvSpPr>
        <p:spPr>
          <a:xfrm>
            <a:off x="822960" y="2560320"/>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LlmAgent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instruction, model, tools, sub_agents — the unit every Fargo agent is built from</a:t>
            </a:r>
            <a:endParaRPr lang="en-US" sz="900" dirty="0"/>
          </a:p>
        </p:txBody>
      </p:sp>
      <p:sp>
        <p:nvSpPr>
          <p:cNvPr id="10" name="Shape 8"/>
          <p:cNvSpPr/>
          <p:nvPr/>
        </p:nvSpPr>
        <p:spPr>
          <a:xfrm>
            <a:off x="685800" y="3078915"/>
            <a:ext cx="3291840" cy="454587"/>
          </a:xfrm>
          <a:prstGeom prst="roundRect">
            <a:avLst>
              <a:gd name="adj" fmla="val 10057"/>
            </a:avLst>
          </a:prstGeom>
          <a:solidFill>
            <a:srgbClr val="FFFFFF"/>
          </a:solidFill>
          <a:ln w="12700">
            <a:solidFill>
              <a:srgbClr val="FFFFFF"/>
            </a:solidFill>
            <a:prstDash val="solid"/>
          </a:ln>
        </p:spPr>
      </p:sp>
      <p:sp>
        <p:nvSpPr>
          <p:cNvPr id="11" name="Shape 9"/>
          <p:cNvSpPr/>
          <p:nvPr/>
        </p:nvSpPr>
        <p:spPr>
          <a:xfrm>
            <a:off x="685800" y="3078915"/>
            <a:ext cx="73152" cy="454587"/>
          </a:xfrm>
          <a:prstGeom prst="rect">
            <a:avLst>
              <a:gd name="adj" fmla="val 100000"/>
            </a:avLst>
          </a:prstGeom>
          <a:solidFill>
            <a:srgbClr val="1A73E8"/>
          </a:solidFill>
          <a:ln w="12700">
            <a:solidFill>
              <a:srgbClr val="1A73E8"/>
            </a:solidFill>
            <a:prstDash val="solid"/>
          </a:ln>
        </p:spPr>
      </p:sp>
      <p:sp>
        <p:nvSpPr>
          <p:cNvPr id="12" name="Text 10"/>
          <p:cNvSpPr txBox="1"/>
          <p:nvPr/>
        </p:nvSpPr>
        <p:spPr>
          <a:xfrm>
            <a:off x="822960" y="3078915"/>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Workflow agents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SequentialAgent / ParallelAgent / LoopAgent for plan → execute → report flows</a:t>
            </a:r>
            <a:endParaRPr lang="en-US" sz="900" dirty="0"/>
          </a:p>
        </p:txBody>
      </p:sp>
      <p:sp>
        <p:nvSpPr>
          <p:cNvPr id="13" name="Shape 11"/>
          <p:cNvSpPr/>
          <p:nvPr/>
        </p:nvSpPr>
        <p:spPr>
          <a:xfrm>
            <a:off x="685800" y="3597511"/>
            <a:ext cx="3291840" cy="454587"/>
          </a:xfrm>
          <a:prstGeom prst="roundRect">
            <a:avLst>
              <a:gd name="adj" fmla="val 10057"/>
            </a:avLst>
          </a:prstGeom>
          <a:solidFill>
            <a:srgbClr val="FFFFFF"/>
          </a:solidFill>
          <a:ln w="12700">
            <a:solidFill>
              <a:srgbClr val="FFFFFF"/>
            </a:solidFill>
            <a:prstDash val="solid"/>
          </a:ln>
        </p:spPr>
      </p:sp>
      <p:sp>
        <p:nvSpPr>
          <p:cNvPr id="14" name="Shape 12"/>
          <p:cNvSpPr/>
          <p:nvPr/>
        </p:nvSpPr>
        <p:spPr>
          <a:xfrm>
            <a:off x="685800" y="3597511"/>
            <a:ext cx="73152" cy="454587"/>
          </a:xfrm>
          <a:prstGeom prst="rect">
            <a:avLst>
              <a:gd name="adj" fmla="val 100000"/>
            </a:avLst>
          </a:prstGeom>
          <a:solidFill>
            <a:srgbClr val="1A73E8"/>
          </a:solidFill>
          <a:ln w="12700">
            <a:solidFill>
              <a:srgbClr val="1A73E8"/>
            </a:solidFill>
            <a:prstDash val="solid"/>
          </a:ln>
        </p:spPr>
      </p:sp>
      <p:sp>
        <p:nvSpPr>
          <p:cNvPr id="15" name="Text 13"/>
          <p:cNvSpPr txBox="1"/>
          <p:nvPr/>
        </p:nvSpPr>
        <p:spPr>
          <a:xfrm>
            <a:off x="822960" y="3597511"/>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Tool abstractions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FunctionTool, AgentTool, MCPToolset (agent calls MCP directly)</a:t>
            </a:r>
            <a:endParaRPr lang="en-US" sz="900" dirty="0"/>
          </a:p>
        </p:txBody>
      </p:sp>
      <p:sp>
        <p:nvSpPr>
          <p:cNvPr id="16" name="Shape 14"/>
          <p:cNvSpPr/>
          <p:nvPr/>
        </p:nvSpPr>
        <p:spPr>
          <a:xfrm>
            <a:off x="685800" y="4116106"/>
            <a:ext cx="3291840" cy="454587"/>
          </a:xfrm>
          <a:prstGeom prst="roundRect">
            <a:avLst>
              <a:gd name="adj" fmla="val 10057"/>
            </a:avLst>
          </a:prstGeom>
          <a:solidFill>
            <a:srgbClr val="FFFFFF"/>
          </a:solidFill>
          <a:ln w="12700">
            <a:solidFill>
              <a:srgbClr val="FFFFFF"/>
            </a:solidFill>
            <a:prstDash val="solid"/>
          </a:ln>
        </p:spPr>
      </p:sp>
      <p:sp>
        <p:nvSpPr>
          <p:cNvPr id="17" name="Shape 15"/>
          <p:cNvSpPr/>
          <p:nvPr/>
        </p:nvSpPr>
        <p:spPr>
          <a:xfrm>
            <a:off x="685800" y="4116106"/>
            <a:ext cx="73152" cy="454587"/>
          </a:xfrm>
          <a:prstGeom prst="rect">
            <a:avLst>
              <a:gd name="adj" fmla="val 100000"/>
            </a:avLst>
          </a:prstGeom>
          <a:solidFill>
            <a:srgbClr val="1A73E8"/>
          </a:solidFill>
          <a:ln w="12700">
            <a:solidFill>
              <a:srgbClr val="1A73E8"/>
            </a:solidFill>
            <a:prstDash val="solid"/>
          </a:ln>
        </p:spPr>
      </p:sp>
      <p:sp>
        <p:nvSpPr>
          <p:cNvPr id="18" name="Text 16"/>
          <p:cNvSpPr txBox="1"/>
          <p:nvPr/>
        </p:nvSpPr>
        <p:spPr>
          <a:xfrm>
            <a:off x="822960" y="4116106"/>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Session, State, Events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SessionService + state scopes; Runner emits the event stream</a:t>
            </a:r>
            <a:endParaRPr lang="en-US" sz="900" dirty="0"/>
          </a:p>
        </p:txBody>
      </p:sp>
      <p:sp>
        <p:nvSpPr>
          <p:cNvPr id="19" name="Shape 17"/>
          <p:cNvSpPr/>
          <p:nvPr/>
        </p:nvSpPr>
        <p:spPr>
          <a:xfrm>
            <a:off x="685800" y="4634702"/>
            <a:ext cx="3291840" cy="454587"/>
          </a:xfrm>
          <a:prstGeom prst="roundRect">
            <a:avLst>
              <a:gd name="adj" fmla="val 10057"/>
            </a:avLst>
          </a:prstGeom>
          <a:solidFill>
            <a:srgbClr val="FFFFFF"/>
          </a:solidFill>
          <a:ln w="12700">
            <a:solidFill>
              <a:srgbClr val="FFFFFF"/>
            </a:solidFill>
            <a:prstDash val="solid"/>
          </a:ln>
        </p:spPr>
      </p:sp>
      <p:sp>
        <p:nvSpPr>
          <p:cNvPr id="20" name="Shape 18"/>
          <p:cNvSpPr/>
          <p:nvPr/>
        </p:nvSpPr>
        <p:spPr>
          <a:xfrm>
            <a:off x="685800" y="4634702"/>
            <a:ext cx="73152" cy="454587"/>
          </a:xfrm>
          <a:prstGeom prst="rect">
            <a:avLst>
              <a:gd name="adj" fmla="val 100000"/>
            </a:avLst>
          </a:prstGeom>
          <a:solidFill>
            <a:srgbClr val="1A73E8"/>
          </a:solidFill>
          <a:ln w="12700">
            <a:solidFill>
              <a:srgbClr val="1A73E8"/>
            </a:solidFill>
            <a:prstDash val="solid"/>
          </a:ln>
        </p:spPr>
      </p:sp>
      <p:sp>
        <p:nvSpPr>
          <p:cNvPr id="21" name="Text 19"/>
          <p:cNvSpPr txBox="1"/>
          <p:nvPr/>
        </p:nvSpPr>
        <p:spPr>
          <a:xfrm>
            <a:off x="822960" y="4634702"/>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Callbacks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before/after agent · model · tool — the extension seam</a:t>
            </a:r>
            <a:endParaRPr lang="en-US" sz="900" dirty="0"/>
          </a:p>
        </p:txBody>
      </p:sp>
      <p:sp>
        <p:nvSpPr>
          <p:cNvPr id="22" name="Shape 20"/>
          <p:cNvSpPr/>
          <p:nvPr/>
        </p:nvSpPr>
        <p:spPr>
          <a:xfrm>
            <a:off x="685800" y="5153297"/>
            <a:ext cx="3291840" cy="454587"/>
          </a:xfrm>
          <a:prstGeom prst="roundRect">
            <a:avLst>
              <a:gd name="adj" fmla="val 10057"/>
            </a:avLst>
          </a:prstGeom>
          <a:solidFill>
            <a:srgbClr val="FFFFFF"/>
          </a:solidFill>
          <a:ln w="12700">
            <a:solidFill>
              <a:srgbClr val="FFFFFF"/>
            </a:solidFill>
            <a:prstDash val="solid"/>
          </a:ln>
        </p:spPr>
      </p:sp>
      <p:sp>
        <p:nvSpPr>
          <p:cNvPr id="23" name="Shape 21"/>
          <p:cNvSpPr/>
          <p:nvPr/>
        </p:nvSpPr>
        <p:spPr>
          <a:xfrm>
            <a:off x="685800" y="5153297"/>
            <a:ext cx="73152" cy="454587"/>
          </a:xfrm>
          <a:prstGeom prst="rect">
            <a:avLst>
              <a:gd name="adj" fmla="val 100000"/>
            </a:avLst>
          </a:prstGeom>
          <a:solidFill>
            <a:srgbClr val="1A73E8"/>
          </a:solidFill>
          <a:ln w="12700">
            <a:solidFill>
              <a:srgbClr val="1A73E8"/>
            </a:solidFill>
            <a:prstDash val="solid"/>
          </a:ln>
        </p:spPr>
      </p:sp>
      <p:sp>
        <p:nvSpPr>
          <p:cNvPr id="24" name="Text 22"/>
          <p:cNvSpPr txBox="1"/>
          <p:nvPr/>
        </p:nvSpPr>
        <p:spPr>
          <a:xfrm>
            <a:off x="822960" y="5153297"/>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A2A primitives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to_a2a() server, RemoteA2aAgent client, agent cards</a:t>
            </a:r>
            <a:endParaRPr lang="en-US" sz="900" dirty="0"/>
          </a:p>
        </p:txBody>
      </p:sp>
      <p:sp>
        <p:nvSpPr>
          <p:cNvPr id="25" name="Shape 23"/>
          <p:cNvSpPr/>
          <p:nvPr/>
        </p:nvSpPr>
        <p:spPr>
          <a:xfrm>
            <a:off x="685800" y="5671893"/>
            <a:ext cx="3291840" cy="454587"/>
          </a:xfrm>
          <a:prstGeom prst="roundRect">
            <a:avLst>
              <a:gd name="adj" fmla="val 10057"/>
            </a:avLst>
          </a:prstGeom>
          <a:solidFill>
            <a:srgbClr val="FFFFFF"/>
          </a:solidFill>
          <a:ln w="12700">
            <a:solidFill>
              <a:srgbClr val="FFFFFF"/>
            </a:solidFill>
            <a:prstDash val="solid"/>
          </a:ln>
        </p:spPr>
      </p:sp>
      <p:sp>
        <p:nvSpPr>
          <p:cNvPr id="26" name="Shape 24"/>
          <p:cNvSpPr/>
          <p:nvPr/>
        </p:nvSpPr>
        <p:spPr>
          <a:xfrm>
            <a:off x="685800" y="5671893"/>
            <a:ext cx="73152" cy="454587"/>
          </a:xfrm>
          <a:prstGeom prst="rect">
            <a:avLst>
              <a:gd name="adj" fmla="val 100000"/>
            </a:avLst>
          </a:prstGeom>
          <a:solidFill>
            <a:srgbClr val="1A73E8"/>
          </a:solidFill>
          <a:ln w="12700">
            <a:solidFill>
              <a:srgbClr val="1A73E8"/>
            </a:solidFill>
            <a:prstDash val="solid"/>
          </a:ln>
        </p:spPr>
      </p:sp>
      <p:sp>
        <p:nvSpPr>
          <p:cNvPr id="27" name="Text 25"/>
          <p:cNvSpPr txBox="1"/>
          <p:nvPr/>
        </p:nvSpPr>
        <p:spPr>
          <a:xfrm>
            <a:off x="822960" y="5671893"/>
            <a:ext cx="3108960"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174EA6"/>
                </a:solidFill>
                <a:latin typeface="Calibri" pitchFamily="34" charset="0"/>
                <a:ea typeface="Calibri" pitchFamily="34" charset="-122"/>
                <a:cs typeface="Calibri" pitchFamily="34" charset="-120"/>
              </a:rPr>
              <a:t>Structured output &amp; streaming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output_schema, SSE / bidi streaming, Dev UI for local debugging</a:t>
            </a:r>
            <a:endParaRPr lang="en-US" sz="900" dirty="0"/>
          </a:p>
        </p:txBody>
      </p:sp>
      <p:sp>
        <p:nvSpPr>
          <p:cNvPr id="28" name="Shape 26"/>
          <p:cNvSpPr/>
          <p:nvPr/>
        </p:nvSpPr>
        <p:spPr>
          <a:xfrm>
            <a:off x="4315968" y="1874520"/>
            <a:ext cx="3566160" cy="4343400"/>
          </a:xfrm>
          <a:prstGeom prst="roundRect">
            <a:avLst>
              <a:gd name="adj" fmla="val 2564"/>
            </a:avLst>
          </a:prstGeom>
          <a:solidFill>
            <a:srgbClr val="EFE9F7"/>
          </a:solidFill>
          <a:ln w="12700">
            <a:solidFill>
              <a:srgbClr val="EFE9F7"/>
            </a:solidFill>
            <a:prstDash val="solid"/>
          </a:ln>
        </p:spPr>
      </p:sp>
      <p:sp>
        <p:nvSpPr>
          <p:cNvPr id="29" name="Text 27"/>
          <p:cNvSpPr txBox="1"/>
          <p:nvPr/>
        </p:nvSpPr>
        <p:spPr>
          <a:xfrm>
            <a:off x="4480560" y="1984248"/>
            <a:ext cx="329184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TSDK library (wrappers)</a:t>
            </a:r>
            <a:endParaRPr lang="en-US" sz="1100" dirty="0"/>
          </a:p>
        </p:txBody>
      </p:sp>
      <p:sp>
        <p:nvSpPr>
          <p:cNvPr id="30" name="Text 28"/>
          <p:cNvSpPr txBox="1"/>
          <p:nvPr/>
        </p:nvSpPr>
        <p:spPr>
          <a:xfrm>
            <a:off x="4480560" y="2240280"/>
            <a:ext cx="3291840" cy="256032"/>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What the library adds on top of ADK</a:t>
            </a:r>
            <a:endParaRPr lang="en-US" sz="950" dirty="0"/>
          </a:p>
        </p:txBody>
      </p:sp>
      <p:sp>
        <p:nvSpPr>
          <p:cNvPr id="31" name="Shape 29"/>
          <p:cNvSpPr/>
          <p:nvPr/>
        </p:nvSpPr>
        <p:spPr>
          <a:xfrm>
            <a:off x="4453128" y="2560320"/>
            <a:ext cx="3291840" cy="541020"/>
          </a:xfrm>
          <a:prstGeom prst="roundRect">
            <a:avLst>
              <a:gd name="adj" fmla="val 8451"/>
            </a:avLst>
          </a:prstGeom>
          <a:solidFill>
            <a:srgbClr val="FFFFFF"/>
          </a:solidFill>
          <a:ln w="12700">
            <a:solidFill>
              <a:srgbClr val="FFFFFF"/>
            </a:solidFill>
            <a:prstDash val="solid"/>
          </a:ln>
        </p:spPr>
      </p:sp>
      <p:sp>
        <p:nvSpPr>
          <p:cNvPr id="32" name="Shape 30"/>
          <p:cNvSpPr/>
          <p:nvPr/>
        </p:nvSpPr>
        <p:spPr>
          <a:xfrm>
            <a:off x="4453128" y="2560320"/>
            <a:ext cx="73152" cy="541020"/>
          </a:xfrm>
          <a:prstGeom prst="rect">
            <a:avLst>
              <a:gd name="adj" fmla="val 100000"/>
            </a:avLst>
          </a:prstGeom>
          <a:solidFill>
            <a:srgbClr val="6B4C9A"/>
          </a:solidFill>
          <a:ln w="12700">
            <a:solidFill>
              <a:srgbClr val="6B4C9A"/>
            </a:solidFill>
            <a:prstDash val="solid"/>
          </a:ln>
        </p:spPr>
      </p:sp>
      <p:sp>
        <p:nvSpPr>
          <p:cNvPr id="33" name="Text 31"/>
          <p:cNvSpPr txBox="1"/>
          <p:nvPr/>
        </p:nvSpPr>
        <p:spPr>
          <a:xfrm>
            <a:off x="4590288" y="2560320"/>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Auto-registration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Wrapped agents register with Tachyon on construction — no manual onboarding</a:t>
            </a:r>
            <a:endParaRPr lang="en-US" sz="900" dirty="0"/>
          </a:p>
        </p:txBody>
      </p:sp>
      <p:sp>
        <p:nvSpPr>
          <p:cNvPr id="34" name="Shape 32"/>
          <p:cNvSpPr/>
          <p:nvPr/>
        </p:nvSpPr>
        <p:spPr>
          <a:xfrm>
            <a:off x="4453128" y="3165348"/>
            <a:ext cx="3291840" cy="541020"/>
          </a:xfrm>
          <a:prstGeom prst="roundRect">
            <a:avLst>
              <a:gd name="adj" fmla="val 8451"/>
            </a:avLst>
          </a:prstGeom>
          <a:solidFill>
            <a:srgbClr val="FFFFFF"/>
          </a:solidFill>
          <a:ln w="12700">
            <a:solidFill>
              <a:srgbClr val="FFFFFF"/>
            </a:solidFill>
            <a:prstDash val="solid"/>
          </a:ln>
        </p:spPr>
      </p:sp>
      <p:sp>
        <p:nvSpPr>
          <p:cNvPr id="35" name="Shape 33"/>
          <p:cNvSpPr/>
          <p:nvPr/>
        </p:nvSpPr>
        <p:spPr>
          <a:xfrm>
            <a:off x="4453128" y="3165348"/>
            <a:ext cx="73152" cy="541020"/>
          </a:xfrm>
          <a:prstGeom prst="rect">
            <a:avLst>
              <a:gd name="adj" fmla="val 100000"/>
            </a:avLst>
          </a:prstGeom>
          <a:solidFill>
            <a:srgbClr val="6B4C9A"/>
          </a:solidFill>
          <a:ln w="12700">
            <a:solidFill>
              <a:srgbClr val="6B4C9A"/>
            </a:solidFill>
            <a:prstDash val="solid"/>
          </a:ln>
        </p:spPr>
      </p:sp>
      <p:sp>
        <p:nvSpPr>
          <p:cNvPr id="36" name="Text 34"/>
          <p:cNvSpPr txBox="1"/>
          <p:nvPr/>
        </p:nvSpPr>
        <p:spPr>
          <a:xfrm>
            <a:off x="4590288" y="3165348"/>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Arize instrumentation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OTel tracer attached to every wrapped agent; spans land in Arize Phoenix</a:t>
            </a:r>
            <a:endParaRPr lang="en-US" sz="900" dirty="0"/>
          </a:p>
        </p:txBody>
      </p:sp>
      <p:sp>
        <p:nvSpPr>
          <p:cNvPr id="37" name="Shape 35"/>
          <p:cNvSpPr/>
          <p:nvPr/>
        </p:nvSpPr>
        <p:spPr>
          <a:xfrm>
            <a:off x="4453128" y="3770376"/>
            <a:ext cx="3291840" cy="541020"/>
          </a:xfrm>
          <a:prstGeom prst="roundRect">
            <a:avLst>
              <a:gd name="adj" fmla="val 8451"/>
            </a:avLst>
          </a:prstGeom>
          <a:solidFill>
            <a:srgbClr val="FFFFFF"/>
          </a:solidFill>
          <a:ln w="12700">
            <a:solidFill>
              <a:srgbClr val="FFFFFF"/>
            </a:solidFill>
            <a:prstDash val="solid"/>
          </a:ln>
        </p:spPr>
      </p:sp>
      <p:sp>
        <p:nvSpPr>
          <p:cNvPr id="38" name="Shape 36"/>
          <p:cNvSpPr/>
          <p:nvPr/>
        </p:nvSpPr>
        <p:spPr>
          <a:xfrm>
            <a:off x="4453128" y="3770376"/>
            <a:ext cx="73152" cy="541020"/>
          </a:xfrm>
          <a:prstGeom prst="rect">
            <a:avLst>
              <a:gd name="adj" fmla="val 100000"/>
            </a:avLst>
          </a:prstGeom>
          <a:solidFill>
            <a:srgbClr val="6B4C9A"/>
          </a:solidFill>
          <a:ln w="12700">
            <a:solidFill>
              <a:srgbClr val="6B4C9A"/>
            </a:solidFill>
            <a:prstDash val="solid"/>
          </a:ln>
        </p:spPr>
      </p:sp>
      <p:sp>
        <p:nvSpPr>
          <p:cNvPr id="39" name="Text 37"/>
          <p:cNvSpPr txBox="1"/>
          <p:nvPr/>
        </p:nvSpPr>
        <p:spPr>
          <a:xfrm>
            <a:off x="4590288" y="3770376"/>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Model calls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before_model pre-wired to the Tachyon AI Bridge, which picks &amp; calls the model</a:t>
            </a:r>
            <a:endParaRPr lang="en-US" sz="900" dirty="0"/>
          </a:p>
        </p:txBody>
      </p:sp>
      <p:sp>
        <p:nvSpPr>
          <p:cNvPr id="40" name="Shape 38"/>
          <p:cNvSpPr/>
          <p:nvPr/>
        </p:nvSpPr>
        <p:spPr>
          <a:xfrm>
            <a:off x="4453128" y="4375404"/>
            <a:ext cx="3291840" cy="541020"/>
          </a:xfrm>
          <a:prstGeom prst="roundRect">
            <a:avLst>
              <a:gd name="adj" fmla="val 8451"/>
            </a:avLst>
          </a:prstGeom>
          <a:solidFill>
            <a:srgbClr val="FFFFFF"/>
          </a:solidFill>
          <a:ln w="12700">
            <a:solidFill>
              <a:srgbClr val="FFFFFF"/>
            </a:solidFill>
            <a:prstDash val="solid"/>
          </a:ln>
        </p:spPr>
      </p:sp>
      <p:sp>
        <p:nvSpPr>
          <p:cNvPr id="41" name="Shape 39"/>
          <p:cNvSpPr/>
          <p:nvPr/>
        </p:nvSpPr>
        <p:spPr>
          <a:xfrm>
            <a:off x="4453128" y="4375404"/>
            <a:ext cx="73152" cy="541020"/>
          </a:xfrm>
          <a:prstGeom prst="rect">
            <a:avLst>
              <a:gd name="adj" fmla="val 100000"/>
            </a:avLst>
          </a:prstGeom>
          <a:solidFill>
            <a:srgbClr val="6B4C9A"/>
          </a:solidFill>
          <a:ln w="12700">
            <a:solidFill>
              <a:srgbClr val="6B4C9A"/>
            </a:solidFill>
            <a:prstDash val="solid"/>
          </a:ln>
        </p:spPr>
      </p:sp>
      <p:sp>
        <p:nvSpPr>
          <p:cNvPr id="42" name="Text 40"/>
          <p:cNvSpPr txBox="1"/>
          <p:nvPr/>
        </p:nvSpPr>
        <p:spPr>
          <a:xfrm>
            <a:off x="4590288" y="4375404"/>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Session adapter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ADK Session/State API backed by Tachyon-managed Redis (TTL, mTLS)</a:t>
            </a:r>
            <a:endParaRPr lang="en-US" sz="900" dirty="0"/>
          </a:p>
        </p:txBody>
      </p:sp>
      <p:sp>
        <p:nvSpPr>
          <p:cNvPr id="43" name="Shape 41"/>
          <p:cNvSpPr/>
          <p:nvPr/>
        </p:nvSpPr>
        <p:spPr>
          <a:xfrm>
            <a:off x="4453128" y="4980432"/>
            <a:ext cx="3291840" cy="541020"/>
          </a:xfrm>
          <a:prstGeom prst="roundRect">
            <a:avLst>
              <a:gd name="adj" fmla="val 8451"/>
            </a:avLst>
          </a:prstGeom>
          <a:solidFill>
            <a:srgbClr val="FFFFFF"/>
          </a:solidFill>
          <a:ln w="12700">
            <a:solidFill>
              <a:srgbClr val="FFFFFF"/>
            </a:solidFill>
            <a:prstDash val="solid"/>
          </a:ln>
        </p:spPr>
      </p:sp>
      <p:sp>
        <p:nvSpPr>
          <p:cNvPr id="44" name="Shape 42"/>
          <p:cNvSpPr/>
          <p:nvPr/>
        </p:nvSpPr>
        <p:spPr>
          <a:xfrm>
            <a:off x="4453128" y="4980432"/>
            <a:ext cx="73152" cy="541020"/>
          </a:xfrm>
          <a:prstGeom prst="rect">
            <a:avLst>
              <a:gd name="adj" fmla="val 100000"/>
            </a:avLst>
          </a:prstGeom>
          <a:solidFill>
            <a:srgbClr val="6B4C9A"/>
          </a:solidFill>
          <a:ln w="12700">
            <a:solidFill>
              <a:srgbClr val="6B4C9A"/>
            </a:solidFill>
            <a:prstDash val="solid"/>
          </a:ln>
        </p:spPr>
      </p:sp>
      <p:sp>
        <p:nvSpPr>
          <p:cNvPr id="45" name="Text 43"/>
          <p:cNvSpPr txBox="1"/>
          <p:nvPr/>
        </p:nvSpPr>
        <p:spPr>
          <a:xfrm>
            <a:off x="4590288" y="4980432"/>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MCP + A2A adapters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MCPToolset bound to the Tachyon registry; A2A with discovery &amp; token exchange</a:t>
            </a:r>
            <a:endParaRPr lang="en-US" sz="900" dirty="0"/>
          </a:p>
        </p:txBody>
      </p:sp>
      <p:sp>
        <p:nvSpPr>
          <p:cNvPr id="46" name="Shape 44"/>
          <p:cNvSpPr/>
          <p:nvPr/>
        </p:nvSpPr>
        <p:spPr>
          <a:xfrm>
            <a:off x="4453128" y="5585460"/>
            <a:ext cx="3291840" cy="541020"/>
          </a:xfrm>
          <a:prstGeom prst="roundRect">
            <a:avLst>
              <a:gd name="adj" fmla="val 8451"/>
            </a:avLst>
          </a:prstGeom>
          <a:solidFill>
            <a:srgbClr val="FFFFFF"/>
          </a:solidFill>
          <a:ln w="12700">
            <a:solidFill>
              <a:srgbClr val="FFFFFF"/>
            </a:solidFill>
            <a:prstDash val="solid"/>
          </a:ln>
        </p:spPr>
      </p:sp>
      <p:sp>
        <p:nvSpPr>
          <p:cNvPr id="47" name="Shape 45"/>
          <p:cNvSpPr/>
          <p:nvPr/>
        </p:nvSpPr>
        <p:spPr>
          <a:xfrm>
            <a:off x="4453128" y="5585460"/>
            <a:ext cx="73152" cy="541020"/>
          </a:xfrm>
          <a:prstGeom prst="rect">
            <a:avLst>
              <a:gd name="adj" fmla="val 100000"/>
            </a:avLst>
          </a:prstGeom>
          <a:solidFill>
            <a:srgbClr val="6B4C9A"/>
          </a:solidFill>
          <a:ln w="12700">
            <a:solidFill>
              <a:srgbClr val="6B4C9A"/>
            </a:solidFill>
            <a:prstDash val="solid"/>
          </a:ln>
        </p:spPr>
      </p:sp>
      <p:sp>
        <p:nvSpPr>
          <p:cNvPr id="48" name="Text 46"/>
          <p:cNvSpPr txBox="1"/>
          <p:nvPr/>
        </p:nvSpPr>
        <p:spPr>
          <a:xfrm>
            <a:off x="4590288" y="5585460"/>
            <a:ext cx="3108960" cy="541020"/>
          </a:xfrm>
          <a:prstGeom prst="rect">
            <a:avLst/>
          </a:prstGeom>
          <a:noFill/>
          <a:ln/>
        </p:spPr>
        <p:txBody>
          <a:bodyPr wrap="square" lIns="508" tIns="508" rIns="508" bIns="508" rtlCol="0" anchor="ctr"/>
          <a:lstStyle/>
          <a:p>
            <a:pPr algn="l" indent="0" marL="0">
              <a:lnSpc>
                <a:spcPct val="105000"/>
              </a:lnSpc>
              <a:buNone/>
            </a:pPr>
            <a:r>
              <a:rPr lang="en-US" sz="900" b="1" dirty="0">
                <a:solidFill>
                  <a:srgbClr val="4A3470"/>
                </a:solidFill>
                <a:latin typeface="Calibri" pitchFamily="34" charset="0"/>
                <a:ea typeface="Calibri" pitchFamily="34" charset="-122"/>
                <a:cs typeface="Calibri" pitchFamily="34" charset="-120"/>
              </a:rPr>
              <a:t>Guardrail enforcement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Tachyon YAML policies applied at ADK tool / model callbacks</a:t>
            </a:r>
            <a:endParaRPr lang="en-US" sz="900" dirty="0"/>
          </a:p>
        </p:txBody>
      </p:sp>
      <p:sp>
        <p:nvSpPr>
          <p:cNvPr id="49" name="Shape 47"/>
          <p:cNvSpPr/>
          <p:nvPr/>
        </p:nvSpPr>
        <p:spPr>
          <a:xfrm>
            <a:off x="8083296" y="1874520"/>
            <a:ext cx="3529584" cy="4343400"/>
          </a:xfrm>
          <a:prstGeom prst="roundRect">
            <a:avLst>
              <a:gd name="adj" fmla="val 2591"/>
            </a:avLst>
          </a:prstGeom>
          <a:solidFill>
            <a:srgbClr val="FDEEE4"/>
          </a:solidFill>
          <a:ln w="12700">
            <a:solidFill>
              <a:srgbClr val="FDEEE4"/>
            </a:solidFill>
            <a:prstDash val="solid"/>
          </a:ln>
        </p:spPr>
      </p:sp>
      <p:sp>
        <p:nvSpPr>
          <p:cNvPr id="50" name="Text 48"/>
          <p:cNvSpPr txBox="1"/>
          <p:nvPr/>
        </p:nvSpPr>
        <p:spPr>
          <a:xfrm>
            <a:off x="8247888" y="1984248"/>
            <a:ext cx="3255264"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C2410C"/>
                </a:solidFill>
                <a:latin typeface="Calibri" pitchFamily="34" charset="0"/>
                <a:ea typeface="Calibri" pitchFamily="34" charset="-122"/>
                <a:cs typeface="Calibri" pitchFamily="34" charset="-120"/>
              </a:rPr>
              <a:t>Tachyon platform</a:t>
            </a:r>
            <a:endParaRPr lang="en-US" sz="1100" dirty="0"/>
          </a:p>
        </p:txBody>
      </p:sp>
      <p:sp>
        <p:nvSpPr>
          <p:cNvPr id="51" name="Text 49"/>
          <p:cNvSpPr txBox="1"/>
          <p:nvPr/>
        </p:nvSpPr>
        <p:spPr>
          <a:xfrm>
            <a:off x="8247888" y="2240280"/>
            <a:ext cx="3255264" cy="256032"/>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Enterprise services the library talks to</a:t>
            </a:r>
            <a:endParaRPr lang="en-US" sz="950" dirty="0"/>
          </a:p>
        </p:txBody>
      </p:sp>
      <p:sp>
        <p:nvSpPr>
          <p:cNvPr id="52" name="Shape 50"/>
          <p:cNvSpPr/>
          <p:nvPr/>
        </p:nvSpPr>
        <p:spPr>
          <a:xfrm>
            <a:off x="8220456" y="2560320"/>
            <a:ext cx="3255264" cy="454587"/>
          </a:xfrm>
          <a:prstGeom prst="roundRect">
            <a:avLst>
              <a:gd name="adj" fmla="val 10057"/>
            </a:avLst>
          </a:prstGeom>
          <a:solidFill>
            <a:srgbClr val="FFFFFF"/>
          </a:solidFill>
          <a:ln w="12700">
            <a:solidFill>
              <a:srgbClr val="FFFFFF"/>
            </a:solidFill>
            <a:prstDash val="solid"/>
          </a:ln>
        </p:spPr>
      </p:sp>
      <p:sp>
        <p:nvSpPr>
          <p:cNvPr id="53" name="Shape 51"/>
          <p:cNvSpPr/>
          <p:nvPr/>
        </p:nvSpPr>
        <p:spPr>
          <a:xfrm>
            <a:off x="8220456" y="2560320"/>
            <a:ext cx="73152" cy="454587"/>
          </a:xfrm>
          <a:prstGeom prst="rect">
            <a:avLst>
              <a:gd name="adj" fmla="val 100000"/>
            </a:avLst>
          </a:prstGeom>
          <a:solidFill>
            <a:srgbClr val="C2410C"/>
          </a:solidFill>
          <a:ln w="12700">
            <a:solidFill>
              <a:srgbClr val="C2410C"/>
            </a:solidFill>
            <a:prstDash val="solid"/>
          </a:ln>
        </p:spPr>
      </p:sp>
      <p:sp>
        <p:nvSpPr>
          <p:cNvPr id="54" name="Text 52"/>
          <p:cNvSpPr txBox="1"/>
          <p:nvPr/>
        </p:nvSpPr>
        <p:spPr>
          <a:xfrm>
            <a:off x="8357616" y="2560320"/>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AI Bridge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model-agnostic routing, per-agent params, failover, pairing, fusion</a:t>
            </a:r>
            <a:endParaRPr lang="en-US" sz="900" dirty="0"/>
          </a:p>
        </p:txBody>
      </p:sp>
      <p:sp>
        <p:nvSpPr>
          <p:cNvPr id="55" name="Shape 53"/>
          <p:cNvSpPr/>
          <p:nvPr/>
        </p:nvSpPr>
        <p:spPr>
          <a:xfrm>
            <a:off x="8220456" y="3078915"/>
            <a:ext cx="3255264" cy="454587"/>
          </a:xfrm>
          <a:prstGeom prst="roundRect">
            <a:avLst>
              <a:gd name="adj" fmla="val 10057"/>
            </a:avLst>
          </a:prstGeom>
          <a:solidFill>
            <a:srgbClr val="FFFFFF"/>
          </a:solidFill>
          <a:ln w="12700">
            <a:solidFill>
              <a:srgbClr val="FFFFFF"/>
            </a:solidFill>
            <a:prstDash val="solid"/>
          </a:ln>
        </p:spPr>
      </p:sp>
      <p:sp>
        <p:nvSpPr>
          <p:cNvPr id="56" name="Shape 54"/>
          <p:cNvSpPr/>
          <p:nvPr/>
        </p:nvSpPr>
        <p:spPr>
          <a:xfrm>
            <a:off x="8220456" y="3078915"/>
            <a:ext cx="73152" cy="454587"/>
          </a:xfrm>
          <a:prstGeom prst="rect">
            <a:avLst>
              <a:gd name="adj" fmla="val 100000"/>
            </a:avLst>
          </a:prstGeom>
          <a:solidFill>
            <a:srgbClr val="C2410C"/>
          </a:solidFill>
          <a:ln w="12700">
            <a:solidFill>
              <a:srgbClr val="C2410C"/>
            </a:solidFill>
            <a:prstDash val="solid"/>
          </a:ln>
        </p:spPr>
      </p:sp>
      <p:sp>
        <p:nvSpPr>
          <p:cNvPr id="57" name="Text 55"/>
          <p:cNvSpPr txBox="1"/>
          <p:nvPr/>
        </p:nvSpPr>
        <p:spPr>
          <a:xfrm>
            <a:off x="8357616" y="3078915"/>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Declarative guardrails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budgets, loop detection, safe-tool policy, goal-drift checks</a:t>
            </a:r>
            <a:endParaRPr lang="en-US" sz="900" dirty="0"/>
          </a:p>
        </p:txBody>
      </p:sp>
      <p:sp>
        <p:nvSpPr>
          <p:cNvPr id="58" name="Shape 56"/>
          <p:cNvSpPr/>
          <p:nvPr/>
        </p:nvSpPr>
        <p:spPr>
          <a:xfrm>
            <a:off x="8220456" y="3597511"/>
            <a:ext cx="3255264" cy="454587"/>
          </a:xfrm>
          <a:prstGeom prst="roundRect">
            <a:avLst>
              <a:gd name="adj" fmla="val 10057"/>
            </a:avLst>
          </a:prstGeom>
          <a:solidFill>
            <a:srgbClr val="FFFFFF"/>
          </a:solidFill>
          <a:ln w="12700">
            <a:solidFill>
              <a:srgbClr val="FFFFFF"/>
            </a:solidFill>
            <a:prstDash val="solid"/>
          </a:ln>
        </p:spPr>
      </p:sp>
      <p:sp>
        <p:nvSpPr>
          <p:cNvPr id="59" name="Shape 57"/>
          <p:cNvSpPr/>
          <p:nvPr/>
        </p:nvSpPr>
        <p:spPr>
          <a:xfrm>
            <a:off x="8220456" y="3597511"/>
            <a:ext cx="73152" cy="454587"/>
          </a:xfrm>
          <a:prstGeom prst="rect">
            <a:avLst>
              <a:gd name="adj" fmla="val 100000"/>
            </a:avLst>
          </a:prstGeom>
          <a:solidFill>
            <a:srgbClr val="C2410C"/>
          </a:solidFill>
          <a:ln w="12700">
            <a:solidFill>
              <a:srgbClr val="C2410C"/>
            </a:solidFill>
            <a:prstDash val="solid"/>
          </a:ln>
        </p:spPr>
      </p:sp>
      <p:sp>
        <p:nvSpPr>
          <p:cNvPr id="60" name="Text 58"/>
          <p:cNvSpPr txBox="1"/>
          <p:nvPr/>
        </p:nvSpPr>
        <p:spPr>
          <a:xfrm>
            <a:off x="8357616" y="3597511"/>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Overwatch &amp; Arize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LLM metrics, goal validation, trace store with OTel export</a:t>
            </a:r>
            <a:endParaRPr lang="en-US" sz="900" dirty="0"/>
          </a:p>
        </p:txBody>
      </p:sp>
      <p:sp>
        <p:nvSpPr>
          <p:cNvPr id="61" name="Shape 59"/>
          <p:cNvSpPr/>
          <p:nvPr/>
        </p:nvSpPr>
        <p:spPr>
          <a:xfrm>
            <a:off x="8220456" y="4116106"/>
            <a:ext cx="3255264" cy="454587"/>
          </a:xfrm>
          <a:prstGeom prst="roundRect">
            <a:avLst>
              <a:gd name="adj" fmla="val 10057"/>
            </a:avLst>
          </a:prstGeom>
          <a:solidFill>
            <a:srgbClr val="FFFFFF"/>
          </a:solidFill>
          <a:ln w="12700">
            <a:solidFill>
              <a:srgbClr val="FFFFFF"/>
            </a:solidFill>
            <a:prstDash val="solid"/>
          </a:ln>
        </p:spPr>
      </p:sp>
      <p:sp>
        <p:nvSpPr>
          <p:cNvPr id="62" name="Shape 60"/>
          <p:cNvSpPr/>
          <p:nvPr/>
        </p:nvSpPr>
        <p:spPr>
          <a:xfrm>
            <a:off x="8220456" y="4116106"/>
            <a:ext cx="73152" cy="454587"/>
          </a:xfrm>
          <a:prstGeom prst="rect">
            <a:avLst>
              <a:gd name="adj" fmla="val 100000"/>
            </a:avLst>
          </a:prstGeom>
          <a:solidFill>
            <a:srgbClr val="C2410C"/>
          </a:solidFill>
          <a:ln w="12700">
            <a:solidFill>
              <a:srgbClr val="C2410C"/>
            </a:solidFill>
            <a:prstDash val="solid"/>
          </a:ln>
        </p:spPr>
      </p:sp>
      <p:sp>
        <p:nvSpPr>
          <p:cNvPr id="63" name="Text 61"/>
          <p:cNvSpPr txBox="1"/>
          <p:nvPr/>
        </p:nvSpPr>
        <p:spPr>
          <a:xfrm>
            <a:off x="8357616" y="4116106"/>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Eval harness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guardrail evals, LLM-as-judge, pytest in CI</a:t>
            </a:r>
            <a:endParaRPr lang="en-US" sz="900" dirty="0"/>
          </a:p>
        </p:txBody>
      </p:sp>
      <p:sp>
        <p:nvSpPr>
          <p:cNvPr id="64" name="Shape 62"/>
          <p:cNvSpPr/>
          <p:nvPr/>
        </p:nvSpPr>
        <p:spPr>
          <a:xfrm>
            <a:off x="8220456" y="4634702"/>
            <a:ext cx="3255264" cy="454587"/>
          </a:xfrm>
          <a:prstGeom prst="roundRect">
            <a:avLst>
              <a:gd name="adj" fmla="val 10057"/>
            </a:avLst>
          </a:prstGeom>
          <a:solidFill>
            <a:srgbClr val="FFFFFF"/>
          </a:solidFill>
          <a:ln w="12700">
            <a:solidFill>
              <a:srgbClr val="FFFFFF"/>
            </a:solidFill>
            <a:prstDash val="solid"/>
          </a:ln>
        </p:spPr>
      </p:sp>
      <p:sp>
        <p:nvSpPr>
          <p:cNvPr id="65" name="Shape 63"/>
          <p:cNvSpPr/>
          <p:nvPr/>
        </p:nvSpPr>
        <p:spPr>
          <a:xfrm>
            <a:off x="8220456" y="4634702"/>
            <a:ext cx="73152" cy="454587"/>
          </a:xfrm>
          <a:prstGeom prst="rect">
            <a:avLst>
              <a:gd name="adj" fmla="val 100000"/>
            </a:avLst>
          </a:prstGeom>
          <a:solidFill>
            <a:srgbClr val="C2410C"/>
          </a:solidFill>
          <a:ln w="12700">
            <a:solidFill>
              <a:srgbClr val="C2410C"/>
            </a:solidFill>
            <a:prstDash val="solid"/>
          </a:ln>
        </p:spPr>
      </p:sp>
      <p:sp>
        <p:nvSpPr>
          <p:cNvPr id="66" name="Text 64"/>
          <p:cNvSpPr txBox="1"/>
          <p:nvPr/>
        </p:nvSpPr>
        <p:spPr>
          <a:xfrm>
            <a:off x="8357616" y="4634702"/>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Long-term memory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Mem0 on PostgreSQL / Mongo / Elastic</a:t>
            </a:r>
            <a:endParaRPr lang="en-US" sz="900" dirty="0"/>
          </a:p>
        </p:txBody>
      </p:sp>
      <p:sp>
        <p:nvSpPr>
          <p:cNvPr id="67" name="Shape 65"/>
          <p:cNvSpPr/>
          <p:nvPr/>
        </p:nvSpPr>
        <p:spPr>
          <a:xfrm>
            <a:off x="8220456" y="5153297"/>
            <a:ext cx="3255264" cy="454587"/>
          </a:xfrm>
          <a:prstGeom prst="roundRect">
            <a:avLst>
              <a:gd name="adj" fmla="val 10057"/>
            </a:avLst>
          </a:prstGeom>
          <a:solidFill>
            <a:srgbClr val="FFFFFF"/>
          </a:solidFill>
          <a:ln w="12700">
            <a:solidFill>
              <a:srgbClr val="FFFFFF"/>
            </a:solidFill>
            <a:prstDash val="solid"/>
          </a:ln>
        </p:spPr>
      </p:sp>
      <p:sp>
        <p:nvSpPr>
          <p:cNvPr id="68" name="Shape 66"/>
          <p:cNvSpPr/>
          <p:nvPr/>
        </p:nvSpPr>
        <p:spPr>
          <a:xfrm>
            <a:off x="8220456" y="5153297"/>
            <a:ext cx="73152" cy="454587"/>
          </a:xfrm>
          <a:prstGeom prst="rect">
            <a:avLst>
              <a:gd name="adj" fmla="val 100000"/>
            </a:avLst>
          </a:prstGeom>
          <a:solidFill>
            <a:srgbClr val="C2410C"/>
          </a:solidFill>
          <a:ln w="12700">
            <a:solidFill>
              <a:srgbClr val="C2410C"/>
            </a:solidFill>
            <a:prstDash val="solid"/>
          </a:ln>
        </p:spPr>
      </p:sp>
      <p:sp>
        <p:nvSpPr>
          <p:cNvPr id="69" name="Text 67"/>
          <p:cNvSpPr txBox="1"/>
          <p:nvPr/>
        </p:nvSpPr>
        <p:spPr>
          <a:xfrm>
            <a:off x="8357616" y="5153297"/>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RAG pipeline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chunking, hybrid search, re-rankers</a:t>
            </a:r>
            <a:endParaRPr lang="en-US" sz="900" dirty="0"/>
          </a:p>
        </p:txBody>
      </p:sp>
      <p:sp>
        <p:nvSpPr>
          <p:cNvPr id="70" name="Shape 68"/>
          <p:cNvSpPr/>
          <p:nvPr/>
        </p:nvSpPr>
        <p:spPr>
          <a:xfrm>
            <a:off x="8220456" y="5671893"/>
            <a:ext cx="3255264" cy="454587"/>
          </a:xfrm>
          <a:prstGeom prst="roundRect">
            <a:avLst>
              <a:gd name="adj" fmla="val 10057"/>
            </a:avLst>
          </a:prstGeom>
          <a:solidFill>
            <a:srgbClr val="FFFFFF"/>
          </a:solidFill>
          <a:ln w="12700">
            <a:solidFill>
              <a:srgbClr val="FFFFFF"/>
            </a:solidFill>
            <a:prstDash val="solid"/>
          </a:ln>
        </p:spPr>
      </p:sp>
      <p:sp>
        <p:nvSpPr>
          <p:cNvPr id="71" name="Shape 69"/>
          <p:cNvSpPr/>
          <p:nvPr/>
        </p:nvSpPr>
        <p:spPr>
          <a:xfrm>
            <a:off x="8220456" y="5671893"/>
            <a:ext cx="73152" cy="454587"/>
          </a:xfrm>
          <a:prstGeom prst="rect">
            <a:avLst>
              <a:gd name="adj" fmla="val 100000"/>
            </a:avLst>
          </a:prstGeom>
          <a:solidFill>
            <a:srgbClr val="C2410C"/>
          </a:solidFill>
          <a:ln w="12700">
            <a:solidFill>
              <a:srgbClr val="C2410C"/>
            </a:solidFill>
            <a:prstDash val="solid"/>
          </a:ln>
        </p:spPr>
      </p:sp>
      <p:sp>
        <p:nvSpPr>
          <p:cNvPr id="72" name="Text 70"/>
          <p:cNvSpPr txBox="1"/>
          <p:nvPr/>
        </p:nvSpPr>
        <p:spPr>
          <a:xfrm>
            <a:off x="8357616" y="5671893"/>
            <a:ext cx="3072384" cy="454587"/>
          </a:xfrm>
          <a:prstGeom prst="rect">
            <a:avLst/>
          </a:prstGeom>
          <a:noFill/>
          <a:ln/>
        </p:spPr>
        <p:txBody>
          <a:bodyPr wrap="square" lIns="508" tIns="508" rIns="508" bIns="508" rtlCol="0" anchor="ctr"/>
          <a:lstStyle/>
          <a:p>
            <a:pPr algn="l" indent="0" marL="0">
              <a:lnSpc>
                <a:spcPct val="105000"/>
              </a:lnSpc>
              <a:buNone/>
            </a:pPr>
            <a:r>
              <a:rPr lang="en-US" sz="900" b="1" dirty="0">
                <a:solidFill>
                  <a:srgbClr val="8A2C06"/>
                </a:solidFill>
                <a:latin typeface="Calibri" pitchFamily="34" charset="0"/>
                <a:ea typeface="Calibri" pitchFamily="34" charset="-122"/>
                <a:cs typeface="Calibri" pitchFamily="34" charset="-120"/>
              </a:rPr>
              <a:t>Deployment &amp; MMR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OCP via EPLX; single Model-Risk approval surface</a:t>
            </a:r>
            <a:endParaRPr lang="en-US" sz="900" dirty="0"/>
          </a:p>
        </p:txBody>
      </p:sp>
      <p:sp>
        <p:nvSpPr>
          <p:cNvPr id="73" name="Text 71"/>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74" name="Text 72"/>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Request flow – 13 steps</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Example: customer asks "Why was I charged twice?". The color on each step shows which layer does the work.</a:t>
            </a:r>
            <a:endParaRPr lang="en-US" sz="1300" dirty="0"/>
          </a:p>
        </p:txBody>
      </p:sp>
      <p:sp>
        <p:nvSpPr>
          <p:cNvPr id="4" name="Shape 2"/>
          <p:cNvSpPr/>
          <p:nvPr/>
        </p:nvSpPr>
        <p:spPr>
          <a:xfrm>
            <a:off x="5486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5" name="Shape 3"/>
          <p:cNvSpPr/>
          <p:nvPr/>
        </p:nvSpPr>
        <p:spPr>
          <a:xfrm>
            <a:off x="640080" y="2057400"/>
            <a:ext cx="329184" cy="329184"/>
          </a:xfrm>
          <a:prstGeom prst="roundRect">
            <a:avLst>
              <a:gd name="adj" fmla="val 50000"/>
            </a:avLst>
          </a:prstGeom>
          <a:solidFill>
            <a:srgbClr val="5F6368"/>
          </a:solidFill>
          <a:ln w="12700">
            <a:solidFill>
              <a:srgbClr val="5F6368"/>
            </a:solidFill>
            <a:prstDash val="solid"/>
          </a:ln>
        </p:spPr>
      </p:sp>
      <p:sp>
        <p:nvSpPr>
          <p:cNvPr id="6" name="Text 4"/>
          <p:cNvSpPr txBox="1"/>
          <p:nvPr/>
        </p:nvSpPr>
        <p:spPr>
          <a:xfrm>
            <a:off x="6400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10241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Chat message</a:t>
            </a:r>
            <a:endParaRPr lang="en-US" sz="950" dirty="0"/>
          </a:p>
        </p:txBody>
      </p:sp>
      <p:sp>
        <p:nvSpPr>
          <p:cNvPr id="8" name="Text 6"/>
          <p:cNvSpPr txBox="1"/>
          <p:nvPr/>
        </p:nvSpPr>
        <p:spPr>
          <a:xfrm>
            <a:off x="6400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Customer sends message via app</a:t>
            </a:r>
            <a:endParaRPr lang="en-US" sz="850" dirty="0"/>
          </a:p>
        </p:txBody>
      </p:sp>
      <p:sp>
        <p:nvSpPr>
          <p:cNvPr id="9" name="Shape 7"/>
          <p:cNvSpPr/>
          <p:nvPr/>
        </p:nvSpPr>
        <p:spPr>
          <a:xfrm>
            <a:off x="2011680" y="2583180"/>
            <a:ext cx="137160" cy="914"/>
          </a:xfrm>
          <a:prstGeom prst="line">
            <a:avLst/>
          </a:prstGeom>
          <a:noFill/>
          <a:ln w="15875">
            <a:solidFill>
              <a:srgbClr val="5F6368"/>
            </a:solidFill>
            <a:prstDash val="solid"/>
            <a:tailEnd type="triangle"/>
          </a:ln>
        </p:spPr>
      </p:sp>
      <p:sp>
        <p:nvSpPr>
          <p:cNvPr id="10" name="Shape 8"/>
          <p:cNvSpPr/>
          <p:nvPr/>
        </p:nvSpPr>
        <p:spPr>
          <a:xfrm>
            <a:off x="21488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11" name="Shape 9"/>
          <p:cNvSpPr/>
          <p:nvPr/>
        </p:nvSpPr>
        <p:spPr>
          <a:xfrm>
            <a:off x="2240280" y="2057400"/>
            <a:ext cx="329184" cy="329184"/>
          </a:xfrm>
          <a:prstGeom prst="roundRect">
            <a:avLst>
              <a:gd name="adj" fmla="val 50000"/>
            </a:avLst>
          </a:prstGeom>
          <a:solidFill>
            <a:srgbClr val="5F6368"/>
          </a:solidFill>
          <a:ln w="12700">
            <a:solidFill>
              <a:srgbClr val="5F6368"/>
            </a:solidFill>
            <a:prstDash val="solid"/>
          </a:ln>
        </p:spPr>
      </p:sp>
      <p:sp>
        <p:nvSpPr>
          <p:cNvPr id="12" name="Text 10"/>
          <p:cNvSpPr txBox="1"/>
          <p:nvPr/>
        </p:nvSpPr>
        <p:spPr>
          <a:xfrm>
            <a:off x="22402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26243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Forward (authenticated)</a:t>
            </a:r>
            <a:endParaRPr lang="en-US" sz="950" dirty="0"/>
          </a:p>
        </p:txBody>
      </p:sp>
      <p:sp>
        <p:nvSpPr>
          <p:cNvPr id="14" name="Text 12"/>
          <p:cNvSpPr txBox="1"/>
          <p:nvPr/>
        </p:nvSpPr>
        <p:spPr>
          <a:xfrm>
            <a:off x="22402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Chat API (PAA) authenticates &amp; forwards</a:t>
            </a:r>
            <a:endParaRPr lang="en-US" sz="850" dirty="0"/>
          </a:p>
        </p:txBody>
      </p:sp>
      <p:sp>
        <p:nvSpPr>
          <p:cNvPr id="15" name="Shape 13"/>
          <p:cNvSpPr/>
          <p:nvPr/>
        </p:nvSpPr>
        <p:spPr>
          <a:xfrm>
            <a:off x="3611880" y="2583180"/>
            <a:ext cx="137160" cy="914"/>
          </a:xfrm>
          <a:prstGeom prst="line">
            <a:avLst/>
          </a:prstGeom>
          <a:noFill/>
          <a:ln w="15875">
            <a:solidFill>
              <a:srgbClr val="5F6368"/>
            </a:solidFill>
            <a:prstDash val="solid"/>
            <a:tailEnd type="triangle"/>
          </a:ln>
        </p:spPr>
      </p:sp>
      <p:sp>
        <p:nvSpPr>
          <p:cNvPr id="16" name="Shape 14"/>
          <p:cNvSpPr/>
          <p:nvPr/>
        </p:nvSpPr>
        <p:spPr>
          <a:xfrm>
            <a:off x="37490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17" name="Shape 15"/>
          <p:cNvSpPr/>
          <p:nvPr/>
        </p:nvSpPr>
        <p:spPr>
          <a:xfrm>
            <a:off x="3840480" y="2057400"/>
            <a:ext cx="329184" cy="329184"/>
          </a:xfrm>
          <a:prstGeom prst="roundRect">
            <a:avLst>
              <a:gd name="adj" fmla="val 50000"/>
            </a:avLst>
          </a:prstGeom>
          <a:solidFill>
            <a:srgbClr val="5F6368"/>
          </a:solidFill>
          <a:ln w="12700">
            <a:solidFill>
              <a:srgbClr val="5F6368"/>
            </a:solidFill>
            <a:prstDash val="solid"/>
          </a:ln>
        </p:spPr>
      </p:sp>
      <p:sp>
        <p:nvSpPr>
          <p:cNvPr id="18" name="Text 16"/>
          <p:cNvSpPr txBox="1"/>
          <p:nvPr/>
        </p:nvSpPr>
        <p:spPr>
          <a:xfrm>
            <a:off x="38404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txBox="1"/>
          <p:nvPr/>
        </p:nvSpPr>
        <p:spPr>
          <a:xfrm>
            <a:off x="42245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Route message</a:t>
            </a:r>
            <a:endParaRPr lang="en-US" sz="950" dirty="0"/>
          </a:p>
        </p:txBody>
      </p:sp>
      <p:sp>
        <p:nvSpPr>
          <p:cNvPr id="20" name="Text 18"/>
          <p:cNvSpPr txBox="1"/>
          <p:nvPr/>
        </p:nvSpPr>
        <p:spPr>
          <a:xfrm>
            <a:off x="38404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Digital Service filters, Flink orchestrates</a:t>
            </a:r>
            <a:endParaRPr lang="en-US" sz="850" dirty="0"/>
          </a:p>
        </p:txBody>
      </p:sp>
      <p:sp>
        <p:nvSpPr>
          <p:cNvPr id="21" name="Shape 19"/>
          <p:cNvSpPr/>
          <p:nvPr/>
        </p:nvSpPr>
        <p:spPr>
          <a:xfrm>
            <a:off x="5212080" y="2583180"/>
            <a:ext cx="137160" cy="914"/>
          </a:xfrm>
          <a:prstGeom prst="line">
            <a:avLst/>
          </a:prstGeom>
          <a:noFill/>
          <a:ln w="15875">
            <a:solidFill>
              <a:srgbClr val="5F6368"/>
            </a:solidFill>
            <a:prstDash val="solid"/>
            <a:tailEnd type="triangle"/>
          </a:ln>
        </p:spPr>
      </p:sp>
      <p:sp>
        <p:nvSpPr>
          <p:cNvPr id="22" name="Shape 20"/>
          <p:cNvSpPr/>
          <p:nvPr/>
        </p:nvSpPr>
        <p:spPr>
          <a:xfrm>
            <a:off x="53492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23" name="Shape 21"/>
          <p:cNvSpPr/>
          <p:nvPr/>
        </p:nvSpPr>
        <p:spPr>
          <a:xfrm>
            <a:off x="5440680" y="2057400"/>
            <a:ext cx="329184" cy="329184"/>
          </a:xfrm>
          <a:prstGeom prst="roundRect">
            <a:avLst>
              <a:gd name="adj" fmla="val 50000"/>
            </a:avLst>
          </a:prstGeom>
          <a:solidFill>
            <a:srgbClr val="1A73E8"/>
          </a:solidFill>
          <a:ln w="12700">
            <a:solidFill>
              <a:srgbClr val="1A73E8"/>
            </a:solidFill>
            <a:prstDash val="solid"/>
          </a:ln>
        </p:spPr>
      </p:sp>
      <p:sp>
        <p:nvSpPr>
          <p:cNvPr id="24" name="Text 22"/>
          <p:cNvSpPr txBox="1"/>
          <p:nvPr/>
        </p:nvSpPr>
        <p:spPr>
          <a:xfrm>
            <a:off x="54406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58247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Route to Supervisor</a:t>
            </a:r>
            <a:endParaRPr lang="en-US" sz="950" dirty="0"/>
          </a:p>
        </p:txBody>
      </p:sp>
      <p:sp>
        <p:nvSpPr>
          <p:cNvPr id="26" name="Text 24"/>
          <p:cNvSpPr txBox="1"/>
          <p:nvPr/>
        </p:nvSpPr>
        <p:spPr>
          <a:xfrm>
            <a:off x="54406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Flink → TSDK agent; ADK Runner starts an invocation</a:t>
            </a:r>
            <a:endParaRPr lang="en-US" sz="850" dirty="0"/>
          </a:p>
        </p:txBody>
      </p:sp>
      <p:sp>
        <p:nvSpPr>
          <p:cNvPr id="27" name="Shape 25"/>
          <p:cNvSpPr/>
          <p:nvPr/>
        </p:nvSpPr>
        <p:spPr>
          <a:xfrm>
            <a:off x="6812280" y="2583180"/>
            <a:ext cx="137160" cy="914"/>
          </a:xfrm>
          <a:prstGeom prst="line">
            <a:avLst/>
          </a:prstGeom>
          <a:noFill/>
          <a:ln w="15875">
            <a:solidFill>
              <a:srgbClr val="5F6368"/>
            </a:solidFill>
            <a:prstDash val="solid"/>
            <a:tailEnd type="triangle"/>
          </a:ln>
        </p:spPr>
      </p:sp>
      <p:sp>
        <p:nvSpPr>
          <p:cNvPr id="28" name="Shape 26"/>
          <p:cNvSpPr/>
          <p:nvPr/>
        </p:nvSpPr>
        <p:spPr>
          <a:xfrm>
            <a:off x="69494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29" name="Shape 27"/>
          <p:cNvSpPr/>
          <p:nvPr/>
        </p:nvSpPr>
        <p:spPr>
          <a:xfrm>
            <a:off x="7040880" y="2057400"/>
            <a:ext cx="329184" cy="329184"/>
          </a:xfrm>
          <a:prstGeom prst="roundRect">
            <a:avLst>
              <a:gd name="adj" fmla="val 50000"/>
            </a:avLst>
          </a:prstGeom>
          <a:solidFill>
            <a:srgbClr val="6B4C9A"/>
          </a:solidFill>
          <a:ln w="12700">
            <a:solidFill>
              <a:srgbClr val="6B4C9A"/>
            </a:solidFill>
            <a:prstDash val="solid"/>
          </a:ln>
        </p:spPr>
      </p:sp>
      <p:sp>
        <p:nvSpPr>
          <p:cNvPr id="30" name="Text 28"/>
          <p:cNvSpPr txBox="1"/>
          <p:nvPr/>
        </p:nvSpPr>
        <p:spPr>
          <a:xfrm>
            <a:off x="70408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9"/>
          <p:cNvSpPr txBox="1"/>
          <p:nvPr/>
        </p:nvSpPr>
        <p:spPr>
          <a:xfrm>
            <a:off x="74249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Classify intent</a:t>
            </a:r>
            <a:endParaRPr lang="en-US" sz="950" dirty="0"/>
          </a:p>
        </p:txBody>
      </p:sp>
      <p:sp>
        <p:nvSpPr>
          <p:cNvPr id="32" name="Text 30"/>
          <p:cNvSpPr txBox="1"/>
          <p:nvPr/>
        </p:nvSpPr>
        <p:spPr>
          <a:xfrm>
            <a:off x="70408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Supervisor calls the model through the AI Bridge</a:t>
            </a:r>
            <a:endParaRPr lang="en-US" sz="850" dirty="0"/>
          </a:p>
        </p:txBody>
      </p:sp>
      <p:sp>
        <p:nvSpPr>
          <p:cNvPr id="33" name="Shape 31"/>
          <p:cNvSpPr/>
          <p:nvPr/>
        </p:nvSpPr>
        <p:spPr>
          <a:xfrm>
            <a:off x="8412480" y="2583180"/>
            <a:ext cx="137160" cy="914"/>
          </a:xfrm>
          <a:prstGeom prst="line">
            <a:avLst/>
          </a:prstGeom>
          <a:noFill/>
          <a:ln w="15875">
            <a:solidFill>
              <a:srgbClr val="5F6368"/>
            </a:solidFill>
            <a:prstDash val="solid"/>
            <a:tailEnd type="triangle"/>
          </a:ln>
        </p:spPr>
      </p:sp>
      <p:sp>
        <p:nvSpPr>
          <p:cNvPr id="34" name="Shape 32"/>
          <p:cNvSpPr/>
          <p:nvPr/>
        </p:nvSpPr>
        <p:spPr>
          <a:xfrm>
            <a:off x="85496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35" name="Shape 33"/>
          <p:cNvSpPr/>
          <p:nvPr/>
        </p:nvSpPr>
        <p:spPr>
          <a:xfrm>
            <a:off x="8641080" y="2057400"/>
            <a:ext cx="329184" cy="329184"/>
          </a:xfrm>
          <a:prstGeom prst="roundRect">
            <a:avLst>
              <a:gd name="adj" fmla="val 50000"/>
            </a:avLst>
          </a:prstGeom>
          <a:solidFill>
            <a:srgbClr val="1A73E8"/>
          </a:solidFill>
          <a:ln w="12700">
            <a:solidFill>
              <a:srgbClr val="1A73E8"/>
            </a:solidFill>
            <a:prstDash val="solid"/>
          </a:ln>
        </p:spPr>
      </p:sp>
      <p:sp>
        <p:nvSpPr>
          <p:cNvPr id="36" name="Text 34"/>
          <p:cNvSpPr txBox="1"/>
          <p:nvPr/>
        </p:nvSpPr>
        <p:spPr>
          <a:xfrm>
            <a:off x="86410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7" name="Text 35"/>
          <p:cNvSpPr txBox="1"/>
          <p:nvPr/>
        </p:nvSpPr>
        <p:spPr>
          <a:xfrm>
            <a:off x="90251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Route to agent</a:t>
            </a:r>
            <a:endParaRPr lang="en-US" sz="950" dirty="0"/>
          </a:p>
        </p:txBody>
      </p:sp>
      <p:sp>
        <p:nvSpPr>
          <p:cNvPr id="38" name="Text 36"/>
          <p:cNvSpPr txBox="1"/>
          <p:nvPr/>
        </p:nvSpPr>
        <p:spPr>
          <a:xfrm>
            <a:off x="86410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ADK sub_agent transfer / A2A hand-off</a:t>
            </a:r>
            <a:endParaRPr lang="en-US" sz="850" dirty="0"/>
          </a:p>
        </p:txBody>
      </p:sp>
      <p:sp>
        <p:nvSpPr>
          <p:cNvPr id="39" name="Shape 37"/>
          <p:cNvSpPr/>
          <p:nvPr/>
        </p:nvSpPr>
        <p:spPr>
          <a:xfrm>
            <a:off x="10012680" y="2583180"/>
            <a:ext cx="137160" cy="914"/>
          </a:xfrm>
          <a:prstGeom prst="line">
            <a:avLst/>
          </a:prstGeom>
          <a:noFill/>
          <a:ln w="15875">
            <a:solidFill>
              <a:srgbClr val="5F6368"/>
            </a:solidFill>
            <a:prstDash val="solid"/>
            <a:tailEnd type="triangle"/>
          </a:ln>
        </p:spPr>
      </p:sp>
      <p:sp>
        <p:nvSpPr>
          <p:cNvPr id="40" name="Shape 38"/>
          <p:cNvSpPr/>
          <p:nvPr/>
        </p:nvSpPr>
        <p:spPr>
          <a:xfrm>
            <a:off x="10149840" y="196596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41" name="Shape 39"/>
          <p:cNvSpPr/>
          <p:nvPr/>
        </p:nvSpPr>
        <p:spPr>
          <a:xfrm>
            <a:off x="10241280" y="2057400"/>
            <a:ext cx="329184" cy="329184"/>
          </a:xfrm>
          <a:prstGeom prst="roundRect">
            <a:avLst>
              <a:gd name="adj" fmla="val 50000"/>
            </a:avLst>
          </a:prstGeom>
          <a:solidFill>
            <a:srgbClr val="6B4C9A"/>
          </a:solidFill>
          <a:ln w="12700">
            <a:solidFill>
              <a:srgbClr val="6B4C9A"/>
            </a:solidFill>
            <a:prstDash val="solid"/>
          </a:ln>
        </p:spPr>
      </p:sp>
      <p:sp>
        <p:nvSpPr>
          <p:cNvPr id="42" name="Text 40"/>
          <p:cNvSpPr txBox="1"/>
          <p:nvPr/>
        </p:nvSpPr>
        <p:spPr>
          <a:xfrm>
            <a:off x="10241280" y="205740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3" name="Text 41"/>
          <p:cNvSpPr txBox="1"/>
          <p:nvPr/>
        </p:nvSpPr>
        <p:spPr>
          <a:xfrm>
            <a:off x="10625328" y="205740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Get / update context</a:t>
            </a:r>
            <a:endParaRPr lang="en-US" sz="950" dirty="0"/>
          </a:p>
        </p:txBody>
      </p:sp>
      <p:sp>
        <p:nvSpPr>
          <p:cNvPr id="44" name="Text 42"/>
          <p:cNvSpPr txBox="1"/>
          <p:nvPr/>
        </p:nvSpPr>
        <p:spPr>
          <a:xfrm>
            <a:off x="10241280" y="244144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ADK Session state read from Tachyon Redis</a:t>
            </a:r>
            <a:endParaRPr lang="en-US" sz="850" dirty="0"/>
          </a:p>
        </p:txBody>
      </p:sp>
      <p:sp>
        <p:nvSpPr>
          <p:cNvPr id="45" name="Shape 43"/>
          <p:cNvSpPr/>
          <p:nvPr/>
        </p:nvSpPr>
        <p:spPr>
          <a:xfrm>
            <a:off x="5486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46" name="Shape 44"/>
          <p:cNvSpPr/>
          <p:nvPr/>
        </p:nvSpPr>
        <p:spPr>
          <a:xfrm>
            <a:off x="640080" y="3703320"/>
            <a:ext cx="329184" cy="329184"/>
          </a:xfrm>
          <a:prstGeom prst="roundRect">
            <a:avLst>
              <a:gd name="adj" fmla="val 50000"/>
            </a:avLst>
          </a:prstGeom>
          <a:solidFill>
            <a:srgbClr val="6B4C9A"/>
          </a:solidFill>
          <a:ln w="12700">
            <a:solidFill>
              <a:srgbClr val="6B4C9A"/>
            </a:solidFill>
            <a:prstDash val="solid"/>
          </a:ln>
        </p:spPr>
      </p:sp>
      <p:sp>
        <p:nvSpPr>
          <p:cNvPr id="47" name="Text 45"/>
          <p:cNvSpPr txBox="1"/>
          <p:nvPr/>
        </p:nvSpPr>
        <p:spPr>
          <a:xfrm>
            <a:off x="6400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8" name="Text 46"/>
          <p:cNvSpPr txBox="1"/>
          <p:nvPr/>
        </p:nvSpPr>
        <p:spPr>
          <a:xfrm>
            <a:off x="10241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Plan tools</a:t>
            </a:r>
            <a:endParaRPr lang="en-US" sz="950" dirty="0"/>
          </a:p>
        </p:txBody>
      </p:sp>
      <p:sp>
        <p:nvSpPr>
          <p:cNvPr id="49" name="Text 47"/>
          <p:cNvSpPr txBox="1"/>
          <p:nvPr/>
        </p:nvSpPr>
        <p:spPr>
          <a:xfrm>
            <a:off x="6400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Agent reasons via Bridge; guardrails check budget &amp; loops</a:t>
            </a:r>
            <a:endParaRPr lang="en-US" sz="850" dirty="0"/>
          </a:p>
        </p:txBody>
      </p:sp>
      <p:sp>
        <p:nvSpPr>
          <p:cNvPr id="50" name="Shape 48"/>
          <p:cNvSpPr/>
          <p:nvPr/>
        </p:nvSpPr>
        <p:spPr>
          <a:xfrm>
            <a:off x="2011680" y="4229100"/>
            <a:ext cx="137160" cy="914"/>
          </a:xfrm>
          <a:prstGeom prst="line">
            <a:avLst/>
          </a:prstGeom>
          <a:noFill/>
          <a:ln w="15875">
            <a:solidFill>
              <a:srgbClr val="5F6368"/>
            </a:solidFill>
            <a:prstDash val="solid"/>
            <a:tailEnd type="triangle"/>
          </a:ln>
        </p:spPr>
      </p:sp>
      <p:sp>
        <p:nvSpPr>
          <p:cNvPr id="51" name="Shape 49"/>
          <p:cNvSpPr/>
          <p:nvPr/>
        </p:nvSpPr>
        <p:spPr>
          <a:xfrm>
            <a:off x="21488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52" name="Shape 50"/>
          <p:cNvSpPr/>
          <p:nvPr/>
        </p:nvSpPr>
        <p:spPr>
          <a:xfrm>
            <a:off x="2240280" y="3703320"/>
            <a:ext cx="329184" cy="329184"/>
          </a:xfrm>
          <a:prstGeom prst="roundRect">
            <a:avLst>
              <a:gd name="adj" fmla="val 50000"/>
            </a:avLst>
          </a:prstGeom>
          <a:solidFill>
            <a:srgbClr val="6B4C9A"/>
          </a:solidFill>
          <a:ln w="12700">
            <a:solidFill>
              <a:srgbClr val="6B4C9A"/>
            </a:solidFill>
            <a:prstDash val="solid"/>
          </a:ln>
        </p:spPr>
      </p:sp>
      <p:sp>
        <p:nvSpPr>
          <p:cNvPr id="53" name="Text 51"/>
          <p:cNvSpPr txBox="1"/>
          <p:nvPr/>
        </p:nvSpPr>
        <p:spPr>
          <a:xfrm>
            <a:off x="22402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54" name="Text 52"/>
          <p:cNvSpPr txBox="1"/>
          <p:nvPr/>
        </p:nvSpPr>
        <p:spPr>
          <a:xfrm>
            <a:off x="26243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Discover / execute tool</a:t>
            </a:r>
            <a:endParaRPr lang="en-US" sz="950" dirty="0"/>
          </a:p>
        </p:txBody>
      </p:sp>
      <p:sp>
        <p:nvSpPr>
          <p:cNvPr id="55" name="Text 53"/>
          <p:cNvSpPr txBox="1"/>
          <p:nvPr/>
        </p:nvSpPr>
        <p:spPr>
          <a:xfrm>
            <a:off x="22402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ADK MCPToolset hits the Tachyon-registered MCP Server</a:t>
            </a:r>
            <a:endParaRPr lang="en-US" sz="850" dirty="0"/>
          </a:p>
        </p:txBody>
      </p:sp>
      <p:sp>
        <p:nvSpPr>
          <p:cNvPr id="56" name="Shape 54"/>
          <p:cNvSpPr/>
          <p:nvPr/>
        </p:nvSpPr>
        <p:spPr>
          <a:xfrm>
            <a:off x="3611880" y="4229100"/>
            <a:ext cx="137160" cy="914"/>
          </a:xfrm>
          <a:prstGeom prst="line">
            <a:avLst/>
          </a:prstGeom>
          <a:noFill/>
          <a:ln w="15875">
            <a:solidFill>
              <a:srgbClr val="5F6368"/>
            </a:solidFill>
            <a:prstDash val="solid"/>
            <a:tailEnd type="triangle"/>
          </a:ln>
        </p:spPr>
      </p:sp>
      <p:sp>
        <p:nvSpPr>
          <p:cNvPr id="57" name="Shape 55"/>
          <p:cNvSpPr/>
          <p:nvPr/>
        </p:nvSpPr>
        <p:spPr>
          <a:xfrm>
            <a:off x="37490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58" name="Shape 56"/>
          <p:cNvSpPr/>
          <p:nvPr/>
        </p:nvSpPr>
        <p:spPr>
          <a:xfrm>
            <a:off x="3840480" y="3703320"/>
            <a:ext cx="329184" cy="329184"/>
          </a:xfrm>
          <a:prstGeom prst="roundRect">
            <a:avLst>
              <a:gd name="adj" fmla="val 50000"/>
            </a:avLst>
          </a:prstGeom>
          <a:solidFill>
            <a:srgbClr val="5F6368"/>
          </a:solidFill>
          <a:ln w="12700">
            <a:solidFill>
              <a:srgbClr val="5F6368"/>
            </a:solidFill>
            <a:prstDash val="solid"/>
          </a:ln>
        </p:spPr>
      </p:sp>
      <p:sp>
        <p:nvSpPr>
          <p:cNvPr id="59" name="Text 57"/>
          <p:cNvSpPr txBox="1"/>
          <p:nvPr/>
        </p:nvSpPr>
        <p:spPr>
          <a:xfrm>
            <a:off x="38404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60" name="Text 58"/>
          <p:cNvSpPr txBox="1"/>
          <p:nvPr/>
        </p:nvSpPr>
        <p:spPr>
          <a:xfrm>
            <a:off x="42245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Query data</a:t>
            </a:r>
            <a:endParaRPr lang="en-US" sz="950" dirty="0"/>
          </a:p>
        </p:txBody>
      </p:sp>
      <p:sp>
        <p:nvSpPr>
          <p:cNvPr id="61" name="Text 59"/>
          <p:cNvSpPr txBox="1"/>
          <p:nvPr/>
        </p:nvSpPr>
        <p:spPr>
          <a:xfrm>
            <a:off x="38404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MCP tool → chat-data-service</a:t>
            </a:r>
            <a:endParaRPr lang="en-US" sz="850" dirty="0"/>
          </a:p>
        </p:txBody>
      </p:sp>
      <p:sp>
        <p:nvSpPr>
          <p:cNvPr id="62" name="Shape 60"/>
          <p:cNvSpPr/>
          <p:nvPr/>
        </p:nvSpPr>
        <p:spPr>
          <a:xfrm>
            <a:off x="5212080" y="4229100"/>
            <a:ext cx="137160" cy="914"/>
          </a:xfrm>
          <a:prstGeom prst="line">
            <a:avLst/>
          </a:prstGeom>
          <a:noFill/>
          <a:ln w="15875">
            <a:solidFill>
              <a:srgbClr val="5F6368"/>
            </a:solidFill>
            <a:prstDash val="solid"/>
            <a:tailEnd type="triangle"/>
          </a:ln>
        </p:spPr>
      </p:sp>
      <p:sp>
        <p:nvSpPr>
          <p:cNvPr id="63" name="Shape 61"/>
          <p:cNvSpPr/>
          <p:nvPr/>
        </p:nvSpPr>
        <p:spPr>
          <a:xfrm>
            <a:off x="53492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64" name="Shape 62"/>
          <p:cNvSpPr/>
          <p:nvPr/>
        </p:nvSpPr>
        <p:spPr>
          <a:xfrm>
            <a:off x="5440680" y="3703320"/>
            <a:ext cx="329184" cy="329184"/>
          </a:xfrm>
          <a:prstGeom prst="roundRect">
            <a:avLst>
              <a:gd name="adj" fmla="val 50000"/>
            </a:avLst>
          </a:prstGeom>
          <a:solidFill>
            <a:srgbClr val="6B4C9A"/>
          </a:solidFill>
          <a:ln w="12700">
            <a:solidFill>
              <a:srgbClr val="6B4C9A"/>
            </a:solidFill>
            <a:prstDash val="solid"/>
          </a:ln>
        </p:spPr>
      </p:sp>
      <p:sp>
        <p:nvSpPr>
          <p:cNvPr id="65" name="Text 63"/>
          <p:cNvSpPr txBox="1"/>
          <p:nvPr/>
        </p:nvSpPr>
        <p:spPr>
          <a:xfrm>
            <a:off x="54406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66" name="Text 64"/>
          <p:cNvSpPr txBox="1"/>
          <p:nvPr/>
        </p:nvSpPr>
        <p:spPr>
          <a:xfrm>
            <a:off x="58247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Generate response</a:t>
            </a:r>
            <a:endParaRPr lang="en-US" sz="950" dirty="0"/>
          </a:p>
        </p:txBody>
      </p:sp>
      <p:sp>
        <p:nvSpPr>
          <p:cNvPr id="67" name="Text 65"/>
          <p:cNvSpPr txBox="1"/>
          <p:nvPr/>
        </p:nvSpPr>
        <p:spPr>
          <a:xfrm>
            <a:off x="54406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Bridge routes generation; output_schema shapes it</a:t>
            </a:r>
            <a:endParaRPr lang="en-US" sz="850" dirty="0"/>
          </a:p>
        </p:txBody>
      </p:sp>
      <p:sp>
        <p:nvSpPr>
          <p:cNvPr id="68" name="Shape 66"/>
          <p:cNvSpPr/>
          <p:nvPr/>
        </p:nvSpPr>
        <p:spPr>
          <a:xfrm>
            <a:off x="6812280" y="4229100"/>
            <a:ext cx="137160" cy="914"/>
          </a:xfrm>
          <a:prstGeom prst="line">
            <a:avLst/>
          </a:prstGeom>
          <a:noFill/>
          <a:ln w="15875">
            <a:solidFill>
              <a:srgbClr val="5F6368"/>
            </a:solidFill>
            <a:prstDash val="solid"/>
            <a:tailEnd type="triangle"/>
          </a:ln>
        </p:spPr>
      </p:sp>
      <p:sp>
        <p:nvSpPr>
          <p:cNvPr id="69" name="Shape 67"/>
          <p:cNvSpPr/>
          <p:nvPr/>
        </p:nvSpPr>
        <p:spPr>
          <a:xfrm>
            <a:off x="69494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70" name="Shape 68"/>
          <p:cNvSpPr/>
          <p:nvPr/>
        </p:nvSpPr>
        <p:spPr>
          <a:xfrm>
            <a:off x="7040880" y="3703320"/>
            <a:ext cx="329184" cy="329184"/>
          </a:xfrm>
          <a:prstGeom prst="roundRect">
            <a:avLst>
              <a:gd name="adj" fmla="val 50000"/>
            </a:avLst>
          </a:prstGeom>
          <a:solidFill>
            <a:srgbClr val="C2410C"/>
          </a:solidFill>
          <a:ln w="12700">
            <a:solidFill>
              <a:srgbClr val="C2410C"/>
            </a:solidFill>
            <a:prstDash val="solid"/>
          </a:ln>
        </p:spPr>
      </p:sp>
      <p:sp>
        <p:nvSpPr>
          <p:cNvPr id="71" name="Text 69"/>
          <p:cNvSpPr txBox="1"/>
          <p:nvPr/>
        </p:nvSpPr>
        <p:spPr>
          <a:xfrm>
            <a:off x="70408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2" name="Text 70"/>
          <p:cNvSpPr txBox="1"/>
          <p:nvPr/>
        </p:nvSpPr>
        <p:spPr>
          <a:xfrm>
            <a:off x="74249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Validate &amp; log</a:t>
            </a:r>
            <a:endParaRPr lang="en-US" sz="950" dirty="0"/>
          </a:p>
        </p:txBody>
      </p:sp>
      <p:sp>
        <p:nvSpPr>
          <p:cNvPr id="73" name="Text 71"/>
          <p:cNvSpPr txBox="1"/>
          <p:nvPr/>
        </p:nvSpPr>
        <p:spPr>
          <a:xfrm>
            <a:off x="70408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Overwatch checks goal, logs LLM metrics; traces exported</a:t>
            </a:r>
            <a:endParaRPr lang="en-US" sz="850" dirty="0"/>
          </a:p>
        </p:txBody>
      </p:sp>
      <p:sp>
        <p:nvSpPr>
          <p:cNvPr id="74" name="Shape 72"/>
          <p:cNvSpPr/>
          <p:nvPr/>
        </p:nvSpPr>
        <p:spPr>
          <a:xfrm>
            <a:off x="8412480" y="4229100"/>
            <a:ext cx="137160" cy="914"/>
          </a:xfrm>
          <a:prstGeom prst="line">
            <a:avLst/>
          </a:prstGeom>
          <a:noFill/>
          <a:ln w="15875">
            <a:solidFill>
              <a:srgbClr val="5F6368"/>
            </a:solidFill>
            <a:prstDash val="solid"/>
            <a:tailEnd type="triangle"/>
          </a:ln>
        </p:spPr>
      </p:sp>
      <p:sp>
        <p:nvSpPr>
          <p:cNvPr id="75" name="Shape 73"/>
          <p:cNvSpPr/>
          <p:nvPr/>
        </p:nvSpPr>
        <p:spPr>
          <a:xfrm>
            <a:off x="8549640" y="3611880"/>
            <a:ext cx="146304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50800" dist="19050" dir="5400000">
              <a:srgbClr val="000000">
                <a:alpha val="12000"/>
              </a:srgbClr>
            </a:outerShdw>
          </a:effectLst>
        </p:spPr>
      </p:sp>
      <p:sp>
        <p:nvSpPr>
          <p:cNvPr id="76" name="Shape 74"/>
          <p:cNvSpPr/>
          <p:nvPr/>
        </p:nvSpPr>
        <p:spPr>
          <a:xfrm>
            <a:off x="8641080" y="3703320"/>
            <a:ext cx="329184" cy="329184"/>
          </a:xfrm>
          <a:prstGeom prst="roundRect">
            <a:avLst>
              <a:gd name="adj" fmla="val 50000"/>
            </a:avLst>
          </a:prstGeom>
          <a:solidFill>
            <a:srgbClr val="1A73E8"/>
          </a:solidFill>
          <a:ln w="12700">
            <a:solidFill>
              <a:srgbClr val="1A73E8"/>
            </a:solidFill>
            <a:prstDash val="solid"/>
          </a:ln>
        </p:spPr>
      </p:sp>
      <p:sp>
        <p:nvSpPr>
          <p:cNvPr id="77" name="Text 75"/>
          <p:cNvSpPr txBox="1"/>
          <p:nvPr/>
        </p:nvSpPr>
        <p:spPr>
          <a:xfrm>
            <a:off x="8641080" y="3703320"/>
            <a:ext cx="329184" cy="329184"/>
          </a:xfrm>
          <a:prstGeom prst="rect">
            <a:avLst/>
          </a:prstGeom>
          <a:noFill/>
          <a:ln/>
        </p:spPr>
        <p:txBody>
          <a:bodyPr wrap="square" lIns="508" tIns="508" rIns="508" bIns="508"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8" name="Text 76"/>
          <p:cNvSpPr txBox="1"/>
          <p:nvPr/>
        </p:nvSpPr>
        <p:spPr>
          <a:xfrm>
            <a:off x="9025128" y="3703320"/>
            <a:ext cx="932688" cy="365760"/>
          </a:xfrm>
          <a:prstGeom prst="rect">
            <a:avLst/>
          </a:prstGeom>
          <a:noFill/>
          <a:ln/>
        </p:spPr>
        <p:txBody>
          <a:bodyPr wrap="square" lIns="508" tIns="508" rIns="508" bIns="508" rtlCol="0" anchor="ctr"/>
          <a:lstStyle/>
          <a:p>
            <a:pPr algn="l" indent="0" marL="0">
              <a:lnSpc>
                <a:spcPct val="100000"/>
              </a:lnSpc>
              <a:buNone/>
            </a:pPr>
            <a:r>
              <a:rPr lang="en-US" sz="950" b="1" dirty="0">
                <a:solidFill>
                  <a:srgbClr val="202124"/>
                </a:solidFill>
                <a:latin typeface="Calibri" pitchFamily="34" charset="0"/>
                <a:ea typeface="Calibri" pitchFamily="34" charset="-122"/>
                <a:cs typeface="Calibri" pitchFamily="34" charset="-120"/>
              </a:rPr>
              <a:t>Bot response</a:t>
            </a:r>
            <a:endParaRPr lang="en-US" sz="950" dirty="0"/>
          </a:p>
        </p:txBody>
      </p:sp>
      <p:sp>
        <p:nvSpPr>
          <p:cNvPr id="79" name="Text 77"/>
          <p:cNvSpPr txBox="1"/>
          <p:nvPr/>
        </p:nvSpPr>
        <p:spPr>
          <a:xfrm>
            <a:off x="8641080" y="4087368"/>
            <a:ext cx="1280160" cy="704088"/>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Event stream back through Flink to the customer</a:t>
            </a:r>
            <a:endParaRPr lang="en-US" sz="850" dirty="0"/>
          </a:p>
        </p:txBody>
      </p:sp>
      <p:sp>
        <p:nvSpPr>
          <p:cNvPr id="80" name="Shape 78"/>
          <p:cNvSpPr/>
          <p:nvPr/>
        </p:nvSpPr>
        <p:spPr>
          <a:xfrm>
            <a:off x="10881360" y="3200400"/>
            <a:ext cx="914" cy="228600"/>
          </a:xfrm>
          <a:prstGeom prst="line">
            <a:avLst/>
          </a:prstGeom>
          <a:noFill/>
          <a:ln w="15875">
            <a:solidFill>
              <a:srgbClr val="5F6368"/>
            </a:solidFill>
            <a:prstDash val="solid"/>
          </a:ln>
        </p:spPr>
      </p:sp>
      <p:sp>
        <p:nvSpPr>
          <p:cNvPr id="81" name="Shape 79"/>
          <p:cNvSpPr/>
          <p:nvPr/>
        </p:nvSpPr>
        <p:spPr>
          <a:xfrm flipH="1">
            <a:off x="1280160" y="3429000"/>
            <a:ext cx="9601200" cy="914"/>
          </a:xfrm>
          <a:prstGeom prst="line">
            <a:avLst/>
          </a:prstGeom>
          <a:noFill/>
          <a:ln w="15875">
            <a:solidFill>
              <a:srgbClr val="5F6368"/>
            </a:solidFill>
            <a:prstDash val="solid"/>
          </a:ln>
        </p:spPr>
      </p:sp>
      <p:sp>
        <p:nvSpPr>
          <p:cNvPr id="82" name="Shape 80"/>
          <p:cNvSpPr/>
          <p:nvPr/>
        </p:nvSpPr>
        <p:spPr>
          <a:xfrm>
            <a:off x="1280160" y="3429000"/>
            <a:ext cx="914" cy="182880"/>
          </a:xfrm>
          <a:prstGeom prst="line">
            <a:avLst/>
          </a:prstGeom>
          <a:noFill/>
          <a:ln w="15875">
            <a:solidFill>
              <a:srgbClr val="5F6368"/>
            </a:solidFill>
            <a:prstDash val="solid"/>
            <a:tailEnd type="triangle"/>
          </a:ln>
        </p:spPr>
      </p:sp>
      <p:sp>
        <p:nvSpPr>
          <p:cNvPr id="83" name="Shape 81"/>
          <p:cNvSpPr/>
          <p:nvPr/>
        </p:nvSpPr>
        <p:spPr>
          <a:xfrm>
            <a:off x="548640" y="5120640"/>
            <a:ext cx="2651760" cy="685800"/>
          </a:xfrm>
          <a:prstGeom prst="roundRect">
            <a:avLst>
              <a:gd name="adj" fmla="val 8000"/>
            </a:avLst>
          </a:prstGeom>
          <a:solidFill>
            <a:srgbClr val="F1F3F4"/>
          </a:solidFill>
          <a:ln w="12700">
            <a:solidFill>
              <a:srgbClr val="F1F3F4"/>
            </a:solidFill>
            <a:prstDash val="solid"/>
          </a:ln>
        </p:spPr>
      </p:sp>
      <p:sp>
        <p:nvSpPr>
          <p:cNvPr id="84" name="Shape 82"/>
          <p:cNvSpPr/>
          <p:nvPr/>
        </p:nvSpPr>
        <p:spPr>
          <a:xfrm>
            <a:off x="685800" y="5303520"/>
            <a:ext cx="320040" cy="320040"/>
          </a:xfrm>
          <a:prstGeom prst="roundRect">
            <a:avLst>
              <a:gd name="adj" fmla="val 50000"/>
            </a:avLst>
          </a:prstGeom>
          <a:solidFill>
            <a:srgbClr val="1A73E8"/>
          </a:solidFill>
          <a:ln w="12700">
            <a:solidFill>
              <a:srgbClr val="1A73E8"/>
            </a:solidFill>
            <a:prstDash val="solid"/>
          </a:ln>
        </p:spPr>
      </p:sp>
      <p:sp>
        <p:nvSpPr>
          <p:cNvPr id="85" name="Text 83"/>
          <p:cNvSpPr txBox="1"/>
          <p:nvPr/>
        </p:nvSpPr>
        <p:spPr>
          <a:xfrm>
            <a:off x="109728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4 steps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ADK runtime</a:t>
            </a:r>
            <a:endParaRPr lang="en-US" sz="1050" dirty="0"/>
          </a:p>
        </p:txBody>
      </p:sp>
      <p:sp>
        <p:nvSpPr>
          <p:cNvPr id="86" name="Shape 84"/>
          <p:cNvSpPr/>
          <p:nvPr/>
        </p:nvSpPr>
        <p:spPr>
          <a:xfrm>
            <a:off x="3337560" y="5120640"/>
            <a:ext cx="2651760" cy="685800"/>
          </a:xfrm>
          <a:prstGeom prst="roundRect">
            <a:avLst>
              <a:gd name="adj" fmla="val 8000"/>
            </a:avLst>
          </a:prstGeom>
          <a:solidFill>
            <a:srgbClr val="F1F3F4"/>
          </a:solidFill>
          <a:ln w="12700">
            <a:solidFill>
              <a:srgbClr val="F1F3F4"/>
            </a:solidFill>
            <a:prstDash val="solid"/>
          </a:ln>
        </p:spPr>
      </p:sp>
      <p:sp>
        <p:nvSpPr>
          <p:cNvPr id="87" name="Shape 85"/>
          <p:cNvSpPr/>
          <p:nvPr/>
        </p:nvSpPr>
        <p:spPr>
          <a:xfrm>
            <a:off x="3474720" y="5303520"/>
            <a:ext cx="320040" cy="320040"/>
          </a:xfrm>
          <a:prstGeom prst="roundRect">
            <a:avLst>
              <a:gd name="adj" fmla="val 50000"/>
            </a:avLst>
          </a:prstGeom>
          <a:solidFill>
            <a:srgbClr val="6B4C9A"/>
          </a:solidFill>
          <a:ln w="12700">
            <a:solidFill>
              <a:srgbClr val="6B4C9A"/>
            </a:solidFill>
            <a:prstDash val="solid"/>
          </a:ln>
        </p:spPr>
      </p:sp>
      <p:sp>
        <p:nvSpPr>
          <p:cNvPr id="88" name="Text 86"/>
          <p:cNvSpPr txBox="1"/>
          <p:nvPr/>
        </p:nvSpPr>
        <p:spPr>
          <a:xfrm>
            <a:off x="388620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5 steps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TSDK wrapper + Tachyon service</a:t>
            </a:r>
            <a:endParaRPr lang="en-US" sz="1050" dirty="0"/>
          </a:p>
        </p:txBody>
      </p:sp>
      <p:sp>
        <p:nvSpPr>
          <p:cNvPr id="89" name="Shape 87"/>
          <p:cNvSpPr/>
          <p:nvPr/>
        </p:nvSpPr>
        <p:spPr>
          <a:xfrm>
            <a:off x="6126480" y="5120640"/>
            <a:ext cx="2651760" cy="685800"/>
          </a:xfrm>
          <a:prstGeom prst="roundRect">
            <a:avLst>
              <a:gd name="adj" fmla="val 8000"/>
            </a:avLst>
          </a:prstGeom>
          <a:solidFill>
            <a:srgbClr val="F1F3F4"/>
          </a:solidFill>
          <a:ln w="12700">
            <a:solidFill>
              <a:srgbClr val="F1F3F4"/>
            </a:solidFill>
            <a:prstDash val="solid"/>
          </a:ln>
        </p:spPr>
      </p:sp>
      <p:sp>
        <p:nvSpPr>
          <p:cNvPr id="90" name="Shape 88"/>
          <p:cNvSpPr/>
          <p:nvPr/>
        </p:nvSpPr>
        <p:spPr>
          <a:xfrm>
            <a:off x="6263640" y="5303520"/>
            <a:ext cx="320040" cy="320040"/>
          </a:xfrm>
          <a:prstGeom prst="roundRect">
            <a:avLst>
              <a:gd name="adj" fmla="val 50000"/>
            </a:avLst>
          </a:prstGeom>
          <a:solidFill>
            <a:srgbClr val="C2410C"/>
          </a:solidFill>
          <a:ln w="12700">
            <a:solidFill>
              <a:srgbClr val="C2410C"/>
            </a:solidFill>
            <a:prstDash val="solid"/>
          </a:ln>
        </p:spPr>
      </p:sp>
      <p:sp>
        <p:nvSpPr>
          <p:cNvPr id="91" name="Text 89"/>
          <p:cNvSpPr txBox="1"/>
          <p:nvPr/>
        </p:nvSpPr>
        <p:spPr>
          <a:xfrm>
            <a:off x="667512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1 step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Tachyon only</a:t>
            </a:r>
            <a:endParaRPr lang="en-US" sz="1050" dirty="0"/>
          </a:p>
        </p:txBody>
      </p:sp>
      <p:sp>
        <p:nvSpPr>
          <p:cNvPr id="92" name="Shape 90"/>
          <p:cNvSpPr/>
          <p:nvPr/>
        </p:nvSpPr>
        <p:spPr>
          <a:xfrm>
            <a:off x="8915400" y="5120640"/>
            <a:ext cx="2651760" cy="685800"/>
          </a:xfrm>
          <a:prstGeom prst="roundRect">
            <a:avLst>
              <a:gd name="adj" fmla="val 8000"/>
            </a:avLst>
          </a:prstGeom>
          <a:solidFill>
            <a:srgbClr val="F1F3F4"/>
          </a:solidFill>
          <a:ln w="12700">
            <a:solidFill>
              <a:srgbClr val="F1F3F4"/>
            </a:solidFill>
            <a:prstDash val="solid"/>
          </a:ln>
        </p:spPr>
      </p:sp>
      <p:sp>
        <p:nvSpPr>
          <p:cNvPr id="93" name="Shape 91"/>
          <p:cNvSpPr/>
          <p:nvPr/>
        </p:nvSpPr>
        <p:spPr>
          <a:xfrm>
            <a:off x="9052560" y="5303520"/>
            <a:ext cx="320040" cy="320040"/>
          </a:xfrm>
          <a:prstGeom prst="roundRect">
            <a:avLst>
              <a:gd name="adj" fmla="val 50000"/>
            </a:avLst>
          </a:prstGeom>
          <a:solidFill>
            <a:srgbClr val="5F6368"/>
          </a:solidFill>
          <a:ln w="12700">
            <a:solidFill>
              <a:srgbClr val="5F6368"/>
            </a:solidFill>
            <a:prstDash val="solid"/>
          </a:ln>
        </p:spPr>
      </p:sp>
      <p:sp>
        <p:nvSpPr>
          <p:cNvPr id="94" name="Text 92"/>
          <p:cNvSpPr txBox="1"/>
          <p:nvPr/>
        </p:nvSpPr>
        <p:spPr>
          <a:xfrm>
            <a:off x="9464040" y="5120640"/>
            <a:ext cx="2057400" cy="68580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3 steps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WF-built entry / backend</a:t>
            </a:r>
            <a:endParaRPr lang="en-US" sz="1050" dirty="0"/>
          </a:p>
        </p:txBody>
      </p:sp>
      <p:sp>
        <p:nvSpPr>
          <p:cNvPr id="95" name="Text 93"/>
          <p:cNvSpPr txBox="1"/>
          <p:nvPr/>
        </p:nvSpPr>
        <p:spPr>
          <a:xfrm>
            <a:off x="548640" y="5897880"/>
            <a:ext cx="11064240" cy="457200"/>
          </a:xfrm>
          <a:prstGeom prst="rect">
            <a:avLst/>
          </a:prstGeom>
          <a:noFill/>
          <a:ln/>
        </p:spPr>
        <p:txBody>
          <a:bodyPr wrap="square" lIns="508" tIns="508" rIns="508" bIns="508" rtlCol="0" anchor="ctr"/>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Note: </a:t>
            </a:r>
            <a:pPr algn="l" indent="0" marL="0">
              <a:lnSpc>
                <a:spcPct val="105000"/>
              </a:lnSpc>
              <a:buNone/>
            </a:pPr>
            <a:r>
              <a:rPr lang="en-US" sz="1100" dirty="0">
                <a:solidFill>
                  <a:srgbClr val="202124"/>
                </a:solidFill>
                <a:latin typeface="Calibri" pitchFamily="34" charset="0"/>
                <a:ea typeface="Calibri" pitchFamily="34" charset="-122"/>
                <a:cs typeface="Calibri" pitchFamily="34" charset="-120"/>
              </a:rPr>
              <a:t>ADK does the orchestration, the TSDK wrapper routes each call to the platform, Tachyon supplies the service — no per-agent integration code.</a:t>
            </a:r>
            <a:endParaRPr lang="en-US" sz="1100" dirty="0"/>
          </a:p>
        </p:txBody>
      </p:sp>
      <p:sp>
        <p:nvSpPr>
          <p:cNvPr id="96" name="Text 94"/>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97" name="Text 95"/>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What a Fargo agent looks like inside</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Developers write against ADK primitives. The TSDK wrapper does the platform wiring when the agent is constructed.</a:t>
            </a:r>
            <a:endParaRPr lang="en-US" sz="1300" dirty="0"/>
          </a:p>
        </p:txBody>
      </p:sp>
      <p:sp>
        <p:nvSpPr>
          <p:cNvPr id="4" name="Shape 2"/>
          <p:cNvSpPr/>
          <p:nvPr/>
        </p:nvSpPr>
        <p:spPr>
          <a:xfrm>
            <a:off x="3931920" y="1965960"/>
            <a:ext cx="4297680" cy="4206240"/>
          </a:xfrm>
          <a:prstGeom prst="roundRect">
            <a:avLst>
              <a:gd name="adj" fmla="val 2609"/>
            </a:avLst>
          </a:prstGeom>
          <a:solidFill>
            <a:srgbClr val="EFE9F7"/>
          </a:solidFill>
          <a:ln w="19050">
            <a:solidFill>
              <a:srgbClr val="6B4C9A"/>
            </a:solidFill>
            <a:prstDash val="solid"/>
          </a:ln>
        </p:spPr>
      </p:sp>
      <p:sp>
        <p:nvSpPr>
          <p:cNvPr id="5" name="Text 3"/>
          <p:cNvSpPr txBox="1"/>
          <p:nvPr/>
        </p:nvSpPr>
        <p:spPr>
          <a:xfrm>
            <a:off x="4114800" y="2039112"/>
            <a:ext cx="393192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TSDK agent wrapper  (e.g. Card Management Agent)</a:t>
            </a:r>
            <a:endParaRPr lang="en-US" sz="1100" dirty="0"/>
          </a:p>
        </p:txBody>
      </p:sp>
      <p:sp>
        <p:nvSpPr>
          <p:cNvPr id="6" name="Text 4"/>
          <p:cNvSpPr txBox="1"/>
          <p:nvPr/>
        </p:nvSpPr>
        <p:spPr>
          <a:xfrm>
            <a:off x="4114800" y="2295144"/>
            <a:ext cx="3931920" cy="256032"/>
          </a:xfrm>
          <a:prstGeom prst="rect">
            <a:avLst/>
          </a:prstGeom>
          <a:noFill/>
          <a:ln/>
        </p:spPr>
        <p:txBody>
          <a:bodyPr wrap="square" lIns="508" tIns="508" rIns="508" bIns="508" rtlCol="0" anchor="t"/>
          <a:lstStyle/>
          <a:p>
            <a:pPr algn="l" indent="0" marL="0">
              <a:lnSpc>
                <a:spcPct val="105000"/>
              </a:lnSpc>
              <a:buNone/>
            </a:pPr>
            <a:r>
              <a:rPr lang="en-US" sz="850" i="1" dirty="0">
                <a:solidFill>
                  <a:srgbClr val="6B4C9A"/>
                </a:solidFill>
                <a:latin typeface="Calibri" pitchFamily="34" charset="0"/>
                <a:ea typeface="Calibri" pitchFamily="34" charset="-122"/>
                <a:cs typeface="Calibri" pitchFamily="34" charset="-120"/>
              </a:rPr>
              <a:t>on construction: registers with Tachyon · attaches Arize tracer · installs callbacks</a:t>
            </a:r>
            <a:endParaRPr lang="en-US" sz="850" dirty="0"/>
          </a:p>
        </p:txBody>
      </p:sp>
      <p:sp>
        <p:nvSpPr>
          <p:cNvPr id="7" name="Shape 5"/>
          <p:cNvSpPr/>
          <p:nvPr/>
        </p:nvSpPr>
        <p:spPr>
          <a:xfrm>
            <a:off x="4041648" y="2606040"/>
            <a:ext cx="4078224" cy="3108960"/>
          </a:xfrm>
          <a:prstGeom prst="roundRect">
            <a:avLst>
              <a:gd name="adj" fmla="val 2353"/>
            </a:avLst>
          </a:prstGeom>
          <a:solidFill>
            <a:srgbClr val="E8F0FE"/>
          </a:solidFill>
          <a:ln w="12700">
            <a:solidFill>
              <a:srgbClr val="1A73E8"/>
            </a:solidFill>
            <a:prstDash val="solid"/>
          </a:ln>
        </p:spPr>
      </p:sp>
      <p:sp>
        <p:nvSpPr>
          <p:cNvPr id="8" name="Text 6"/>
          <p:cNvSpPr txBox="1"/>
          <p:nvPr/>
        </p:nvSpPr>
        <p:spPr>
          <a:xfrm>
            <a:off x="4160520" y="2642616"/>
            <a:ext cx="2743200" cy="228600"/>
          </a:xfrm>
          <a:prstGeom prst="rect">
            <a:avLst/>
          </a:prstGeom>
          <a:noFill/>
          <a:ln/>
        </p:spPr>
        <p:txBody>
          <a:bodyPr wrap="square" lIns="508" tIns="508" rIns="508" bIns="508" rtlCol="0" anchor="t"/>
          <a:lstStyle/>
          <a:p>
            <a:pPr algn="l" indent="0" marL="0">
              <a:lnSpc>
                <a:spcPct val="105000"/>
              </a:lnSpc>
              <a:buNone/>
            </a:pPr>
            <a:r>
              <a:rPr lang="en-US" sz="950" b="1" dirty="0">
                <a:solidFill>
                  <a:srgbClr val="1A73E8"/>
                </a:solidFill>
                <a:latin typeface="Calibri" pitchFamily="34" charset="0"/>
                <a:ea typeface="Calibri" pitchFamily="34" charset="-122"/>
                <a:cs typeface="Calibri" pitchFamily="34" charset="-120"/>
              </a:rPr>
              <a:t>ADK LlmAgent</a:t>
            </a:r>
            <a:endParaRPr lang="en-US" sz="950" dirty="0"/>
          </a:p>
        </p:txBody>
      </p:sp>
      <p:sp>
        <p:nvSpPr>
          <p:cNvPr id="9" name="Shape 7"/>
          <p:cNvSpPr/>
          <p:nvPr/>
        </p:nvSpPr>
        <p:spPr>
          <a:xfrm>
            <a:off x="4160520" y="2898648"/>
            <a:ext cx="3840480" cy="402336"/>
          </a:xfrm>
          <a:prstGeom prst="roundRect">
            <a:avLst>
              <a:gd name="adj" fmla="val 11364"/>
            </a:avLst>
          </a:prstGeom>
          <a:solidFill>
            <a:srgbClr val="FFFFFF"/>
          </a:solidFill>
          <a:ln w="12700">
            <a:solidFill>
              <a:srgbClr val="C6DAFC"/>
            </a:solidFill>
            <a:prstDash val="solid"/>
          </a:ln>
        </p:spPr>
      </p:sp>
      <p:sp>
        <p:nvSpPr>
          <p:cNvPr id="10" name="Text 8"/>
          <p:cNvSpPr txBox="1"/>
          <p:nvPr/>
        </p:nvSpPr>
        <p:spPr>
          <a:xfrm>
            <a:off x="4270248" y="28986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instruction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prompt with {state} templating</a:t>
            </a:r>
            <a:endParaRPr lang="en-US" sz="950" dirty="0"/>
          </a:p>
        </p:txBody>
      </p:sp>
      <p:sp>
        <p:nvSpPr>
          <p:cNvPr id="11" name="Shape 9"/>
          <p:cNvSpPr/>
          <p:nvPr/>
        </p:nvSpPr>
        <p:spPr>
          <a:xfrm>
            <a:off x="4160520" y="3355848"/>
            <a:ext cx="3840480" cy="402336"/>
          </a:xfrm>
          <a:prstGeom prst="roundRect">
            <a:avLst>
              <a:gd name="adj" fmla="val 11364"/>
            </a:avLst>
          </a:prstGeom>
          <a:solidFill>
            <a:srgbClr val="FFFFFF"/>
          </a:solidFill>
          <a:ln w="12700">
            <a:solidFill>
              <a:srgbClr val="C6DAFC"/>
            </a:solidFill>
            <a:prstDash val="solid"/>
          </a:ln>
        </p:spPr>
      </p:sp>
      <p:sp>
        <p:nvSpPr>
          <p:cNvPr id="12" name="Text 10"/>
          <p:cNvSpPr txBox="1"/>
          <p:nvPr/>
        </p:nvSpPr>
        <p:spPr>
          <a:xfrm>
            <a:off x="4270248" y="33558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model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 routed through AI Bridge</a:t>
            </a:r>
            <a:endParaRPr lang="en-US" sz="950" dirty="0"/>
          </a:p>
        </p:txBody>
      </p:sp>
      <p:sp>
        <p:nvSpPr>
          <p:cNvPr id="13" name="Shape 11"/>
          <p:cNvSpPr/>
          <p:nvPr/>
        </p:nvSpPr>
        <p:spPr>
          <a:xfrm>
            <a:off x="4160520" y="3813048"/>
            <a:ext cx="3840480" cy="402336"/>
          </a:xfrm>
          <a:prstGeom prst="roundRect">
            <a:avLst>
              <a:gd name="adj" fmla="val 11364"/>
            </a:avLst>
          </a:prstGeom>
          <a:solidFill>
            <a:srgbClr val="FFFFFF"/>
          </a:solidFill>
          <a:ln w="12700">
            <a:solidFill>
              <a:srgbClr val="C6DAFC"/>
            </a:solidFill>
            <a:prstDash val="solid"/>
          </a:ln>
        </p:spPr>
      </p:sp>
      <p:sp>
        <p:nvSpPr>
          <p:cNvPr id="14" name="Text 12"/>
          <p:cNvSpPr txBox="1"/>
          <p:nvPr/>
        </p:nvSpPr>
        <p:spPr>
          <a:xfrm>
            <a:off x="4270248" y="38130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tools[]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MCPToolset + FunctionTools</a:t>
            </a:r>
            <a:endParaRPr lang="en-US" sz="950" dirty="0"/>
          </a:p>
        </p:txBody>
      </p:sp>
      <p:sp>
        <p:nvSpPr>
          <p:cNvPr id="15" name="Shape 13"/>
          <p:cNvSpPr/>
          <p:nvPr/>
        </p:nvSpPr>
        <p:spPr>
          <a:xfrm>
            <a:off x="4160520" y="4270248"/>
            <a:ext cx="3840480" cy="402336"/>
          </a:xfrm>
          <a:prstGeom prst="roundRect">
            <a:avLst>
              <a:gd name="adj" fmla="val 11364"/>
            </a:avLst>
          </a:prstGeom>
          <a:solidFill>
            <a:srgbClr val="FFFFFF"/>
          </a:solidFill>
          <a:ln w="12700">
            <a:solidFill>
              <a:srgbClr val="C6DAFC"/>
            </a:solidFill>
            <a:prstDash val="solid"/>
          </a:ln>
        </p:spPr>
      </p:sp>
      <p:sp>
        <p:nvSpPr>
          <p:cNvPr id="16" name="Text 14"/>
          <p:cNvSpPr txBox="1"/>
          <p:nvPr/>
        </p:nvSpPr>
        <p:spPr>
          <a:xfrm>
            <a:off x="4270248" y="42702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sub_agents[] / A2A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hand-off to other agents</a:t>
            </a:r>
            <a:endParaRPr lang="en-US" sz="950" dirty="0"/>
          </a:p>
        </p:txBody>
      </p:sp>
      <p:sp>
        <p:nvSpPr>
          <p:cNvPr id="17" name="Shape 15"/>
          <p:cNvSpPr/>
          <p:nvPr/>
        </p:nvSpPr>
        <p:spPr>
          <a:xfrm>
            <a:off x="4160520" y="4727448"/>
            <a:ext cx="3840480" cy="402336"/>
          </a:xfrm>
          <a:prstGeom prst="roundRect">
            <a:avLst>
              <a:gd name="adj" fmla="val 11364"/>
            </a:avLst>
          </a:prstGeom>
          <a:solidFill>
            <a:srgbClr val="FFFFFF"/>
          </a:solidFill>
          <a:ln w="12700">
            <a:solidFill>
              <a:srgbClr val="C6DAFC"/>
            </a:solidFill>
            <a:prstDash val="solid"/>
          </a:ln>
        </p:spPr>
      </p:sp>
      <p:sp>
        <p:nvSpPr>
          <p:cNvPr id="18" name="Text 16"/>
          <p:cNvSpPr txBox="1"/>
          <p:nvPr/>
        </p:nvSpPr>
        <p:spPr>
          <a:xfrm>
            <a:off x="4270248" y="47274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output_schema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Pydantic-typed answer</a:t>
            </a:r>
            <a:endParaRPr lang="en-US" sz="950" dirty="0"/>
          </a:p>
        </p:txBody>
      </p:sp>
      <p:sp>
        <p:nvSpPr>
          <p:cNvPr id="19" name="Shape 17"/>
          <p:cNvSpPr/>
          <p:nvPr/>
        </p:nvSpPr>
        <p:spPr>
          <a:xfrm>
            <a:off x="4160520" y="5184648"/>
            <a:ext cx="3840480" cy="402336"/>
          </a:xfrm>
          <a:prstGeom prst="roundRect">
            <a:avLst>
              <a:gd name="adj" fmla="val 11364"/>
            </a:avLst>
          </a:prstGeom>
          <a:solidFill>
            <a:srgbClr val="FFFFFF"/>
          </a:solidFill>
          <a:ln w="12700">
            <a:solidFill>
              <a:srgbClr val="C6DAFC"/>
            </a:solidFill>
            <a:prstDash val="solid"/>
          </a:ln>
        </p:spPr>
      </p:sp>
      <p:sp>
        <p:nvSpPr>
          <p:cNvPr id="20" name="Text 18"/>
          <p:cNvSpPr txBox="1"/>
          <p:nvPr/>
        </p:nvSpPr>
        <p:spPr>
          <a:xfrm>
            <a:off x="4270248" y="5184648"/>
            <a:ext cx="3657600" cy="402336"/>
          </a:xfrm>
          <a:prstGeom prst="rect">
            <a:avLst/>
          </a:prstGeom>
          <a:noFill/>
          <a:ln/>
        </p:spPr>
        <p:txBody>
          <a:bodyPr wrap="square" lIns="508" tIns="508" rIns="508" bIns="508" rtlCol="0" anchor="ctr"/>
          <a:lstStyle/>
          <a:p>
            <a:pPr algn="l" indent="0" marL="0">
              <a:lnSpc>
                <a:spcPct val="105000"/>
              </a:lnSpc>
              <a:buNone/>
            </a:pPr>
            <a:r>
              <a:rPr lang="en-US" sz="950" b="1" dirty="0">
                <a:solidFill>
                  <a:srgbClr val="174EA6"/>
                </a:solidFill>
                <a:latin typeface="Courier New" pitchFamily="34" charset="0"/>
                <a:ea typeface="Courier New" pitchFamily="34" charset="-122"/>
                <a:cs typeface="Courier New" pitchFamily="34" charset="-120"/>
              </a:rPr>
              <a:t>session.state   </a:t>
            </a:r>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user: / app: / temp: scopes</a:t>
            </a:r>
            <a:endParaRPr lang="en-US" sz="950" dirty="0"/>
          </a:p>
        </p:txBody>
      </p:sp>
      <p:sp>
        <p:nvSpPr>
          <p:cNvPr id="21" name="Text 19"/>
          <p:cNvSpPr txBox="1"/>
          <p:nvPr/>
        </p:nvSpPr>
        <p:spPr>
          <a:xfrm>
            <a:off x="4114800" y="5760720"/>
            <a:ext cx="3931920" cy="365760"/>
          </a:xfrm>
          <a:prstGeom prst="rect">
            <a:avLst/>
          </a:prstGeom>
          <a:noFill/>
          <a:ln/>
        </p:spPr>
        <p:txBody>
          <a:bodyPr wrap="square" lIns="508" tIns="508" rIns="508" bIns="508" rtlCol="0" anchor="ctr"/>
          <a:lstStyle/>
          <a:p>
            <a:pPr algn="ctr" indent="0" marL="0">
              <a:lnSpc>
                <a:spcPct val="105000"/>
              </a:lnSpc>
              <a:buNone/>
            </a:pPr>
            <a:r>
              <a:rPr lang="en-US" sz="800" i="1" dirty="0">
                <a:solidFill>
                  <a:srgbClr val="6B4C9A"/>
                </a:solidFill>
                <a:latin typeface="Calibri" pitchFamily="34" charset="0"/>
                <a:ea typeface="Calibri" pitchFamily="34" charset="-122"/>
                <a:cs typeface="Calibri" pitchFamily="34" charset="-120"/>
              </a:rPr>
              <a:t>Runner event loop  ·  before_agent → before_model → LLM → after_model → before_tool → tool → after_tool → after_agent</a:t>
            </a:r>
            <a:endParaRPr lang="en-US" sz="800" dirty="0"/>
          </a:p>
        </p:txBody>
      </p:sp>
      <p:sp>
        <p:nvSpPr>
          <p:cNvPr id="22" name="Shape 20"/>
          <p:cNvSpPr/>
          <p:nvPr/>
        </p:nvSpPr>
        <p:spPr>
          <a:xfrm>
            <a:off x="548640" y="1965960"/>
            <a:ext cx="3017520" cy="1097280"/>
          </a:xfrm>
          <a:prstGeom prst="roundRect">
            <a:avLst>
              <a:gd name="adj" fmla="val 5000"/>
            </a:avLst>
          </a:prstGeom>
          <a:solidFill>
            <a:srgbClr val="FDEEE4"/>
          </a:solidFill>
          <a:ln w="12700">
            <a:solidFill>
              <a:srgbClr val="FDEEE4"/>
            </a:solidFill>
            <a:prstDash val="solid"/>
          </a:ln>
        </p:spPr>
      </p:sp>
      <p:sp>
        <p:nvSpPr>
          <p:cNvPr id="23" name="Text 21"/>
          <p:cNvSpPr txBox="1"/>
          <p:nvPr/>
        </p:nvSpPr>
        <p:spPr>
          <a:xfrm>
            <a:off x="658368" y="203911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before_model  →  AI Bridge</a:t>
            </a:r>
            <a:endParaRPr lang="en-US" sz="1050" dirty="0"/>
          </a:p>
        </p:txBody>
      </p:sp>
      <p:sp>
        <p:nvSpPr>
          <p:cNvPr id="24" name="Text 22"/>
          <p:cNvSpPr txBox="1"/>
          <p:nvPr/>
        </p:nvSpPr>
        <p:spPr>
          <a:xfrm>
            <a:off x="658368" y="229514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Model chosen from registry.yml; per-agent temp / top-P / token caps; failover, pairing, fusion</a:t>
            </a:r>
            <a:endParaRPr lang="en-US" sz="900" dirty="0"/>
          </a:p>
        </p:txBody>
      </p:sp>
      <p:sp>
        <p:nvSpPr>
          <p:cNvPr id="25" name="Shape 23"/>
          <p:cNvSpPr/>
          <p:nvPr/>
        </p:nvSpPr>
        <p:spPr>
          <a:xfrm>
            <a:off x="3566160" y="2514600"/>
            <a:ext cx="365760" cy="731520"/>
          </a:xfrm>
          <a:prstGeom prst="line">
            <a:avLst/>
          </a:prstGeom>
          <a:noFill/>
          <a:ln w="19050">
            <a:solidFill>
              <a:srgbClr val="C2410C"/>
            </a:solidFill>
            <a:prstDash val="solid"/>
            <a:tailEnd type="triangle"/>
          </a:ln>
        </p:spPr>
      </p:sp>
      <p:sp>
        <p:nvSpPr>
          <p:cNvPr id="26" name="Shape 24"/>
          <p:cNvSpPr/>
          <p:nvPr/>
        </p:nvSpPr>
        <p:spPr>
          <a:xfrm>
            <a:off x="548640" y="3291840"/>
            <a:ext cx="3017520" cy="1097280"/>
          </a:xfrm>
          <a:prstGeom prst="roundRect">
            <a:avLst>
              <a:gd name="adj" fmla="val 5000"/>
            </a:avLst>
          </a:prstGeom>
          <a:solidFill>
            <a:srgbClr val="FDEEE4"/>
          </a:solidFill>
          <a:ln w="12700">
            <a:solidFill>
              <a:srgbClr val="FDEEE4"/>
            </a:solidFill>
            <a:prstDash val="solid"/>
          </a:ln>
        </p:spPr>
      </p:sp>
      <p:sp>
        <p:nvSpPr>
          <p:cNvPr id="27" name="Text 25"/>
          <p:cNvSpPr txBox="1"/>
          <p:nvPr/>
        </p:nvSpPr>
        <p:spPr>
          <a:xfrm>
            <a:off x="658368" y="336499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before_tool  →  Safe-tool policy</a:t>
            </a:r>
            <a:endParaRPr lang="en-US" sz="1050" dirty="0"/>
          </a:p>
        </p:txBody>
      </p:sp>
      <p:sp>
        <p:nvSpPr>
          <p:cNvPr id="28" name="Text 26"/>
          <p:cNvSpPr txBox="1"/>
          <p:nvPr/>
        </p:nvSpPr>
        <p:spPr>
          <a:xfrm>
            <a:off x="658368" y="362102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Declarative YAML: allowed tools, budgets, loop detection before a money-movement tool runs twice</a:t>
            </a:r>
            <a:endParaRPr lang="en-US" sz="900" dirty="0"/>
          </a:p>
        </p:txBody>
      </p:sp>
      <p:sp>
        <p:nvSpPr>
          <p:cNvPr id="29" name="Shape 27"/>
          <p:cNvSpPr/>
          <p:nvPr/>
        </p:nvSpPr>
        <p:spPr>
          <a:xfrm flipV="1">
            <a:off x="3566160" y="3749040"/>
            <a:ext cx="365760" cy="91440"/>
          </a:xfrm>
          <a:prstGeom prst="line">
            <a:avLst/>
          </a:prstGeom>
          <a:noFill/>
          <a:ln w="19050">
            <a:solidFill>
              <a:srgbClr val="C2410C"/>
            </a:solidFill>
            <a:prstDash val="solid"/>
            <a:tailEnd type="triangle"/>
          </a:ln>
        </p:spPr>
      </p:sp>
      <p:sp>
        <p:nvSpPr>
          <p:cNvPr id="30" name="Shape 28"/>
          <p:cNvSpPr/>
          <p:nvPr/>
        </p:nvSpPr>
        <p:spPr>
          <a:xfrm>
            <a:off x="548640" y="4617720"/>
            <a:ext cx="3017520" cy="1097280"/>
          </a:xfrm>
          <a:prstGeom prst="roundRect">
            <a:avLst>
              <a:gd name="adj" fmla="val 5000"/>
            </a:avLst>
          </a:prstGeom>
          <a:solidFill>
            <a:srgbClr val="FDEEE4"/>
          </a:solidFill>
          <a:ln w="12700">
            <a:solidFill>
              <a:srgbClr val="FDEEE4"/>
            </a:solidFill>
            <a:prstDash val="solid"/>
          </a:ln>
        </p:spPr>
      </p:sp>
      <p:sp>
        <p:nvSpPr>
          <p:cNvPr id="31" name="Text 29"/>
          <p:cNvSpPr txBox="1"/>
          <p:nvPr/>
        </p:nvSpPr>
        <p:spPr>
          <a:xfrm>
            <a:off x="658368" y="469087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SessionService  →  Redis</a:t>
            </a:r>
            <a:endParaRPr lang="en-US" sz="1050" dirty="0"/>
          </a:p>
        </p:txBody>
      </p:sp>
      <p:sp>
        <p:nvSpPr>
          <p:cNvPr id="32" name="Text 30"/>
          <p:cNvSpPr txBox="1"/>
          <p:nvPr/>
        </p:nvSpPr>
        <p:spPr>
          <a:xfrm>
            <a:off x="658368" y="494690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ADK state interface; Tachyon-managed Redis with TTL, multi-cluster, SSL/mTLS</a:t>
            </a:r>
            <a:endParaRPr lang="en-US" sz="900" dirty="0"/>
          </a:p>
        </p:txBody>
      </p:sp>
      <p:sp>
        <p:nvSpPr>
          <p:cNvPr id="33" name="Shape 31"/>
          <p:cNvSpPr/>
          <p:nvPr/>
        </p:nvSpPr>
        <p:spPr>
          <a:xfrm>
            <a:off x="3566160" y="5166360"/>
            <a:ext cx="365760" cy="182880"/>
          </a:xfrm>
          <a:prstGeom prst="line">
            <a:avLst/>
          </a:prstGeom>
          <a:noFill/>
          <a:ln w="19050">
            <a:solidFill>
              <a:srgbClr val="C2410C"/>
            </a:solidFill>
            <a:prstDash val="solid"/>
            <a:tailEnd type="triangle"/>
          </a:ln>
        </p:spPr>
      </p:sp>
      <p:sp>
        <p:nvSpPr>
          <p:cNvPr id="34" name="Shape 32"/>
          <p:cNvSpPr/>
          <p:nvPr/>
        </p:nvSpPr>
        <p:spPr>
          <a:xfrm>
            <a:off x="8595360" y="1965960"/>
            <a:ext cx="3017520" cy="1097280"/>
          </a:xfrm>
          <a:prstGeom prst="roundRect">
            <a:avLst>
              <a:gd name="adj" fmla="val 5000"/>
            </a:avLst>
          </a:prstGeom>
          <a:solidFill>
            <a:srgbClr val="FDEEE4"/>
          </a:solidFill>
          <a:ln w="12700">
            <a:solidFill>
              <a:srgbClr val="FDEEE4"/>
            </a:solidFill>
            <a:prstDash val="solid"/>
          </a:ln>
        </p:spPr>
      </p:sp>
      <p:sp>
        <p:nvSpPr>
          <p:cNvPr id="35" name="Text 33"/>
          <p:cNvSpPr txBox="1"/>
          <p:nvPr/>
        </p:nvSpPr>
        <p:spPr>
          <a:xfrm>
            <a:off x="8705088" y="203911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after_model  →  Overwatch</a:t>
            </a:r>
            <a:endParaRPr lang="en-US" sz="1050" dirty="0"/>
          </a:p>
        </p:txBody>
      </p:sp>
      <p:sp>
        <p:nvSpPr>
          <p:cNvPr id="36" name="Text 34"/>
          <p:cNvSpPr txBox="1"/>
          <p:nvPr/>
        </p:nvSpPr>
        <p:spPr>
          <a:xfrm>
            <a:off x="8705088" y="229514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Goal-drift &amp; hallucination checks, LLM metrics logged, response validated</a:t>
            </a:r>
            <a:endParaRPr lang="en-US" sz="900" dirty="0"/>
          </a:p>
        </p:txBody>
      </p:sp>
      <p:sp>
        <p:nvSpPr>
          <p:cNvPr id="37" name="Shape 35"/>
          <p:cNvSpPr/>
          <p:nvPr/>
        </p:nvSpPr>
        <p:spPr>
          <a:xfrm flipH="1">
            <a:off x="8229600" y="2514600"/>
            <a:ext cx="365760" cy="731520"/>
          </a:xfrm>
          <a:prstGeom prst="line">
            <a:avLst/>
          </a:prstGeom>
          <a:noFill/>
          <a:ln w="19050">
            <a:solidFill>
              <a:srgbClr val="C2410C"/>
            </a:solidFill>
            <a:prstDash val="solid"/>
            <a:tailEnd type="triangle"/>
          </a:ln>
        </p:spPr>
      </p:sp>
      <p:sp>
        <p:nvSpPr>
          <p:cNvPr id="38" name="Shape 36"/>
          <p:cNvSpPr/>
          <p:nvPr/>
        </p:nvSpPr>
        <p:spPr>
          <a:xfrm>
            <a:off x="8595360" y="3291840"/>
            <a:ext cx="3017520" cy="1097280"/>
          </a:xfrm>
          <a:prstGeom prst="roundRect">
            <a:avLst>
              <a:gd name="adj" fmla="val 5000"/>
            </a:avLst>
          </a:prstGeom>
          <a:solidFill>
            <a:srgbClr val="FDEEE4"/>
          </a:solidFill>
          <a:ln w="12700">
            <a:solidFill>
              <a:srgbClr val="FDEEE4"/>
            </a:solidFill>
            <a:prstDash val="solid"/>
          </a:ln>
        </p:spPr>
      </p:sp>
      <p:sp>
        <p:nvSpPr>
          <p:cNvPr id="39" name="Text 37"/>
          <p:cNvSpPr txBox="1"/>
          <p:nvPr/>
        </p:nvSpPr>
        <p:spPr>
          <a:xfrm>
            <a:off x="8705088" y="336499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MCPToolset  →  Tool Registry</a:t>
            </a:r>
            <a:endParaRPr lang="en-US" sz="1050" dirty="0"/>
          </a:p>
        </p:txBody>
      </p:sp>
      <p:sp>
        <p:nvSpPr>
          <p:cNvPr id="40" name="Text 38"/>
          <p:cNvSpPr txBox="1"/>
          <p:nvPr/>
        </p:nvSpPr>
        <p:spPr>
          <a:xfrm>
            <a:off x="8705088" y="362102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Tachyon auto-registers MCP servers; the agent discovers and executes tools directly</a:t>
            </a:r>
            <a:endParaRPr lang="en-US" sz="900" dirty="0"/>
          </a:p>
        </p:txBody>
      </p:sp>
      <p:sp>
        <p:nvSpPr>
          <p:cNvPr id="41" name="Shape 39"/>
          <p:cNvSpPr/>
          <p:nvPr/>
        </p:nvSpPr>
        <p:spPr>
          <a:xfrm flipH="1">
            <a:off x="8229600" y="3840480"/>
            <a:ext cx="365760" cy="457200"/>
          </a:xfrm>
          <a:prstGeom prst="line">
            <a:avLst/>
          </a:prstGeom>
          <a:noFill/>
          <a:ln w="19050">
            <a:solidFill>
              <a:srgbClr val="C2410C"/>
            </a:solidFill>
            <a:prstDash val="solid"/>
            <a:tailEnd type="triangle"/>
          </a:ln>
        </p:spPr>
      </p:sp>
      <p:sp>
        <p:nvSpPr>
          <p:cNvPr id="42" name="Shape 40"/>
          <p:cNvSpPr/>
          <p:nvPr/>
        </p:nvSpPr>
        <p:spPr>
          <a:xfrm>
            <a:off x="8595360" y="4617720"/>
            <a:ext cx="3017520" cy="1097280"/>
          </a:xfrm>
          <a:prstGeom prst="roundRect">
            <a:avLst>
              <a:gd name="adj" fmla="val 5000"/>
            </a:avLst>
          </a:prstGeom>
          <a:solidFill>
            <a:srgbClr val="FDEEE4"/>
          </a:solidFill>
          <a:ln w="12700">
            <a:solidFill>
              <a:srgbClr val="FDEEE4"/>
            </a:solidFill>
            <a:prstDash val="solid"/>
          </a:ln>
        </p:spPr>
      </p:sp>
      <p:sp>
        <p:nvSpPr>
          <p:cNvPr id="43" name="Text 41"/>
          <p:cNvSpPr txBox="1"/>
          <p:nvPr/>
        </p:nvSpPr>
        <p:spPr>
          <a:xfrm>
            <a:off x="8705088" y="4690872"/>
            <a:ext cx="2798064"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C2410C"/>
                </a:solidFill>
                <a:latin typeface="Calibri" pitchFamily="34" charset="0"/>
                <a:ea typeface="Calibri" pitchFamily="34" charset="-122"/>
                <a:cs typeface="Calibri" pitchFamily="34" charset="-120"/>
              </a:rPr>
              <a:t>OTel spans  →  Arize Phoenix</a:t>
            </a:r>
            <a:endParaRPr lang="en-US" sz="1050" dirty="0"/>
          </a:p>
        </p:txBody>
      </p:sp>
      <p:sp>
        <p:nvSpPr>
          <p:cNvPr id="44" name="Text 42"/>
          <p:cNvSpPr txBox="1"/>
          <p:nvPr/>
        </p:nvSpPr>
        <p:spPr>
          <a:xfrm>
            <a:off x="8705088" y="4946904"/>
            <a:ext cx="2798064" cy="713232"/>
          </a:xfrm>
          <a:prstGeom prst="rect">
            <a:avLst/>
          </a:prstGeom>
          <a:noFill/>
          <a:ln/>
        </p:spPr>
        <p:txBody>
          <a:bodyPr wrap="square" lIns="508" tIns="508" rIns="508" bIns="508" rtlCol="0" anchor="t"/>
          <a:lstStyle/>
          <a:p>
            <a:pPr algn="l" indent="0" marL="0">
              <a:lnSpc>
                <a:spcPct val="110000"/>
              </a:lnSpc>
              <a:buNone/>
            </a:pPr>
            <a:r>
              <a:rPr lang="en-US" sz="900" dirty="0">
                <a:solidFill>
                  <a:srgbClr val="5F6368"/>
                </a:solidFill>
                <a:latin typeface="Calibri" pitchFamily="34" charset="0"/>
                <a:ea typeface="Calibri" pitchFamily="34" charset="-122"/>
                <a:cs typeface="Calibri" pitchFamily="34" charset="-120"/>
              </a:rPr>
              <a:t>Every model &amp; tool call traced with tokens and latency, exportable to WF tooling</a:t>
            </a:r>
            <a:endParaRPr lang="en-US" sz="900" dirty="0"/>
          </a:p>
        </p:txBody>
      </p:sp>
      <p:sp>
        <p:nvSpPr>
          <p:cNvPr id="45" name="Shape 43"/>
          <p:cNvSpPr/>
          <p:nvPr/>
        </p:nvSpPr>
        <p:spPr>
          <a:xfrm flipH="1">
            <a:off x="8229600" y="5166360"/>
            <a:ext cx="365760" cy="182880"/>
          </a:xfrm>
          <a:prstGeom prst="line">
            <a:avLst/>
          </a:prstGeom>
          <a:noFill/>
          <a:ln w="19050">
            <a:solidFill>
              <a:srgbClr val="C2410C"/>
            </a:solidFill>
            <a:prstDash val="solid"/>
            <a:tailEnd type="triangle"/>
          </a:ln>
        </p:spPr>
      </p:sp>
      <p:sp>
        <p:nvSpPr>
          <p:cNvPr id="46" name="Shape 44"/>
          <p:cNvSpPr/>
          <p:nvPr/>
        </p:nvSpPr>
        <p:spPr>
          <a:xfrm>
            <a:off x="548640" y="6428232"/>
            <a:ext cx="164592" cy="164592"/>
          </a:xfrm>
          <a:prstGeom prst="roundRect">
            <a:avLst>
              <a:gd name="adj" fmla="val 16667"/>
            </a:avLst>
          </a:prstGeom>
          <a:solidFill>
            <a:srgbClr val="1A73E8"/>
          </a:solidFill>
          <a:ln w="12700">
            <a:solidFill>
              <a:srgbClr val="1A73E8"/>
            </a:solidFill>
            <a:prstDash val="solid"/>
          </a:ln>
        </p:spPr>
      </p:sp>
      <p:sp>
        <p:nvSpPr>
          <p:cNvPr id="47" name="Text 45"/>
          <p:cNvSpPr txBox="1"/>
          <p:nvPr/>
        </p:nvSpPr>
        <p:spPr>
          <a:xfrm>
            <a:off x="76809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Google ADK core</a:t>
            </a:r>
            <a:endParaRPr lang="en-US" sz="950" dirty="0"/>
          </a:p>
        </p:txBody>
      </p:sp>
      <p:sp>
        <p:nvSpPr>
          <p:cNvPr id="48" name="Shape 46"/>
          <p:cNvSpPr/>
          <p:nvPr/>
        </p:nvSpPr>
        <p:spPr>
          <a:xfrm>
            <a:off x="2331720" y="6428232"/>
            <a:ext cx="164592" cy="164592"/>
          </a:xfrm>
          <a:prstGeom prst="roundRect">
            <a:avLst>
              <a:gd name="adj" fmla="val 16667"/>
            </a:avLst>
          </a:prstGeom>
          <a:solidFill>
            <a:srgbClr val="6B4C9A"/>
          </a:solidFill>
          <a:ln w="12700">
            <a:solidFill>
              <a:srgbClr val="6B4C9A"/>
            </a:solidFill>
            <a:prstDash val="solid"/>
          </a:ln>
        </p:spPr>
      </p:sp>
      <p:sp>
        <p:nvSpPr>
          <p:cNvPr id="49" name="Text 47"/>
          <p:cNvSpPr txBox="1"/>
          <p:nvPr/>
        </p:nvSpPr>
        <p:spPr>
          <a:xfrm>
            <a:off x="255117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wrapper</a:t>
            </a:r>
            <a:endParaRPr lang="en-US" sz="950" dirty="0"/>
          </a:p>
        </p:txBody>
      </p:sp>
      <p:sp>
        <p:nvSpPr>
          <p:cNvPr id="50" name="Shape 48"/>
          <p:cNvSpPr/>
          <p:nvPr/>
        </p:nvSpPr>
        <p:spPr>
          <a:xfrm>
            <a:off x="4114800" y="6428232"/>
            <a:ext cx="164592" cy="164592"/>
          </a:xfrm>
          <a:prstGeom prst="roundRect">
            <a:avLst>
              <a:gd name="adj" fmla="val 16667"/>
            </a:avLst>
          </a:prstGeom>
          <a:solidFill>
            <a:srgbClr val="C2410C"/>
          </a:solidFill>
          <a:ln w="12700">
            <a:solidFill>
              <a:srgbClr val="C2410C"/>
            </a:solidFill>
            <a:prstDash val="solid"/>
          </a:ln>
        </p:spPr>
      </p:sp>
      <p:sp>
        <p:nvSpPr>
          <p:cNvPr id="51" name="Text 49"/>
          <p:cNvSpPr txBox="1"/>
          <p:nvPr/>
        </p:nvSpPr>
        <p:spPr>
          <a:xfrm>
            <a:off x="433425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Tachyon platform</a:t>
            </a:r>
            <a:endParaRPr lang="en-US" sz="950" dirty="0"/>
          </a:p>
        </p:txBody>
      </p:sp>
      <p:sp>
        <p:nvSpPr>
          <p:cNvPr id="52" name="Text 50"/>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53" name="Text 51"/>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Session state and long-term memory</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Agents use ADK's Session and Memory interfaces; the TSDK adapters point them at Tachyon-managed Redis and Mem0.</a:t>
            </a:r>
            <a:endParaRPr lang="en-US" sz="1300" dirty="0"/>
          </a:p>
        </p:txBody>
      </p:sp>
      <p:sp>
        <p:nvSpPr>
          <p:cNvPr id="4" name="Shape 2"/>
          <p:cNvSpPr/>
          <p:nvPr/>
        </p:nvSpPr>
        <p:spPr>
          <a:xfrm>
            <a:off x="548640" y="1920240"/>
            <a:ext cx="5486400" cy="3566160"/>
          </a:xfrm>
          <a:prstGeom prst="roundRect">
            <a:avLst>
              <a:gd name="adj" fmla="val 2564"/>
            </a:avLst>
          </a:prstGeom>
          <a:solidFill>
            <a:srgbClr val="F1F3F4"/>
          </a:solidFill>
          <a:ln w="12700">
            <a:solidFill>
              <a:srgbClr val="F1F3F4"/>
            </a:solidFill>
            <a:prstDash val="solid"/>
          </a:ln>
        </p:spPr>
      </p:sp>
      <p:sp>
        <p:nvSpPr>
          <p:cNvPr id="5" name="Text 3"/>
          <p:cNvSpPr txBox="1"/>
          <p:nvPr/>
        </p:nvSpPr>
        <p:spPr>
          <a:xfrm>
            <a:off x="731520" y="2029968"/>
            <a:ext cx="36576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Short-term (session state)</a:t>
            </a:r>
            <a:endParaRPr lang="en-US" sz="1100" dirty="0"/>
          </a:p>
        </p:txBody>
      </p:sp>
      <p:sp>
        <p:nvSpPr>
          <p:cNvPr id="6" name="Text 4"/>
          <p:cNvSpPr txBox="1"/>
          <p:nvPr/>
        </p:nvSpPr>
        <p:spPr>
          <a:xfrm>
            <a:off x="731520" y="2304288"/>
            <a:ext cx="5120640" cy="457200"/>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"Customer disputing a charge is routed Transactions → Card Management. Context must carry over."</a:t>
            </a:r>
            <a:endParaRPr lang="en-US" sz="950" dirty="0"/>
          </a:p>
        </p:txBody>
      </p:sp>
      <p:sp>
        <p:nvSpPr>
          <p:cNvPr id="7" name="Shape 5"/>
          <p:cNvSpPr/>
          <p:nvPr/>
        </p:nvSpPr>
        <p:spPr>
          <a:xfrm>
            <a:off x="822960" y="2880360"/>
            <a:ext cx="2103120" cy="685800"/>
          </a:xfrm>
          <a:prstGeom prst="roundRect">
            <a:avLst>
              <a:gd name="adj" fmla="val 9333"/>
            </a:avLst>
          </a:prstGeom>
          <a:solidFill>
            <a:srgbClr val="1A73E8"/>
          </a:solidFill>
          <a:ln w="12700">
            <a:solidFill>
              <a:srgbClr val="1A73E8"/>
            </a:solidFill>
            <a:prstDash val="solid"/>
          </a:ln>
        </p:spPr>
      </p:sp>
      <p:sp>
        <p:nvSpPr>
          <p:cNvPr id="8" name="Text 6"/>
          <p:cNvSpPr txBox="1"/>
          <p:nvPr/>
        </p:nvSpPr>
        <p:spPr>
          <a:xfrm>
            <a:off x="822960" y="2880360"/>
            <a:ext cx="2103120" cy="685800"/>
          </a:xfrm>
          <a:prstGeom prst="rect">
            <a:avLst/>
          </a:prstGeom>
          <a:noFill/>
          <a:ln/>
        </p:spPr>
        <p:txBody>
          <a:bodyPr wrap="square" lIns="508" tIns="508" rIns="508" bIns="508"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Transactions Agent</a:t>
            </a:r>
            <a:endParaRPr lang="en-US" sz="950" dirty="0"/>
          </a:p>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ADK LlmAgent</a:t>
            </a:r>
            <a:endParaRPr lang="en-US" sz="950" dirty="0"/>
          </a:p>
        </p:txBody>
      </p:sp>
      <p:sp>
        <p:nvSpPr>
          <p:cNvPr id="9" name="Shape 7"/>
          <p:cNvSpPr/>
          <p:nvPr/>
        </p:nvSpPr>
        <p:spPr>
          <a:xfrm>
            <a:off x="3657600" y="2880360"/>
            <a:ext cx="2103120" cy="685800"/>
          </a:xfrm>
          <a:prstGeom prst="roundRect">
            <a:avLst>
              <a:gd name="adj" fmla="val 9333"/>
            </a:avLst>
          </a:prstGeom>
          <a:solidFill>
            <a:srgbClr val="1A73E8"/>
          </a:solidFill>
          <a:ln w="12700">
            <a:solidFill>
              <a:srgbClr val="1A73E8"/>
            </a:solidFill>
            <a:prstDash val="solid"/>
          </a:ln>
        </p:spPr>
      </p:sp>
      <p:sp>
        <p:nvSpPr>
          <p:cNvPr id="10" name="Text 8"/>
          <p:cNvSpPr txBox="1"/>
          <p:nvPr/>
        </p:nvSpPr>
        <p:spPr>
          <a:xfrm>
            <a:off x="3657600" y="2880360"/>
            <a:ext cx="2103120" cy="685800"/>
          </a:xfrm>
          <a:prstGeom prst="rect">
            <a:avLst/>
          </a:prstGeom>
          <a:noFill/>
          <a:ln/>
        </p:spPr>
        <p:txBody>
          <a:bodyPr wrap="square" lIns="508" tIns="508" rIns="508" bIns="508"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Card Mgmt Agent</a:t>
            </a:r>
            <a:endParaRPr lang="en-US" sz="950" dirty="0"/>
          </a:p>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ADK LlmAgent</a:t>
            </a:r>
            <a:endParaRPr lang="en-US" sz="950" dirty="0"/>
          </a:p>
        </p:txBody>
      </p:sp>
      <p:sp>
        <p:nvSpPr>
          <p:cNvPr id="11" name="Shape 9"/>
          <p:cNvSpPr/>
          <p:nvPr/>
        </p:nvSpPr>
        <p:spPr>
          <a:xfrm>
            <a:off x="2926080" y="3218688"/>
            <a:ext cx="731520" cy="914"/>
          </a:xfrm>
          <a:prstGeom prst="line">
            <a:avLst/>
          </a:prstGeom>
          <a:noFill/>
          <a:ln w="19050">
            <a:solidFill>
              <a:srgbClr val="1A73E8"/>
            </a:solidFill>
            <a:prstDash val="solid"/>
            <a:tailEnd type="triangle"/>
          </a:ln>
        </p:spPr>
      </p:sp>
      <p:sp>
        <p:nvSpPr>
          <p:cNvPr id="12" name="Text 10"/>
          <p:cNvSpPr txBox="1"/>
          <p:nvPr/>
        </p:nvSpPr>
        <p:spPr>
          <a:xfrm>
            <a:off x="2926080" y="2880360"/>
            <a:ext cx="731520" cy="274320"/>
          </a:xfrm>
          <a:prstGeom prst="rect">
            <a:avLst/>
          </a:prstGeom>
          <a:noFill/>
          <a:ln/>
        </p:spPr>
        <p:txBody>
          <a:bodyPr wrap="square" lIns="508" tIns="508" rIns="508" bIns="508" rtlCol="0" anchor="t"/>
          <a:lstStyle/>
          <a:p>
            <a:pPr algn="ctr" indent="0" marL="0">
              <a:lnSpc>
                <a:spcPct val="105000"/>
              </a:lnSpc>
              <a:buNone/>
            </a:pPr>
            <a:r>
              <a:rPr lang="en-US" sz="800" dirty="0">
                <a:solidFill>
                  <a:srgbClr val="1A73E8"/>
                </a:solidFill>
                <a:latin typeface="Calibri" pitchFamily="34" charset="0"/>
                <a:ea typeface="Calibri" pitchFamily="34" charset="-122"/>
                <a:cs typeface="Calibri" pitchFamily="34" charset="-120"/>
              </a:rPr>
              <a:t>hand-off</a:t>
            </a:r>
            <a:endParaRPr lang="en-US" sz="800" dirty="0"/>
          </a:p>
        </p:txBody>
      </p:sp>
      <p:sp>
        <p:nvSpPr>
          <p:cNvPr id="13" name="Shape 11"/>
          <p:cNvSpPr/>
          <p:nvPr/>
        </p:nvSpPr>
        <p:spPr>
          <a:xfrm>
            <a:off x="822960" y="3794760"/>
            <a:ext cx="4937760" cy="502920"/>
          </a:xfrm>
          <a:prstGeom prst="roundRect">
            <a:avLst>
              <a:gd name="adj" fmla="val 9091"/>
            </a:avLst>
          </a:prstGeom>
          <a:solidFill>
            <a:srgbClr val="FFFFFF"/>
          </a:solidFill>
          <a:ln w="12700">
            <a:solidFill>
              <a:srgbClr val="1A73E8"/>
            </a:solidFill>
            <a:prstDash val="solid"/>
          </a:ln>
        </p:spPr>
      </p:sp>
      <p:sp>
        <p:nvSpPr>
          <p:cNvPr id="14" name="Text 12"/>
          <p:cNvSpPr txBox="1"/>
          <p:nvPr/>
        </p:nvSpPr>
        <p:spPr>
          <a:xfrm>
            <a:off x="914400" y="3794760"/>
            <a:ext cx="4754880" cy="502920"/>
          </a:xfrm>
          <a:prstGeom prst="rect">
            <a:avLst/>
          </a:prstGeom>
          <a:noFill/>
          <a:ln/>
        </p:spPr>
        <p:txBody>
          <a:bodyPr wrap="square" lIns="508" tIns="508" rIns="508" bIns="508" rtlCol="0" anchor="ctr"/>
          <a:lstStyle/>
          <a:p>
            <a:pPr algn="l" indent="0" marL="0">
              <a:lnSpc>
                <a:spcPct val="105000"/>
              </a:lnSpc>
              <a:buNone/>
            </a:pPr>
            <a:r>
              <a:rPr lang="en-US" sz="900" b="1" dirty="0">
                <a:solidFill>
                  <a:srgbClr val="1A73E8"/>
                </a:solidFill>
                <a:latin typeface="Calibri" pitchFamily="34" charset="0"/>
                <a:ea typeface="Calibri" pitchFamily="34" charset="-122"/>
                <a:cs typeface="Calibri" pitchFamily="34" charset="-120"/>
              </a:rPr>
              <a:t>ADK  </a:t>
            </a:r>
            <a:pPr algn="l" indent="0" marL="0">
              <a:lnSpc>
                <a:spcPct val="105000"/>
              </a:lnSpc>
              <a:buNone/>
            </a:pPr>
            <a:r>
              <a:rPr lang="en-US" sz="900" b="1" dirty="0">
                <a:solidFill>
                  <a:srgbClr val="202124"/>
                </a:solidFill>
                <a:latin typeface="Calibri" pitchFamily="34" charset="0"/>
                <a:ea typeface="Calibri" pitchFamily="34" charset="-122"/>
                <a:cs typeface="Calibri" pitchFamily="34" charset="-120"/>
              </a:rPr>
              <a:t>Session · State via TSDK adapter  —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user:  app:  temp:  scopes, InvocationContext, state deltas in events</a:t>
            </a:r>
            <a:endParaRPr lang="en-US" sz="900" dirty="0"/>
          </a:p>
        </p:txBody>
      </p:sp>
      <p:sp>
        <p:nvSpPr>
          <p:cNvPr id="15" name="Shape 13"/>
          <p:cNvSpPr/>
          <p:nvPr/>
        </p:nvSpPr>
        <p:spPr>
          <a:xfrm>
            <a:off x="1874520" y="3566160"/>
            <a:ext cx="914" cy="228600"/>
          </a:xfrm>
          <a:prstGeom prst="line">
            <a:avLst/>
          </a:prstGeom>
          <a:noFill/>
          <a:ln w="19050">
            <a:solidFill>
              <a:srgbClr val="1A73E8"/>
            </a:solidFill>
            <a:prstDash val="solid"/>
            <a:tailEnd type="triangle"/>
          </a:ln>
        </p:spPr>
      </p:sp>
      <p:sp>
        <p:nvSpPr>
          <p:cNvPr id="16" name="Shape 14"/>
          <p:cNvSpPr/>
          <p:nvPr/>
        </p:nvSpPr>
        <p:spPr>
          <a:xfrm>
            <a:off x="4709160" y="3566160"/>
            <a:ext cx="914" cy="228600"/>
          </a:xfrm>
          <a:prstGeom prst="line">
            <a:avLst/>
          </a:prstGeom>
          <a:noFill/>
          <a:ln w="19050">
            <a:solidFill>
              <a:srgbClr val="1A73E8"/>
            </a:solidFill>
            <a:prstDash val="solid"/>
            <a:tailEnd type="triangle"/>
          </a:ln>
        </p:spPr>
      </p:sp>
      <p:sp>
        <p:nvSpPr>
          <p:cNvPr id="17" name="Shape 15"/>
          <p:cNvSpPr/>
          <p:nvPr/>
        </p:nvSpPr>
        <p:spPr>
          <a:xfrm>
            <a:off x="822960" y="4526280"/>
            <a:ext cx="4937760" cy="731520"/>
          </a:xfrm>
          <a:prstGeom prst="roundRect">
            <a:avLst>
              <a:gd name="adj" fmla="val 6250"/>
            </a:avLst>
          </a:prstGeom>
          <a:solidFill>
            <a:srgbClr val="C2410C"/>
          </a:solidFill>
          <a:ln w="12700">
            <a:solidFill>
              <a:srgbClr val="C2410C"/>
            </a:solidFill>
            <a:prstDash val="solid"/>
          </a:ln>
        </p:spPr>
      </p:sp>
      <p:sp>
        <p:nvSpPr>
          <p:cNvPr id="18" name="Text 16"/>
          <p:cNvSpPr txBox="1"/>
          <p:nvPr/>
        </p:nvSpPr>
        <p:spPr>
          <a:xfrm>
            <a:off x="914400" y="4526280"/>
            <a:ext cx="4754880" cy="731520"/>
          </a:xfrm>
          <a:prstGeom prst="rect">
            <a:avLst/>
          </a:prstGeom>
          <a:noFill/>
          <a:ln/>
        </p:spPr>
        <p:txBody>
          <a:bodyPr wrap="square" lIns="508" tIns="508" rIns="508" bIns="508" rtlCol="0" anchor="ctr"/>
          <a:lstStyle/>
          <a:p>
            <a:pPr algn="l" indent="0" marL="0">
              <a:lnSpc>
                <a:spcPct val="105000"/>
              </a:lnSpc>
              <a:buNone/>
            </a:pPr>
            <a:r>
              <a:rPr lang="en-US" sz="900" b="1" dirty="0">
                <a:solidFill>
                  <a:srgbClr val="FFE0CC"/>
                </a:solidFill>
                <a:latin typeface="Calibri" pitchFamily="34" charset="0"/>
                <a:ea typeface="Calibri" pitchFamily="34" charset="-122"/>
                <a:cs typeface="Calibri" pitchFamily="34" charset="-120"/>
              </a:rPr>
              <a:t>TACHYON  </a:t>
            </a:r>
            <a:pPr algn="l" indent="0" marL="0">
              <a:lnSpc>
                <a:spcPct val="105000"/>
              </a:lnSpc>
              <a:buNone/>
            </a:pPr>
            <a:r>
              <a:rPr lang="en-US" sz="900" b="1" dirty="0">
                <a:solidFill>
                  <a:srgbClr val="FFFFFF"/>
                </a:solidFill>
                <a:latin typeface="Calibri" pitchFamily="34" charset="0"/>
                <a:ea typeface="Calibri" pitchFamily="34" charset="-122"/>
                <a:cs typeface="Calibri" pitchFamily="34" charset="-120"/>
              </a:rPr>
              <a:t>Redis state store  —  </a:t>
            </a:r>
            <a:pPr algn="l" indent="0" marL="0">
              <a:lnSpc>
                <a:spcPct val="105000"/>
              </a:lnSpc>
              <a:buNone/>
            </a:pPr>
            <a:r>
              <a:rPr lang="en-US" sz="900" dirty="0">
                <a:solidFill>
                  <a:srgbClr val="FFE8D9"/>
                </a:solidFill>
                <a:latin typeface="Calibri" pitchFamily="34" charset="0"/>
                <a:ea typeface="Calibri" pitchFamily="34" charset="-122"/>
                <a:cs typeface="Calibri" pitchFamily="34" charset="-120"/>
              </a:rPr>
              <a:t>configurable TTL, multi-cluster, SSL/mTLS, true cross-agent shared state</a:t>
            </a:r>
            <a:endParaRPr lang="en-US" sz="900" dirty="0"/>
          </a:p>
        </p:txBody>
      </p:sp>
      <p:sp>
        <p:nvSpPr>
          <p:cNvPr id="19" name="Shape 17"/>
          <p:cNvSpPr/>
          <p:nvPr/>
        </p:nvSpPr>
        <p:spPr>
          <a:xfrm>
            <a:off x="3291840" y="4297680"/>
            <a:ext cx="914" cy="228600"/>
          </a:xfrm>
          <a:prstGeom prst="line">
            <a:avLst/>
          </a:prstGeom>
          <a:noFill/>
          <a:ln w="19050">
            <a:solidFill>
              <a:srgbClr val="C2410C"/>
            </a:solidFill>
            <a:prstDash val="solid"/>
            <a:tailEnd type="triangle"/>
          </a:ln>
        </p:spPr>
      </p:sp>
      <p:sp>
        <p:nvSpPr>
          <p:cNvPr id="20" name="Shape 18"/>
          <p:cNvSpPr/>
          <p:nvPr/>
        </p:nvSpPr>
        <p:spPr>
          <a:xfrm>
            <a:off x="6309360" y="1920240"/>
            <a:ext cx="5303520" cy="3566160"/>
          </a:xfrm>
          <a:prstGeom prst="roundRect">
            <a:avLst>
              <a:gd name="adj" fmla="val 2564"/>
            </a:avLst>
          </a:prstGeom>
          <a:solidFill>
            <a:srgbClr val="F1F3F4"/>
          </a:solidFill>
          <a:ln w="12700">
            <a:solidFill>
              <a:srgbClr val="F1F3F4"/>
            </a:solidFill>
            <a:prstDash val="solid"/>
          </a:ln>
        </p:spPr>
      </p:sp>
      <p:sp>
        <p:nvSpPr>
          <p:cNvPr id="21" name="Text 19"/>
          <p:cNvSpPr txBox="1"/>
          <p:nvPr/>
        </p:nvSpPr>
        <p:spPr>
          <a:xfrm>
            <a:off x="6492240" y="2029968"/>
            <a:ext cx="41148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Long-term (across sessions)</a:t>
            </a:r>
            <a:endParaRPr lang="en-US" sz="1100" dirty="0"/>
          </a:p>
        </p:txBody>
      </p:sp>
      <p:sp>
        <p:nvSpPr>
          <p:cNvPr id="22" name="Text 20"/>
          <p:cNvSpPr txBox="1"/>
          <p:nvPr/>
        </p:nvSpPr>
        <p:spPr>
          <a:xfrm>
            <a:off x="6492240" y="2304288"/>
            <a:ext cx="4937760" cy="457200"/>
          </a:xfrm>
          <a:prstGeom prst="rect">
            <a:avLst/>
          </a:prstGeom>
          <a:noFill/>
          <a:ln/>
        </p:spPr>
        <p:txBody>
          <a:bodyPr wrap="square" lIns="508" tIns="508" rIns="508" bIns="508" rtlCol="0" anchor="t"/>
          <a:lstStyle/>
          <a:p>
            <a:pPr algn="l" indent="0" marL="0">
              <a:lnSpc>
                <a:spcPct val="105000"/>
              </a:lnSpc>
              <a:buNone/>
            </a:pPr>
            <a:r>
              <a:rPr lang="en-US" sz="950" i="1" dirty="0">
                <a:solidFill>
                  <a:srgbClr val="5F6368"/>
                </a:solidFill>
                <a:latin typeface="Calibri" pitchFamily="34" charset="0"/>
                <a:ea typeface="Calibri" pitchFamily="34" charset="-122"/>
                <a:cs typeface="Calibri" pitchFamily="34" charset="-120"/>
              </a:rPr>
              <a:t>"A returning customer set a savings goal last month — the assistant should recall it."</a:t>
            </a:r>
            <a:endParaRPr lang="en-US" sz="950" dirty="0"/>
          </a:p>
        </p:txBody>
      </p:sp>
      <p:sp>
        <p:nvSpPr>
          <p:cNvPr id="23" name="Shape 21"/>
          <p:cNvSpPr/>
          <p:nvPr/>
        </p:nvSpPr>
        <p:spPr>
          <a:xfrm>
            <a:off x="6583680" y="2880360"/>
            <a:ext cx="4754880" cy="685800"/>
          </a:xfrm>
          <a:prstGeom prst="roundRect">
            <a:avLst>
              <a:gd name="adj" fmla="val 9333"/>
            </a:avLst>
          </a:prstGeom>
          <a:solidFill>
            <a:srgbClr val="1A73E8"/>
          </a:solidFill>
          <a:ln w="12700">
            <a:solidFill>
              <a:srgbClr val="1A73E8"/>
            </a:solidFill>
            <a:prstDash val="solid"/>
          </a:ln>
        </p:spPr>
      </p:sp>
      <p:sp>
        <p:nvSpPr>
          <p:cNvPr id="24" name="Text 22"/>
          <p:cNvSpPr txBox="1"/>
          <p:nvPr/>
        </p:nvSpPr>
        <p:spPr>
          <a:xfrm>
            <a:off x="6583680" y="2880360"/>
            <a:ext cx="4754880" cy="685800"/>
          </a:xfrm>
          <a:prstGeom prst="rect">
            <a:avLst/>
          </a:prstGeom>
          <a:noFill/>
          <a:ln/>
        </p:spPr>
        <p:txBody>
          <a:bodyPr wrap="square" lIns="508" tIns="508" rIns="508" bIns="508" rtlCol="0" anchor="ctr"/>
          <a:lstStyle/>
          <a:p>
            <a:pPr algn="ctr" indent="0" marL="0">
              <a:lnSpc>
                <a:spcPct val="105000"/>
              </a:lnSpc>
              <a:buNone/>
            </a:pPr>
            <a:r>
              <a:rPr lang="en-US" sz="950" b="1" dirty="0">
                <a:solidFill>
                  <a:srgbClr val="FFFFFF"/>
                </a:solidFill>
                <a:latin typeface="Calibri" pitchFamily="34" charset="0"/>
                <a:ea typeface="Calibri" pitchFamily="34" charset="-122"/>
                <a:cs typeface="Calibri" pitchFamily="34" charset="-120"/>
              </a:rPr>
              <a:t>Any Fargo agent  ·  ADK LlmAgent</a:t>
            </a:r>
            <a:endParaRPr lang="en-US" sz="950" dirty="0"/>
          </a:p>
        </p:txBody>
      </p:sp>
      <p:sp>
        <p:nvSpPr>
          <p:cNvPr id="25" name="Shape 23"/>
          <p:cNvSpPr/>
          <p:nvPr/>
        </p:nvSpPr>
        <p:spPr>
          <a:xfrm>
            <a:off x="6583680" y="3794760"/>
            <a:ext cx="4754880" cy="502920"/>
          </a:xfrm>
          <a:prstGeom prst="roundRect">
            <a:avLst>
              <a:gd name="adj" fmla="val 9091"/>
            </a:avLst>
          </a:prstGeom>
          <a:solidFill>
            <a:srgbClr val="FFFFFF"/>
          </a:solidFill>
          <a:ln w="12700">
            <a:solidFill>
              <a:srgbClr val="1A73E8"/>
            </a:solidFill>
            <a:prstDash val="solid"/>
          </a:ln>
        </p:spPr>
      </p:sp>
      <p:sp>
        <p:nvSpPr>
          <p:cNvPr id="26" name="Text 24"/>
          <p:cNvSpPr txBox="1"/>
          <p:nvPr/>
        </p:nvSpPr>
        <p:spPr>
          <a:xfrm>
            <a:off x="6675120" y="3794760"/>
            <a:ext cx="4572000" cy="502920"/>
          </a:xfrm>
          <a:prstGeom prst="rect">
            <a:avLst/>
          </a:prstGeom>
          <a:noFill/>
          <a:ln/>
        </p:spPr>
        <p:txBody>
          <a:bodyPr wrap="square" lIns="508" tIns="508" rIns="508" bIns="508" rtlCol="0" anchor="ctr"/>
          <a:lstStyle/>
          <a:p>
            <a:pPr algn="l" indent="0" marL="0">
              <a:lnSpc>
                <a:spcPct val="105000"/>
              </a:lnSpc>
              <a:buNone/>
            </a:pPr>
            <a:r>
              <a:rPr lang="en-US" sz="900" b="1" dirty="0">
                <a:solidFill>
                  <a:srgbClr val="1A73E8"/>
                </a:solidFill>
                <a:latin typeface="Calibri" pitchFamily="34" charset="0"/>
                <a:ea typeface="Calibri" pitchFamily="34" charset="-122"/>
                <a:cs typeface="Calibri" pitchFamily="34" charset="-120"/>
              </a:rPr>
              <a:t>ADK  </a:t>
            </a:r>
            <a:pPr algn="l" indent="0" marL="0">
              <a:lnSpc>
                <a:spcPct val="105000"/>
              </a:lnSpc>
              <a:buNone/>
            </a:pPr>
            <a:r>
              <a:rPr lang="en-US" sz="900" b="1" dirty="0">
                <a:solidFill>
                  <a:srgbClr val="202124"/>
                </a:solidFill>
                <a:latin typeface="Calibri" pitchFamily="34" charset="0"/>
                <a:ea typeface="Calibri" pitchFamily="34" charset="-122"/>
                <a:cs typeface="Calibri" pitchFamily="34" charset="-120"/>
              </a:rPr>
              <a:t>MemoryService via TSDK adapter  —  </a:t>
            </a:r>
            <a:pPr algn="l" indent="0" marL="0">
              <a:lnSpc>
                <a:spcPct val="105000"/>
              </a:lnSpc>
              <a:buNone/>
            </a:pPr>
            <a:r>
              <a:rPr lang="en-US" sz="900" dirty="0">
                <a:solidFill>
                  <a:srgbClr val="5F6368"/>
                </a:solidFill>
                <a:latin typeface="Calibri" pitchFamily="34" charset="0"/>
                <a:ea typeface="Calibri" pitchFamily="34" charset="-122"/>
                <a:cs typeface="Calibri" pitchFamily="34" charset="-120"/>
              </a:rPr>
              <a:t>add_session_to_memory, search_memory / load_memory tool</a:t>
            </a:r>
            <a:endParaRPr lang="en-US" sz="900" dirty="0"/>
          </a:p>
        </p:txBody>
      </p:sp>
      <p:sp>
        <p:nvSpPr>
          <p:cNvPr id="27" name="Shape 25"/>
          <p:cNvSpPr/>
          <p:nvPr/>
        </p:nvSpPr>
        <p:spPr>
          <a:xfrm>
            <a:off x="8961120" y="3566160"/>
            <a:ext cx="914" cy="228600"/>
          </a:xfrm>
          <a:prstGeom prst="line">
            <a:avLst/>
          </a:prstGeom>
          <a:noFill/>
          <a:ln w="19050">
            <a:solidFill>
              <a:srgbClr val="1A73E8"/>
            </a:solidFill>
            <a:prstDash val="solid"/>
            <a:tailEnd type="triangle"/>
          </a:ln>
        </p:spPr>
      </p:sp>
      <p:sp>
        <p:nvSpPr>
          <p:cNvPr id="28" name="Shape 26"/>
          <p:cNvSpPr/>
          <p:nvPr/>
        </p:nvSpPr>
        <p:spPr>
          <a:xfrm>
            <a:off x="6583680" y="4526280"/>
            <a:ext cx="4754880" cy="731520"/>
          </a:xfrm>
          <a:prstGeom prst="roundRect">
            <a:avLst>
              <a:gd name="adj" fmla="val 6250"/>
            </a:avLst>
          </a:prstGeom>
          <a:solidFill>
            <a:srgbClr val="C2410C"/>
          </a:solidFill>
          <a:ln w="12700">
            <a:solidFill>
              <a:srgbClr val="C2410C"/>
            </a:solidFill>
            <a:prstDash val="solid"/>
          </a:ln>
        </p:spPr>
      </p:sp>
      <p:sp>
        <p:nvSpPr>
          <p:cNvPr id="29" name="Text 27"/>
          <p:cNvSpPr txBox="1"/>
          <p:nvPr/>
        </p:nvSpPr>
        <p:spPr>
          <a:xfrm>
            <a:off x="6675120" y="4526280"/>
            <a:ext cx="4572000" cy="731520"/>
          </a:xfrm>
          <a:prstGeom prst="rect">
            <a:avLst/>
          </a:prstGeom>
          <a:noFill/>
          <a:ln/>
        </p:spPr>
        <p:txBody>
          <a:bodyPr wrap="square" lIns="508" tIns="508" rIns="508" bIns="508" rtlCol="0" anchor="ctr"/>
          <a:lstStyle/>
          <a:p>
            <a:pPr algn="l" indent="0" marL="0">
              <a:lnSpc>
                <a:spcPct val="105000"/>
              </a:lnSpc>
              <a:buNone/>
            </a:pPr>
            <a:r>
              <a:rPr lang="en-US" sz="900" b="1" dirty="0">
                <a:solidFill>
                  <a:srgbClr val="FFE0CC"/>
                </a:solidFill>
                <a:latin typeface="Calibri" pitchFamily="34" charset="0"/>
                <a:ea typeface="Calibri" pitchFamily="34" charset="-122"/>
                <a:cs typeface="Calibri" pitchFamily="34" charset="-120"/>
              </a:rPr>
              <a:t>TACHYON  </a:t>
            </a:r>
            <a:pPr algn="l" indent="0" marL="0">
              <a:lnSpc>
                <a:spcPct val="105000"/>
              </a:lnSpc>
              <a:buNone/>
            </a:pPr>
            <a:r>
              <a:rPr lang="en-US" sz="900" b="1" dirty="0">
                <a:solidFill>
                  <a:srgbClr val="FFFFFF"/>
                </a:solidFill>
                <a:latin typeface="Calibri" pitchFamily="34" charset="0"/>
                <a:ea typeface="Calibri" pitchFamily="34" charset="-122"/>
                <a:cs typeface="Calibri" pitchFamily="34" charset="-120"/>
              </a:rPr>
              <a:t>Mem0 long-term memory  —  </a:t>
            </a:r>
            <a:pPr algn="l" indent="0" marL="0">
              <a:lnSpc>
                <a:spcPct val="105000"/>
              </a:lnSpc>
              <a:buNone/>
            </a:pPr>
            <a:r>
              <a:rPr lang="en-US" sz="900" dirty="0">
                <a:solidFill>
                  <a:srgbClr val="FFE8D9"/>
                </a:solidFill>
                <a:latin typeface="Calibri" pitchFamily="34" charset="0"/>
                <a:ea typeface="Calibri" pitchFamily="34" charset="-122"/>
                <a:cs typeface="Calibri" pitchFamily="34" charset="-120"/>
              </a:rPr>
              <a:t>PostgreSQL / MongoDB / Elasticsearch; persists preferences &amp; goals across sessions</a:t>
            </a:r>
            <a:endParaRPr lang="en-US" sz="900" dirty="0"/>
          </a:p>
        </p:txBody>
      </p:sp>
      <p:sp>
        <p:nvSpPr>
          <p:cNvPr id="30" name="Shape 28"/>
          <p:cNvSpPr/>
          <p:nvPr/>
        </p:nvSpPr>
        <p:spPr>
          <a:xfrm>
            <a:off x="8961120" y="4297680"/>
            <a:ext cx="914" cy="228600"/>
          </a:xfrm>
          <a:prstGeom prst="line">
            <a:avLst/>
          </a:prstGeom>
          <a:noFill/>
          <a:ln w="19050">
            <a:solidFill>
              <a:srgbClr val="C2410C"/>
            </a:solidFill>
            <a:prstDash val="solid"/>
            <a:tailEnd type="triangle"/>
          </a:ln>
        </p:spPr>
      </p:sp>
      <p:sp>
        <p:nvSpPr>
          <p:cNvPr id="31" name="Text 29"/>
          <p:cNvSpPr txBox="1"/>
          <p:nvPr/>
        </p:nvSpPr>
        <p:spPr>
          <a:xfrm>
            <a:off x="548640" y="5715000"/>
            <a:ext cx="11064240" cy="457200"/>
          </a:xfrm>
          <a:prstGeom prst="rect">
            <a:avLst/>
          </a:prstGeom>
          <a:noFill/>
          <a:ln/>
        </p:spPr>
        <p:txBody>
          <a:bodyPr wrap="square" lIns="508" tIns="508" rIns="508" bIns="508" rtlCol="0" anchor="ctr"/>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Note: </a:t>
            </a:r>
            <a:pPr algn="l" indent="0" marL="0">
              <a:lnSpc>
                <a:spcPct val="105000"/>
              </a:lnSpc>
              <a:buNone/>
            </a:pPr>
            <a:r>
              <a:rPr lang="en-US" sz="1100" dirty="0">
                <a:solidFill>
                  <a:srgbClr val="202124"/>
                </a:solidFill>
                <a:latin typeface="Calibri" pitchFamily="34" charset="0"/>
                <a:ea typeface="Calibri" pitchFamily="34" charset="-122"/>
                <a:cs typeface="Calibri" pitchFamily="34" charset="-120"/>
              </a:rPr>
              <a:t>Agents code against ADK interfaces only; swapping or hardening the store is a TSDK/Tachyon change, never an agent rewrite.</a:t>
            </a:r>
            <a:endParaRPr lang="en-US" sz="1100" dirty="0"/>
          </a:p>
        </p:txBody>
      </p:sp>
      <p:sp>
        <p:nvSpPr>
          <p:cNvPr id="32" name="Text 30"/>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33" name="Text 31"/>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Model routing and tool access</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Agents ask ADK for a model and a tool. The TSDK wrapper routes both to the platform: the AI Bridge and the MCP Tool Registry decide what answers.</a:t>
            </a:r>
            <a:endParaRPr lang="en-US" sz="1300" dirty="0"/>
          </a:p>
        </p:txBody>
      </p:sp>
      <p:sp>
        <p:nvSpPr>
          <p:cNvPr id="4" name="Text 2"/>
          <p:cNvSpPr txBox="1"/>
          <p:nvPr/>
        </p:nvSpPr>
        <p:spPr>
          <a:xfrm>
            <a:off x="548640" y="1874520"/>
            <a:ext cx="27432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C2410C"/>
                </a:solidFill>
                <a:latin typeface="Calibri" pitchFamily="34" charset="0"/>
                <a:ea typeface="Calibri" pitchFamily="34" charset="-122"/>
                <a:cs typeface="Calibri" pitchFamily="34" charset="-120"/>
              </a:rPr>
              <a:t>Models</a:t>
            </a:r>
            <a:endParaRPr lang="en-US" sz="1100" dirty="0"/>
          </a:p>
        </p:txBody>
      </p:sp>
      <p:sp>
        <p:nvSpPr>
          <p:cNvPr id="5" name="Shape 3"/>
          <p:cNvSpPr/>
          <p:nvPr/>
        </p:nvSpPr>
        <p:spPr>
          <a:xfrm>
            <a:off x="548640" y="2240280"/>
            <a:ext cx="1920240" cy="365760"/>
          </a:xfrm>
          <a:prstGeom prst="roundRect">
            <a:avLst>
              <a:gd name="adj" fmla="val 12500"/>
            </a:avLst>
          </a:prstGeom>
          <a:solidFill>
            <a:srgbClr val="1A73E8"/>
          </a:solidFill>
          <a:ln w="12700">
            <a:solidFill>
              <a:srgbClr val="1A73E8"/>
            </a:solidFill>
            <a:prstDash val="solid"/>
          </a:ln>
        </p:spPr>
      </p:sp>
      <p:sp>
        <p:nvSpPr>
          <p:cNvPr id="6" name="Text 4"/>
          <p:cNvSpPr txBox="1"/>
          <p:nvPr/>
        </p:nvSpPr>
        <p:spPr>
          <a:xfrm>
            <a:off x="548640" y="22402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Transactions Agent</a:t>
            </a:r>
            <a:endParaRPr lang="en-US" sz="900" dirty="0"/>
          </a:p>
        </p:txBody>
      </p:sp>
      <p:sp>
        <p:nvSpPr>
          <p:cNvPr id="7" name="Shape 5"/>
          <p:cNvSpPr/>
          <p:nvPr/>
        </p:nvSpPr>
        <p:spPr>
          <a:xfrm>
            <a:off x="2468880" y="2423160"/>
            <a:ext cx="1188720" cy="685800"/>
          </a:xfrm>
          <a:prstGeom prst="line">
            <a:avLst/>
          </a:prstGeom>
          <a:noFill/>
          <a:ln w="15875">
            <a:solidFill>
              <a:srgbClr val="1A73E8"/>
            </a:solidFill>
            <a:prstDash val="solid"/>
            <a:tailEnd type="triangle"/>
          </a:ln>
        </p:spPr>
      </p:sp>
      <p:sp>
        <p:nvSpPr>
          <p:cNvPr id="8" name="Shape 6"/>
          <p:cNvSpPr/>
          <p:nvPr/>
        </p:nvSpPr>
        <p:spPr>
          <a:xfrm>
            <a:off x="548640" y="2697480"/>
            <a:ext cx="1920240" cy="365760"/>
          </a:xfrm>
          <a:prstGeom prst="roundRect">
            <a:avLst>
              <a:gd name="adj" fmla="val 12500"/>
            </a:avLst>
          </a:prstGeom>
          <a:solidFill>
            <a:srgbClr val="1A73E8"/>
          </a:solidFill>
          <a:ln w="12700">
            <a:solidFill>
              <a:srgbClr val="1A73E8"/>
            </a:solidFill>
            <a:prstDash val="solid"/>
          </a:ln>
        </p:spPr>
      </p:sp>
      <p:sp>
        <p:nvSpPr>
          <p:cNvPr id="9" name="Text 7"/>
          <p:cNvSpPr txBox="1"/>
          <p:nvPr/>
        </p:nvSpPr>
        <p:spPr>
          <a:xfrm>
            <a:off x="548640" y="26974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Card Mgmt Agent</a:t>
            </a:r>
            <a:endParaRPr lang="en-US" sz="900" dirty="0"/>
          </a:p>
        </p:txBody>
      </p:sp>
      <p:sp>
        <p:nvSpPr>
          <p:cNvPr id="10" name="Shape 8"/>
          <p:cNvSpPr/>
          <p:nvPr/>
        </p:nvSpPr>
        <p:spPr>
          <a:xfrm>
            <a:off x="2468880" y="2880360"/>
            <a:ext cx="1188720" cy="228600"/>
          </a:xfrm>
          <a:prstGeom prst="line">
            <a:avLst/>
          </a:prstGeom>
          <a:noFill/>
          <a:ln w="15875">
            <a:solidFill>
              <a:srgbClr val="1A73E8"/>
            </a:solidFill>
            <a:prstDash val="solid"/>
            <a:tailEnd type="triangle"/>
          </a:ln>
        </p:spPr>
      </p:sp>
      <p:sp>
        <p:nvSpPr>
          <p:cNvPr id="11" name="Shape 9"/>
          <p:cNvSpPr/>
          <p:nvPr/>
        </p:nvSpPr>
        <p:spPr>
          <a:xfrm>
            <a:off x="548640" y="3154680"/>
            <a:ext cx="1920240" cy="365760"/>
          </a:xfrm>
          <a:prstGeom prst="roundRect">
            <a:avLst>
              <a:gd name="adj" fmla="val 12500"/>
            </a:avLst>
          </a:prstGeom>
          <a:solidFill>
            <a:srgbClr val="1A73E8"/>
          </a:solidFill>
          <a:ln w="12700">
            <a:solidFill>
              <a:srgbClr val="1A73E8"/>
            </a:solidFill>
            <a:prstDash val="solid"/>
          </a:ln>
        </p:spPr>
      </p:sp>
      <p:sp>
        <p:nvSpPr>
          <p:cNvPr id="12" name="Text 10"/>
          <p:cNvSpPr txBox="1"/>
          <p:nvPr/>
        </p:nvSpPr>
        <p:spPr>
          <a:xfrm>
            <a:off x="548640" y="31546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Spending Agent</a:t>
            </a:r>
            <a:endParaRPr lang="en-US" sz="900" dirty="0"/>
          </a:p>
        </p:txBody>
      </p:sp>
      <p:sp>
        <p:nvSpPr>
          <p:cNvPr id="13" name="Shape 11"/>
          <p:cNvSpPr/>
          <p:nvPr/>
        </p:nvSpPr>
        <p:spPr>
          <a:xfrm flipV="1">
            <a:off x="2468880" y="3108960"/>
            <a:ext cx="1188720" cy="228600"/>
          </a:xfrm>
          <a:prstGeom prst="line">
            <a:avLst/>
          </a:prstGeom>
          <a:noFill/>
          <a:ln w="15875">
            <a:solidFill>
              <a:srgbClr val="1A73E8"/>
            </a:solidFill>
            <a:prstDash val="solid"/>
            <a:tailEnd type="triangle"/>
          </a:ln>
        </p:spPr>
      </p:sp>
      <p:sp>
        <p:nvSpPr>
          <p:cNvPr id="14" name="Shape 12"/>
          <p:cNvSpPr/>
          <p:nvPr/>
        </p:nvSpPr>
        <p:spPr>
          <a:xfrm>
            <a:off x="548640" y="3611880"/>
            <a:ext cx="1920240" cy="365760"/>
          </a:xfrm>
          <a:prstGeom prst="roundRect">
            <a:avLst>
              <a:gd name="adj" fmla="val 12500"/>
            </a:avLst>
          </a:prstGeom>
          <a:solidFill>
            <a:srgbClr val="1A73E8"/>
          </a:solidFill>
          <a:ln w="12700">
            <a:solidFill>
              <a:srgbClr val="1A73E8"/>
            </a:solidFill>
            <a:prstDash val="solid"/>
          </a:ln>
        </p:spPr>
      </p:sp>
      <p:sp>
        <p:nvSpPr>
          <p:cNvPr id="15" name="Text 13"/>
          <p:cNvSpPr txBox="1"/>
          <p:nvPr/>
        </p:nvSpPr>
        <p:spPr>
          <a:xfrm>
            <a:off x="548640" y="3611880"/>
            <a:ext cx="192024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Answer Hub Agent</a:t>
            </a:r>
            <a:endParaRPr lang="en-US" sz="900" dirty="0"/>
          </a:p>
        </p:txBody>
      </p:sp>
      <p:sp>
        <p:nvSpPr>
          <p:cNvPr id="16" name="Shape 14"/>
          <p:cNvSpPr/>
          <p:nvPr/>
        </p:nvSpPr>
        <p:spPr>
          <a:xfrm flipV="1">
            <a:off x="2468880" y="3108960"/>
            <a:ext cx="1188720" cy="685800"/>
          </a:xfrm>
          <a:prstGeom prst="line">
            <a:avLst/>
          </a:prstGeom>
          <a:noFill/>
          <a:ln w="15875">
            <a:solidFill>
              <a:srgbClr val="1A73E8"/>
            </a:solidFill>
            <a:prstDash val="solid"/>
            <a:tailEnd type="triangle"/>
          </a:ln>
        </p:spPr>
      </p:sp>
      <p:sp>
        <p:nvSpPr>
          <p:cNvPr id="17" name="Text 15"/>
          <p:cNvSpPr txBox="1"/>
          <p:nvPr/>
        </p:nvSpPr>
        <p:spPr>
          <a:xfrm>
            <a:off x="548640" y="4069080"/>
            <a:ext cx="2194560" cy="274320"/>
          </a:xfrm>
          <a:prstGeom prst="rect">
            <a:avLst/>
          </a:prstGeom>
          <a:noFill/>
          <a:ln/>
        </p:spPr>
        <p:txBody>
          <a:bodyPr wrap="square" lIns="508" tIns="508" rIns="508" bIns="508" rtlCol="0" anchor="t"/>
          <a:lstStyle/>
          <a:p>
            <a:pPr algn="l" indent="0" marL="0">
              <a:lnSpc>
                <a:spcPct val="105000"/>
              </a:lnSpc>
              <a:buNone/>
            </a:pPr>
            <a:r>
              <a:rPr lang="en-US" sz="800" i="1" dirty="0">
                <a:solidFill>
                  <a:srgbClr val="174EA6"/>
                </a:solidFill>
                <a:latin typeface="Calibri" pitchFamily="34" charset="0"/>
                <a:ea typeface="Calibri" pitchFamily="34" charset="-122"/>
                <a:cs typeface="Calibri" pitchFamily="34" charset="-120"/>
              </a:rPr>
              <a:t>TSDK agents  ·  ADK LlmAgent inside</a:t>
            </a:r>
            <a:endParaRPr lang="en-US" sz="800" dirty="0"/>
          </a:p>
        </p:txBody>
      </p:sp>
      <p:sp>
        <p:nvSpPr>
          <p:cNvPr id="18" name="Shape 16"/>
          <p:cNvSpPr/>
          <p:nvPr/>
        </p:nvSpPr>
        <p:spPr>
          <a:xfrm>
            <a:off x="3657600" y="2240280"/>
            <a:ext cx="3017520" cy="1737360"/>
          </a:xfrm>
          <a:prstGeom prst="roundRect">
            <a:avLst>
              <a:gd name="adj" fmla="val 5263"/>
            </a:avLst>
          </a:prstGeom>
          <a:solidFill>
            <a:srgbClr val="1B1F3B"/>
          </a:solidFill>
          <a:ln w="12700">
            <a:solidFill>
              <a:srgbClr val="1B1F3B"/>
            </a:solidFill>
            <a:prstDash val="solid"/>
          </a:ln>
        </p:spPr>
      </p:sp>
      <p:sp>
        <p:nvSpPr>
          <p:cNvPr id="19" name="Text 17"/>
          <p:cNvSpPr txBox="1"/>
          <p:nvPr/>
        </p:nvSpPr>
        <p:spPr>
          <a:xfrm>
            <a:off x="3794760" y="2331720"/>
            <a:ext cx="2743200" cy="274320"/>
          </a:xfrm>
          <a:prstGeom prst="rect">
            <a:avLst/>
          </a:prstGeom>
          <a:noFill/>
          <a:ln/>
        </p:spPr>
        <p:txBody>
          <a:bodyPr wrap="square" lIns="508" tIns="508" rIns="508" bIns="508" rtlCol="0" anchor="t"/>
          <a:lstStyle/>
          <a:p>
            <a:pPr algn="l" indent="0" marL="0">
              <a:lnSpc>
                <a:spcPct val="105000"/>
              </a:lnSpc>
              <a:buNone/>
            </a:pPr>
            <a:r>
              <a:rPr lang="en-US" sz="1050" b="1" dirty="0">
                <a:solidFill>
                  <a:srgbClr val="FFFFFF"/>
                </a:solidFill>
                <a:latin typeface="Calibri" pitchFamily="34" charset="0"/>
                <a:ea typeface="Calibri" pitchFamily="34" charset="-122"/>
                <a:cs typeface="Calibri" pitchFamily="34" charset="-120"/>
              </a:rPr>
              <a:t>Tachyon AI Bridge</a:t>
            </a:r>
            <a:endParaRPr lang="en-US" sz="1050" dirty="0"/>
          </a:p>
        </p:txBody>
      </p:sp>
      <p:sp>
        <p:nvSpPr>
          <p:cNvPr id="20" name="Text 18"/>
          <p:cNvSpPr txBox="1"/>
          <p:nvPr/>
        </p:nvSpPr>
        <p:spPr>
          <a:xfrm>
            <a:off x="3794760" y="2624328"/>
            <a:ext cx="2788920" cy="1325880"/>
          </a:xfrm>
          <a:prstGeom prst="rect">
            <a:avLst/>
          </a:prstGeom>
          <a:noFill/>
          <a:ln/>
        </p:spPr>
        <p:txBody>
          <a:bodyPr wrap="square" lIns="508" tIns="508" rIns="508" bIns="508" rtlCol="0" anchor="t"/>
          <a:lstStyle/>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Registry.yml — model per agent, temp / top-P / tokens</a:t>
            </a:r>
            <a:endParaRPr lang="en-US" sz="850" dirty="0"/>
          </a:p>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Resiliency — retry &amp; failover on 429/503</a:t>
            </a:r>
            <a:endParaRPr lang="en-US" sz="850" dirty="0"/>
          </a:p>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Adaptive pairing — right model per task</a:t>
            </a:r>
            <a:endParaRPr lang="en-US" sz="850" dirty="0"/>
          </a:p>
          <a:p>
            <a:pPr algn="l" marL="127000" indent="-127000">
              <a:lnSpc>
                <a:spcPct val="105000"/>
              </a:lnSpc>
              <a:spcAft>
                <a:spcPts val="200"/>
              </a:spcAft>
              <a:buSzPct val="100000"/>
              <a:buChar char="•"/>
            </a:pPr>
            <a:r>
              <a:rPr lang="en-US" sz="850" dirty="0">
                <a:solidFill>
                  <a:srgbClr val="DCE1EA"/>
                </a:solidFill>
                <a:latin typeface="Calibri" pitchFamily="34" charset="0"/>
                <a:ea typeface="Calibri" pitchFamily="34" charset="-122"/>
                <a:cs typeface="Calibri" pitchFamily="34" charset="-120"/>
              </a:rPr>
              <a:t>Model fusion — blend outputs into one answer</a:t>
            </a:r>
            <a:endParaRPr lang="en-US" sz="850" dirty="0"/>
          </a:p>
        </p:txBody>
      </p:sp>
      <p:sp>
        <p:nvSpPr>
          <p:cNvPr id="21" name="Shape 19"/>
          <p:cNvSpPr/>
          <p:nvPr/>
        </p:nvSpPr>
        <p:spPr>
          <a:xfrm>
            <a:off x="7863840" y="2240280"/>
            <a:ext cx="1737360" cy="365760"/>
          </a:xfrm>
          <a:prstGeom prst="roundRect">
            <a:avLst>
              <a:gd name="adj" fmla="val 12500"/>
            </a:avLst>
          </a:prstGeom>
          <a:solidFill>
            <a:srgbClr val="1E8E3E"/>
          </a:solidFill>
          <a:ln w="12700">
            <a:solidFill>
              <a:srgbClr val="1E8E3E"/>
            </a:solidFill>
            <a:prstDash val="solid"/>
          </a:ln>
        </p:spPr>
      </p:sp>
      <p:sp>
        <p:nvSpPr>
          <p:cNvPr id="22" name="Text 20"/>
          <p:cNvSpPr txBox="1"/>
          <p:nvPr/>
        </p:nvSpPr>
        <p:spPr>
          <a:xfrm>
            <a:off x="7863840" y="22402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Gemini</a:t>
            </a:r>
            <a:endParaRPr lang="en-US" sz="900" dirty="0"/>
          </a:p>
        </p:txBody>
      </p:sp>
      <p:sp>
        <p:nvSpPr>
          <p:cNvPr id="23" name="Shape 21"/>
          <p:cNvSpPr/>
          <p:nvPr/>
        </p:nvSpPr>
        <p:spPr>
          <a:xfrm flipV="1">
            <a:off x="6675120" y="2423160"/>
            <a:ext cx="1188720" cy="685800"/>
          </a:xfrm>
          <a:prstGeom prst="line">
            <a:avLst/>
          </a:prstGeom>
          <a:noFill/>
          <a:ln w="15875">
            <a:solidFill>
              <a:srgbClr val="C2410C"/>
            </a:solidFill>
            <a:prstDash val="solid"/>
            <a:tailEnd type="triangle"/>
          </a:ln>
        </p:spPr>
      </p:sp>
      <p:sp>
        <p:nvSpPr>
          <p:cNvPr id="24" name="Shape 22"/>
          <p:cNvSpPr/>
          <p:nvPr/>
        </p:nvSpPr>
        <p:spPr>
          <a:xfrm>
            <a:off x="7863840" y="2697480"/>
            <a:ext cx="1737360" cy="365760"/>
          </a:xfrm>
          <a:prstGeom prst="roundRect">
            <a:avLst>
              <a:gd name="adj" fmla="val 12500"/>
            </a:avLst>
          </a:prstGeom>
          <a:solidFill>
            <a:srgbClr val="174EA6"/>
          </a:solidFill>
          <a:ln w="12700">
            <a:solidFill>
              <a:srgbClr val="174EA6"/>
            </a:solidFill>
            <a:prstDash val="solid"/>
          </a:ln>
        </p:spPr>
      </p:sp>
      <p:sp>
        <p:nvSpPr>
          <p:cNvPr id="25" name="Text 23"/>
          <p:cNvSpPr txBox="1"/>
          <p:nvPr/>
        </p:nvSpPr>
        <p:spPr>
          <a:xfrm>
            <a:off x="7863840" y="26974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GPT-4o</a:t>
            </a:r>
            <a:endParaRPr lang="en-US" sz="900" dirty="0"/>
          </a:p>
        </p:txBody>
      </p:sp>
      <p:sp>
        <p:nvSpPr>
          <p:cNvPr id="26" name="Shape 24"/>
          <p:cNvSpPr/>
          <p:nvPr/>
        </p:nvSpPr>
        <p:spPr>
          <a:xfrm flipV="1">
            <a:off x="6675120" y="2880360"/>
            <a:ext cx="1188720" cy="228600"/>
          </a:xfrm>
          <a:prstGeom prst="line">
            <a:avLst/>
          </a:prstGeom>
          <a:noFill/>
          <a:ln w="15875">
            <a:solidFill>
              <a:srgbClr val="C2410C"/>
            </a:solidFill>
            <a:prstDash val="solid"/>
            <a:tailEnd type="triangle"/>
          </a:ln>
        </p:spPr>
      </p:sp>
      <p:sp>
        <p:nvSpPr>
          <p:cNvPr id="27" name="Shape 25"/>
          <p:cNvSpPr/>
          <p:nvPr/>
        </p:nvSpPr>
        <p:spPr>
          <a:xfrm>
            <a:off x="7863840" y="3154680"/>
            <a:ext cx="1737360" cy="365760"/>
          </a:xfrm>
          <a:prstGeom prst="roundRect">
            <a:avLst>
              <a:gd name="adj" fmla="val 12500"/>
            </a:avLst>
          </a:prstGeom>
          <a:solidFill>
            <a:srgbClr val="C2410C"/>
          </a:solidFill>
          <a:ln w="12700">
            <a:solidFill>
              <a:srgbClr val="C2410C"/>
            </a:solidFill>
            <a:prstDash val="solid"/>
          </a:ln>
        </p:spPr>
      </p:sp>
      <p:sp>
        <p:nvSpPr>
          <p:cNvPr id="28" name="Text 26"/>
          <p:cNvSpPr txBox="1"/>
          <p:nvPr/>
        </p:nvSpPr>
        <p:spPr>
          <a:xfrm>
            <a:off x="7863840" y="31546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Claude</a:t>
            </a:r>
            <a:endParaRPr lang="en-US" sz="900" dirty="0"/>
          </a:p>
        </p:txBody>
      </p:sp>
      <p:sp>
        <p:nvSpPr>
          <p:cNvPr id="29" name="Shape 27"/>
          <p:cNvSpPr/>
          <p:nvPr/>
        </p:nvSpPr>
        <p:spPr>
          <a:xfrm>
            <a:off x="6675120" y="3108960"/>
            <a:ext cx="1188720" cy="228600"/>
          </a:xfrm>
          <a:prstGeom prst="line">
            <a:avLst/>
          </a:prstGeom>
          <a:noFill/>
          <a:ln w="15875">
            <a:solidFill>
              <a:srgbClr val="C2410C"/>
            </a:solidFill>
            <a:prstDash val="solid"/>
            <a:tailEnd type="triangle"/>
          </a:ln>
        </p:spPr>
      </p:sp>
      <p:sp>
        <p:nvSpPr>
          <p:cNvPr id="30" name="Shape 28"/>
          <p:cNvSpPr/>
          <p:nvPr/>
        </p:nvSpPr>
        <p:spPr>
          <a:xfrm>
            <a:off x="7863840" y="3611880"/>
            <a:ext cx="1737360" cy="365760"/>
          </a:xfrm>
          <a:prstGeom prst="roundRect">
            <a:avLst>
              <a:gd name="adj" fmla="val 12500"/>
            </a:avLst>
          </a:prstGeom>
          <a:solidFill>
            <a:srgbClr val="B06000"/>
          </a:solidFill>
          <a:ln w="12700">
            <a:solidFill>
              <a:srgbClr val="B06000"/>
            </a:solidFill>
            <a:prstDash val="solid"/>
          </a:ln>
        </p:spPr>
      </p:sp>
      <p:sp>
        <p:nvSpPr>
          <p:cNvPr id="31" name="Text 29"/>
          <p:cNvSpPr txBox="1"/>
          <p:nvPr/>
        </p:nvSpPr>
        <p:spPr>
          <a:xfrm>
            <a:off x="7863840" y="3611880"/>
            <a:ext cx="1737360" cy="36576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Gemma / OSS</a:t>
            </a:r>
            <a:endParaRPr lang="en-US" sz="900" dirty="0"/>
          </a:p>
        </p:txBody>
      </p:sp>
      <p:sp>
        <p:nvSpPr>
          <p:cNvPr id="32" name="Shape 30"/>
          <p:cNvSpPr/>
          <p:nvPr/>
        </p:nvSpPr>
        <p:spPr>
          <a:xfrm>
            <a:off x="6675120" y="3108960"/>
            <a:ext cx="1188720" cy="685800"/>
          </a:xfrm>
          <a:prstGeom prst="line">
            <a:avLst/>
          </a:prstGeom>
          <a:noFill/>
          <a:ln w="15875">
            <a:solidFill>
              <a:srgbClr val="C2410C"/>
            </a:solidFill>
            <a:prstDash val="solid"/>
            <a:tailEnd type="triangle"/>
          </a:ln>
        </p:spPr>
      </p:sp>
      <p:sp>
        <p:nvSpPr>
          <p:cNvPr id="33" name="Shape 31"/>
          <p:cNvSpPr/>
          <p:nvPr/>
        </p:nvSpPr>
        <p:spPr>
          <a:xfrm>
            <a:off x="9829800" y="2240280"/>
            <a:ext cx="1783080" cy="1737360"/>
          </a:xfrm>
          <a:prstGeom prst="roundRect">
            <a:avLst>
              <a:gd name="adj" fmla="val 4211"/>
            </a:avLst>
          </a:prstGeom>
          <a:solidFill>
            <a:srgbClr val="FDEEE4"/>
          </a:solidFill>
          <a:ln w="12700">
            <a:solidFill>
              <a:srgbClr val="FDEEE4"/>
            </a:solidFill>
            <a:prstDash val="solid"/>
          </a:ln>
        </p:spPr>
      </p:sp>
      <p:sp>
        <p:nvSpPr>
          <p:cNvPr id="34" name="Text 32"/>
          <p:cNvSpPr txBox="1"/>
          <p:nvPr/>
        </p:nvSpPr>
        <p:spPr>
          <a:xfrm>
            <a:off x="9921240" y="2313432"/>
            <a:ext cx="1645920" cy="274320"/>
          </a:xfrm>
          <a:prstGeom prst="rect">
            <a:avLst/>
          </a:prstGeom>
          <a:noFill/>
          <a:ln/>
        </p:spPr>
        <p:txBody>
          <a:bodyPr wrap="square" lIns="508" tIns="508" rIns="508" bIns="508" rtlCol="0" anchor="t"/>
          <a:lstStyle/>
          <a:p>
            <a:pPr algn="l" indent="0" marL="0">
              <a:lnSpc>
                <a:spcPct val="105000"/>
              </a:lnSpc>
              <a:buNone/>
            </a:pPr>
            <a:r>
              <a:rPr lang="en-US" sz="950" b="1" dirty="0">
                <a:solidFill>
                  <a:srgbClr val="174EA6"/>
                </a:solidFill>
                <a:latin typeface="Calibri" pitchFamily="34" charset="0"/>
                <a:ea typeface="Calibri" pitchFamily="34" charset="-122"/>
                <a:cs typeface="Calibri" pitchFamily="34" charset="-120"/>
              </a:rPr>
              <a:t>ADK's role</a:t>
            </a:r>
            <a:endParaRPr lang="en-US" sz="950" dirty="0"/>
          </a:p>
        </p:txBody>
      </p:sp>
      <p:sp>
        <p:nvSpPr>
          <p:cNvPr id="35" name="Text 33"/>
          <p:cNvSpPr txBox="1"/>
          <p:nvPr/>
        </p:nvSpPr>
        <p:spPr>
          <a:xfrm>
            <a:off x="9921240" y="2587752"/>
            <a:ext cx="1627632" cy="137160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The ADK agent declares a model; the TSDK wrapper routes generate() to the Bridge. The agent never knows which vendor answered.</a:t>
            </a:r>
            <a:endParaRPr lang="en-US" sz="850" dirty="0"/>
          </a:p>
        </p:txBody>
      </p:sp>
      <p:sp>
        <p:nvSpPr>
          <p:cNvPr id="36" name="Text 34"/>
          <p:cNvSpPr txBox="1"/>
          <p:nvPr/>
        </p:nvSpPr>
        <p:spPr>
          <a:xfrm>
            <a:off x="548640" y="4343400"/>
            <a:ext cx="2743200" cy="274320"/>
          </a:xfrm>
          <a:prstGeom prst="rect">
            <a:avLst/>
          </a:prstGeom>
          <a:noFill/>
          <a:ln/>
        </p:spPr>
        <p:txBody>
          <a:bodyPr wrap="square" lIns="508" tIns="508" rIns="508" bIns="508" rtlCol="0" anchor="t"/>
          <a:lstStyle/>
          <a:p>
            <a:pPr algn="l" indent="0" marL="0">
              <a:lnSpc>
                <a:spcPct val="105000"/>
              </a:lnSpc>
              <a:buNone/>
            </a:pPr>
            <a:r>
              <a:rPr lang="en-US" sz="1100" b="1" dirty="0">
                <a:solidFill>
                  <a:srgbClr val="6B4C9A"/>
                </a:solidFill>
                <a:latin typeface="Calibri" pitchFamily="34" charset="0"/>
                <a:ea typeface="Calibri" pitchFamily="34" charset="-122"/>
                <a:cs typeface="Calibri" pitchFamily="34" charset="-120"/>
              </a:rPr>
              <a:t>Tools</a:t>
            </a:r>
            <a:endParaRPr lang="en-US" sz="1100" dirty="0"/>
          </a:p>
        </p:txBody>
      </p:sp>
      <p:sp>
        <p:nvSpPr>
          <p:cNvPr id="37" name="Shape 35"/>
          <p:cNvSpPr/>
          <p:nvPr/>
        </p:nvSpPr>
        <p:spPr>
          <a:xfrm>
            <a:off x="548640" y="4709160"/>
            <a:ext cx="1920240" cy="1234440"/>
          </a:xfrm>
          <a:prstGeom prst="roundRect">
            <a:avLst>
              <a:gd name="adj" fmla="val 5185"/>
            </a:avLst>
          </a:prstGeom>
          <a:solidFill>
            <a:srgbClr val="1A73E8"/>
          </a:solidFill>
          <a:ln w="12700">
            <a:solidFill>
              <a:srgbClr val="1A73E8"/>
            </a:solidFill>
            <a:prstDash val="solid"/>
          </a:ln>
        </p:spPr>
      </p:sp>
      <p:sp>
        <p:nvSpPr>
          <p:cNvPr id="38" name="Text 36"/>
          <p:cNvSpPr txBox="1"/>
          <p:nvPr/>
        </p:nvSpPr>
        <p:spPr>
          <a:xfrm>
            <a:off x="548640" y="4709160"/>
            <a:ext cx="1920240" cy="123444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Specialized Agent</a:t>
            </a:r>
            <a:endParaRPr lang="en-US" sz="900" dirty="0"/>
          </a:p>
          <a:p>
            <a:pPr algn="ctr" indent="0" marL="0">
              <a:lnSpc>
                <a:spcPct val="105000"/>
              </a:lnSpc>
              <a:buNone/>
            </a:pP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ADK MCPToolset</a:t>
            </a: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list_tools → call_tool</a:t>
            </a:r>
            <a:endParaRPr lang="en-US" sz="900" dirty="0"/>
          </a:p>
        </p:txBody>
      </p:sp>
      <p:sp>
        <p:nvSpPr>
          <p:cNvPr id="39" name="Shape 37"/>
          <p:cNvSpPr/>
          <p:nvPr/>
        </p:nvSpPr>
        <p:spPr>
          <a:xfrm>
            <a:off x="2468880" y="5321808"/>
            <a:ext cx="1188720" cy="914"/>
          </a:xfrm>
          <a:prstGeom prst="line">
            <a:avLst/>
          </a:prstGeom>
          <a:noFill/>
          <a:ln w="19050">
            <a:solidFill>
              <a:srgbClr val="6B4C9A"/>
            </a:solidFill>
            <a:prstDash val="solid"/>
            <a:tailEnd type="triangle"/>
          </a:ln>
        </p:spPr>
      </p:sp>
      <p:sp>
        <p:nvSpPr>
          <p:cNvPr id="40" name="Text 38"/>
          <p:cNvSpPr txBox="1"/>
          <p:nvPr/>
        </p:nvSpPr>
        <p:spPr>
          <a:xfrm>
            <a:off x="2468880" y="5001768"/>
            <a:ext cx="1188720" cy="274320"/>
          </a:xfrm>
          <a:prstGeom prst="rect">
            <a:avLst/>
          </a:prstGeom>
          <a:noFill/>
          <a:ln/>
        </p:spPr>
        <p:txBody>
          <a:bodyPr wrap="square" lIns="508" tIns="508" rIns="508" bIns="508" rtlCol="0" anchor="t"/>
          <a:lstStyle/>
          <a:p>
            <a:pPr algn="ctr" indent="0" marL="0">
              <a:lnSpc>
                <a:spcPct val="105000"/>
              </a:lnSpc>
              <a:buNone/>
            </a:pPr>
            <a:r>
              <a:rPr lang="en-US" sz="800" i="1" dirty="0">
                <a:solidFill>
                  <a:srgbClr val="6B4C9A"/>
                </a:solidFill>
                <a:latin typeface="Calibri" pitchFamily="34" charset="0"/>
                <a:ea typeface="Calibri" pitchFamily="34" charset="-122"/>
                <a:cs typeface="Calibri" pitchFamily="34" charset="-120"/>
              </a:rPr>
              <a:t>9 · discover / execute</a:t>
            </a:r>
            <a:endParaRPr lang="en-US" sz="800" dirty="0"/>
          </a:p>
        </p:txBody>
      </p:sp>
      <p:sp>
        <p:nvSpPr>
          <p:cNvPr id="41" name="Shape 39"/>
          <p:cNvSpPr/>
          <p:nvPr/>
        </p:nvSpPr>
        <p:spPr>
          <a:xfrm>
            <a:off x="3657600" y="4709160"/>
            <a:ext cx="3017520" cy="1234440"/>
          </a:xfrm>
          <a:prstGeom prst="roundRect">
            <a:avLst>
              <a:gd name="adj" fmla="val 5185"/>
            </a:avLst>
          </a:prstGeom>
          <a:solidFill>
            <a:srgbClr val="6B4C9A"/>
          </a:solidFill>
          <a:ln w="12700">
            <a:solidFill>
              <a:srgbClr val="6B4C9A"/>
            </a:solidFill>
            <a:prstDash val="solid"/>
          </a:ln>
        </p:spPr>
      </p:sp>
      <p:sp>
        <p:nvSpPr>
          <p:cNvPr id="42" name="Text 40"/>
          <p:cNvSpPr txBox="1"/>
          <p:nvPr/>
        </p:nvSpPr>
        <p:spPr>
          <a:xfrm>
            <a:off x="3749040" y="4709160"/>
            <a:ext cx="2834640" cy="1234440"/>
          </a:xfrm>
          <a:prstGeom prst="rect">
            <a:avLst/>
          </a:prstGeom>
          <a:noFill/>
          <a:ln/>
        </p:spPr>
        <p:txBody>
          <a:bodyPr wrap="square" lIns="508" tIns="508" rIns="508" bIns="508"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MCP Server</a:t>
            </a:r>
            <a:endParaRPr lang="en-US" sz="900" dirty="0"/>
          </a:p>
          <a:p>
            <a:pPr algn="ctr" indent="0" marL="0">
              <a:lnSpc>
                <a:spcPct val="105000"/>
              </a:lnSpc>
              <a:buNone/>
            </a:pP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Tachyon MCP Tool Registry — auto-registers servers &amp; tool schemas</a:t>
            </a:r>
            <a:endParaRPr lang="en-US" sz="900" dirty="0"/>
          </a:p>
        </p:txBody>
      </p:sp>
      <p:sp>
        <p:nvSpPr>
          <p:cNvPr id="43" name="Shape 41"/>
          <p:cNvSpPr/>
          <p:nvPr/>
        </p:nvSpPr>
        <p:spPr>
          <a:xfrm>
            <a:off x="6675120" y="5321808"/>
            <a:ext cx="1188720" cy="914"/>
          </a:xfrm>
          <a:prstGeom prst="line">
            <a:avLst/>
          </a:prstGeom>
          <a:noFill/>
          <a:ln w="19050">
            <a:solidFill>
              <a:srgbClr val="5F6368"/>
            </a:solidFill>
            <a:prstDash val="solid"/>
            <a:tailEnd type="triangle"/>
          </a:ln>
        </p:spPr>
      </p:sp>
      <p:sp>
        <p:nvSpPr>
          <p:cNvPr id="44" name="Shape 42"/>
          <p:cNvSpPr/>
          <p:nvPr/>
        </p:nvSpPr>
        <p:spPr>
          <a:xfrm>
            <a:off x="7863840" y="4709160"/>
            <a:ext cx="1737360" cy="274320"/>
          </a:xfrm>
          <a:prstGeom prst="roundRect">
            <a:avLst>
              <a:gd name="adj" fmla="val 13333"/>
            </a:avLst>
          </a:prstGeom>
          <a:solidFill>
            <a:srgbClr val="F1F3F4"/>
          </a:solidFill>
          <a:ln w="12700">
            <a:solidFill>
              <a:srgbClr val="DADCE0"/>
            </a:solidFill>
            <a:prstDash val="solid"/>
          </a:ln>
        </p:spPr>
      </p:sp>
      <p:sp>
        <p:nvSpPr>
          <p:cNvPr id="45" name="Text 43"/>
          <p:cNvSpPr txBox="1"/>
          <p:nvPr/>
        </p:nvSpPr>
        <p:spPr>
          <a:xfrm>
            <a:off x="7863840" y="4709160"/>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get_transactions</a:t>
            </a:r>
            <a:endParaRPr lang="en-US" sz="850" dirty="0"/>
          </a:p>
        </p:txBody>
      </p:sp>
      <p:sp>
        <p:nvSpPr>
          <p:cNvPr id="46" name="Shape 44"/>
          <p:cNvSpPr/>
          <p:nvPr/>
        </p:nvSpPr>
        <p:spPr>
          <a:xfrm>
            <a:off x="7863840" y="5038344"/>
            <a:ext cx="1737360" cy="274320"/>
          </a:xfrm>
          <a:prstGeom prst="roundRect">
            <a:avLst>
              <a:gd name="adj" fmla="val 13333"/>
            </a:avLst>
          </a:prstGeom>
          <a:solidFill>
            <a:srgbClr val="F1F3F4"/>
          </a:solidFill>
          <a:ln w="12700">
            <a:solidFill>
              <a:srgbClr val="DADCE0"/>
            </a:solidFill>
            <a:prstDash val="solid"/>
          </a:ln>
        </p:spPr>
      </p:sp>
      <p:sp>
        <p:nvSpPr>
          <p:cNvPr id="47" name="Text 45"/>
          <p:cNvSpPr txBox="1"/>
          <p:nvPr/>
        </p:nvSpPr>
        <p:spPr>
          <a:xfrm>
            <a:off x="7863840" y="5038344"/>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dispute_charge</a:t>
            </a:r>
            <a:endParaRPr lang="en-US" sz="850" dirty="0"/>
          </a:p>
        </p:txBody>
      </p:sp>
      <p:sp>
        <p:nvSpPr>
          <p:cNvPr id="48" name="Shape 46"/>
          <p:cNvSpPr/>
          <p:nvPr/>
        </p:nvSpPr>
        <p:spPr>
          <a:xfrm>
            <a:off x="7863840" y="5367528"/>
            <a:ext cx="1737360" cy="274320"/>
          </a:xfrm>
          <a:prstGeom prst="roundRect">
            <a:avLst>
              <a:gd name="adj" fmla="val 13333"/>
            </a:avLst>
          </a:prstGeom>
          <a:solidFill>
            <a:srgbClr val="F1F3F4"/>
          </a:solidFill>
          <a:ln w="12700">
            <a:solidFill>
              <a:srgbClr val="DADCE0"/>
            </a:solidFill>
            <a:prstDash val="solid"/>
          </a:ln>
        </p:spPr>
      </p:sp>
      <p:sp>
        <p:nvSpPr>
          <p:cNvPr id="49" name="Text 47"/>
          <p:cNvSpPr txBox="1"/>
          <p:nvPr/>
        </p:nvSpPr>
        <p:spPr>
          <a:xfrm>
            <a:off x="7863840" y="5367528"/>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card_replace</a:t>
            </a:r>
            <a:endParaRPr lang="en-US" sz="850" dirty="0"/>
          </a:p>
        </p:txBody>
      </p:sp>
      <p:sp>
        <p:nvSpPr>
          <p:cNvPr id="50" name="Shape 48"/>
          <p:cNvSpPr/>
          <p:nvPr/>
        </p:nvSpPr>
        <p:spPr>
          <a:xfrm>
            <a:off x="7863840" y="5696712"/>
            <a:ext cx="1737360" cy="274320"/>
          </a:xfrm>
          <a:prstGeom prst="roundRect">
            <a:avLst>
              <a:gd name="adj" fmla="val 13333"/>
            </a:avLst>
          </a:prstGeom>
          <a:solidFill>
            <a:srgbClr val="F1F3F4"/>
          </a:solidFill>
          <a:ln w="12700">
            <a:solidFill>
              <a:srgbClr val="DADCE0"/>
            </a:solidFill>
            <a:prstDash val="solid"/>
          </a:ln>
        </p:spPr>
      </p:sp>
      <p:sp>
        <p:nvSpPr>
          <p:cNvPr id="51" name="Text 49"/>
          <p:cNvSpPr txBox="1"/>
          <p:nvPr/>
        </p:nvSpPr>
        <p:spPr>
          <a:xfrm>
            <a:off x="7863840" y="5696712"/>
            <a:ext cx="1737360" cy="274320"/>
          </a:xfrm>
          <a:prstGeom prst="rect">
            <a:avLst/>
          </a:prstGeom>
          <a:noFill/>
          <a:ln/>
        </p:spPr>
        <p:txBody>
          <a:bodyPr wrap="square" lIns="508" tIns="508" rIns="508" bIns="508" rtlCol="0" anchor="ctr"/>
          <a:lstStyle/>
          <a:p>
            <a:pPr algn="ctr" indent="0" marL="0">
              <a:lnSpc>
                <a:spcPct val="105000"/>
              </a:lnSpc>
              <a:buNone/>
            </a:pPr>
            <a:r>
              <a:rPr lang="en-US" sz="850" dirty="0">
                <a:solidFill>
                  <a:srgbClr val="202124"/>
                </a:solidFill>
                <a:latin typeface="Courier New" pitchFamily="34" charset="0"/>
                <a:ea typeface="Courier New" pitchFamily="34" charset="-122"/>
                <a:cs typeface="Courier New" pitchFamily="34" charset="-120"/>
              </a:rPr>
              <a:t>policy_search (RAG)</a:t>
            </a:r>
            <a:endParaRPr lang="en-US" sz="850" dirty="0"/>
          </a:p>
        </p:txBody>
      </p:sp>
      <p:sp>
        <p:nvSpPr>
          <p:cNvPr id="52" name="Shape 50"/>
          <p:cNvSpPr/>
          <p:nvPr/>
        </p:nvSpPr>
        <p:spPr>
          <a:xfrm>
            <a:off x="9829800" y="4709160"/>
            <a:ext cx="1783080" cy="1234440"/>
          </a:xfrm>
          <a:prstGeom prst="roundRect">
            <a:avLst>
              <a:gd name="adj" fmla="val 5926"/>
            </a:avLst>
          </a:prstGeom>
          <a:solidFill>
            <a:srgbClr val="FDEEE4"/>
          </a:solidFill>
          <a:ln w="12700">
            <a:solidFill>
              <a:srgbClr val="FDEEE4"/>
            </a:solidFill>
            <a:prstDash val="solid"/>
          </a:ln>
        </p:spPr>
      </p:sp>
      <p:sp>
        <p:nvSpPr>
          <p:cNvPr id="53" name="Text 51"/>
          <p:cNvSpPr txBox="1"/>
          <p:nvPr/>
        </p:nvSpPr>
        <p:spPr>
          <a:xfrm>
            <a:off x="9921240" y="4782312"/>
            <a:ext cx="1645920" cy="274320"/>
          </a:xfrm>
          <a:prstGeom prst="rect">
            <a:avLst/>
          </a:prstGeom>
          <a:noFill/>
          <a:ln/>
        </p:spPr>
        <p:txBody>
          <a:bodyPr wrap="square" lIns="508" tIns="508" rIns="508" bIns="508" rtlCol="0" anchor="t"/>
          <a:lstStyle/>
          <a:p>
            <a:pPr algn="l" indent="0" marL="0">
              <a:lnSpc>
                <a:spcPct val="105000"/>
              </a:lnSpc>
              <a:buNone/>
            </a:pPr>
            <a:r>
              <a:rPr lang="en-US" sz="950" b="1" dirty="0">
                <a:solidFill>
                  <a:srgbClr val="C2410C"/>
                </a:solidFill>
                <a:latin typeface="Calibri" pitchFamily="34" charset="0"/>
                <a:ea typeface="Calibri" pitchFamily="34" charset="-122"/>
                <a:cs typeface="Calibri" pitchFamily="34" charset="-120"/>
              </a:rPr>
              <a:t>Tachyon's role</a:t>
            </a:r>
            <a:endParaRPr lang="en-US" sz="950" dirty="0"/>
          </a:p>
        </p:txBody>
      </p:sp>
      <p:sp>
        <p:nvSpPr>
          <p:cNvPr id="54" name="Text 52"/>
          <p:cNvSpPr txBox="1"/>
          <p:nvPr/>
        </p:nvSpPr>
        <p:spPr>
          <a:xfrm>
            <a:off x="9921240" y="5056632"/>
            <a:ext cx="1627632" cy="914400"/>
          </a:xfrm>
          <a:prstGeom prst="rect">
            <a:avLst/>
          </a:prstGeom>
          <a:noFill/>
          <a:ln/>
        </p:spPr>
        <p:txBody>
          <a:bodyPr wrap="square" lIns="508" tIns="508" rIns="508" bIns="508" rtlCol="0" anchor="t"/>
          <a:lstStyle/>
          <a:p>
            <a:pPr algn="l" indent="0" marL="0">
              <a:lnSpc>
                <a:spcPct val="105000"/>
              </a:lnSpc>
              <a:buNone/>
            </a:pPr>
            <a:r>
              <a:rPr lang="en-US" sz="850" dirty="0">
                <a:solidFill>
                  <a:srgbClr val="5F6368"/>
                </a:solidFill>
                <a:latin typeface="Calibri" pitchFamily="34" charset="0"/>
                <a:ea typeface="Calibri" pitchFamily="34" charset="-122"/>
                <a:cs typeface="Calibri" pitchFamily="34" charset="-120"/>
              </a:rPr>
              <a:t>Registry, safe-tool policy &amp; budgets, RAG pipeline behind policy_search. The platform is not in the tool call path.</a:t>
            </a:r>
            <a:endParaRPr lang="en-US" sz="850" dirty="0"/>
          </a:p>
        </p:txBody>
      </p:sp>
      <p:sp>
        <p:nvSpPr>
          <p:cNvPr id="55" name="Shape 53"/>
          <p:cNvSpPr/>
          <p:nvPr/>
        </p:nvSpPr>
        <p:spPr>
          <a:xfrm>
            <a:off x="548640" y="6428232"/>
            <a:ext cx="164592" cy="164592"/>
          </a:xfrm>
          <a:prstGeom prst="roundRect">
            <a:avLst>
              <a:gd name="adj" fmla="val 16667"/>
            </a:avLst>
          </a:prstGeom>
          <a:solidFill>
            <a:srgbClr val="1A73E8"/>
          </a:solidFill>
          <a:ln w="12700">
            <a:solidFill>
              <a:srgbClr val="1A73E8"/>
            </a:solidFill>
            <a:prstDash val="solid"/>
          </a:ln>
        </p:spPr>
      </p:sp>
      <p:sp>
        <p:nvSpPr>
          <p:cNvPr id="56" name="Text 54"/>
          <p:cNvSpPr txBox="1"/>
          <p:nvPr/>
        </p:nvSpPr>
        <p:spPr>
          <a:xfrm>
            <a:off x="76809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Google ADK core</a:t>
            </a:r>
            <a:endParaRPr lang="en-US" sz="950" dirty="0"/>
          </a:p>
        </p:txBody>
      </p:sp>
      <p:sp>
        <p:nvSpPr>
          <p:cNvPr id="57" name="Shape 55"/>
          <p:cNvSpPr/>
          <p:nvPr/>
        </p:nvSpPr>
        <p:spPr>
          <a:xfrm>
            <a:off x="2331720" y="6428232"/>
            <a:ext cx="164592" cy="164592"/>
          </a:xfrm>
          <a:prstGeom prst="roundRect">
            <a:avLst>
              <a:gd name="adj" fmla="val 16667"/>
            </a:avLst>
          </a:prstGeom>
          <a:solidFill>
            <a:srgbClr val="C2410C"/>
          </a:solidFill>
          <a:ln w="12700">
            <a:solidFill>
              <a:srgbClr val="C2410C"/>
            </a:solidFill>
            <a:prstDash val="solid"/>
          </a:ln>
        </p:spPr>
      </p:sp>
      <p:sp>
        <p:nvSpPr>
          <p:cNvPr id="58" name="Text 56"/>
          <p:cNvSpPr txBox="1"/>
          <p:nvPr/>
        </p:nvSpPr>
        <p:spPr>
          <a:xfrm>
            <a:off x="255117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Tachyon platform</a:t>
            </a:r>
            <a:endParaRPr lang="en-US" sz="950" dirty="0"/>
          </a:p>
        </p:txBody>
      </p:sp>
      <p:sp>
        <p:nvSpPr>
          <p:cNvPr id="59" name="Shape 57"/>
          <p:cNvSpPr/>
          <p:nvPr/>
        </p:nvSpPr>
        <p:spPr>
          <a:xfrm>
            <a:off x="4114800" y="6428232"/>
            <a:ext cx="164592" cy="164592"/>
          </a:xfrm>
          <a:prstGeom prst="roundRect">
            <a:avLst>
              <a:gd name="adj" fmla="val 16667"/>
            </a:avLst>
          </a:prstGeom>
          <a:solidFill>
            <a:srgbClr val="6B4C9A"/>
          </a:solidFill>
          <a:ln w="12700">
            <a:solidFill>
              <a:srgbClr val="6B4C9A"/>
            </a:solidFill>
            <a:prstDash val="solid"/>
          </a:ln>
        </p:spPr>
      </p:sp>
      <p:sp>
        <p:nvSpPr>
          <p:cNvPr id="60" name="Text 58"/>
          <p:cNvSpPr txBox="1"/>
          <p:nvPr/>
        </p:nvSpPr>
        <p:spPr>
          <a:xfrm>
            <a:off x="4334256" y="6355080"/>
            <a:ext cx="1645920" cy="310896"/>
          </a:xfrm>
          <a:prstGeom prst="rect">
            <a:avLst/>
          </a:prstGeom>
          <a:noFill/>
          <a:ln/>
        </p:spPr>
        <p:txBody>
          <a:bodyPr wrap="square" lIns="508" tIns="508" rIns="508" bIns="508" rtlCol="0" anchor="ctr"/>
          <a:lstStyle/>
          <a:p>
            <a:pPr algn="l" indent="0" marL="0">
              <a:lnSpc>
                <a:spcPct val="105000"/>
              </a:lnSpc>
              <a:buNone/>
            </a:pPr>
            <a:r>
              <a:rPr lang="en-US" sz="950" dirty="0">
                <a:solidFill>
                  <a:srgbClr val="5F6368"/>
                </a:solidFill>
                <a:latin typeface="Calibri" pitchFamily="34" charset="0"/>
                <a:ea typeface="Calibri" pitchFamily="34" charset="-122"/>
                <a:cs typeface="Calibri" pitchFamily="34" charset="-120"/>
              </a:rPr>
              <a:t>TSDK wrapper layer</a:t>
            </a:r>
            <a:endParaRPr lang="en-US" sz="950" dirty="0"/>
          </a:p>
        </p:txBody>
      </p:sp>
      <p:sp>
        <p:nvSpPr>
          <p:cNvPr id="61" name="Text 59"/>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62" name="Text 60"/>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Capability comparison</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Same 13 capabilities as the Tachyon comparison deck. ADK = the core primitive; TSDK = the wrapper plus the Tachyon platform service Fargo actually runs 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743200"/>
                <a:gridCol w="3794760"/>
                <a:gridCol w="3794760"/>
                <a:gridCol w="731520"/>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Capability</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1F3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Google ADK core provides</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73E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TSDK + Tachyon platform provide</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Fargo runs on</a:t>
                      </a:r>
                      <a:endParaRPr lang="en-US" sz="9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1F3B"/>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Vendor lock-in / model choice</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Model-agnostic LlmAgent (Gemini native; others via LiteLLM / custom BaseLlm)</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AI Bridge swaps models via registry config on WF infra</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Model control (params)</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generate_content_config per agent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registry.yml per-model + per-agent overrides, version-controlled</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Failover, pairing &amp; fusion</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9AA0A6"/>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Round-robin / priority routing, auto-failover, fusion</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RAG / chunking</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Built-in Vertex AI Search / RAG tools</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Full pipeline: hybrid search, custom embeddings, re-rankers</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Eval / testing</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adk eval, evalsets, criteria &amp; user simulation</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Guardrail evals, LLM-as-judge, Arize traces, pytest CI</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Short-term memory</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Session / State / SessionService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Redis store: TTL, multi-cluster, mTLS, cross-agent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Long-term memory</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MemoryService interface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Mem0 on PostgreSQL / Mongo / Elastic</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Guardrails</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Callbacks &amp; plugins as hook points; LoopAgent max_iterations</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Declarative YAML: budgets, loop detection, safe-tool, goal drift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Multi-agent orchestration</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sub_agents, workflow agents, A2A (to_a2a / RemoteA2aAgent)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A2A discovery + token exchange on WF infra</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Observability</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OpenTelemetry instrumentation, Dev UI trace view</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Arize Phoenix + OTel export; Overwatch monitoring</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BOTH</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B4C9A"/>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MMR compliance</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9AA0A6"/>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Registry + guardrails + evals + observability = one approval surface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Deployment</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Cloud Run / GKE / Agent Engine / container</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OCP via EPLX pipeline on WF infrastructure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r h="301752">
                <a:tc>
                  <a:txBody>
                    <a:bodyPr/>
                    <a:lstStyle/>
                    <a:p>
                      <a:pPr indent="0" marL="0">
                        <a:buNone/>
                      </a:pPr>
                      <a:r>
                        <a:rPr lang="en-US" sz="900" b="1" dirty="0">
                          <a:solidFill>
                            <a:srgbClr val="202124"/>
                          </a:solidFill>
                          <a:latin typeface="Calibri" pitchFamily="34" charset="0"/>
                          <a:ea typeface="Calibri" pitchFamily="34" charset="-122"/>
                          <a:cs typeface="Calibri" pitchFamily="34" charset="-120"/>
                        </a:rPr>
                        <a:t>Cost model</a:t>
                      </a:r>
                      <a:endParaRPr lang="en-US" sz="90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3F4"/>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Open-source SDK (no licence)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0FE"/>
                    </a:solidFill>
                  </a:tcPr>
                </a:tc>
                <a:tc>
                  <a:txBody>
                    <a:bodyPr/>
                    <a:lstStyle/>
                    <a:p>
                      <a:pPr indent="0" marL="0">
                        <a:buNone/>
                      </a:pPr>
                      <a:r>
                        <a:rPr lang="en-US" sz="850" dirty="0">
                          <a:solidFill>
                            <a:srgbClr val="202124"/>
                          </a:solidFill>
                          <a:latin typeface="Calibri" pitchFamily="34" charset="0"/>
                          <a:ea typeface="Calibri" pitchFamily="34" charset="-122"/>
                          <a:cs typeface="Calibri" pitchFamily="34" charset="-120"/>
                        </a:rPr>
                        <a:t>Internal platform, predictable run-rate</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EE4"/>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TSDK</a:t>
                      </a:r>
                      <a:endParaRPr lang="en-US" sz="850" dirty="0">
                        <a:latin typeface="Calibri" charset="0"/>
                        <a:ea typeface="Calibri" charset="0"/>
                        <a:cs typeface="Calibri" charset="0"/>
                      </a:endParaRPr>
                    </a:p>
                  </a:txBody>
                  <a:tcPr marL="36576" marR="36576"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410C"/>
                    </a:solidFill>
                  </a:tcPr>
                </a:tc>
              </a:tr>
            </a:tbl>
          </a:graphicData>
        </a:graphic>
      </p:graphicFrame>
      <p:sp>
        <p:nvSpPr>
          <p:cNvPr id="5" name="Text 2"/>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6" name="Text 3"/>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1064240" cy="548640"/>
          </a:xfrm>
          <a:prstGeom prst="rect">
            <a:avLst/>
          </a:prstGeom>
          <a:noFill/>
          <a:ln/>
        </p:spPr>
        <p:txBody>
          <a:bodyPr wrap="square" lIns="508" tIns="508" rIns="508" bIns="508" rtlCol="0" anchor="t"/>
          <a:lstStyle/>
          <a:p>
            <a:pPr algn="l" indent="0" marL="0">
              <a:lnSpc>
                <a:spcPct val="105000"/>
              </a:lnSpc>
              <a:buNone/>
            </a:pPr>
            <a:r>
              <a:rPr lang="en-US" sz="2600" b="1" dirty="0">
                <a:solidFill>
                  <a:srgbClr val="1B1F3B"/>
                </a:solidFill>
                <a:latin typeface="Calibri" pitchFamily="34" charset="0"/>
                <a:ea typeface="Calibri" pitchFamily="34" charset="-122"/>
                <a:cs typeface="Calibri" pitchFamily="34" charset="-120"/>
              </a:rPr>
              <a:t>Summary</a:t>
            </a:r>
            <a:endParaRPr lang="en-US" sz="2600" dirty="0"/>
          </a:p>
        </p:txBody>
      </p:sp>
      <p:sp>
        <p:nvSpPr>
          <p:cNvPr id="3" name="Text 1"/>
          <p:cNvSpPr txBox="1"/>
          <p:nvPr/>
        </p:nvSpPr>
        <p:spPr>
          <a:xfrm>
            <a:off x="548640" y="1051560"/>
            <a:ext cx="11064240" cy="457200"/>
          </a:xfrm>
          <a:prstGeom prst="rect">
            <a:avLst/>
          </a:prstGeom>
          <a:noFill/>
          <a:ln/>
        </p:spPr>
        <p:txBody>
          <a:bodyPr wrap="square" lIns="508" tIns="508" rIns="508" bIns="508" rtlCol="0" anchor="t"/>
          <a:lstStyle/>
          <a:p>
            <a:pPr algn="l" indent="0" marL="0">
              <a:lnSpc>
                <a:spcPct val="105000"/>
              </a:lnSpc>
              <a:buNone/>
            </a:pPr>
            <a:r>
              <a:rPr lang="en-US" sz="1300" dirty="0">
                <a:solidFill>
                  <a:srgbClr val="5F6368"/>
                </a:solidFill>
                <a:latin typeface="Calibri" pitchFamily="34" charset="0"/>
                <a:ea typeface="Calibri" pitchFamily="34" charset="-122"/>
                <a:cs typeface="Calibri" pitchFamily="34" charset="-120"/>
              </a:rPr>
              <a:t>ADK builds the agent, TSDK wires it into the platform, Tachyon runs the services.</a:t>
            </a:r>
            <a:endParaRPr lang="en-US" sz="1300" dirty="0"/>
          </a:p>
        </p:txBody>
      </p:sp>
      <p:sp>
        <p:nvSpPr>
          <p:cNvPr id="4" name="Shape 2"/>
          <p:cNvSpPr/>
          <p:nvPr/>
        </p:nvSpPr>
        <p:spPr>
          <a:xfrm>
            <a:off x="548640" y="1737360"/>
            <a:ext cx="3383280" cy="2926080"/>
          </a:xfrm>
          <a:prstGeom prst="roundRect">
            <a:avLst>
              <a:gd name="adj" fmla="val 3125"/>
            </a:avLst>
          </a:prstGeom>
          <a:solidFill>
            <a:srgbClr val="E8F0FE"/>
          </a:solidFill>
          <a:ln w="15875">
            <a:solidFill>
              <a:srgbClr val="1A73E8"/>
            </a:solidFill>
            <a:prstDash val="solid"/>
          </a:ln>
        </p:spPr>
      </p:sp>
      <p:sp>
        <p:nvSpPr>
          <p:cNvPr id="5" name="Shape 3"/>
          <p:cNvSpPr/>
          <p:nvPr/>
        </p:nvSpPr>
        <p:spPr>
          <a:xfrm>
            <a:off x="731520" y="1920240"/>
            <a:ext cx="457200" cy="457200"/>
          </a:xfrm>
          <a:prstGeom prst="roundRect">
            <a:avLst>
              <a:gd name="adj" fmla="val 50000"/>
            </a:avLst>
          </a:prstGeom>
          <a:solidFill>
            <a:srgbClr val="1A73E8"/>
          </a:solidFill>
          <a:ln w="12700">
            <a:solidFill>
              <a:srgbClr val="1A73E8"/>
            </a:solidFill>
            <a:prstDash val="solid"/>
          </a:ln>
        </p:spPr>
      </p:sp>
      <p:sp>
        <p:nvSpPr>
          <p:cNvPr id="6" name="Text 4"/>
          <p:cNvSpPr txBox="1"/>
          <p:nvPr/>
        </p:nvSpPr>
        <p:spPr>
          <a:xfrm>
            <a:off x="1325880" y="1920240"/>
            <a:ext cx="2468880" cy="457200"/>
          </a:xfrm>
          <a:prstGeom prst="rect">
            <a:avLst/>
          </a:prstGeom>
          <a:noFill/>
          <a:ln/>
        </p:spPr>
        <p:txBody>
          <a:bodyPr wrap="square" lIns="508" tIns="508" rIns="508" bIns="508" rtlCol="0" anchor="ctr"/>
          <a:lstStyle/>
          <a:p>
            <a:pPr algn="l" indent="0" marL="0">
              <a:lnSpc>
                <a:spcPct val="105000"/>
              </a:lnSpc>
              <a:buNone/>
            </a:pPr>
            <a:r>
              <a:rPr lang="en-US" sz="1400" b="1" dirty="0">
                <a:solidFill>
                  <a:srgbClr val="1A73E8"/>
                </a:solidFill>
                <a:latin typeface="Calibri" pitchFamily="34" charset="0"/>
                <a:ea typeface="Calibri" pitchFamily="34" charset="-122"/>
                <a:cs typeface="Calibri" pitchFamily="34" charset="-120"/>
              </a:rPr>
              <a:t>Google ADK core</a:t>
            </a:r>
            <a:endParaRPr lang="en-US" sz="1400" dirty="0"/>
          </a:p>
        </p:txBody>
      </p:sp>
      <p:sp>
        <p:nvSpPr>
          <p:cNvPr id="7" name="Text 5"/>
          <p:cNvSpPr txBox="1"/>
          <p:nvPr/>
        </p:nvSpPr>
        <p:spPr>
          <a:xfrm>
            <a:off x="731520" y="2560320"/>
            <a:ext cx="3017520" cy="2011680"/>
          </a:xfrm>
          <a:prstGeom prst="rect">
            <a:avLst/>
          </a:prstGeom>
          <a:noFill/>
          <a:ln/>
        </p:spPr>
        <p:txBody>
          <a:bodyPr wrap="square" lIns="508" tIns="508" rIns="508" bIns="508" rtlCol="0" anchor="t"/>
          <a:lstStyle/>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Agent definition (LlmAgent, workflow agents)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Reasoning loop, Runner &amp; event stream</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Tool &amp; MCP client abstractions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Session / State / Memory interfaces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Callback seams and A2A primitives</a:t>
            </a:r>
            <a:endParaRPr lang="en-US" sz="1100" dirty="0"/>
          </a:p>
        </p:txBody>
      </p:sp>
      <p:sp>
        <p:nvSpPr>
          <p:cNvPr id="8" name="Shape 6"/>
          <p:cNvSpPr/>
          <p:nvPr/>
        </p:nvSpPr>
        <p:spPr>
          <a:xfrm>
            <a:off x="4389120" y="1737360"/>
            <a:ext cx="3383280" cy="2926080"/>
          </a:xfrm>
          <a:prstGeom prst="roundRect">
            <a:avLst>
              <a:gd name="adj" fmla="val 3125"/>
            </a:avLst>
          </a:prstGeom>
          <a:solidFill>
            <a:srgbClr val="EFE9F7"/>
          </a:solidFill>
          <a:ln w="15875">
            <a:solidFill>
              <a:srgbClr val="6B4C9A"/>
            </a:solidFill>
            <a:prstDash val="solid"/>
          </a:ln>
        </p:spPr>
      </p:sp>
      <p:sp>
        <p:nvSpPr>
          <p:cNvPr id="9" name="Shape 7"/>
          <p:cNvSpPr/>
          <p:nvPr/>
        </p:nvSpPr>
        <p:spPr>
          <a:xfrm>
            <a:off x="4572000" y="1920240"/>
            <a:ext cx="457200" cy="457200"/>
          </a:xfrm>
          <a:prstGeom prst="roundRect">
            <a:avLst>
              <a:gd name="adj" fmla="val 50000"/>
            </a:avLst>
          </a:prstGeom>
          <a:solidFill>
            <a:srgbClr val="6B4C9A"/>
          </a:solidFill>
          <a:ln w="12700">
            <a:solidFill>
              <a:srgbClr val="6B4C9A"/>
            </a:solidFill>
            <a:prstDash val="solid"/>
          </a:ln>
        </p:spPr>
      </p:sp>
      <p:sp>
        <p:nvSpPr>
          <p:cNvPr id="10" name="Text 8"/>
          <p:cNvSpPr txBox="1"/>
          <p:nvPr/>
        </p:nvSpPr>
        <p:spPr>
          <a:xfrm>
            <a:off x="5166360" y="1920240"/>
            <a:ext cx="2468880" cy="457200"/>
          </a:xfrm>
          <a:prstGeom prst="rect">
            <a:avLst/>
          </a:prstGeom>
          <a:noFill/>
          <a:ln/>
        </p:spPr>
        <p:txBody>
          <a:bodyPr wrap="square" lIns="508" tIns="508" rIns="508" bIns="508" rtlCol="0" anchor="ctr"/>
          <a:lstStyle/>
          <a:p>
            <a:pPr algn="l" indent="0" marL="0">
              <a:lnSpc>
                <a:spcPct val="105000"/>
              </a:lnSpc>
              <a:buNone/>
            </a:pPr>
            <a:r>
              <a:rPr lang="en-US" sz="1400" b="1" dirty="0">
                <a:solidFill>
                  <a:srgbClr val="6B4C9A"/>
                </a:solidFill>
                <a:latin typeface="Calibri" pitchFamily="34" charset="0"/>
                <a:ea typeface="Calibri" pitchFamily="34" charset="-122"/>
                <a:cs typeface="Calibri" pitchFamily="34" charset="-120"/>
              </a:rPr>
              <a:t>TSDK library adds</a:t>
            </a:r>
            <a:endParaRPr lang="en-US" sz="1400" dirty="0"/>
          </a:p>
        </p:txBody>
      </p:sp>
      <p:sp>
        <p:nvSpPr>
          <p:cNvPr id="11" name="Text 9"/>
          <p:cNvSpPr txBox="1"/>
          <p:nvPr/>
        </p:nvSpPr>
        <p:spPr>
          <a:xfrm>
            <a:off x="4572000" y="2560320"/>
            <a:ext cx="3017520" cy="2011680"/>
          </a:xfrm>
          <a:prstGeom prst="rect">
            <a:avLst/>
          </a:prstGeom>
          <a:noFill/>
          <a:ln/>
        </p:spPr>
        <p:txBody>
          <a:bodyPr wrap="square" lIns="508" tIns="508" rIns="508" bIns="508" rtlCol="0" anchor="t"/>
          <a:lstStyle/>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Wrapper classes around ADK agents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Auto-registration with Tachyon on construction</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Arize / OTel tracer attached automatically</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Callbacks pre-wired to Bridge, guardrails, Overwatch</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Session, memory, MCP and A2A adapters</a:t>
            </a:r>
            <a:endParaRPr lang="en-US" sz="1100" dirty="0"/>
          </a:p>
        </p:txBody>
      </p:sp>
      <p:sp>
        <p:nvSpPr>
          <p:cNvPr id="12" name="Shape 10"/>
          <p:cNvSpPr/>
          <p:nvPr/>
        </p:nvSpPr>
        <p:spPr>
          <a:xfrm>
            <a:off x="8229600" y="1737360"/>
            <a:ext cx="3383280" cy="2926080"/>
          </a:xfrm>
          <a:prstGeom prst="roundRect">
            <a:avLst>
              <a:gd name="adj" fmla="val 3125"/>
            </a:avLst>
          </a:prstGeom>
          <a:solidFill>
            <a:srgbClr val="FDEEE4"/>
          </a:solidFill>
          <a:ln w="15875">
            <a:solidFill>
              <a:srgbClr val="C2410C"/>
            </a:solidFill>
            <a:prstDash val="solid"/>
          </a:ln>
        </p:spPr>
      </p:sp>
      <p:sp>
        <p:nvSpPr>
          <p:cNvPr id="13" name="Shape 11"/>
          <p:cNvSpPr/>
          <p:nvPr/>
        </p:nvSpPr>
        <p:spPr>
          <a:xfrm>
            <a:off x="8412480" y="1920240"/>
            <a:ext cx="457200" cy="457200"/>
          </a:xfrm>
          <a:prstGeom prst="roundRect">
            <a:avLst>
              <a:gd name="adj" fmla="val 50000"/>
            </a:avLst>
          </a:prstGeom>
          <a:solidFill>
            <a:srgbClr val="C2410C"/>
          </a:solidFill>
          <a:ln w="12700">
            <a:solidFill>
              <a:srgbClr val="C2410C"/>
            </a:solidFill>
            <a:prstDash val="solid"/>
          </a:ln>
        </p:spPr>
      </p:sp>
      <p:sp>
        <p:nvSpPr>
          <p:cNvPr id="14" name="Text 12"/>
          <p:cNvSpPr txBox="1"/>
          <p:nvPr/>
        </p:nvSpPr>
        <p:spPr>
          <a:xfrm>
            <a:off x="9006840" y="1920240"/>
            <a:ext cx="2468880" cy="457200"/>
          </a:xfrm>
          <a:prstGeom prst="rect">
            <a:avLst/>
          </a:prstGeom>
          <a:noFill/>
          <a:ln/>
        </p:spPr>
        <p:txBody>
          <a:bodyPr wrap="square" lIns="508" tIns="508" rIns="508" bIns="508" rtlCol="0" anchor="ctr"/>
          <a:lstStyle/>
          <a:p>
            <a:pPr algn="l" indent="0" marL="0">
              <a:lnSpc>
                <a:spcPct val="105000"/>
              </a:lnSpc>
              <a:buNone/>
            </a:pPr>
            <a:r>
              <a:rPr lang="en-US" sz="1400" b="1" dirty="0">
                <a:solidFill>
                  <a:srgbClr val="C2410C"/>
                </a:solidFill>
                <a:latin typeface="Calibri" pitchFamily="34" charset="0"/>
                <a:ea typeface="Calibri" pitchFamily="34" charset="-122"/>
                <a:cs typeface="Calibri" pitchFamily="34" charset="-120"/>
              </a:rPr>
              <a:t>Tachyon platform provides</a:t>
            </a:r>
            <a:endParaRPr lang="en-US" sz="1400" dirty="0"/>
          </a:p>
        </p:txBody>
      </p:sp>
      <p:sp>
        <p:nvSpPr>
          <p:cNvPr id="15" name="Text 13"/>
          <p:cNvSpPr txBox="1"/>
          <p:nvPr/>
        </p:nvSpPr>
        <p:spPr>
          <a:xfrm>
            <a:off x="8412480" y="2560320"/>
            <a:ext cx="3017520" cy="2011680"/>
          </a:xfrm>
          <a:prstGeom prst="rect">
            <a:avLst/>
          </a:prstGeom>
          <a:noFill/>
          <a:ln/>
        </p:spPr>
        <p:txBody>
          <a:bodyPr wrap="square" lIns="508" tIns="508" rIns="508" bIns="508" rtlCol="0" anchor="t"/>
          <a:lstStyle/>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Model strategy: routing, params, failover, fusion</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Declarative guardrails &amp; eval harness</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Monitoring, tracing, MMR approval surface</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Durable memory &amp; RAG infrastructure</a:t>
            </a:r>
            <a:endParaRPr lang="en-US" sz="1100" dirty="0"/>
          </a:p>
          <a:p>
            <a:pPr algn="l" marL="342900" indent="-342900">
              <a:lnSpc>
                <a:spcPct val="105000"/>
              </a:lnSpc>
              <a:spcAft>
                <a:spcPts val="600"/>
              </a:spcAft>
              <a:buSzPct val="100000"/>
              <a:buChar char="•"/>
            </a:pPr>
            <a:r>
              <a:rPr lang="en-US" sz="1100" dirty="0">
                <a:solidFill>
                  <a:srgbClr val="202124"/>
                </a:solidFill>
                <a:latin typeface="Calibri" pitchFamily="34" charset="0"/>
                <a:ea typeface="Calibri" pitchFamily="34" charset="-122"/>
                <a:cs typeface="Calibri" pitchFamily="34" charset="-120"/>
              </a:rPr>
              <a:t>Deployment on WF infrastructure (OCP)</a:t>
            </a:r>
            <a:endParaRPr lang="en-US" sz="1100" dirty="0"/>
          </a:p>
        </p:txBody>
      </p:sp>
      <p:sp>
        <p:nvSpPr>
          <p:cNvPr id="16" name="Shape 14"/>
          <p:cNvSpPr/>
          <p:nvPr/>
        </p:nvSpPr>
        <p:spPr>
          <a:xfrm>
            <a:off x="548640" y="4937760"/>
            <a:ext cx="2651760" cy="777240"/>
          </a:xfrm>
          <a:prstGeom prst="roundRect">
            <a:avLst>
              <a:gd name="adj" fmla="val 9412"/>
            </a:avLst>
          </a:prstGeom>
          <a:solidFill>
            <a:srgbClr val="F1F3F4"/>
          </a:solidFill>
          <a:ln w="12700">
            <a:solidFill>
              <a:srgbClr val="F1F3F4"/>
            </a:solidFill>
            <a:prstDash val="solid"/>
          </a:ln>
        </p:spPr>
      </p:sp>
      <p:sp>
        <p:nvSpPr>
          <p:cNvPr id="17" name="Text 15"/>
          <p:cNvSpPr txBox="1"/>
          <p:nvPr/>
        </p:nvSpPr>
        <p:spPr>
          <a:xfrm>
            <a:off x="68580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Control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we tune, swap and constrain models ourselves</a:t>
            </a:r>
            <a:endParaRPr lang="en-US" sz="1050" dirty="0"/>
          </a:p>
        </p:txBody>
      </p:sp>
      <p:sp>
        <p:nvSpPr>
          <p:cNvPr id="18" name="Shape 16"/>
          <p:cNvSpPr/>
          <p:nvPr/>
        </p:nvSpPr>
        <p:spPr>
          <a:xfrm>
            <a:off x="3337560" y="4937760"/>
            <a:ext cx="2651760" cy="777240"/>
          </a:xfrm>
          <a:prstGeom prst="roundRect">
            <a:avLst>
              <a:gd name="adj" fmla="val 9412"/>
            </a:avLst>
          </a:prstGeom>
          <a:solidFill>
            <a:srgbClr val="F1F3F4"/>
          </a:solidFill>
          <a:ln w="12700">
            <a:solidFill>
              <a:srgbClr val="F1F3F4"/>
            </a:solidFill>
            <a:prstDash val="solid"/>
          </a:ln>
        </p:spPr>
      </p:sp>
      <p:sp>
        <p:nvSpPr>
          <p:cNvPr id="19" name="Text 17"/>
          <p:cNvSpPr txBox="1"/>
          <p:nvPr/>
        </p:nvSpPr>
        <p:spPr>
          <a:xfrm>
            <a:off x="347472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Resilience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failover, pairing and fusion are defaults</a:t>
            </a:r>
            <a:endParaRPr lang="en-US" sz="1050" dirty="0"/>
          </a:p>
        </p:txBody>
      </p:sp>
      <p:sp>
        <p:nvSpPr>
          <p:cNvPr id="20" name="Shape 18"/>
          <p:cNvSpPr/>
          <p:nvPr/>
        </p:nvSpPr>
        <p:spPr>
          <a:xfrm>
            <a:off x="6126480" y="4937760"/>
            <a:ext cx="2651760" cy="777240"/>
          </a:xfrm>
          <a:prstGeom prst="roundRect">
            <a:avLst>
              <a:gd name="adj" fmla="val 9412"/>
            </a:avLst>
          </a:prstGeom>
          <a:solidFill>
            <a:srgbClr val="F1F3F4"/>
          </a:solidFill>
          <a:ln w="12700">
            <a:solidFill>
              <a:srgbClr val="F1F3F4"/>
            </a:solidFill>
            <a:prstDash val="solid"/>
          </a:ln>
        </p:spPr>
      </p:sp>
      <p:sp>
        <p:nvSpPr>
          <p:cNvPr id="21" name="Text 19"/>
          <p:cNvSpPr txBox="1"/>
          <p:nvPr/>
        </p:nvSpPr>
        <p:spPr>
          <a:xfrm>
            <a:off x="626364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Trust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evals, observability and MMR alignment built in</a:t>
            </a:r>
            <a:endParaRPr lang="en-US" sz="1050" dirty="0"/>
          </a:p>
        </p:txBody>
      </p:sp>
      <p:sp>
        <p:nvSpPr>
          <p:cNvPr id="22" name="Shape 20"/>
          <p:cNvSpPr/>
          <p:nvPr/>
        </p:nvSpPr>
        <p:spPr>
          <a:xfrm>
            <a:off x="8915400" y="4937760"/>
            <a:ext cx="2651760" cy="777240"/>
          </a:xfrm>
          <a:prstGeom prst="roundRect">
            <a:avLst>
              <a:gd name="adj" fmla="val 9412"/>
            </a:avLst>
          </a:prstGeom>
          <a:solidFill>
            <a:srgbClr val="F1F3F4"/>
          </a:solidFill>
          <a:ln w="12700">
            <a:solidFill>
              <a:srgbClr val="F1F3F4"/>
            </a:solidFill>
            <a:prstDash val="solid"/>
          </a:ln>
        </p:spPr>
      </p:sp>
      <p:sp>
        <p:nvSpPr>
          <p:cNvPr id="23" name="Text 21"/>
          <p:cNvSpPr txBox="1"/>
          <p:nvPr/>
        </p:nvSpPr>
        <p:spPr>
          <a:xfrm>
            <a:off x="9052560" y="4937760"/>
            <a:ext cx="2377440" cy="777240"/>
          </a:xfrm>
          <a:prstGeom prst="rect">
            <a:avLst/>
          </a:prstGeom>
          <a:noFill/>
          <a:ln/>
        </p:spPr>
        <p:txBody>
          <a:bodyPr wrap="square" lIns="508" tIns="508" rIns="508" bIns="508" rtlCol="0" anchor="ctr"/>
          <a:lstStyle/>
          <a:p>
            <a:pPr algn="l" indent="0" marL="0">
              <a:lnSpc>
                <a:spcPct val="105000"/>
              </a:lnSpc>
              <a:buNone/>
            </a:pPr>
            <a:r>
              <a:rPr lang="en-US" sz="1050" b="1" dirty="0">
                <a:solidFill>
                  <a:srgbClr val="202124"/>
                </a:solidFill>
                <a:latin typeface="Calibri" pitchFamily="34" charset="0"/>
                <a:ea typeface="Calibri" pitchFamily="34" charset="-122"/>
                <a:cs typeface="Calibri" pitchFamily="34" charset="-120"/>
              </a:rPr>
              <a:t>Economics  </a:t>
            </a:r>
            <a:pPr algn="l" indent="0" marL="0">
              <a:lnSpc>
                <a:spcPct val="105000"/>
              </a:lnSpc>
              <a:buNone/>
            </a:pPr>
            <a:r>
              <a:rPr lang="en-US" sz="1050" dirty="0">
                <a:solidFill>
                  <a:srgbClr val="5F6368"/>
                </a:solidFill>
                <a:latin typeface="Calibri" pitchFamily="34" charset="0"/>
                <a:ea typeface="Calibri" pitchFamily="34" charset="-122"/>
                <a:cs typeface="Calibri" pitchFamily="34" charset="-120"/>
              </a:rPr>
              <a:t>predictable internal cost; agents stay portable</a:t>
            </a:r>
            <a:endParaRPr lang="en-US" sz="1050" dirty="0"/>
          </a:p>
        </p:txBody>
      </p:sp>
      <p:sp>
        <p:nvSpPr>
          <p:cNvPr id="24" name="Text 22"/>
          <p:cNvSpPr txBox="1"/>
          <p:nvPr/>
        </p:nvSpPr>
        <p:spPr>
          <a:xfrm>
            <a:off x="548640" y="5897880"/>
            <a:ext cx="11064240" cy="457200"/>
          </a:xfrm>
          <a:prstGeom prst="rect">
            <a:avLst/>
          </a:prstGeom>
          <a:noFill/>
          <a:ln/>
        </p:spPr>
        <p:txBody>
          <a:bodyPr wrap="square" lIns="508" tIns="508" rIns="508" bIns="508" rtlCol="0" anchor="ctr"/>
          <a:lstStyle/>
          <a:p>
            <a:pPr algn="l" indent="0" marL="0">
              <a:lnSpc>
                <a:spcPct val="105000"/>
              </a:lnSpc>
              <a:buNone/>
            </a:pPr>
            <a:r>
              <a:rPr lang="en-US" sz="1100" b="1" dirty="0">
                <a:solidFill>
                  <a:srgbClr val="202124"/>
                </a:solidFill>
                <a:latin typeface="Calibri" pitchFamily="34" charset="0"/>
                <a:ea typeface="Calibri" pitchFamily="34" charset="-122"/>
                <a:cs typeface="Calibri" pitchFamily="34" charset="-120"/>
              </a:rPr>
              <a:t>Note: </a:t>
            </a:r>
            <a:pPr algn="l" indent="0" marL="0">
              <a:lnSpc>
                <a:spcPct val="105000"/>
              </a:lnSpc>
              <a:buNone/>
            </a:pPr>
            <a:r>
              <a:rPr lang="en-US" sz="1100" dirty="0">
                <a:solidFill>
                  <a:srgbClr val="202124"/>
                </a:solidFill>
                <a:latin typeface="Calibri" pitchFamily="34" charset="0"/>
                <a:ea typeface="Calibri" pitchFamily="34" charset="-122"/>
                <a:cs typeface="Calibri" pitchFamily="34" charset="-120"/>
              </a:rPr>
              <a:t>Since ADK ships inside TSDK, any team that adopts the library gets registration, tracing and guardrails without extra integration work. The ADK core and the platform can also be upgraded independently.</a:t>
            </a:r>
            <a:endParaRPr lang="en-US" sz="1100" dirty="0"/>
          </a:p>
        </p:txBody>
      </p:sp>
      <p:sp>
        <p:nvSpPr>
          <p:cNvPr id="25" name="Text 23"/>
          <p:cNvSpPr txBox="1"/>
          <p:nvPr/>
        </p:nvSpPr>
        <p:spPr>
          <a:xfrm>
            <a:off x="7863840" y="6355080"/>
            <a:ext cx="374904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Fargo platform – internal</a:t>
            </a:r>
            <a:endParaRPr lang="en-US" sz="900" dirty="0"/>
          </a:p>
        </p:txBody>
      </p:sp>
      <p:sp>
        <p:nvSpPr>
          <p:cNvPr id="26" name="Text 24"/>
          <p:cNvSpPr txBox="1"/>
          <p:nvPr/>
        </p:nvSpPr>
        <p:spPr>
          <a:xfrm>
            <a:off x="11658600" y="6355080"/>
            <a:ext cx="365760" cy="310896"/>
          </a:xfrm>
          <a:prstGeom prst="rect">
            <a:avLst/>
          </a:prstGeom>
          <a:noFill/>
          <a:ln/>
        </p:spPr>
        <p:txBody>
          <a:bodyPr wrap="square" lIns="508" tIns="508" rIns="508" bIns="508" rtlCol="0" anchor="ctr"/>
          <a:lstStyle/>
          <a:p>
            <a:pPr algn="r" indent="0" marL="0">
              <a:lnSpc>
                <a:spcPct val="105000"/>
              </a:lnSpc>
              <a:buNone/>
            </a:pPr>
            <a:r>
              <a:rPr lang="en-US" sz="900" dirty="0">
                <a:solidFill>
                  <a:srgbClr val="9AA0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Fargo — Tachyon SDK × Google ADK</dc:title>
  <dc:subject>PptxGenJS Presentation</dc:subject>
  <dc:creator>PptxGenJS</dc:creator>
  <cp:lastModifiedBy>PptxGenJS</cp:lastModifiedBy>
  <cp:revision>1</cp:revision>
  <dcterms:created xsi:type="dcterms:W3CDTF">2026-09-13T03:08:59Z</dcterms:created>
  <dcterms:modified xsi:type="dcterms:W3CDTF">2026-09-13T03:08:59Z</dcterms:modified>
</cp:coreProperties>
</file>