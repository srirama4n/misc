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31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Fargo 2.0 — Streaming Architecture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86384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Runner &amp; events surfaced as visible “thinking” steps over SSE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11480" y="2788920"/>
            <a:ext cx="960120" cy="868680"/>
          </a:xfrm>
          <a:prstGeom prst="roundRect">
            <a:avLst>
              <a:gd name="adj" fmla="val 8421"/>
            </a:avLst>
          </a:prstGeom>
          <a:solidFill>
            <a:srgbClr val="F4F6F9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208" y="2898648"/>
            <a:ext cx="292608" cy="2926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3172968"/>
            <a:ext cx="86868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/ UI</a:t>
            </a:r>
            <a:endParaRPr lang="en-US" sz="13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v1/chat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1965960" y="2788920"/>
            <a:ext cx="1143000" cy="868680"/>
          </a:xfrm>
          <a:prstGeom prst="roundRect">
            <a:avLst>
              <a:gd name="adj" fmla="val 8421"/>
            </a:avLst>
          </a:prstGeom>
          <a:solidFill>
            <a:srgbClr val="13314F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5688" y="2898648"/>
            <a:ext cx="292608" cy="29260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011680" y="3172968"/>
            <a:ext cx="105156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API</a:t>
            </a:r>
            <a:endParaRPr lang="en-US" sz="13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E7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PAA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3703320" y="2788920"/>
            <a:ext cx="1371600" cy="868680"/>
          </a:xfrm>
          <a:prstGeom prst="roundRect">
            <a:avLst>
              <a:gd name="adj" fmla="val 8421"/>
            </a:avLst>
          </a:prstGeom>
          <a:solidFill>
            <a:srgbClr val="F4F6F9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3048" y="2898648"/>
            <a:ext cx="292608" cy="29260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749040" y="3172968"/>
            <a:ext cx="128016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</a:t>
            </a:r>
            <a:endParaRPr lang="en-US" sz="13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Flink 2.0 · A2A Java SDK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5715000" y="2788920"/>
            <a:ext cx="1371600" cy="868680"/>
          </a:xfrm>
          <a:prstGeom prst="roundRect">
            <a:avLst>
              <a:gd name="adj" fmla="val 8421"/>
            </a:avLst>
          </a:prstGeom>
          <a:solidFill>
            <a:srgbClr val="7A1F6B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24728" y="2898648"/>
            <a:ext cx="292608" cy="29260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760720" y="3172968"/>
            <a:ext cx="128016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Agent</a:t>
            </a:r>
            <a:endParaRPr lang="en-US" sz="13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E7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ADK</a:t>
            </a:r>
            <a:endParaRPr lang="en-US" sz="1300" dirty="0"/>
          </a:p>
        </p:txBody>
      </p:sp>
      <p:sp>
        <p:nvSpPr>
          <p:cNvPr id="16" name="Shape 10"/>
          <p:cNvSpPr/>
          <p:nvPr/>
        </p:nvSpPr>
        <p:spPr>
          <a:xfrm>
            <a:off x="7726680" y="2788920"/>
            <a:ext cx="1417320" cy="868680"/>
          </a:xfrm>
          <a:prstGeom prst="roundRect">
            <a:avLst>
              <a:gd name="adj" fmla="val 8421"/>
            </a:avLst>
          </a:prstGeom>
          <a:solidFill>
            <a:srgbClr val="7A1F6B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36408" y="2898648"/>
            <a:ext cx="292608" cy="292608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7772400" y="3172968"/>
            <a:ext cx="132588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Mgmt Agent</a:t>
            </a:r>
            <a:endParaRPr lang="en-US" sz="1300" dirty="0"/>
          </a:p>
        </p:txBody>
      </p:sp>
      <p:sp>
        <p:nvSpPr>
          <p:cNvPr id="19" name="Shape 12"/>
          <p:cNvSpPr/>
          <p:nvPr/>
        </p:nvSpPr>
        <p:spPr>
          <a:xfrm>
            <a:off x="9784080" y="2468880"/>
            <a:ext cx="1234440" cy="1508760"/>
          </a:xfrm>
          <a:prstGeom prst="roundRect">
            <a:avLst>
              <a:gd name="adj" fmla="val 5926"/>
            </a:avLst>
          </a:prstGeom>
          <a:solidFill>
            <a:srgbClr val="B9CDE5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93808" y="2578608"/>
            <a:ext cx="292608" cy="292608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9829800" y="2852928"/>
            <a:ext cx="1143000" cy="1051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</a:t>
            </a:r>
            <a:endParaRPr lang="en-US" sz="13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</a:t>
            </a:r>
            <a:endParaRPr lang="en-US" sz="1300" dirty="0"/>
          </a:p>
        </p:txBody>
      </p:sp>
      <p:sp>
        <p:nvSpPr>
          <p:cNvPr id="22" name="Shape 14"/>
          <p:cNvSpPr/>
          <p:nvPr/>
        </p:nvSpPr>
        <p:spPr>
          <a:xfrm>
            <a:off x="1371600" y="3186684"/>
            <a:ext cx="594360" cy="0"/>
          </a:xfrm>
          <a:prstGeom prst="line">
            <a:avLst/>
          </a:prstGeom>
          <a:noFill/>
          <a:ln w="28575">
            <a:solidFill>
              <a:srgbClr val="1FA37A"/>
            </a:solidFill>
            <a:prstDash val="solid"/>
            <a:tailEnd type="triangle"/>
          </a:ln>
        </p:spPr>
      </p:sp>
      <p:sp>
        <p:nvSpPr>
          <p:cNvPr id="23" name="Shape 15"/>
          <p:cNvSpPr/>
          <p:nvPr/>
        </p:nvSpPr>
        <p:spPr>
          <a:xfrm>
            <a:off x="1371600" y="3250692"/>
            <a:ext cx="594360" cy="0"/>
          </a:xfrm>
          <a:prstGeom prst="line">
            <a:avLst/>
          </a:prstGeom>
          <a:noFill/>
          <a:ln w="28575">
            <a:solidFill>
              <a:srgbClr val="1FA37A"/>
            </a:solidFill>
            <a:prstDash val="solid"/>
          </a:ln>
        </p:spPr>
      </p:sp>
      <p:sp>
        <p:nvSpPr>
          <p:cNvPr id="24" name="Text 16"/>
          <p:cNvSpPr/>
          <p:nvPr/>
        </p:nvSpPr>
        <p:spPr>
          <a:xfrm>
            <a:off x="1280160" y="2926080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A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SSE</a:t>
            </a:r>
            <a:endParaRPr lang="en-US" sz="850" dirty="0"/>
          </a:p>
        </p:txBody>
      </p:sp>
      <p:sp>
        <p:nvSpPr>
          <p:cNvPr id="25" name="Shape 17"/>
          <p:cNvSpPr/>
          <p:nvPr/>
        </p:nvSpPr>
        <p:spPr>
          <a:xfrm>
            <a:off x="3108960" y="3218688"/>
            <a:ext cx="594360" cy="0"/>
          </a:xfrm>
          <a:prstGeom prst="line">
            <a:avLst/>
          </a:prstGeom>
          <a:noFill/>
          <a:ln w="28575">
            <a:solidFill>
              <a:srgbClr val="C79A2E"/>
            </a:solidFill>
            <a:prstDash val="solid"/>
            <a:tailEnd type="triangle"/>
          </a:ln>
        </p:spPr>
      </p:sp>
      <p:sp>
        <p:nvSpPr>
          <p:cNvPr id="26" name="Text 18"/>
          <p:cNvSpPr/>
          <p:nvPr/>
        </p:nvSpPr>
        <p:spPr>
          <a:xfrm>
            <a:off x="3017520" y="2926080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7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A2A</a:t>
            </a:r>
            <a:endParaRPr lang="en-US" sz="850" dirty="0"/>
          </a:p>
        </p:txBody>
      </p:sp>
      <p:sp>
        <p:nvSpPr>
          <p:cNvPr id="27" name="Shape 19"/>
          <p:cNvSpPr/>
          <p:nvPr/>
        </p:nvSpPr>
        <p:spPr>
          <a:xfrm>
            <a:off x="5074920" y="3218688"/>
            <a:ext cx="640080" cy="0"/>
          </a:xfrm>
          <a:prstGeom prst="line">
            <a:avLst/>
          </a:prstGeom>
          <a:noFill/>
          <a:ln w="28575">
            <a:solidFill>
              <a:srgbClr val="C79A2E"/>
            </a:solidFill>
            <a:prstDash val="solid"/>
            <a:tailEnd type="triangle"/>
          </a:ln>
        </p:spPr>
      </p:sp>
      <p:sp>
        <p:nvSpPr>
          <p:cNvPr id="28" name="Text 20"/>
          <p:cNvSpPr/>
          <p:nvPr/>
        </p:nvSpPr>
        <p:spPr>
          <a:xfrm>
            <a:off x="4983480" y="292608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7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A2A · http/1.1 SSE</a:t>
            </a:r>
            <a:endParaRPr lang="en-US" sz="850" dirty="0"/>
          </a:p>
        </p:txBody>
      </p:sp>
      <p:sp>
        <p:nvSpPr>
          <p:cNvPr id="29" name="Shape 21"/>
          <p:cNvSpPr/>
          <p:nvPr/>
        </p:nvSpPr>
        <p:spPr>
          <a:xfrm>
            <a:off x="7086600" y="3218688"/>
            <a:ext cx="640080" cy="0"/>
          </a:xfrm>
          <a:prstGeom prst="line">
            <a:avLst/>
          </a:prstGeom>
          <a:noFill/>
          <a:ln w="28575">
            <a:solidFill>
              <a:srgbClr val="C79A2E"/>
            </a:solidFill>
            <a:prstDash val="solid"/>
            <a:tailEnd type="triangle"/>
          </a:ln>
        </p:spPr>
      </p:sp>
      <p:sp>
        <p:nvSpPr>
          <p:cNvPr id="30" name="Text 22"/>
          <p:cNvSpPr/>
          <p:nvPr/>
        </p:nvSpPr>
        <p:spPr>
          <a:xfrm>
            <a:off x="6995160" y="292608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7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A2A · SSE</a:t>
            </a:r>
            <a:endParaRPr lang="en-US" sz="850" dirty="0"/>
          </a:p>
        </p:txBody>
      </p:sp>
      <p:sp>
        <p:nvSpPr>
          <p:cNvPr id="31" name="Shape 23"/>
          <p:cNvSpPr/>
          <p:nvPr/>
        </p:nvSpPr>
        <p:spPr>
          <a:xfrm>
            <a:off x="9144000" y="3218688"/>
            <a:ext cx="640080" cy="0"/>
          </a:xfrm>
          <a:prstGeom prst="line">
            <a:avLst/>
          </a:prstGeom>
          <a:noFill/>
          <a:ln w="28575">
            <a:solidFill>
              <a:srgbClr val="2F6DB5"/>
            </a:solidFill>
            <a:prstDash val="solid"/>
            <a:tailEnd type="triangle"/>
          </a:ln>
        </p:spPr>
      </p:sp>
      <p:sp>
        <p:nvSpPr>
          <p:cNvPr id="32" name="Text 24"/>
          <p:cNvSpPr/>
          <p:nvPr/>
        </p:nvSpPr>
        <p:spPr>
          <a:xfrm>
            <a:off x="9052560" y="292608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F6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</a:t>
            </a:r>
            <a:endParaRPr lang="en-US" sz="850" dirty="0"/>
          </a:p>
        </p:txBody>
      </p:sp>
      <p:sp>
        <p:nvSpPr>
          <p:cNvPr id="33" name="Shape 25"/>
          <p:cNvSpPr/>
          <p:nvPr/>
        </p:nvSpPr>
        <p:spPr>
          <a:xfrm>
            <a:off x="6309360" y="2286000"/>
            <a:ext cx="0" cy="502920"/>
          </a:xfrm>
          <a:prstGeom prst="line">
            <a:avLst/>
          </a:prstGeom>
          <a:noFill/>
          <a:ln w="25400">
            <a:solidFill>
              <a:srgbClr val="1FA37A"/>
            </a:solidFill>
            <a:prstDash val="solid"/>
          </a:ln>
        </p:spPr>
      </p:sp>
      <p:sp>
        <p:nvSpPr>
          <p:cNvPr id="34" name="Shape 26"/>
          <p:cNvSpPr/>
          <p:nvPr/>
        </p:nvSpPr>
        <p:spPr>
          <a:xfrm>
            <a:off x="914400" y="2286000"/>
            <a:ext cx="5394960" cy="0"/>
          </a:xfrm>
          <a:prstGeom prst="line">
            <a:avLst/>
          </a:prstGeom>
          <a:noFill/>
          <a:ln w="25400">
            <a:solidFill>
              <a:srgbClr val="1FA37A"/>
            </a:solidFill>
            <a:prstDash val="solid"/>
          </a:ln>
        </p:spPr>
      </p:sp>
      <p:sp>
        <p:nvSpPr>
          <p:cNvPr id="35" name="Shape 27"/>
          <p:cNvSpPr/>
          <p:nvPr/>
        </p:nvSpPr>
        <p:spPr>
          <a:xfrm>
            <a:off x="914400" y="2286000"/>
            <a:ext cx="0" cy="502920"/>
          </a:xfrm>
          <a:prstGeom prst="line">
            <a:avLst/>
          </a:prstGeom>
          <a:noFill/>
          <a:ln w="25400">
            <a:solidFill>
              <a:srgbClr val="1FA37A"/>
            </a:solidFill>
            <a:prstDash val="solid"/>
            <a:tailEnd type="triangle"/>
          </a:ln>
        </p:spPr>
      </p:sp>
      <p:sp>
        <p:nvSpPr>
          <p:cNvPr id="36" name="Text 28"/>
          <p:cNvSpPr/>
          <p:nvPr/>
        </p:nvSpPr>
        <p:spPr>
          <a:xfrm>
            <a:off x="1188720" y="2011680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i="1" dirty="0">
                <a:solidFill>
                  <a:srgbClr val="1FA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/ event stream → back to client</a:t>
            </a:r>
            <a:endParaRPr lang="en-US" sz="900" dirty="0"/>
          </a:p>
        </p:txBody>
      </p:sp>
      <p:sp>
        <p:nvSpPr>
          <p:cNvPr id="37" name="Shape 29"/>
          <p:cNvSpPr/>
          <p:nvPr/>
        </p:nvSpPr>
        <p:spPr>
          <a:xfrm>
            <a:off x="1874520" y="1417320"/>
            <a:ext cx="1143000" cy="640080"/>
          </a:xfrm>
          <a:prstGeom prst="roundRect">
            <a:avLst>
              <a:gd name="adj" fmla="val 11429"/>
            </a:avLst>
          </a:prstGeom>
          <a:solidFill>
            <a:srgbClr val="F4F6F9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pic>
        <p:nvPicPr>
          <p:cNvPr id="3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84248" y="1527048"/>
            <a:ext cx="292608" cy="292608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1920240" y="1801368"/>
            <a:ext cx="1051560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endParaRPr lang="en-US" sz="13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/ state</a:t>
            </a:r>
            <a:endParaRPr lang="en-US" sz="1300" dirty="0"/>
          </a:p>
        </p:txBody>
      </p:sp>
      <p:sp>
        <p:nvSpPr>
          <p:cNvPr id="40" name="Shape 31"/>
          <p:cNvSpPr/>
          <p:nvPr/>
        </p:nvSpPr>
        <p:spPr>
          <a:xfrm>
            <a:off x="2468880" y="2057400"/>
            <a:ext cx="0" cy="731520"/>
          </a:xfrm>
          <a:prstGeom prst="line">
            <a:avLst/>
          </a:prstGeom>
          <a:noFill/>
          <a:ln w="22225">
            <a:solidFill>
              <a:srgbClr val="6B6B6B"/>
            </a:solidFill>
            <a:prstDash val="solid"/>
            <a:headEnd type="triangle"/>
            <a:tailEnd type="triangle"/>
          </a:ln>
        </p:spPr>
      </p:sp>
      <p:sp>
        <p:nvSpPr>
          <p:cNvPr id="41" name="Shape 32"/>
          <p:cNvSpPr/>
          <p:nvPr/>
        </p:nvSpPr>
        <p:spPr>
          <a:xfrm>
            <a:off x="3749040" y="1417320"/>
            <a:ext cx="1280160" cy="640080"/>
          </a:xfrm>
          <a:prstGeom prst="roundRect">
            <a:avLst>
              <a:gd name="adj" fmla="val 11429"/>
            </a:avLst>
          </a:prstGeom>
          <a:solidFill>
            <a:srgbClr val="F4F6F9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pic>
        <p:nvPicPr>
          <p:cNvPr id="4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58768" y="1527048"/>
            <a:ext cx="292608" cy="292608"/>
          </a:xfrm>
          <a:prstGeom prst="rect">
            <a:avLst/>
          </a:prstGeom>
        </p:spPr>
      </p:pic>
      <p:sp>
        <p:nvSpPr>
          <p:cNvPr id="43" name="Text 33"/>
          <p:cNvSpPr/>
          <p:nvPr/>
        </p:nvSpPr>
        <p:spPr>
          <a:xfrm>
            <a:off x="3794760" y="1801368"/>
            <a:ext cx="1188720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</a:t>
            </a:r>
            <a:endParaRPr lang="en-US" sz="13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&amp; Analytics</a:t>
            </a:r>
            <a:endParaRPr lang="en-US" sz="1300" dirty="0"/>
          </a:p>
        </p:txBody>
      </p:sp>
      <p:sp>
        <p:nvSpPr>
          <p:cNvPr id="44" name="Shape 34"/>
          <p:cNvSpPr/>
          <p:nvPr/>
        </p:nvSpPr>
        <p:spPr>
          <a:xfrm>
            <a:off x="4389120" y="2057400"/>
            <a:ext cx="0" cy="731520"/>
          </a:xfrm>
          <a:prstGeom prst="line">
            <a:avLst/>
          </a:prstGeom>
          <a:noFill/>
          <a:ln w="22225">
            <a:solidFill>
              <a:srgbClr val="6B6B6B"/>
            </a:solidFill>
            <a:prstDash val="solid"/>
            <a:tailEnd type="triangle"/>
          </a:ln>
        </p:spPr>
      </p:sp>
      <p:sp>
        <p:nvSpPr>
          <p:cNvPr id="45" name="Shape 35"/>
          <p:cNvSpPr/>
          <p:nvPr/>
        </p:nvSpPr>
        <p:spPr>
          <a:xfrm>
            <a:off x="5760720" y="4160520"/>
            <a:ext cx="1280160" cy="640080"/>
          </a:xfrm>
          <a:prstGeom prst="roundRect">
            <a:avLst>
              <a:gd name="adj" fmla="val 11429"/>
            </a:avLst>
          </a:prstGeom>
          <a:solidFill>
            <a:srgbClr val="F4F6F9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pic>
        <p:nvPicPr>
          <p:cNvPr id="4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70448" y="4270248"/>
            <a:ext cx="292608" cy="292608"/>
          </a:xfrm>
          <a:prstGeom prst="rect">
            <a:avLst/>
          </a:prstGeom>
        </p:spPr>
      </p:pic>
      <p:sp>
        <p:nvSpPr>
          <p:cNvPr id="47" name="Text 36"/>
          <p:cNvSpPr/>
          <p:nvPr/>
        </p:nvSpPr>
        <p:spPr>
          <a:xfrm>
            <a:off x="5806440" y="4544568"/>
            <a:ext cx="1188720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endParaRPr lang="en-US" sz="13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state · ADK msgs</a:t>
            </a:r>
            <a:endParaRPr lang="en-US" sz="1300" dirty="0"/>
          </a:p>
        </p:txBody>
      </p:sp>
      <p:sp>
        <p:nvSpPr>
          <p:cNvPr id="48" name="Shape 37"/>
          <p:cNvSpPr/>
          <p:nvPr/>
        </p:nvSpPr>
        <p:spPr>
          <a:xfrm>
            <a:off x="6400800" y="3657600"/>
            <a:ext cx="0" cy="502920"/>
          </a:xfrm>
          <a:prstGeom prst="line">
            <a:avLst/>
          </a:prstGeom>
          <a:noFill/>
          <a:ln w="22225">
            <a:solidFill>
              <a:srgbClr val="7A1F6B"/>
            </a:solidFill>
            <a:prstDash val="solid"/>
            <a:tailEnd type="triangle"/>
          </a:ln>
        </p:spPr>
      </p:sp>
      <p:sp>
        <p:nvSpPr>
          <p:cNvPr id="49" name="Shape 38"/>
          <p:cNvSpPr/>
          <p:nvPr/>
        </p:nvSpPr>
        <p:spPr>
          <a:xfrm>
            <a:off x="1874520" y="4160520"/>
            <a:ext cx="1554480" cy="777240"/>
          </a:xfrm>
          <a:prstGeom prst="roundRect">
            <a:avLst>
              <a:gd name="adj" fmla="val 9412"/>
            </a:avLst>
          </a:prstGeom>
          <a:solidFill>
            <a:srgbClr val="F4F6F9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50" name="Text 39"/>
          <p:cNvSpPr/>
          <p:nvPr/>
        </p:nvSpPr>
        <p:spPr>
          <a:xfrm>
            <a:off x="1920240" y="4251960"/>
            <a:ext cx="146304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cvams-digital-service</a:t>
            </a:r>
            <a:endParaRPr lang="en-US" sz="13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dirty data · interdiction</a:t>
            </a:r>
            <a:endParaRPr lang="en-US" sz="13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step-up · channel rules</a:t>
            </a:r>
            <a:endParaRPr lang="en-US" sz="1300" dirty="0"/>
          </a:p>
        </p:txBody>
      </p:sp>
      <p:sp>
        <p:nvSpPr>
          <p:cNvPr id="51" name="Shape 40"/>
          <p:cNvSpPr/>
          <p:nvPr/>
        </p:nvSpPr>
        <p:spPr>
          <a:xfrm>
            <a:off x="2542032" y="3657600"/>
            <a:ext cx="0" cy="502920"/>
          </a:xfrm>
          <a:prstGeom prst="line">
            <a:avLst/>
          </a:prstGeom>
          <a:noFill/>
          <a:ln w="19050">
            <a:solidFill>
              <a:srgbClr val="6B6B6B"/>
            </a:solidFill>
            <a:prstDash val="solid"/>
            <a:tailEnd type="triangle"/>
          </a:ln>
        </p:spPr>
      </p:sp>
      <p:sp>
        <p:nvSpPr>
          <p:cNvPr id="52" name="Shape 41"/>
          <p:cNvSpPr/>
          <p:nvPr/>
        </p:nvSpPr>
        <p:spPr>
          <a:xfrm>
            <a:off x="9646920" y="4572000"/>
            <a:ext cx="2148840" cy="868680"/>
          </a:xfrm>
          <a:prstGeom prst="roundRect">
            <a:avLst>
              <a:gd name="adj" fmla="val 6316"/>
            </a:avLst>
          </a:prstGeom>
          <a:solidFill>
            <a:srgbClr val="EAF0F7"/>
          </a:solidFill>
          <a:ln w="12700">
            <a:solidFill>
              <a:srgbClr val="B9CDE5"/>
            </a:solidFill>
            <a:prstDash val="solid"/>
          </a:ln>
        </p:spPr>
      </p:sp>
      <p:sp>
        <p:nvSpPr>
          <p:cNvPr id="53" name="Text 42"/>
          <p:cNvSpPr/>
          <p:nvPr/>
        </p:nvSpPr>
        <p:spPr>
          <a:xfrm>
            <a:off x="9738360" y="4645152"/>
            <a:ext cx="196596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FAPI 2.0 (Cross Channel)</a:t>
            </a:r>
            <a:endParaRPr lang="en-US" sz="11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Management Tools</a:t>
            </a:r>
            <a:endParaRPr lang="en-US" sz="1100" dirty="0"/>
          </a:p>
        </p:txBody>
      </p:sp>
      <p:sp>
        <p:nvSpPr>
          <p:cNvPr id="54" name="Shape 43"/>
          <p:cNvSpPr/>
          <p:nvPr/>
        </p:nvSpPr>
        <p:spPr>
          <a:xfrm>
            <a:off x="10698480" y="1417320"/>
            <a:ext cx="0" cy="3154680"/>
          </a:xfrm>
          <a:prstGeom prst="line">
            <a:avLst/>
          </a:prstGeom>
          <a:noFill/>
          <a:ln w="19050">
            <a:solidFill>
              <a:srgbClr val="6B6B6B"/>
            </a:solidFill>
            <a:prstDash val="solid"/>
            <a:tailEnd type="triangle"/>
          </a:ln>
        </p:spPr>
      </p:sp>
      <p:sp>
        <p:nvSpPr>
          <p:cNvPr id="55" name="Text 44"/>
          <p:cNvSpPr/>
          <p:nvPr/>
        </p:nvSpPr>
        <p:spPr>
          <a:xfrm>
            <a:off x="8778240" y="1097280"/>
            <a:ext cx="3108960" cy="502920"/>
          </a:xfrm>
          <a:prstGeom prst="rect">
            <a:avLst/>
          </a:prstGeom>
          <a:solidFill>
            <a:srgbClr val="F4F6F9"/>
          </a:solidFill>
          <a:ln w="9525">
            <a:solidFill>
              <a:srgbClr val="D6DCE4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Layer: Retail Banking · VPS/DTDS · Zelle/Bill Pay · Data APIs · Five9 · PFF</a:t>
            </a:r>
            <a:endParaRPr lang="en-US" sz="900" dirty="0"/>
          </a:p>
        </p:txBody>
      </p:sp>
      <p:sp>
        <p:nvSpPr>
          <p:cNvPr id="56" name="Text 45"/>
          <p:cNvSpPr/>
          <p:nvPr/>
        </p:nvSpPr>
        <p:spPr>
          <a:xfrm>
            <a:off x="411480" y="461772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A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events:</a:t>
            </a:r>
            <a:endParaRPr lang="en-US" sz="950" dirty="0"/>
          </a:p>
        </p:txBody>
      </p:sp>
      <p:sp>
        <p:nvSpPr>
          <p:cNvPr id="57" name="Shape 46"/>
          <p:cNvSpPr/>
          <p:nvPr/>
        </p:nvSpPr>
        <p:spPr>
          <a:xfrm>
            <a:off x="411480" y="4882896"/>
            <a:ext cx="1038758" cy="237744"/>
          </a:xfrm>
          <a:prstGeom prst="roundRect">
            <a:avLst>
              <a:gd name="adj" fmla="val 50000"/>
            </a:avLst>
          </a:prstGeom>
          <a:solidFill>
            <a:srgbClr val="E7F4EF"/>
          </a:solidFill>
          <a:ln w="9525">
            <a:solidFill>
              <a:srgbClr val="1FA37A"/>
            </a:solidFill>
            <a:prstDash val="solid"/>
          </a:ln>
        </p:spPr>
      </p:sp>
      <p:sp>
        <p:nvSpPr>
          <p:cNvPr id="58" name="Text 47"/>
          <p:cNvSpPr/>
          <p:nvPr/>
        </p:nvSpPr>
        <p:spPr>
          <a:xfrm>
            <a:off x="411480" y="4882896"/>
            <a:ext cx="103875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4725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thinking_step</a:t>
            </a:r>
            <a:endParaRPr lang="en-US" sz="850" dirty="0"/>
          </a:p>
        </p:txBody>
      </p:sp>
      <p:sp>
        <p:nvSpPr>
          <p:cNvPr id="59" name="Shape 48"/>
          <p:cNvSpPr/>
          <p:nvPr/>
        </p:nvSpPr>
        <p:spPr>
          <a:xfrm>
            <a:off x="1559966" y="4882896"/>
            <a:ext cx="775411" cy="237744"/>
          </a:xfrm>
          <a:prstGeom prst="roundRect">
            <a:avLst>
              <a:gd name="adj" fmla="val 50000"/>
            </a:avLst>
          </a:prstGeom>
          <a:solidFill>
            <a:srgbClr val="E7F4EF"/>
          </a:solidFill>
          <a:ln w="9525">
            <a:solidFill>
              <a:srgbClr val="1FA37A"/>
            </a:solidFill>
            <a:prstDash val="solid"/>
          </a:ln>
        </p:spPr>
      </p:sp>
      <p:sp>
        <p:nvSpPr>
          <p:cNvPr id="60" name="Text 49"/>
          <p:cNvSpPr/>
          <p:nvPr/>
        </p:nvSpPr>
        <p:spPr>
          <a:xfrm>
            <a:off x="1559966" y="4882896"/>
            <a:ext cx="77541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4725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tool_call</a:t>
            </a:r>
            <a:endParaRPr lang="en-US" sz="850" dirty="0"/>
          </a:p>
        </p:txBody>
      </p:sp>
      <p:sp>
        <p:nvSpPr>
          <p:cNvPr id="61" name="Shape 50"/>
          <p:cNvSpPr/>
          <p:nvPr/>
        </p:nvSpPr>
        <p:spPr>
          <a:xfrm>
            <a:off x="2445106" y="4882896"/>
            <a:ext cx="907085" cy="237744"/>
          </a:xfrm>
          <a:prstGeom prst="roundRect">
            <a:avLst>
              <a:gd name="adj" fmla="val 50000"/>
            </a:avLst>
          </a:prstGeom>
          <a:solidFill>
            <a:srgbClr val="E7F4EF"/>
          </a:solidFill>
          <a:ln w="9525">
            <a:solidFill>
              <a:srgbClr val="1FA37A"/>
            </a:solidFill>
            <a:prstDash val="solid"/>
          </a:ln>
        </p:spPr>
      </p:sp>
      <p:sp>
        <p:nvSpPr>
          <p:cNvPr id="62" name="Text 51"/>
          <p:cNvSpPr/>
          <p:nvPr/>
        </p:nvSpPr>
        <p:spPr>
          <a:xfrm>
            <a:off x="2445106" y="4882896"/>
            <a:ext cx="90708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4725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token_delta</a:t>
            </a:r>
            <a:endParaRPr lang="en-US" sz="850" dirty="0"/>
          </a:p>
        </p:txBody>
      </p:sp>
      <p:sp>
        <p:nvSpPr>
          <p:cNvPr id="63" name="Shape 52"/>
          <p:cNvSpPr/>
          <p:nvPr/>
        </p:nvSpPr>
        <p:spPr>
          <a:xfrm>
            <a:off x="411480" y="5193792"/>
            <a:ext cx="1038758" cy="237744"/>
          </a:xfrm>
          <a:prstGeom prst="roundRect">
            <a:avLst>
              <a:gd name="adj" fmla="val 50000"/>
            </a:avLst>
          </a:prstGeom>
          <a:solidFill>
            <a:srgbClr val="E7F4EF"/>
          </a:solidFill>
          <a:ln w="9525">
            <a:solidFill>
              <a:srgbClr val="1FA37A"/>
            </a:solidFill>
            <a:prstDash val="solid"/>
          </a:ln>
        </p:spPr>
      </p:sp>
      <p:sp>
        <p:nvSpPr>
          <p:cNvPr id="64" name="Text 53"/>
          <p:cNvSpPr/>
          <p:nvPr/>
        </p:nvSpPr>
        <p:spPr>
          <a:xfrm>
            <a:off x="411480" y="5193792"/>
            <a:ext cx="103875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4725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agent_handoff</a:t>
            </a:r>
            <a:endParaRPr lang="en-US" sz="850" dirty="0"/>
          </a:p>
        </p:txBody>
      </p:sp>
      <p:sp>
        <p:nvSpPr>
          <p:cNvPr id="65" name="Shape 54"/>
          <p:cNvSpPr/>
          <p:nvPr/>
        </p:nvSpPr>
        <p:spPr>
          <a:xfrm>
            <a:off x="1559966" y="5193792"/>
            <a:ext cx="512064" cy="237744"/>
          </a:xfrm>
          <a:prstGeom prst="roundRect">
            <a:avLst>
              <a:gd name="adj" fmla="val 50000"/>
            </a:avLst>
          </a:prstGeom>
          <a:solidFill>
            <a:srgbClr val="E7F4EF"/>
          </a:solidFill>
          <a:ln w="9525">
            <a:solidFill>
              <a:srgbClr val="1FA37A"/>
            </a:solidFill>
            <a:prstDash val="solid"/>
          </a:ln>
        </p:spPr>
      </p:sp>
      <p:sp>
        <p:nvSpPr>
          <p:cNvPr id="66" name="Text 55"/>
          <p:cNvSpPr/>
          <p:nvPr/>
        </p:nvSpPr>
        <p:spPr>
          <a:xfrm>
            <a:off x="1559966" y="5193792"/>
            <a:ext cx="512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4725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</a:t>
            </a:r>
            <a:endParaRPr lang="en-US" sz="850" dirty="0"/>
          </a:p>
        </p:txBody>
      </p:sp>
      <p:sp>
        <p:nvSpPr>
          <p:cNvPr id="67" name="Shape 56"/>
          <p:cNvSpPr/>
          <p:nvPr/>
        </p:nvSpPr>
        <p:spPr>
          <a:xfrm>
            <a:off x="3703320" y="2496312"/>
            <a:ext cx="1152144" cy="237744"/>
          </a:xfrm>
          <a:prstGeom prst="roundRect">
            <a:avLst>
              <a:gd name="adj" fmla="val 50000"/>
            </a:avLst>
          </a:prstGeom>
          <a:solidFill>
            <a:srgbClr val="B31B2C"/>
          </a:solidFill>
          <a:ln/>
        </p:spPr>
      </p:sp>
      <p:sp>
        <p:nvSpPr>
          <p:cNvPr id="68" name="Text 57"/>
          <p:cNvSpPr/>
          <p:nvPr/>
        </p:nvSpPr>
        <p:spPr>
          <a:xfrm>
            <a:off x="3703320" y="2496312"/>
            <a:ext cx="1152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Flink 2.0 → A2A</a:t>
            </a:r>
            <a:endParaRPr lang="en-US" sz="850" dirty="0"/>
          </a:p>
        </p:txBody>
      </p:sp>
      <p:sp>
        <p:nvSpPr>
          <p:cNvPr id="69" name="Shape 58"/>
          <p:cNvSpPr/>
          <p:nvPr/>
        </p:nvSpPr>
        <p:spPr>
          <a:xfrm>
            <a:off x="1965960" y="3730752"/>
            <a:ext cx="1415491" cy="237744"/>
          </a:xfrm>
          <a:prstGeom prst="roundRect">
            <a:avLst>
              <a:gd name="adj" fmla="val 50000"/>
            </a:avLst>
          </a:prstGeom>
          <a:solidFill>
            <a:srgbClr val="B31B2C"/>
          </a:solidFill>
          <a:ln/>
        </p:spPr>
      </p:sp>
      <p:sp>
        <p:nvSpPr>
          <p:cNvPr id="70" name="Text 59"/>
          <p:cNvSpPr/>
          <p:nvPr/>
        </p:nvSpPr>
        <p:spPr>
          <a:xfrm>
            <a:off x="1965960" y="3730752"/>
            <a:ext cx="141549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Chat-API refinement</a:t>
            </a:r>
            <a:endParaRPr lang="en-US" sz="850" dirty="0"/>
          </a:p>
        </p:txBody>
      </p:sp>
      <p:sp>
        <p:nvSpPr>
          <p:cNvPr id="71" name="Shape 60"/>
          <p:cNvSpPr/>
          <p:nvPr/>
        </p:nvSpPr>
        <p:spPr>
          <a:xfrm>
            <a:off x="3749040" y="1207008"/>
            <a:ext cx="1020470" cy="237744"/>
          </a:xfrm>
          <a:prstGeom prst="roundRect">
            <a:avLst>
              <a:gd name="adj" fmla="val 50000"/>
            </a:avLst>
          </a:prstGeom>
          <a:solidFill>
            <a:srgbClr val="B31B2C"/>
          </a:solidFill>
          <a:ln/>
        </p:spPr>
      </p:sp>
      <p:sp>
        <p:nvSpPr>
          <p:cNvPr id="72" name="Text 61"/>
          <p:cNvSpPr/>
          <p:nvPr/>
        </p:nvSpPr>
        <p:spPr>
          <a:xfrm>
            <a:off x="3749040" y="1207008"/>
            <a:ext cx="102047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changes</a:t>
            </a:r>
            <a:endParaRPr lang="en-US" sz="850" dirty="0"/>
          </a:p>
        </p:txBody>
      </p:sp>
      <p:sp>
        <p:nvSpPr>
          <p:cNvPr id="73" name="Shape 62"/>
          <p:cNvSpPr/>
          <p:nvPr/>
        </p:nvSpPr>
        <p:spPr>
          <a:xfrm>
            <a:off x="5760720" y="4864608"/>
            <a:ext cx="1086307" cy="237744"/>
          </a:xfrm>
          <a:prstGeom prst="roundRect">
            <a:avLst>
              <a:gd name="adj" fmla="val 50000"/>
            </a:avLst>
          </a:prstGeom>
          <a:solidFill>
            <a:srgbClr val="B31B2C"/>
          </a:solidFill>
          <a:ln/>
        </p:spPr>
      </p:sp>
      <p:sp>
        <p:nvSpPr>
          <p:cNvPr id="74" name="Text 63"/>
          <p:cNvSpPr/>
          <p:nvPr/>
        </p:nvSpPr>
        <p:spPr>
          <a:xfrm>
            <a:off x="5760720" y="4864608"/>
            <a:ext cx="108630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ADK state msgs</a:t>
            </a:r>
            <a:endParaRPr lang="en-US" sz="850" dirty="0"/>
          </a:p>
        </p:txBody>
      </p:sp>
      <p:sp>
        <p:nvSpPr>
          <p:cNvPr id="75" name="Shape 64"/>
          <p:cNvSpPr/>
          <p:nvPr/>
        </p:nvSpPr>
        <p:spPr>
          <a:xfrm>
            <a:off x="7726680" y="3730752"/>
            <a:ext cx="954634" cy="237744"/>
          </a:xfrm>
          <a:prstGeom prst="roundRect">
            <a:avLst>
              <a:gd name="adj" fmla="val 50000"/>
            </a:avLst>
          </a:prstGeom>
          <a:solidFill>
            <a:srgbClr val="B31B2C"/>
          </a:solidFill>
          <a:ln/>
        </p:spPr>
      </p:sp>
      <p:sp>
        <p:nvSpPr>
          <p:cNvPr id="76" name="Text 65"/>
          <p:cNvSpPr/>
          <p:nvPr/>
        </p:nvSpPr>
        <p:spPr>
          <a:xfrm>
            <a:off x="7726680" y="3730752"/>
            <a:ext cx="95463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1.1 SSE</a:t>
            </a:r>
            <a:endParaRPr lang="en-US" sz="850" dirty="0"/>
          </a:p>
        </p:txBody>
      </p:sp>
      <p:sp>
        <p:nvSpPr>
          <p:cNvPr id="77" name="Shape 66"/>
          <p:cNvSpPr/>
          <p:nvPr/>
        </p:nvSpPr>
        <p:spPr>
          <a:xfrm>
            <a:off x="457200" y="5989320"/>
            <a:ext cx="8595360" cy="640080"/>
          </a:xfrm>
          <a:prstGeom prst="roundRect">
            <a:avLst>
              <a:gd name="adj" fmla="val 7143"/>
            </a:avLst>
          </a:prstGeom>
          <a:solidFill>
            <a:srgbClr val="FBFCFD"/>
          </a:solidFill>
          <a:ln w="12700">
            <a:solidFill>
              <a:srgbClr val="E2E6EC"/>
            </a:solidFill>
            <a:prstDash val="solid"/>
          </a:ln>
        </p:spPr>
      </p:sp>
      <p:sp>
        <p:nvSpPr>
          <p:cNvPr id="78" name="Shape 67"/>
          <p:cNvSpPr/>
          <p:nvPr/>
        </p:nvSpPr>
        <p:spPr>
          <a:xfrm>
            <a:off x="640080" y="6236208"/>
            <a:ext cx="457200" cy="0"/>
          </a:xfrm>
          <a:prstGeom prst="line">
            <a:avLst/>
          </a:prstGeom>
          <a:noFill/>
          <a:ln w="28575">
            <a:solidFill>
              <a:srgbClr val="1FA37A"/>
            </a:solidFill>
            <a:prstDash val="solid"/>
            <a:tailEnd type="triangle"/>
          </a:ln>
        </p:spPr>
      </p:sp>
      <p:sp>
        <p:nvSpPr>
          <p:cNvPr id="79" name="Shape 68"/>
          <p:cNvSpPr/>
          <p:nvPr/>
        </p:nvSpPr>
        <p:spPr>
          <a:xfrm>
            <a:off x="640080" y="6355080"/>
            <a:ext cx="457200" cy="0"/>
          </a:xfrm>
          <a:prstGeom prst="line">
            <a:avLst/>
          </a:prstGeom>
          <a:noFill/>
          <a:ln w="28575">
            <a:solidFill>
              <a:srgbClr val="1FA37A"/>
            </a:solidFill>
            <a:prstDash val="solid"/>
          </a:ln>
        </p:spPr>
      </p:sp>
      <p:sp>
        <p:nvSpPr>
          <p:cNvPr id="80" name="Text 69"/>
          <p:cNvSpPr/>
          <p:nvPr/>
        </p:nvSpPr>
        <p:spPr>
          <a:xfrm>
            <a:off x="1188720" y="609904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(SSE)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 events</a:t>
            </a:r>
            <a:endParaRPr lang="en-US" sz="1050" dirty="0"/>
          </a:p>
        </p:txBody>
      </p:sp>
      <p:sp>
        <p:nvSpPr>
          <p:cNvPr id="81" name="Shape 70"/>
          <p:cNvSpPr/>
          <p:nvPr/>
        </p:nvSpPr>
        <p:spPr>
          <a:xfrm>
            <a:off x="3200400" y="6291072"/>
            <a:ext cx="457200" cy="0"/>
          </a:xfrm>
          <a:prstGeom prst="line">
            <a:avLst/>
          </a:prstGeom>
          <a:noFill/>
          <a:ln w="31750">
            <a:solidFill>
              <a:srgbClr val="C79A2E"/>
            </a:solidFill>
            <a:prstDash val="solid"/>
            <a:tailEnd type="triangle"/>
          </a:ln>
        </p:spPr>
      </p:sp>
      <p:sp>
        <p:nvSpPr>
          <p:cNvPr id="82" name="Text 71"/>
          <p:cNvSpPr/>
          <p:nvPr/>
        </p:nvSpPr>
        <p:spPr>
          <a:xfrm>
            <a:off x="3749040" y="609904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A2A Protocol</a:t>
            </a:r>
            <a:endParaRPr lang="en-US" sz="1050" dirty="0"/>
          </a:p>
        </p:txBody>
      </p:sp>
      <p:sp>
        <p:nvSpPr>
          <p:cNvPr id="83" name="Shape 72"/>
          <p:cNvSpPr/>
          <p:nvPr/>
        </p:nvSpPr>
        <p:spPr>
          <a:xfrm>
            <a:off x="5394960" y="6291072"/>
            <a:ext cx="457200" cy="0"/>
          </a:xfrm>
          <a:prstGeom prst="line">
            <a:avLst/>
          </a:prstGeom>
          <a:noFill/>
          <a:ln w="31750">
            <a:solidFill>
              <a:srgbClr val="2F6DB5"/>
            </a:solidFill>
            <a:prstDash val="solid"/>
            <a:tailEnd type="triangle"/>
          </a:ln>
        </p:spPr>
      </p:sp>
      <p:sp>
        <p:nvSpPr>
          <p:cNvPr id="84" name="Text 73"/>
          <p:cNvSpPr/>
          <p:nvPr/>
        </p:nvSpPr>
        <p:spPr>
          <a:xfrm>
            <a:off x="5943600" y="609904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Protocol</a:t>
            </a:r>
            <a:endParaRPr lang="en-US" sz="1050" dirty="0"/>
          </a:p>
        </p:txBody>
      </p:sp>
      <p:sp>
        <p:nvSpPr>
          <p:cNvPr id="85" name="Shape 74"/>
          <p:cNvSpPr/>
          <p:nvPr/>
        </p:nvSpPr>
        <p:spPr>
          <a:xfrm>
            <a:off x="7315200" y="6190488"/>
            <a:ext cx="457200" cy="237744"/>
          </a:xfrm>
          <a:prstGeom prst="roundRect">
            <a:avLst>
              <a:gd name="adj" fmla="val 15385"/>
            </a:avLst>
          </a:prstGeom>
          <a:solidFill>
            <a:srgbClr val="B31B2C"/>
          </a:solidFill>
          <a:ln/>
        </p:spPr>
      </p:sp>
      <p:sp>
        <p:nvSpPr>
          <p:cNvPr id="86" name="Text 75"/>
          <p:cNvSpPr/>
          <p:nvPr/>
        </p:nvSpPr>
        <p:spPr>
          <a:xfrm>
            <a:off x="7863840" y="6099048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Fargo 2.0 change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Fargo 2.0 Streaming Architecture</dc:title>
  <dc:subject>PptxGenJS Presentation</dc:subject>
  <dc:creator>Sri</dc:creator>
  <cp:lastModifiedBy>Sri</cp:lastModifiedBy>
  <cp:revision>1</cp:revision>
  <dcterms:created xsi:type="dcterms:W3CDTF">2026-06-23T11:06:53Z</dcterms:created>
  <dcterms:modified xsi:type="dcterms:W3CDTF">2026-06-23T11:06:53Z</dcterms:modified>
</cp:coreProperties>
</file>