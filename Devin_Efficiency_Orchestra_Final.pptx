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320040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5B4FC"/>
                </a:solidFill>
              </a:rPr>
              <a:t>DEVIN 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Developer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Efficiency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880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</a:rPr>
              <a:t>Supercharged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5B4FC"/>
                </a:solidFill>
              </a:rPr>
              <a:t>with Devin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0" y="411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4 real use cases. Measurable impact.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960120"/>
            <a:ext cx="2057400" cy="1691640"/>
          </a:xfrm>
          <a:prstGeom prst="rect">
            <a:avLst/>
          </a:prstGeom>
          <a:solidFill>
            <a:srgbClr val="EEF2FF"/>
          </a:solidFill>
          <a:ln w="1524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960120"/>
            <a:ext cx="2057400" cy="5486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4FBF"/>
                </a:solidFill>
              </a:rPr>
              <a:t>Orchestra Migration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17136" y="1435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17136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2–3 sprints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17136" y="1965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17136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FBF"/>
                </a:solidFill>
              </a:rPr>
              <a:t>2 days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29400" y="960120"/>
            <a:ext cx="2057400" cy="1691640"/>
          </a:xfrm>
          <a:prstGeom prst="rect">
            <a:avLst/>
          </a:prstGeom>
          <a:solidFill>
            <a:srgbClr val="ECFDF5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960120"/>
            <a:ext cx="2057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10789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Dev Task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57416" y="1435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57416" y="16184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4 days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57416" y="19659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57416" y="21488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1 day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389120" y="2880360"/>
            <a:ext cx="2057400" cy="1691640"/>
          </a:xfrm>
          <a:prstGeom prst="rect">
            <a:avLst/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0" y="2880360"/>
            <a:ext cx="20574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17136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Oracle → BigQuery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17136" y="3355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17136" y="3538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Days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17136" y="3886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17136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3–4 hrs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29400" y="2880360"/>
            <a:ext cx="2057400" cy="1691640"/>
          </a:xfrm>
          <a:prstGeom prst="rect">
            <a:avLst/>
          </a:prstGeom>
          <a:solidFill>
            <a:srgbClr val="FFF1F2"/>
          </a:solidFill>
          <a:ln w="1524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2880360"/>
            <a:ext cx="20574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7416" y="2999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Agent Development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57416" y="3355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57416" y="35387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Slow ramp-up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57416" y="3886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57416" y="4069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</a:rPr>
              <a:t>Fast delivery</a:t>
            </a:r>
            <a:endParaRPr lang="en-US" sz="1500" dirty="0"/>
          </a:p>
        </p:txBody>
      </p:sp>
      <p:sp>
        <p:nvSpPr>
          <p:cNvPr id="50" name="S1Lbl"/>
          <p:cNvSpPr>
            <a:spLocks noGrp="1"/>
          </p:cNvSpPr>
          <p:nvPr/>
        </p:nvSpPr>
        <p:spPr>
          <a:xfrm>
            <a:off x="365760" y="4005072"/>
            <a:ext cx="2286000" cy="146304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40" b="1" dirty="0">
                <a:solidFill>
                  <a:srgbClr val="8EA8D8"/>
                </a:solidFill>
              </a:rPr>
              <a:t>How it works</a:t>
            </a:r>
          </a:p>
        </p:txBody>
      </p:sp>
      <p:sp>
        <p:nvSpPr>
          <p:cNvPr id="37" name="FBox37"/>
          <p:cNvSpPr>
            <a:spLocks noGrp="1"/>
          </p:cNvSpPr>
          <p:nvPr/>
        </p:nvSpPr>
        <p:spPr>
          <a:xfrm>
            <a:off x="365760" y="4160520"/>
            <a:ext cx="822960" cy="3017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2761"/>
                </a:solidFill>
              </a:rPr>
              <a:t>Engineer</a:t>
            </a:r>
          </a:p>
        </p:txBody>
      </p:sp>
      <p:sp>
        <p:nvSpPr>
          <p:cNvPr id="38" name="FArrow38"/>
          <p:cNvSpPr>
            <a:spLocks noGrp="1"/>
          </p:cNvSpPr>
          <p:nvPr/>
        </p:nvSpPr>
        <p:spPr>
          <a:xfrm>
            <a:off x="1188720" y="4220870"/>
            <a:ext cx="164592" cy="18105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0C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1353312" y="4160520"/>
            <a:ext cx="822960" cy="3017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2761"/>
                </a:solidFill>
              </a:rPr>
              <a:t>Devin AI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2176272" y="4220870"/>
            <a:ext cx="164592" cy="18105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0C4E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2340864" y="4160520"/>
            <a:ext cx="822960" cy="30175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2761"/>
                </a:solidFill>
              </a:rPr>
              <a:t>10x Faster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5E"/>
                </a:solidFill>
              </a:rPr>
              <a:t>How Devin Transforms Developer Velocity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 use cases from our engineering team — before &amp; after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24128"/>
            <a:ext cx="64008" cy="85039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71016"/>
            <a:ext cx="347472" cy="347472"/>
          </a:xfrm>
          <a:prstGeom prst="ellipse">
            <a:avLst/>
          </a:prstGeom>
          <a:solidFill>
            <a:srgbClr val="EEF2F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4FB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15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Orchestra Migration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1499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Playbook created for any team member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15214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1353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2–3 Sprints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2527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520" y="1152144"/>
            <a:ext cx="1371600" cy="566928"/>
          </a:xfrm>
          <a:prstGeom prst="rect">
            <a:avLst/>
          </a:prstGeom>
          <a:solidFill>
            <a:srgbClr val="EEF2FF"/>
          </a:solidFill>
          <a:ln w="10160">
            <a:solidFill>
              <a:srgbClr val="3B4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1521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46520" y="1353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4FBF"/>
                </a:solidFill>
              </a:rPr>
              <a:t>2 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9560" y="1225296"/>
            <a:ext cx="777240" cy="420624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22529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~90%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02996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029968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276856"/>
            <a:ext cx="347472" cy="34747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2121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Standard Development Task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2505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Developer freed for higher-value work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15798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4 Days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2585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46520" y="2157984"/>
            <a:ext cx="1371600" cy="566928"/>
          </a:xfrm>
          <a:prstGeom prst="rect">
            <a:avLst/>
          </a:prstGeom>
          <a:solidFill>
            <a:srgbClr val="ECFDF5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1579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4652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 Day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09560" y="2231136"/>
            <a:ext cx="7772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223113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303580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1480" y="3035808"/>
            <a:ext cx="64008" cy="850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4360" y="3282696"/>
            <a:ext cx="347472" cy="347472"/>
          </a:xfrm>
          <a:prstGeom prst="ellipse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03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8992" y="3127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Oracle → BigQuery Migration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78992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Schema + DAG + Trigger — reusable playbook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0" y="316382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Several Days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89320" y="32644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46520" y="3163824"/>
            <a:ext cx="1371600" cy="566928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31638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46520" y="3364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3–4 Hours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909560" y="3236976"/>
            <a:ext cx="777240" cy="4206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09560" y="32369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~95%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4041648"/>
            <a:ext cx="8321040" cy="850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11480" y="4041648"/>
            <a:ext cx="64008" cy="85039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4360" y="4288536"/>
            <a:ext cx="347472" cy="34747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4288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11D48"/>
                </a:solidFill>
              </a:rPr>
              <a:t>04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78992" y="4133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Agent Development (ADK + Tachyon SDK)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78992" y="4517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No learning curve for A2A &amp; ADK versioning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4169664"/>
            <a:ext cx="1371600" cy="566928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Before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Slow Ramp-up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989320" y="42702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46520" y="4169664"/>
            <a:ext cx="1371600" cy="566928"/>
          </a:xfrm>
          <a:prstGeom prst="rect">
            <a:avLst/>
          </a:prstGeom>
          <a:solidFill>
            <a:srgbClr val="FFF1F2"/>
          </a:solidFill>
          <a:ln w="10160">
            <a:solidFill>
              <a:srgbClr val="E11D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46520" y="41696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After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446520" y="4370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Fast Delivery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909560" y="4242816"/>
            <a:ext cx="777240" cy="42062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09560" y="424281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saved</a:t>
            </a:r>
            <a:endParaRPr lang="en-US" sz="900" dirty="0"/>
          </a:p>
        </p:txBody>
      </p:sp>
      <p:sp>
        <p:nvSpPr>
          <p:cNvPr id="80" name="S2Lbl"/>
          <p:cNvSpPr>
            <a:spLocks noGrp="1"/>
          </p:cNvSpPr>
          <p:nvPr/>
        </p:nvSpPr>
        <p:spPr>
          <a:xfrm>
            <a:off x="1623060" y="4789024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The Devin workflow</a:t>
            </a:r>
          </a:p>
        </p:txBody>
      </p:sp>
      <p:sp>
        <p:nvSpPr>
          <p:cNvPr id="65" name="FBox65"/>
          <p:cNvSpPr>
            <a:spLocks noGrp="1"/>
          </p:cNvSpPr>
          <p:nvPr/>
        </p:nvSpPr>
        <p:spPr>
          <a:xfrm>
            <a:off x="162306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Task comes in</a:t>
            </a:r>
          </a:p>
        </p:txBody>
      </p:sp>
      <p:sp>
        <p:nvSpPr>
          <p:cNvPr id="66" name="FArrow66"/>
          <p:cNvSpPr>
            <a:spLocks noGrp="1"/>
          </p:cNvSpPr>
          <p:nvPr/>
        </p:nvSpPr>
        <p:spPr>
          <a:xfrm>
            <a:off x="299466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FBox67"/>
          <p:cNvSpPr>
            <a:spLocks noGrp="1"/>
          </p:cNvSpPr>
          <p:nvPr/>
        </p:nvSpPr>
        <p:spPr>
          <a:xfrm>
            <a:off x="313182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Devin analyzes it</a:t>
            </a:r>
          </a:p>
        </p:txBody>
      </p:sp>
      <p:sp>
        <p:nvSpPr>
          <p:cNvPr id="68" name="FArrow68"/>
          <p:cNvSpPr>
            <a:spLocks noGrp="1"/>
          </p:cNvSpPr>
          <p:nvPr/>
        </p:nvSpPr>
        <p:spPr>
          <a:xfrm>
            <a:off x="450342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FBox69"/>
          <p:cNvSpPr>
            <a:spLocks noGrp="1"/>
          </p:cNvSpPr>
          <p:nvPr/>
        </p:nvSpPr>
        <p:spPr>
          <a:xfrm>
            <a:off x="464058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Code is ready</a:t>
            </a:r>
          </a:p>
        </p:txBody>
      </p:sp>
      <p:sp>
        <p:nvSpPr>
          <p:cNvPr id="70" name="FArrow70"/>
          <p:cNvSpPr>
            <a:spLocks noGrp="1"/>
          </p:cNvSpPr>
          <p:nvPr/>
        </p:nvSpPr>
        <p:spPr>
          <a:xfrm>
            <a:off x="601218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FBox71"/>
          <p:cNvSpPr>
            <a:spLocks noGrp="1"/>
          </p:cNvSpPr>
          <p:nvPr/>
        </p:nvSpPr>
        <p:spPr>
          <a:xfrm>
            <a:off x="614934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Playbook saved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Orchestra Migration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77240"/>
            <a:ext cx="192024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Before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</a:rPr>
              <a:t>2–3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Sprints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777240"/>
            <a:ext cx="1920240" cy="1143000"/>
          </a:xfrm>
          <a:prstGeom prst="rect">
            <a:avLst/>
          </a:prstGeom>
          <a:solidFill>
            <a:srgbClr val="EEF2FF"/>
          </a:solidFill>
          <a:ln w="1270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After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1460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4FBF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1460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Days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777240"/>
            <a:ext cx="1920240" cy="1143000"/>
          </a:xfrm>
          <a:prstGeom prst="rect">
            <a:avLst/>
          </a:prstGeom>
          <a:solidFill>
            <a:srgbClr val="ECFD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Time Saved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1772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~90%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1772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Efficiency gain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20840" y="777240"/>
            <a:ext cx="1920240" cy="114300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20840" y="822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Deliverable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20840" y="10241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</a:rPr>
              <a:t>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20840" y="1536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Reusable playbook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057400"/>
            <a:ext cx="2651760" cy="2816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057400"/>
            <a:ext cx="26517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⚠️  Challenges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2514600"/>
            <a:ext cx="245059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Devin had no direct access to the source code repository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Migration involved orchestrator complaint activities with complex reactive patterns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Too many files generated in one go — hard to review and validate all at once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Each pod migration estimated at 2–3 sprints of manual developer effort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057400"/>
            <a:ext cx="265176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057400"/>
            <a:ext cx="265176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3B4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FBF"/>
                </a:solidFill>
              </a:rPr>
              <a:t>✅  How We Did 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2514600"/>
            <a:ext cx="245059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Used the WAR file instead of the repo — Devin decoded compiled .class files to understand existing logic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Devin reverse-engineered the reactive code and generated equivalent non-reactive implementation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New code was generated directly into the EPLX repository in correct structure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Playbook captured the full approach so any team member can repeat this for their pod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2057400"/>
            <a:ext cx="265176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057400"/>
            <a:ext cx="2651760" cy="38404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💡  Lessons &amp; Next Steps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2514600"/>
            <a:ext cx="245059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WAR file + class decoding is a viable workaround when repo access is unavailable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Large migrations generate too many files for a single session — batch mode planned for next pod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Batch mode: migrate module by module to keep PRs manageable and reviews faster</a:t>
            </a:r>
            <a:endParaRPr lang="en-US" sz="9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Playbook from this run will guide all future pod migrations with zero rework</a:t>
            </a:r>
            <a:endParaRPr lang="en-US" sz="950" dirty="0"/>
          </a:p>
        </p:txBody>
      </p:sp>
      <p:sp>
        <p:nvSpPr>
          <p:cNvPr id="50" name="S3Lbl"/>
          <p:cNvSpPr>
            <a:spLocks noGrp="1"/>
          </p:cNvSpPr>
          <p:nvPr/>
        </p:nvSpPr>
        <p:spPr>
          <a:xfrm>
            <a:off x="1623060" y="4770736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Migration flow</a:t>
            </a:r>
          </a:p>
        </p:txBody>
      </p:sp>
      <p:sp>
        <p:nvSpPr>
          <p:cNvPr id="35" name="FBox35"/>
          <p:cNvSpPr>
            <a:spLocks noGrp="1"/>
          </p:cNvSpPr>
          <p:nvPr/>
        </p:nvSpPr>
        <p:spPr>
          <a:xfrm>
            <a:off x="162306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WAR file decoded</a:t>
            </a:r>
          </a:p>
        </p:txBody>
      </p:sp>
      <p:sp>
        <p:nvSpPr>
          <p:cNvPr id="36" name="FArrow36"/>
          <p:cNvSpPr>
            <a:spLocks noGrp="1"/>
          </p:cNvSpPr>
          <p:nvPr/>
        </p:nvSpPr>
        <p:spPr>
          <a:xfrm>
            <a:off x="299466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D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FBox37"/>
          <p:cNvSpPr>
            <a:spLocks noGrp="1"/>
          </p:cNvSpPr>
          <p:nvPr/>
        </p:nvSpPr>
        <p:spPr>
          <a:xfrm>
            <a:off x="313182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Logic extracted</a:t>
            </a:r>
          </a:p>
        </p:txBody>
      </p:sp>
      <p:sp>
        <p:nvSpPr>
          <p:cNvPr id="38" name="FArrow38"/>
          <p:cNvSpPr>
            <a:spLocks noGrp="1"/>
          </p:cNvSpPr>
          <p:nvPr/>
        </p:nvSpPr>
        <p:spPr>
          <a:xfrm>
            <a:off x="450342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DB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464058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Code pushed to repo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601218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B7DB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614934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3B4FBF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Playbook saved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Standard Development Task — 4× Faster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04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BEFORE  (4 days)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8321040" cy="50292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" y="1133856"/>
            <a:ext cx="2002536" cy="42976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28316" y="1133856"/>
            <a:ext cx="2002536" cy="429768"/>
          </a:xfrm>
          <a:prstGeom prst="rect">
            <a:avLst/>
          </a:prstGeom>
          <a:solidFill>
            <a:srgbClr val="FCA5A5">
              <a:alpha val="82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831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133856"/>
            <a:ext cx="2002536" cy="429768"/>
          </a:xfrm>
          <a:prstGeom prst="rect">
            <a:avLst/>
          </a:prstGeom>
          <a:solidFill>
            <a:srgbClr val="FCA5A5">
              <a:alpha val="64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88836" y="1133856"/>
            <a:ext cx="2002536" cy="429768"/>
          </a:xfrm>
          <a:prstGeom prst="rect">
            <a:avLst/>
          </a:prstGeom>
          <a:solidFill>
            <a:srgbClr val="FCA5A5">
              <a:alpha val="46000"/>
            </a:srgbClr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8836" y="1133856"/>
            <a:ext cx="2002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Day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AFTER  (1 day with Devin)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057400"/>
            <a:ext cx="8321040" cy="502920"/>
          </a:xfrm>
          <a:prstGeom prst="rect">
            <a:avLst/>
          </a:prstGeom>
          <a:solidFill>
            <a:srgbClr val="F1F5F9"/>
          </a:solidFill>
          <a:ln w="1016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093976"/>
            <a:ext cx="2039112" cy="4297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93976"/>
            <a:ext cx="20391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4E4A"/>
                </a:solidFill>
              </a:rPr>
              <a:t>Day 1 — DONE 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14600" y="21488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3 days saved — developer freed for higher-value 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39776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834640"/>
            <a:ext cx="397764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5E"/>
                </a:solidFill>
              </a:rPr>
              <a:t>Why It Takes 4 Days Normally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26440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Context gathering &amp; ticket deep-dive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Dev environment setup &amp; codebase familiarization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Implementation → testing → code review loop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Documentation, PR write-up &amp; back-and-forth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4069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834640"/>
            <a:ext cx="4069080" cy="365760"/>
          </a:xfrm>
          <a:prstGeom prst="rect">
            <a:avLst/>
          </a:prstGeom>
          <a:solidFill>
            <a:srgbClr val="ECFDF5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How Devin Completes It in 1 Day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3264408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Instantly reads &amp; understands the full codebase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Writes and iterates on code autonomously — no setup overhead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Runs tests and self-corrects within the same session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</a:rPr>
              <a:t>Produces PR-ready code with comments &amp; notes</a:t>
            </a:r>
            <a:endParaRPr lang="en-US" sz="1000" dirty="0"/>
          </a:p>
        </p:txBody>
      </p:sp>
      <p:sp>
        <p:nvSpPr>
          <p:cNvPr id="45" name="S4Lbl"/>
          <p:cNvSpPr>
            <a:spLocks noGrp="1"/>
          </p:cNvSpPr>
          <p:nvPr/>
        </p:nvSpPr>
        <p:spPr>
          <a:xfrm>
            <a:off x="1623060" y="4789024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Devin in action</a:t>
            </a:r>
          </a:p>
        </p:txBody>
      </p:sp>
      <p:sp>
        <p:nvSpPr>
          <p:cNvPr id="30" name="FBox30"/>
          <p:cNvSpPr>
            <a:spLocks noGrp="1"/>
          </p:cNvSpPr>
          <p:nvPr/>
        </p:nvSpPr>
        <p:spPr>
          <a:xfrm>
            <a:off x="162306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Ticket received</a:t>
            </a:r>
          </a:p>
        </p:txBody>
      </p:sp>
      <p:sp>
        <p:nvSpPr>
          <p:cNvPr id="31" name="FArrow31"/>
          <p:cNvSpPr>
            <a:spLocks noGrp="1"/>
          </p:cNvSpPr>
          <p:nvPr/>
        </p:nvSpPr>
        <p:spPr>
          <a:xfrm>
            <a:off x="299466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A89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FBox32"/>
          <p:cNvSpPr>
            <a:spLocks noGrp="1"/>
          </p:cNvSpPr>
          <p:nvPr/>
        </p:nvSpPr>
        <p:spPr>
          <a:xfrm>
            <a:off x="313182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Reads the codebase</a:t>
            </a:r>
          </a:p>
        </p:txBody>
      </p:sp>
      <p:sp>
        <p:nvSpPr>
          <p:cNvPr id="33" name="FArrow33"/>
          <p:cNvSpPr>
            <a:spLocks noGrp="1"/>
          </p:cNvSpPr>
          <p:nvPr/>
        </p:nvSpPr>
        <p:spPr>
          <a:xfrm>
            <a:off x="450342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A89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FBox34"/>
          <p:cNvSpPr>
            <a:spLocks noGrp="1"/>
          </p:cNvSpPr>
          <p:nvPr/>
        </p:nvSpPr>
        <p:spPr>
          <a:xfrm>
            <a:off x="464058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Code and tests written</a:t>
            </a:r>
          </a:p>
        </p:txBody>
      </p:sp>
      <p:sp>
        <p:nvSpPr>
          <p:cNvPr id="35" name="FArrow35"/>
          <p:cNvSpPr>
            <a:spLocks noGrp="1"/>
          </p:cNvSpPr>
          <p:nvPr/>
        </p:nvSpPr>
        <p:spPr>
          <a:xfrm>
            <a:off x="6012180" y="495361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A89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FBox36"/>
          <p:cNvSpPr>
            <a:spLocks noGrp="1"/>
          </p:cNvSpPr>
          <p:nvPr/>
        </p:nvSpPr>
        <p:spPr>
          <a:xfrm>
            <a:off x="6149340" y="491704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PR ready to merge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Oracle → BigQuery Migration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77240"/>
            <a:ext cx="8321040" cy="475488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04672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⏱  Manual effort: several days of repetitive scripting   →   With Devin: all artifacts completed in 3–4 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4173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41732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Schema Creation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Oracle DDL analyzed and translated to BigQuery-compatible table structures, data types and constraints automatically — no manual rewriting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18688" y="14173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41732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55848" y="1508760"/>
            <a:ext cx="411480" cy="411480"/>
          </a:xfrm>
          <a:prstGeom prst="ellipse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5848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DAG Creation Script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23317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Airflow DAG scaffolded with correct task dependencies, BigQuery operators, and scheduling logic — production-ready out of the box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14173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417320"/>
            <a:ext cx="26517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1508760"/>
            <a:ext cx="411480" cy="411480"/>
          </a:xfrm>
          <a:prstGeom prst="ellipse">
            <a:avLst/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63056" y="1993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B5E"/>
                </a:solidFill>
              </a:rPr>
              <a:t>Trigger Script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63056" y="2331720"/>
            <a:ext cx="23957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Event-based and scheduled trigger logic generated, configured and ready to deploy alongside the DAG without additional setup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327355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3273552"/>
            <a:ext cx="4023360" cy="36576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📋  Playbook Feature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37033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Devin captures a detailed, step-by-step migration playbook after the first run. Any team member can follow it independently for future migrations — zero specialist knowledge needed. The playbook grows and improves with each run.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27355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B4FBF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273552"/>
            <a:ext cx="40233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3B4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4FBF"/>
                </a:solidFill>
              </a:rPr>
              <a:t>🗓  Schedule Feature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64608" y="370332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Devin's Schedule feature allows the entire migration pipeline to be automated on a recurring cadence. Tables and data pipelines stay in sync automatically — no manual trigger, no repeated effort, no missed runs.</a:t>
            </a:r>
            <a:endParaRPr lang="en-US" sz="1000" dirty="0"/>
          </a:p>
        </p:txBody>
      </p:sp>
      <p:sp>
        <p:nvSpPr>
          <p:cNvPr id="35" name="CardArrow1"/>
          <p:cNvSpPr>
            <a:spLocks noGrp="1"/>
          </p:cNvSpPr>
          <p:nvPr/>
        </p:nvSpPr>
        <p:spPr>
          <a:xfrm>
            <a:off x="3063240" y="2148840"/>
            <a:ext cx="109728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CardArrow2"/>
          <p:cNvSpPr>
            <a:spLocks noGrp="1"/>
          </p:cNvSpPr>
          <p:nvPr/>
        </p:nvSpPr>
        <p:spPr>
          <a:xfrm>
            <a:off x="5870448" y="2148840"/>
            <a:ext cx="109728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7706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S5Lbl"/>
          <p:cNvSpPr>
            <a:spLocks noGrp="1"/>
          </p:cNvSpPr>
          <p:nvPr/>
        </p:nvSpPr>
        <p:spPr>
          <a:xfrm>
            <a:off x="1623060" y="4770736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Migration pipeline</a:t>
            </a:r>
          </a:p>
        </p:txBody>
      </p:sp>
      <p:sp>
        <p:nvSpPr>
          <p:cNvPr id="37" name="FBox37"/>
          <p:cNvSpPr>
            <a:spLocks noGrp="1"/>
          </p:cNvSpPr>
          <p:nvPr/>
        </p:nvSpPr>
        <p:spPr>
          <a:xfrm>
            <a:off x="162306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Oracle DDL</a:t>
            </a:r>
          </a:p>
        </p:txBody>
      </p:sp>
      <p:sp>
        <p:nvSpPr>
          <p:cNvPr id="38" name="FArrow38"/>
          <p:cNvSpPr>
            <a:spLocks noGrp="1"/>
          </p:cNvSpPr>
          <p:nvPr/>
        </p:nvSpPr>
        <p:spPr>
          <a:xfrm>
            <a:off x="299466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313182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Schema translated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450342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464058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DAG and triggers built</a:t>
            </a:r>
          </a:p>
        </p:txBody>
      </p:sp>
      <p:sp>
        <p:nvSpPr>
          <p:cNvPr id="42" name="FArrow42"/>
          <p:cNvSpPr>
            <a:spLocks noGrp="1"/>
          </p:cNvSpPr>
          <p:nvPr/>
        </p:nvSpPr>
        <p:spPr>
          <a:xfrm>
            <a:off x="6012180" y="4935328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59E0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Box43"/>
          <p:cNvSpPr>
            <a:spLocks noGrp="1"/>
          </p:cNvSpPr>
          <p:nvPr/>
        </p:nvSpPr>
        <p:spPr>
          <a:xfrm>
            <a:off x="6149340" y="4898752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BigQuery 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01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 CASE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B5E"/>
                </a:solidFill>
              </a:rPr>
              <a:t>Agent Development — ADK + Tachyon SDK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621792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77240"/>
            <a:ext cx="39319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777240"/>
            <a:ext cx="393192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822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🚧  Without Devin — The Learning Curve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1261872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A2A Protocol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43000" y="1261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Nuances require weeks of study before productive development begins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1920240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ADK Versioning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43000" y="1920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API behavior changes between versions cause repeated friction &amp; bugs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578608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578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Tachyon SDK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43000" y="25786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Non-trivial patterns and conventions have a steep learning curve for new members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236976"/>
            <a:ext cx="502920" cy="256032"/>
          </a:xfrm>
          <a:prstGeom prst="rect">
            <a:avLst/>
          </a:prstGeom>
          <a:solidFill>
            <a:srgbClr val="FEE2E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36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Ramp-up Time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43000" y="3236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Developers spend days reading docs before writing their first working agent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25400" dir="8100000">
              <a:srgbClr val="94A3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777240"/>
            <a:ext cx="4069080" cy="384048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822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🚀  With Devin — Instant Productivity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1261872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2618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A2A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94960" y="12618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Pre-trained understanding of protocol — Devin starts contributing from day one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1920240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ADK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394960" y="1920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Navigates version differences and adapts code patterns automatically without friction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2578608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578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Tachyon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94960" y="25786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Understands SDK idioms and applies correct conventions from the very first session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236976"/>
            <a:ext cx="502920" cy="256032"/>
          </a:xfrm>
          <a:prstGeom prst="rect">
            <a:avLst/>
          </a:prstGeom>
          <a:solidFill>
            <a:srgbClr val="FFF1F2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2369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1D48"/>
                </a:solidFill>
              </a:rPr>
              <a:t>Velocity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394960" y="32369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Team goes from zero to a working agent in a fraction of the normal ramp-up time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187952"/>
            <a:ext cx="8321040" cy="658368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23367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Net Impact: Devin eliminates the ramp-up bottleneck entirely — engineers build better agents, faster, with fewer errors and more confidence.</a:t>
            </a:r>
            <a:endParaRPr lang="en-US" sz="1100" dirty="0"/>
          </a:p>
        </p:txBody>
      </p:sp>
      <p:sp>
        <p:nvSpPr>
          <p:cNvPr id="55" name="S6Lbl"/>
          <p:cNvSpPr>
            <a:spLocks noGrp="1"/>
          </p:cNvSpPr>
          <p:nvPr/>
        </p:nvSpPr>
        <p:spPr>
          <a:xfrm>
            <a:off x="1623060" y="4743304"/>
            <a:ext cx="3200400" cy="128016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520" b="1" dirty="0">
                <a:solidFill>
                  <a:srgbClr val="9BA3C0"/>
                </a:solidFill>
              </a:rPr>
              <a:t>Agent build flow</a:t>
            </a:r>
          </a:p>
        </p:txBody>
      </p:sp>
      <p:sp>
        <p:nvSpPr>
          <p:cNvPr id="39" name="FBox39"/>
          <p:cNvSpPr>
            <a:spLocks noGrp="1"/>
          </p:cNvSpPr>
          <p:nvPr/>
        </p:nvSpPr>
        <p:spPr>
          <a:xfrm>
            <a:off x="162306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A2A Protocol</a:t>
            </a:r>
          </a:p>
        </p:txBody>
      </p:sp>
      <p:sp>
        <p:nvSpPr>
          <p:cNvPr id="40" name="FArrow40"/>
          <p:cNvSpPr>
            <a:spLocks noGrp="1"/>
          </p:cNvSpPr>
          <p:nvPr/>
        </p:nvSpPr>
        <p:spPr>
          <a:xfrm>
            <a:off x="2994660" y="490789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313182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ADK versioning</a:t>
            </a:r>
          </a:p>
        </p:txBody>
      </p:sp>
      <p:sp>
        <p:nvSpPr>
          <p:cNvPr id="42" name="FArrow42"/>
          <p:cNvSpPr>
            <a:spLocks noGrp="1"/>
          </p:cNvSpPr>
          <p:nvPr/>
        </p:nvSpPr>
        <p:spPr>
          <a:xfrm>
            <a:off x="4503420" y="490789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Box43"/>
          <p:cNvSpPr>
            <a:spLocks noGrp="1"/>
          </p:cNvSpPr>
          <p:nvPr/>
        </p:nvSpPr>
        <p:spPr>
          <a:xfrm>
            <a:off x="464058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Tachyon SDK</a:t>
            </a:r>
          </a:p>
        </p:txBody>
      </p:sp>
      <p:sp>
        <p:nvSpPr>
          <p:cNvPr id="44" name="FArrow44"/>
          <p:cNvSpPr>
            <a:spLocks noGrp="1"/>
          </p:cNvSpPr>
          <p:nvPr/>
        </p:nvSpPr>
        <p:spPr>
          <a:xfrm>
            <a:off x="6012180" y="4907896"/>
            <a:ext cx="137160" cy="10972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FBox45"/>
          <p:cNvSpPr>
            <a:spLocks noGrp="1"/>
          </p:cNvSpPr>
          <p:nvPr/>
        </p:nvSpPr>
        <p:spPr>
          <a:xfrm>
            <a:off x="6149340" y="4871320"/>
            <a:ext cx="1371600" cy="182880"/>
          </a:xfrm>
          <a:prstGeom prst="roundRect">
            <a:avLst>
              <a:gd name="adj" fmla="val 16667"/>
            </a:avLst>
          </a:prstGeom>
          <a:solidFill>
            <a:srgbClr val="B91C1C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FFFFFF"/>
                </a:solidFill>
              </a:rPr>
              <a:t>Working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B5E"/>
                </a:solidFill>
              </a:rPr>
              <a:t>The Devin Advantage —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Consistent, repeatable, and scalable developer velocity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8321040" cy="365760"/>
          </a:xfrm>
          <a:prstGeom prst="rect">
            <a:avLst/>
          </a:prstGeom>
          <a:solidFill>
            <a:srgbClr val="1E2B5E"/>
          </a:solidFill>
          <a:ln w="12700">
            <a:solidFill>
              <a:srgbClr val="1E2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881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Use Case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063240" y="10881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Before Devin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34840" y="10881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After Devin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06440" y="10881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Output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26680" y="1088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Impact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389888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389888"/>
            <a:ext cx="54864" cy="768096"/>
          </a:xfrm>
          <a:prstGeom prst="rect">
            <a:avLst/>
          </a:prstGeom>
          <a:solidFill>
            <a:srgbClr val="3B4FBF"/>
          </a:solidFill>
          <a:ln w="12700">
            <a:solidFill>
              <a:srgbClr val="3B4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5910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Orchestra Migration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1591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2–3 Sprints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34840" y="1591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FBF"/>
                </a:solidFill>
              </a:rPr>
              <a:t>2 Days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06440" y="15910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Reusable playbook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26680" y="15910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4FBF"/>
                </a:solidFill>
              </a:rPr>
              <a:t>~90% saved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194560"/>
            <a:ext cx="8321040" cy="76809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194560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Standard Dev 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4 Days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34840" y="2395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1 Day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23957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PR-ready code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395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4× faster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832104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999232"/>
            <a:ext cx="54864" cy="7680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Oracle → BigQuery Migration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Several Days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348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3–4 Hours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06440" y="32004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Schema + DAG + Trigger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26680" y="3200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~95% saved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3803904"/>
            <a:ext cx="8321040" cy="768096"/>
          </a:xfrm>
          <a:prstGeom prst="rect">
            <a:avLst/>
          </a:prstGeom>
          <a:solidFill>
            <a:srgbClr val="F8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3803904"/>
            <a:ext cx="54864" cy="76809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050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Agent Dev (ADK + Tachyon SDK)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63240" y="4005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Slow ramp-up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34840" y="40050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Fast delivery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06440" y="400507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Working agents quickly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26680" y="4005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1D48"/>
                </a:solidFill>
              </a:rPr>
              <a:t>No bottleneck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11480" y="4526280"/>
            <a:ext cx="8321040" cy="384048"/>
          </a:xfrm>
          <a:prstGeom prst="rect">
            <a:avLst/>
          </a:prstGeom>
          <a:solidFill>
            <a:srgbClr val="EEF2FF"/>
          </a:solidFill>
          <a:ln w="10160">
            <a:solidFill>
              <a:srgbClr val="3B4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553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4FBF"/>
                </a:solidFill>
              </a:rPr>
              <a:t>💡  Devin doesn't just speed up tasks — it creates reusable playbooks, schedules, and institutional knowledge that compound over time across the entire team.</a:t>
            </a:r>
            <a:endParaRPr lang="en-US" sz="1000" dirty="0"/>
          </a:p>
        </p:txBody>
      </p:sp>
      <p:sp>
        <p:nvSpPr>
          <p:cNvPr id="60" name="S7Lbl"/>
          <p:cNvSpPr>
            <a:spLocks noGrp="1"/>
          </p:cNvSpPr>
          <p:nvPr/>
        </p:nvSpPr>
        <p:spPr>
          <a:xfrm>
            <a:off x="1380744" y="4811456"/>
            <a:ext cx="3657600" cy="118872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l">
              <a:buNone/>
            </a:pPr>
            <a:r>
              <a:rPr lang="en-US" sz="490" b="1" dirty="0">
                <a:solidFill>
                  <a:srgbClr val="9BA3C0"/>
                </a:solidFill>
              </a:rPr>
              <a:t>The compounding effect</a:t>
            </a:r>
          </a:p>
        </p:txBody>
      </p:sp>
      <p:sp>
        <p:nvSpPr>
          <p:cNvPr id="41" name="FBox41"/>
          <p:cNvSpPr>
            <a:spLocks noGrp="1"/>
          </p:cNvSpPr>
          <p:nvPr/>
        </p:nvSpPr>
        <p:spPr>
          <a:xfrm>
            <a:off x="1380744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Task Assigned</a:t>
            </a:r>
          </a:p>
        </p:txBody>
      </p:sp>
      <p:sp>
        <p:nvSpPr>
          <p:cNvPr id="42" name="FArrow42"/>
          <p:cNvSpPr>
            <a:spLocks noGrp="1"/>
          </p:cNvSpPr>
          <p:nvPr/>
        </p:nvSpPr>
        <p:spPr>
          <a:xfrm>
            <a:off x="2569464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FBox43"/>
          <p:cNvSpPr>
            <a:spLocks noGrp="1"/>
          </p:cNvSpPr>
          <p:nvPr/>
        </p:nvSpPr>
        <p:spPr>
          <a:xfrm>
            <a:off x="2679192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Devin executes</a:t>
            </a:r>
          </a:p>
        </p:txBody>
      </p:sp>
      <p:sp>
        <p:nvSpPr>
          <p:cNvPr id="44" name="FArrow44"/>
          <p:cNvSpPr>
            <a:spLocks noGrp="1"/>
          </p:cNvSpPr>
          <p:nvPr/>
        </p:nvSpPr>
        <p:spPr>
          <a:xfrm>
            <a:off x="3867912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FBox45"/>
          <p:cNvSpPr>
            <a:spLocks noGrp="1"/>
          </p:cNvSpPr>
          <p:nvPr/>
        </p:nvSpPr>
        <p:spPr>
          <a:xfrm>
            <a:off x="3977640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Playbook created</a:t>
            </a:r>
          </a:p>
        </p:txBody>
      </p:sp>
      <p:sp>
        <p:nvSpPr>
          <p:cNvPr id="46" name="FArrow46"/>
          <p:cNvSpPr>
            <a:spLocks noGrp="1"/>
          </p:cNvSpPr>
          <p:nvPr/>
        </p:nvSpPr>
        <p:spPr>
          <a:xfrm>
            <a:off x="5166360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FBox47"/>
          <p:cNvSpPr>
            <a:spLocks noGrp="1"/>
          </p:cNvSpPr>
          <p:nvPr/>
        </p:nvSpPr>
        <p:spPr>
          <a:xfrm>
            <a:off x="5276088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Team adopts it</a:t>
            </a:r>
          </a:p>
        </p:txBody>
      </p:sp>
      <p:sp>
        <p:nvSpPr>
          <p:cNvPr id="48" name="FArrow48"/>
          <p:cNvSpPr>
            <a:spLocks noGrp="1"/>
          </p:cNvSpPr>
          <p:nvPr/>
        </p:nvSpPr>
        <p:spPr>
          <a:xfrm>
            <a:off x="6464808" y="4963246"/>
            <a:ext cx="109728" cy="9875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28090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FBox49"/>
          <p:cNvSpPr>
            <a:spLocks noGrp="1"/>
          </p:cNvSpPr>
          <p:nvPr/>
        </p:nvSpPr>
        <p:spPr>
          <a:xfrm>
            <a:off x="6574536" y="4930328"/>
            <a:ext cx="1188720" cy="164592"/>
          </a:xfrm>
          <a:prstGeom prst="roundRect">
            <a:avLst>
              <a:gd name="adj" fmla="val 16667"/>
            </a:avLst>
          </a:prstGeom>
          <a:solidFill>
            <a:srgbClr val="1E2B5E"/>
          </a:solidFill>
          <a:ln>
            <a:noFill/>
          </a:ln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en-US" sz="580" b="1" dirty="0">
                <a:solidFill>
                  <a:srgbClr val="FFFFFF"/>
                </a:solidFill>
              </a:rPr>
              <a:t>Value grows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 Efficiency with Devin</dc:title>
  <dc:subject>PptxGenJS Presentation</dc:subject>
  <dc:creator>PptxGenJS</dc:creator>
  <cp:lastModifiedBy>PptxGenJS</cp:lastModifiedBy>
  <cp:revision>1</cp:revision>
  <dcterms:created xsi:type="dcterms:W3CDTF">2026-04-05T06:33:29Z</dcterms:created>
  <dcterms:modified xsi:type="dcterms:W3CDTF">2026-04-05T06:33:29Z</dcterms:modified>
</cp:coreProperties>
</file>