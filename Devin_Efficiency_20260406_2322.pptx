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notesMaster" Target="notesMasters/notesMaster1.xml"/>
  <Relationship Id="rId10" Type="http://schemas.openxmlformats.org/officeDocument/2006/relationships/presProps" Target="presProps.xml"/>
  <Relationship Id="rId11" Type="http://schemas.openxmlformats.org/officeDocument/2006/relationships/viewProps" Target="viewProps.xml"/>
  <Relationship Id="rId12" Type="http://schemas.openxmlformats.org/officeDocument/2006/relationships/theme" Target="theme/theme1.xml"/>
  <Relationship Id="rId13" Type="http://schemas.openxmlformats.org/officeDocument/2006/relationships/tableStyles" Target="tableStyles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320040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5B4FC"/>
                </a:solidFill>
              </a:rPr>
              <a:t>DEVIN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Developer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Efficiency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880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</a:rPr>
              <a:t>Supercharged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</a:rPr>
              <a:t>with Devin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0" y="411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4 real use cases. Measurable impact.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960120"/>
            <a:ext cx="2057400" cy="1691640"/>
          </a:xfrm>
          <a:prstGeom prst="rect">
            <a:avLst/>
          </a:prstGeom>
          <a:solidFill>
            <a:srgbClr val="EEF2FF"/>
          </a:solidFill>
          <a:ln w="15240">
            <a:solidFill>
              <a:srgbClr val="3B4FBF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960120"/>
            <a:ext cx="2057400" cy="54864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4FBF"/>
                </a:solidFill>
              </a:rPr>
              <a:t>Orchestra Migration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17136" y="1435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17136" y="1618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2–3 sprints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17136" y="1965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17136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FBF"/>
                </a:solidFill>
              </a:rPr>
              <a:t>2 days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29400" y="960120"/>
            <a:ext cx="2057400" cy="1691640"/>
          </a:xfrm>
          <a:prstGeom prst="rect">
            <a:avLst/>
          </a:prstGeom>
          <a:solidFill>
            <a:srgbClr val="ECFDF5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960120"/>
            <a:ext cx="2057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Dev Task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57416" y="1435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57416" y="1618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4 days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57416" y="1965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57416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1 day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89120" y="2880360"/>
            <a:ext cx="2057400" cy="1691640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2880360"/>
            <a:ext cx="20574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Oracle → BigQuery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17136" y="33558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17136" y="35387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Days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17136" y="3886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17136" y="4069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3–4 hrs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29400" y="2880360"/>
            <a:ext cx="2057400" cy="1691640"/>
          </a:xfrm>
          <a:prstGeom prst="rect">
            <a:avLst/>
          </a:prstGeom>
          <a:solidFill>
            <a:srgbClr val="FFF1F2"/>
          </a:solidFill>
          <a:ln w="1524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29400" y="2880360"/>
            <a:ext cx="20574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57416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Agent Development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57416" y="33558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57416" y="35387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Slow ramp-up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57416" y="3886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57416" y="4069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</a:rPr>
              <a:t>Fast delivery</a:t>
            </a:r>
            <a:endParaRPr lang="en-US" sz="1500" dirty="0"/>
          </a:p>
        </p:txBody>
      </p:sp>
      <p:sp>
        <p:nvSpPr>
          <p:cNvPr id="50" name="S1Lbl"/>
          <p:cNvSpPr>
            <a:spLocks noGrp="1"/>
          </p:cNvSpPr>
          <p:nvPr/>
        </p:nvSpPr>
        <p:spPr>
          <a:xfrm>
            <a:off x="365760" y="4005072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40" b="1" dirty="0">
                <a:solidFill>
                  <a:srgbClr val="8EA8D8"/>
                </a:solidFill>
              </a:rPr>
              <a:t>How it works</a:t>
            </a:r>
          </a:p>
        </p:txBody>
      </p:sp>
      <p:sp>
        <p:nvSpPr>
          <p:cNvPr id="37" name="FBox37"/>
          <p:cNvSpPr>
            <a:spLocks noGrp="1"/>
          </p:cNvSpPr>
          <p:nvPr/>
        </p:nvSpPr>
        <p:spPr>
          <a:xfrm>
            <a:off x="365760" y="4160520"/>
            <a:ext cx="822960" cy="3017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2761"/>
                </a:solidFill>
              </a:rPr>
              <a:t>Engineer</a:t>
            </a:r>
          </a:p>
        </p:txBody>
      </p:sp>
      <p:sp>
        <p:nvSpPr>
          <p:cNvPr id="38" name="FArrow38"/>
          <p:cNvSpPr>
            <a:spLocks noGrp="1"/>
          </p:cNvSpPr>
          <p:nvPr/>
        </p:nvSpPr>
        <p:spPr>
          <a:xfrm>
            <a:off x="1188720" y="4220870"/>
            <a:ext cx="164592" cy="18105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0C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FBox39"/>
          <p:cNvSpPr>
            <a:spLocks noGrp="1"/>
          </p:cNvSpPr>
          <p:nvPr/>
        </p:nvSpPr>
        <p:spPr>
          <a:xfrm>
            <a:off x="1353312" y="4160520"/>
            <a:ext cx="822960" cy="3017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2761"/>
                </a:solidFill>
              </a:rPr>
              <a:t>Devin AI</a:t>
            </a:r>
          </a:p>
        </p:txBody>
      </p:sp>
      <p:sp>
        <p:nvSpPr>
          <p:cNvPr id="40" name="FArrow40"/>
          <p:cNvSpPr>
            <a:spLocks noGrp="1"/>
          </p:cNvSpPr>
          <p:nvPr/>
        </p:nvSpPr>
        <p:spPr>
          <a:xfrm>
            <a:off x="2176272" y="4220870"/>
            <a:ext cx="164592" cy="18105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0C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Box41"/>
          <p:cNvSpPr>
            <a:spLocks noGrp="1"/>
          </p:cNvSpPr>
          <p:nvPr/>
        </p:nvSpPr>
        <p:spPr>
          <a:xfrm>
            <a:off x="2340864" y="4160520"/>
            <a:ext cx="822960" cy="3017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2761"/>
                </a:solidFill>
              </a:rPr>
              <a:t>10x Faster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5E"/>
                </a:solidFill>
              </a:rPr>
              <a:t>How Devin Transforms Developer Velocity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Real use cases from our engineering team — before &amp; after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24128"/>
            <a:ext cx="64008" cy="85039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71016"/>
            <a:ext cx="347472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71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4FB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15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Orchestra Migration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Playbook created for any team member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152144"/>
            <a:ext cx="13716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52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1353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2–3 Sprints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12527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1152144"/>
            <a:ext cx="1371600" cy="566928"/>
          </a:xfrm>
          <a:prstGeom prst="rect">
            <a:avLst/>
          </a:prstGeom>
          <a:solidFill>
            <a:srgbClr val="EEF2FF"/>
          </a:solidFill>
          <a:ln w="10160">
            <a:solidFill>
              <a:srgbClr val="3B4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152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1353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FBF"/>
                </a:solidFill>
              </a:rPr>
              <a:t>2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9560" y="1225296"/>
            <a:ext cx="777240" cy="420624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122529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~90%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029968"/>
            <a:ext cx="83210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029968"/>
            <a:ext cx="64008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276856"/>
            <a:ext cx="347472" cy="34747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2121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Standard Development Task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2505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Developer freed for higher-value work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157984"/>
            <a:ext cx="13716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157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4 Days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2585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6520" y="2157984"/>
            <a:ext cx="1371600" cy="566928"/>
          </a:xfrm>
          <a:prstGeom prst="rect">
            <a:avLst/>
          </a:prstGeom>
          <a:solidFill>
            <a:srgbClr val="ECFDF5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157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4652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 Day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09560" y="2231136"/>
            <a:ext cx="7772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223113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035808"/>
            <a:ext cx="83210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035808"/>
            <a:ext cx="64008" cy="850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3282696"/>
            <a:ext cx="347472" cy="347472"/>
          </a:xfrm>
          <a:prstGeom prst="ellipse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03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" y="3127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Oracle → BigQuery Migration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78992" y="3511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Schema + DAG + Trigger — reusable playbook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3163824"/>
            <a:ext cx="13716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Several Days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89320" y="32644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46520" y="3163824"/>
            <a:ext cx="1371600" cy="566928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4652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3–4 Hours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909560" y="3236976"/>
            <a:ext cx="77724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32369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~95%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41648"/>
            <a:ext cx="83210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1480" y="4041648"/>
            <a:ext cx="64008" cy="8503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4288536"/>
            <a:ext cx="347472" cy="34747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</a:rPr>
              <a:t>04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8992" y="4133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Agent Development (ADK + Tachyon SDK)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78992" y="4517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No learning curve for A2A &amp; ADK versioning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0" y="4169664"/>
            <a:ext cx="13716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Slow Ramp-up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989320" y="42702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46520" y="4169664"/>
            <a:ext cx="1371600" cy="566928"/>
          </a:xfrm>
          <a:prstGeom prst="rect">
            <a:avLst/>
          </a:prstGeom>
          <a:solidFill>
            <a:srgbClr val="FFF1F2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44652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Fast Delivery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909560" y="4242816"/>
            <a:ext cx="777240" cy="42062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09560" y="424281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saved</a:t>
            </a:r>
            <a:endParaRPr lang="en-US" sz="900" dirty="0"/>
          </a:p>
        </p:txBody>
      </p:sp>
      <p:sp>
        <p:nvSpPr>
          <p:cNvPr id="80" name="S2Lbl"/>
          <p:cNvSpPr>
            <a:spLocks noGrp="1"/>
          </p:cNvSpPr>
          <p:nvPr/>
        </p:nvSpPr>
        <p:spPr>
          <a:xfrm>
            <a:off x="1623060" y="4789024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20" b="1" dirty="0">
                <a:solidFill>
                  <a:srgbClr val="9BA3C0"/>
                </a:solidFill>
              </a:rPr>
              <a:t>The Devin workflow</a:t>
            </a:r>
          </a:p>
        </p:txBody>
      </p:sp>
      <p:sp>
        <p:nvSpPr>
          <p:cNvPr id="65" name="FBox65"/>
          <p:cNvSpPr>
            <a:spLocks noGrp="1"/>
          </p:cNvSpPr>
          <p:nvPr/>
        </p:nvSpPr>
        <p:spPr>
          <a:xfrm>
            <a:off x="162306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Task comes in</a:t>
            </a:r>
          </a:p>
        </p:txBody>
      </p:sp>
      <p:sp>
        <p:nvSpPr>
          <p:cNvPr id="66" name="FArrow66"/>
          <p:cNvSpPr>
            <a:spLocks noGrp="1"/>
          </p:cNvSpPr>
          <p:nvPr/>
        </p:nvSpPr>
        <p:spPr>
          <a:xfrm>
            <a:off x="299466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FBox67"/>
          <p:cNvSpPr>
            <a:spLocks noGrp="1"/>
          </p:cNvSpPr>
          <p:nvPr/>
        </p:nvSpPr>
        <p:spPr>
          <a:xfrm>
            <a:off x="313182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Devin analyzes it</a:t>
            </a:r>
          </a:p>
        </p:txBody>
      </p:sp>
      <p:sp>
        <p:nvSpPr>
          <p:cNvPr id="68" name="FArrow68"/>
          <p:cNvSpPr>
            <a:spLocks noGrp="1"/>
          </p:cNvSpPr>
          <p:nvPr/>
        </p:nvSpPr>
        <p:spPr>
          <a:xfrm>
            <a:off x="450342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FBox69"/>
          <p:cNvSpPr>
            <a:spLocks noGrp="1"/>
          </p:cNvSpPr>
          <p:nvPr/>
        </p:nvSpPr>
        <p:spPr>
          <a:xfrm>
            <a:off x="464058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Code is ready</a:t>
            </a:r>
          </a:p>
        </p:txBody>
      </p:sp>
      <p:sp>
        <p:nvSpPr>
          <p:cNvPr id="70" name="FArrow70"/>
          <p:cNvSpPr>
            <a:spLocks noGrp="1"/>
          </p:cNvSpPr>
          <p:nvPr/>
        </p:nvSpPr>
        <p:spPr>
          <a:xfrm>
            <a:off x="601218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FBox71"/>
          <p:cNvSpPr>
            <a:spLocks noGrp="1"/>
          </p:cNvSpPr>
          <p:nvPr/>
        </p:nvSpPr>
        <p:spPr>
          <a:xfrm>
            <a:off x="614934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Playbook saved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 CASE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5E"/>
                </a:solidFill>
              </a:rPr>
              <a:t>Orchestra Migration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777240"/>
            <a:ext cx="1920240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22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Before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2–3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Sprints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777240"/>
            <a:ext cx="1920240" cy="1143000"/>
          </a:xfrm>
          <a:prstGeom prst="rect">
            <a:avLst/>
          </a:prstGeom>
          <a:solidFill>
            <a:srgbClr val="EEF2FF"/>
          </a:solidFill>
          <a:ln w="12700">
            <a:solidFill>
              <a:srgbClr val="3B4FBF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822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After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1460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4FBF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14600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Days 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777240"/>
            <a:ext cx="1920240" cy="1143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822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Time Saved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1772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~90%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17720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Efficiency gain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777240"/>
            <a:ext cx="1920240" cy="11430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822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Deliverable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2084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</a:rPr>
              <a:t>1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20840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Reusable playbook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57400"/>
            <a:ext cx="2651760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057400"/>
            <a:ext cx="265176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⚠️  Challenges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2514600"/>
            <a:ext cx="245059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Devin had no direct access to the source code repository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Migration involved orchestrator complaint activities with complex reactive patterns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Too many files generated in one go — hard to review and validate all at once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Each pod migration estimated at 2–3 sprints of manual developer effort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2057400"/>
            <a:ext cx="265176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BF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057400"/>
            <a:ext cx="265176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3B4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✅  How We Did 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2514600"/>
            <a:ext cx="245059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Used the WAR file instead of the repo — Devin decoded compiled .class files to understand existing logic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Devin reverse-engineered the reactive code and generated equivalent non-reactive implementation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New code was generated directly into the EPLX repository in correct structure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Playbook captured the full approach so any team member can repeat this for their pod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2057400"/>
            <a:ext cx="265176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057400"/>
            <a:ext cx="2651760" cy="38404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Lessons &amp; Next Steps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2514600"/>
            <a:ext cx="245059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WAR file + class decoding is a viable workaround when repo access is unavailable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Large migrations generate too many files for a single session — batch mode planned for next pod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Batch mode: migrate module by module to keep PRs manageable and reviews faster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Playbook from this run will guide all future pod migrations with zero rework</a:t>
            </a:r>
            <a:endParaRPr lang="en-US" sz="950" dirty="0"/>
          </a:p>
        </p:txBody>
      </p:sp>
      <p:sp>
        <p:nvSpPr>
          <p:cNvPr id="50" name="S3Lbl"/>
          <p:cNvSpPr>
            <a:spLocks noGrp="1"/>
          </p:cNvSpPr>
          <p:nvPr/>
        </p:nvSpPr>
        <p:spPr>
          <a:xfrm>
            <a:off x="1623060" y="4770736"/>
            <a:ext cx="3200400" cy="12801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20" b="1" dirty="0">
                <a:solidFill>
                  <a:srgbClr val="9BA3C0"/>
                </a:solidFill>
              </a:rPr>
              <a:t>Migration flow</a:t>
            </a:r>
          </a:p>
        </p:txBody>
      </p:sp>
      <p:sp>
        <p:nvSpPr>
          <p:cNvPr id="35" name="FBox35"/>
          <p:cNvSpPr>
            <a:spLocks noGrp="1"/>
          </p:cNvSpPr>
          <p:nvPr/>
        </p:nvSpPr>
        <p:spPr>
          <a:xfrm>
            <a:off x="162306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3B4FB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WAR file decoded</a:t>
            </a:r>
          </a:p>
        </p:txBody>
      </p:sp>
      <p:sp>
        <p:nvSpPr>
          <p:cNvPr id="36" name="FArrow36"/>
          <p:cNvSpPr>
            <a:spLocks noGrp="1"/>
          </p:cNvSpPr>
          <p:nvPr/>
        </p:nvSpPr>
        <p:spPr>
          <a:xfrm>
            <a:off x="299466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DB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FBox37"/>
          <p:cNvSpPr>
            <a:spLocks noGrp="1"/>
          </p:cNvSpPr>
          <p:nvPr/>
        </p:nvSpPr>
        <p:spPr>
          <a:xfrm>
            <a:off x="313182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3B4FB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Logic extracted</a:t>
            </a:r>
          </a:p>
        </p:txBody>
      </p:sp>
      <p:sp>
        <p:nvSpPr>
          <p:cNvPr id="38" name="FArrow38"/>
          <p:cNvSpPr>
            <a:spLocks noGrp="1"/>
          </p:cNvSpPr>
          <p:nvPr/>
        </p:nvSpPr>
        <p:spPr>
          <a:xfrm>
            <a:off x="450342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DB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FBox39"/>
          <p:cNvSpPr>
            <a:spLocks noGrp="1"/>
          </p:cNvSpPr>
          <p:nvPr/>
        </p:nvSpPr>
        <p:spPr>
          <a:xfrm>
            <a:off x="464058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3B4FB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Code pushed to repo</a:t>
            </a:r>
          </a:p>
        </p:txBody>
      </p:sp>
      <p:sp>
        <p:nvSpPr>
          <p:cNvPr id="40" name="FArrow40"/>
          <p:cNvSpPr>
            <a:spLocks noGrp="1"/>
          </p:cNvSpPr>
          <p:nvPr/>
        </p:nvSpPr>
        <p:spPr>
          <a:xfrm>
            <a:off x="601218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DB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Box41"/>
          <p:cNvSpPr>
            <a:spLocks noGrp="1"/>
          </p:cNvSpPr>
          <p:nvPr/>
        </p:nvSpPr>
        <p:spPr>
          <a:xfrm>
            <a:off x="614934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3B4FB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Playbook saved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 CASE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5E"/>
                </a:solidFill>
              </a:rPr>
              <a:t>Standard Development Task — 4× Faster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BEFORE  (4 days)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8321040" cy="50292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" y="1133856"/>
            <a:ext cx="2002536" cy="42976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133856"/>
            <a:ext cx="2002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Day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28316" y="1133856"/>
            <a:ext cx="2002536" cy="429768"/>
          </a:xfrm>
          <a:prstGeom prst="rect">
            <a:avLst/>
          </a:prstGeom>
          <a:solidFill>
            <a:srgbClr val="FCA5A5">
              <a:alpha val="82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8316" y="1133856"/>
            <a:ext cx="2002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Day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1133856"/>
            <a:ext cx="2002536" cy="429768"/>
          </a:xfrm>
          <a:prstGeom prst="rect">
            <a:avLst/>
          </a:prstGeom>
          <a:solidFill>
            <a:srgbClr val="FCA5A5">
              <a:alpha val="64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133856"/>
            <a:ext cx="2002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Day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88836" y="1133856"/>
            <a:ext cx="2002536" cy="429768"/>
          </a:xfrm>
          <a:prstGeom prst="rect">
            <a:avLst/>
          </a:prstGeom>
          <a:solidFill>
            <a:srgbClr val="FCA5A5">
              <a:alpha val="46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8836" y="1133856"/>
            <a:ext cx="2002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Day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AFTER  (1 day with Devin)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057400"/>
            <a:ext cx="8321040" cy="5029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093976"/>
            <a:ext cx="2039112" cy="4297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93976"/>
            <a:ext cx="2039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4E4A"/>
                </a:solidFill>
              </a:rPr>
              <a:t>Day 1 — DONE 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21488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3 days saved — developer freed for higher-value 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834640"/>
            <a:ext cx="39776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834640"/>
            <a:ext cx="39776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5E"/>
                </a:solidFill>
              </a:rPr>
              <a:t>Why It Takes 4 Days Normally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26440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Context gathering &amp; ticket deep-dive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Dev environment setup &amp; codebase familiarization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Implementation → testing → code review loop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Documentation, PR write-up &amp; back-and-forth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834640"/>
            <a:ext cx="4069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834640"/>
            <a:ext cx="4069080" cy="365760"/>
          </a:xfrm>
          <a:prstGeom prst="rect">
            <a:avLst/>
          </a:prstGeom>
          <a:solidFill>
            <a:srgbClr val="ECFDF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How Devin Completes It in 1 Day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3264408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Instantly reads &amp; understands the full codebase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Writes and iterates on code autonomously — no setup overhead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Runs tests and self-corrects within the same session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Produces PR-ready code with comments &amp; notes</a:t>
            </a:r>
            <a:endParaRPr lang="en-US" sz="1000" dirty="0"/>
          </a:p>
        </p:txBody>
      </p:sp>
      <p:sp>
        <p:nvSpPr>
          <p:cNvPr id="45" name="S4Lbl"/>
          <p:cNvSpPr>
            <a:spLocks noGrp="1"/>
          </p:cNvSpPr>
          <p:nvPr/>
        </p:nvSpPr>
        <p:spPr>
          <a:xfrm>
            <a:off x="1623060" y="4789024"/>
            <a:ext cx="3200400" cy="12801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20" b="1" dirty="0">
                <a:solidFill>
                  <a:srgbClr val="9BA3C0"/>
                </a:solidFill>
              </a:rPr>
              <a:t>Devin in action</a:t>
            </a:r>
          </a:p>
        </p:txBody>
      </p:sp>
      <p:sp>
        <p:nvSpPr>
          <p:cNvPr id="30" name="FBox30"/>
          <p:cNvSpPr>
            <a:spLocks noGrp="1"/>
          </p:cNvSpPr>
          <p:nvPr/>
        </p:nvSpPr>
        <p:spPr>
          <a:xfrm>
            <a:off x="162306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Ticket received</a:t>
            </a:r>
          </a:p>
        </p:txBody>
      </p:sp>
      <p:sp>
        <p:nvSpPr>
          <p:cNvPr id="31" name="FArrow31"/>
          <p:cNvSpPr>
            <a:spLocks noGrp="1"/>
          </p:cNvSpPr>
          <p:nvPr/>
        </p:nvSpPr>
        <p:spPr>
          <a:xfrm>
            <a:off x="299466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A89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FBox32"/>
          <p:cNvSpPr>
            <a:spLocks noGrp="1"/>
          </p:cNvSpPr>
          <p:nvPr/>
        </p:nvSpPr>
        <p:spPr>
          <a:xfrm>
            <a:off x="313182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Reads the codebase</a:t>
            </a:r>
          </a:p>
        </p:txBody>
      </p:sp>
      <p:sp>
        <p:nvSpPr>
          <p:cNvPr id="33" name="FArrow33"/>
          <p:cNvSpPr>
            <a:spLocks noGrp="1"/>
          </p:cNvSpPr>
          <p:nvPr/>
        </p:nvSpPr>
        <p:spPr>
          <a:xfrm>
            <a:off x="450342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A89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FBox34"/>
          <p:cNvSpPr>
            <a:spLocks noGrp="1"/>
          </p:cNvSpPr>
          <p:nvPr/>
        </p:nvSpPr>
        <p:spPr>
          <a:xfrm>
            <a:off x="464058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Code and tests written</a:t>
            </a:r>
          </a:p>
        </p:txBody>
      </p:sp>
      <p:sp>
        <p:nvSpPr>
          <p:cNvPr id="35" name="FArrow35"/>
          <p:cNvSpPr>
            <a:spLocks noGrp="1"/>
          </p:cNvSpPr>
          <p:nvPr/>
        </p:nvSpPr>
        <p:spPr>
          <a:xfrm>
            <a:off x="601218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A89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FBox36"/>
          <p:cNvSpPr>
            <a:spLocks noGrp="1"/>
          </p:cNvSpPr>
          <p:nvPr/>
        </p:nvSpPr>
        <p:spPr>
          <a:xfrm>
            <a:off x="614934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PR ready to merge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 CASE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5E"/>
                </a:solidFill>
              </a:rPr>
              <a:t>Oracle → BigQuery Migration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777240"/>
            <a:ext cx="8321040" cy="475488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046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⏱  Manual effort: several days of repetitive scripting   →   With Devin: all artifacts completed in 3–4 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41732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Schema Creation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Oracle DDL analyzed and translated to BigQuery-compatible table structures, data types and constraints automatically — no manual rewriting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18688" y="14173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41732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5848" y="1508760"/>
            <a:ext cx="411480" cy="411480"/>
          </a:xfrm>
          <a:prstGeom prst="ellipse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55848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DAG Creation Script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23317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Airflow DAG scaffolded with correct task dependencies, BigQuery operators, and scheduling logic — production-ready out of the box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25896" y="14173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41732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1508760"/>
            <a:ext cx="411480" cy="411480"/>
          </a:xfrm>
          <a:prstGeom prst="ellipse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63056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Trigger 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63056" y="23317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Event-based and scheduled trigger logic generated, configured and ready to deploy alongside the DAG without additional setup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27355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273552"/>
            <a:ext cx="4023360" cy="36576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📋  Playbook Feature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370332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Devin captures a detailed, step-by-step migration playbook after the first run. Any team member can follow it independently for future migrations — zero specialist knowledge needed. The playbook grows and improves with each run.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27355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BF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273552"/>
            <a:ext cx="402336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3B4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FBF"/>
                </a:solidFill>
              </a:rPr>
              <a:t>🗓  Schedule Feature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370332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Devin's Schedule feature allows the entire migration pipeline to be automated on a recurring cadence. Tables and data pipelines stay in sync automatically — no manual trigger, no repeated effort, no missed runs.</a:t>
            </a:r>
            <a:endParaRPr lang="en-US" sz="1000" dirty="0"/>
          </a:p>
        </p:txBody>
      </p:sp>
      <p:sp>
        <p:nvSpPr>
          <p:cNvPr id="35" name="CardArrow1"/>
          <p:cNvSpPr>
            <a:spLocks noGrp="1"/>
          </p:cNvSpPr>
          <p:nvPr/>
        </p:nvSpPr>
        <p:spPr>
          <a:xfrm>
            <a:off x="3063240" y="2148840"/>
            <a:ext cx="109728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CardArrow2"/>
          <p:cNvSpPr>
            <a:spLocks noGrp="1"/>
          </p:cNvSpPr>
          <p:nvPr/>
        </p:nvSpPr>
        <p:spPr>
          <a:xfrm>
            <a:off x="5870448" y="2148840"/>
            <a:ext cx="109728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S5Lbl"/>
          <p:cNvSpPr>
            <a:spLocks noGrp="1"/>
          </p:cNvSpPr>
          <p:nvPr/>
        </p:nvSpPr>
        <p:spPr>
          <a:xfrm>
            <a:off x="1623060" y="4770736"/>
            <a:ext cx="3200400" cy="12801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20" b="1" dirty="0">
                <a:solidFill>
                  <a:srgbClr val="9BA3C0"/>
                </a:solidFill>
              </a:rPr>
              <a:t>Migration pipeline</a:t>
            </a:r>
          </a:p>
        </p:txBody>
      </p:sp>
      <p:sp>
        <p:nvSpPr>
          <p:cNvPr id="37" name="FBox37"/>
          <p:cNvSpPr>
            <a:spLocks noGrp="1"/>
          </p:cNvSpPr>
          <p:nvPr/>
        </p:nvSpPr>
        <p:spPr>
          <a:xfrm>
            <a:off x="162306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Oracle DDL</a:t>
            </a:r>
          </a:p>
        </p:txBody>
      </p:sp>
      <p:sp>
        <p:nvSpPr>
          <p:cNvPr id="38" name="FArrow38"/>
          <p:cNvSpPr>
            <a:spLocks noGrp="1"/>
          </p:cNvSpPr>
          <p:nvPr/>
        </p:nvSpPr>
        <p:spPr>
          <a:xfrm>
            <a:off x="299466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FBox39"/>
          <p:cNvSpPr>
            <a:spLocks noGrp="1"/>
          </p:cNvSpPr>
          <p:nvPr/>
        </p:nvSpPr>
        <p:spPr>
          <a:xfrm>
            <a:off x="313182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Schema translated</a:t>
            </a:r>
          </a:p>
        </p:txBody>
      </p:sp>
      <p:sp>
        <p:nvSpPr>
          <p:cNvPr id="40" name="FArrow40"/>
          <p:cNvSpPr>
            <a:spLocks noGrp="1"/>
          </p:cNvSpPr>
          <p:nvPr/>
        </p:nvSpPr>
        <p:spPr>
          <a:xfrm>
            <a:off x="450342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Box41"/>
          <p:cNvSpPr>
            <a:spLocks noGrp="1"/>
          </p:cNvSpPr>
          <p:nvPr/>
        </p:nvSpPr>
        <p:spPr>
          <a:xfrm>
            <a:off x="464058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DAG and triggers built</a:t>
            </a:r>
          </a:p>
        </p:txBody>
      </p:sp>
      <p:sp>
        <p:nvSpPr>
          <p:cNvPr id="42" name="FArrow42"/>
          <p:cNvSpPr>
            <a:spLocks noGrp="1"/>
          </p:cNvSpPr>
          <p:nvPr/>
        </p:nvSpPr>
        <p:spPr>
          <a:xfrm>
            <a:off x="601218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FBox43"/>
          <p:cNvSpPr>
            <a:spLocks noGrp="1"/>
          </p:cNvSpPr>
          <p:nvPr/>
        </p:nvSpPr>
        <p:spPr>
          <a:xfrm>
            <a:off x="614934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BigQuery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 CASE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5E"/>
                </a:solidFill>
              </a:rPr>
              <a:t>Agent Development — ADK + Tachyon SDK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777240"/>
            <a:ext cx="3931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777240"/>
            <a:ext cx="39319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822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🚧  Without Devin — The Learning Curve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1261872"/>
            <a:ext cx="502920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261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A2A Protocol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43000" y="1261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Nuances require weeks of study before productive development begins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1920240"/>
            <a:ext cx="502920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20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ADK Versioning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43000" y="1920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API behavior changes between versions cause repeated friction &amp; bugs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578608"/>
            <a:ext cx="502920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78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Tachyon SDK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43000" y="2578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Non-trivial patterns and conventions have a steep learning curve for new members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236976"/>
            <a:ext cx="502920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369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Ramp-up Time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43000" y="3236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Developers spend days reading docs before writing their first working agent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777240"/>
            <a:ext cx="4069080" cy="384048"/>
          </a:xfrm>
          <a:prstGeom prst="rect">
            <a:avLst/>
          </a:prstGeom>
          <a:solidFill>
            <a:srgbClr val="FFF1F2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822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🚀  With Devin — Instant Productivity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1261872"/>
            <a:ext cx="50292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261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1D48"/>
                </a:solidFill>
              </a:rPr>
              <a:t>A2A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94960" y="12618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Pre-trained understanding of protocol — Devin starts contributing from day one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1920240"/>
            <a:ext cx="50292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920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1D48"/>
                </a:solidFill>
              </a:rPr>
              <a:t>ADK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394960" y="19202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Navigates version differences and adapts code patterns automatically without friction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2578608"/>
            <a:ext cx="50292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578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1D48"/>
                </a:solidFill>
              </a:rPr>
              <a:t>Tachyon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94960" y="25786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Understands SDK idioms and applies correct conventions from the very first session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28032" y="3236976"/>
            <a:ext cx="50292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2369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1D48"/>
                </a:solidFill>
              </a:rPr>
              <a:t>Velocity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394960" y="32369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Team goes from zero to a working agent in a fraction of the normal ramp-up time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187952"/>
            <a:ext cx="8321040" cy="658368"/>
          </a:xfrm>
          <a:prstGeom prst="rect">
            <a:avLst/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23367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Net Impact: Devin eliminates the ramp-up bottleneck entirely — engineers build better agents, faster, with fewer errors and more confidence.</a:t>
            </a:r>
            <a:endParaRPr lang="en-US" sz="1100" dirty="0"/>
          </a:p>
        </p:txBody>
      </p:sp>
      <p:sp>
        <p:nvSpPr>
          <p:cNvPr id="55" name="S6Lbl"/>
          <p:cNvSpPr>
            <a:spLocks noGrp="1"/>
          </p:cNvSpPr>
          <p:nvPr/>
        </p:nvSpPr>
        <p:spPr>
          <a:xfrm>
            <a:off x="1623060" y="4743304"/>
            <a:ext cx="3200400" cy="12801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20" b="1" dirty="0">
                <a:solidFill>
                  <a:srgbClr val="9BA3C0"/>
                </a:solidFill>
              </a:rPr>
              <a:t>Agent build flow</a:t>
            </a:r>
          </a:p>
        </p:txBody>
      </p:sp>
      <p:sp>
        <p:nvSpPr>
          <p:cNvPr id="39" name="FBox39"/>
          <p:cNvSpPr>
            <a:spLocks noGrp="1"/>
          </p:cNvSpPr>
          <p:nvPr/>
        </p:nvSpPr>
        <p:spPr>
          <a:xfrm>
            <a:off x="1623060" y="487132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A2A Protocol</a:t>
            </a:r>
          </a:p>
        </p:txBody>
      </p:sp>
      <p:sp>
        <p:nvSpPr>
          <p:cNvPr id="40" name="FArrow40"/>
          <p:cNvSpPr>
            <a:spLocks noGrp="1"/>
          </p:cNvSpPr>
          <p:nvPr/>
        </p:nvSpPr>
        <p:spPr>
          <a:xfrm>
            <a:off x="2994660" y="490789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Box41"/>
          <p:cNvSpPr>
            <a:spLocks noGrp="1"/>
          </p:cNvSpPr>
          <p:nvPr/>
        </p:nvSpPr>
        <p:spPr>
          <a:xfrm>
            <a:off x="3131820" y="487132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ADK versioning</a:t>
            </a:r>
          </a:p>
        </p:txBody>
      </p:sp>
      <p:sp>
        <p:nvSpPr>
          <p:cNvPr id="42" name="FArrow42"/>
          <p:cNvSpPr>
            <a:spLocks noGrp="1"/>
          </p:cNvSpPr>
          <p:nvPr/>
        </p:nvSpPr>
        <p:spPr>
          <a:xfrm>
            <a:off x="4503420" y="490789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FBox43"/>
          <p:cNvSpPr>
            <a:spLocks noGrp="1"/>
          </p:cNvSpPr>
          <p:nvPr/>
        </p:nvSpPr>
        <p:spPr>
          <a:xfrm>
            <a:off x="4640580" y="487132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Tachyon SDK</a:t>
            </a:r>
          </a:p>
        </p:txBody>
      </p:sp>
      <p:sp>
        <p:nvSpPr>
          <p:cNvPr id="44" name="FArrow44"/>
          <p:cNvSpPr>
            <a:spLocks noGrp="1"/>
          </p:cNvSpPr>
          <p:nvPr/>
        </p:nvSpPr>
        <p:spPr>
          <a:xfrm>
            <a:off x="6012180" y="490789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FBox45"/>
          <p:cNvSpPr>
            <a:spLocks noGrp="1"/>
          </p:cNvSpPr>
          <p:nvPr/>
        </p:nvSpPr>
        <p:spPr>
          <a:xfrm>
            <a:off x="6149340" y="487132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Working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5E"/>
                </a:solidFill>
              </a:rPr>
              <a:t>The Devin Advantage —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Consistent, repeatable, and scalable developer velocity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365760"/>
          </a:xfrm>
          <a:prstGeom prst="rect">
            <a:avLst/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88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 Case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63240" y="10881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Before Devin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34840" y="10881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After Devin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06440" y="10881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Output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26680" y="10881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Impact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389888"/>
            <a:ext cx="83210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389888"/>
            <a:ext cx="54864" cy="768096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5910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Orchestra Migration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15910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2–3 Sprints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34840" y="15910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4FBF"/>
                </a:solidFill>
              </a:rPr>
              <a:t>2 Days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1591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Reusable playbook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26680" y="15910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4FBF"/>
                </a:solidFill>
              </a:rPr>
              <a:t>~90% saved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194560"/>
            <a:ext cx="8321040" cy="76809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194560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Standard Dev 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2395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4 Days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34840" y="2395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1 Day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06440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PR-ready code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2395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4× faster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2999232"/>
            <a:ext cx="83210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999232"/>
            <a:ext cx="54864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Oracle → BigQuery Migration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6324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Several Days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3484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3–4 Hours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0644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Schema + DAG + Trigger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26680" y="3200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~95% saved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3803904"/>
            <a:ext cx="8321040" cy="76809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803904"/>
            <a:ext cx="54864" cy="76809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05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Agent Dev (ADK + Tachyon SDK)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063240" y="4005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Slow ramp-up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34840" y="4005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Fast delivery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06440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Working agents quickly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26680" y="4005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No bottleneck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1480" y="4526280"/>
            <a:ext cx="8321040" cy="384048"/>
          </a:xfrm>
          <a:prstGeom prst="rect">
            <a:avLst/>
          </a:prstGeom>
          <a:solidFill>
            <a:srgbClr val="EEF2FF"/>
          </a:solidFill>
          <a:ln w="10160">
            <a:solidFill>
              <a:srgbClr val="3B4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553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FBF"/>
                </a:solidFill>
              </a:rPr>
              <a:t>💡  Devin doesn't just speed up tasks — it creates reusable playbooks, schedules, and institutional knowledge that compound over time across the entire team.</a:t>
            </a:r>
            <a:endParaRPr lang="en-US" sz="1000" dirty="0"/>
          </a:p>
        </p:txBody>
      </p:sp>
      <p:sp>
        <p:nvSpPr>
          <p:cNvPr id="60" name="S7Lbl"/>
          <p:cNvSpPr>
            <a:spLocks noGrp="1"/>
          </p:cNvSpPr>
          <p:nvPr/>
        </p:nvSpPr>
        <p:spPr>
          <a:xfrm>
            <a:off x="1380744" y="4811456"/>
            <a:ext cx="3657600" cy="11887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490" b="1" dirty="0">
                <a:solidFill>
                  <a:srgbClr val="9BA3C0"/>
                </a:solidFill>
              </a:rPr>
              <a:t>The compounding effect</a:t>
            </a:r>
          </a:p>
        </p:txBody>
      </p:sp>
      <p:sp>
        <p:nvSpPr>
          <p:cNvPr id="41" name="FBox41"/>
          <p:cNvSpPr>
            <a:spLocks noGrp="1"/>
          </p:cNvSpPr>
          <p:nvPr/>
        </p:nvSpPr>
        <p:spPr>
          <a:xfrm>
            <a:off x="1380744" y="4930328"/>
            <a:ext cx="1188720" cy="164592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Task Assigned</a:t>
            </a:r>
          </a:p>
        </p:txBody>
      </p:sp>
      <p:sp>
        <p:nvSpPr>
          <p:cNvPr id="42" name="FArrow42"/>
          <p:cNvSpPr>
            <a:spLocks noGrp="1"/>
          </p:cNvSpPr>
          <p:nvPr/>
        </p:nvSpPr>
        <p:spPr>
          <a:xfrm>
            <a:off x="2569464" y="4963246"/>
            <a:ext cx="109728" cy="9875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FBox43"/>
          <p:cNvSpPr>
            <a:spLocks noGrp="1"/>
          </p:cNvSpPr>
          <p:nvPr/>
        </p:nvSpPr>
        <p:spPr>
          <a:xfrm>
            <a:off x="2679192" y="4930328"/>
            <a:ext cx="1188720" cy="164592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Devin executes</a:t>
            </a:r>
          </a:p>
        </p:txBody>
      </p:sp>
      <p:sp>
        <p:nvSpPr>
          <p:cNvPr id="44" name="FArrow44"/>
          <p:cNvSpPr>
            <a:spLocks noGrp="1"/>
          </p:cNvSpPr>
          <p:nvPr/>
        </p:nvSpPr>
        <p:spPr>
          <a:xfrm>
            <a:off x="3867912" y="4963246"/>
            <a:ext cx="109728" cy="9875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FBox45"/>
          <p:cNvSpPr>
            <a:spLocks noGrp="1"/>
          </p:cNvSpPr>
          <p:nvPr/>
        </p:nvSpPr>
        <p:spPr>
          <a:xfrm>
            <a:off x="3977640" y="4930328"/>
            <a:ext cx="1188720" cy="164592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Playbook created</a:t>
            </a:r>
          </a:p>
        </p:txBody>
      </p:sp>
      <p:sp>
        <p:nvSpPr>
          <p:cNvPr id="46" name="FArrow46"/>
          <p:cNvSpPr>
            <a:spLocks noGrp="1"/>
          </p:cNvSpPr>
          <p:nvPr/>
        </p:nvSpPr>
        <p:spPr>
          <a:xfrm>
            <a:off x="5166360" y="4963246"/>
            <a:ext cx="109728" cy="9875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FBox47"/>
          <p:cNvSpPr>
            <a:spLocks noGrp="1"/>
          </p:cNvSpPr>
          <p:nvPr/>
        </p:nvSpPr>
        <p:spPr>
          <a:xfrm>
            <a:off x="5276088" y="4930328"/>
            <a:ext cx="1188720" cy="164592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Team adopts it</a:t>
            </a:r>
          </a:p>
        </p:txBody>
      </p:sp>
      <p:sp>
        <p:nvSpPr>
          <p:cNvPr id="48" name="FArrow48"/>
          <p:cNvSpPr>
            <a:spLocks noGrp="1"/>
          </p:cNvSpPr>
          <p:nvPr/>
        </p:nvSpPr>
        <p:spPr>
          <a:xfrm>
            <a:off x="6464808" y="4963246"/>
            <a:ext cx="109728" cy="9875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FBox49"/>
          <p:cNvSpPr>
            <a:spLocks noGrp="1"/>
          </p:cNvSpPr>
          <p:nvPr/>
        </p:nvSpPr>
        <p:spPr>
          <a:xfrm>
            <a:off x="6574536" y="4930328"/>
            <a:ext cx="1188720" cy="164592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Value grows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 - Loop Use 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FB3"/>
          <p:cNvSpPr>
            <a:spLocks noGrp="1"/>
          </p:cNvSpPr>
          <p:nvPr/>
        </p:nvSpPr>
        <p:spPr>
          <a:xfrm>
            <a:off x="411480" y="2011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USE CASE 05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1463040" y="164592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1750" b="1" i="0" dirty="0">
                <a:solidFill>
                  <a:srgbClr val="1E2B5E"/>
                </a:solidFill>
              </a:rPr>
              <a:t>Dev Loop: Requirements → Jira → Code → Fix (React + Python)</a:t>
            </a:r>
          </a:p>
        </p:txBody>
      </p:sp>
      <p:sp>
        <p:nvSpPr>
          <p:cNvPr id="5" name="Sep"/>
          <p:cNvSpPr/>
          <p:nvPr/>
        </p:nvSpPr>
        <p:spPr>
          <a:xfrm>
            <a:off x="411480" y="621792"/>
            <a:ext cx="8321040" cy="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411480" y="658368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00" b="0" i="0" dirty="0">
                <a:solidFill>
                  <a:srgbClr val="64748B"/>
                </a:solidFill>
              </a:rPr>
              <a:t>Devin reads the PRD, breaks it into Jira tasks, and executes each one — writing code, running both test suites, fixing failures, and looping until green.</a:t>
            </a:r>
          </a:p>
        </p:txBody>
      </p:sp>
      <p:sp>
        <p:nvSpPr>
          <p:cNvPr id="9" name="FB9"/>
          <p:cNvSpPr>
            <a:spLocks noGrp="1"/>
          </p:cNvSpPr>
          <p:nvPr/>
        </p:nvSpPr>
        <p:spPr>
          <a:xfrm>
            <a:off x="411480" y="877824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3B4FB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0" name="FB10"/>
          <p:cNvSpPr>
            <a:spLocks noGrp="1"/>
          </p:cNvSpPr>
          <p:nvPr/>
        </p:nvSpPr>
        <p:spPr>
          <a:xfrm>
            <a:off x="1371600" y="877824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7" name="Ring"/>
          <p:cNvSpPr>
            <a:spLocks noGrp="1"/>
          </p:cNvSpPr>
          <p:nvPr/>
        </p:nvSpPr>
        <p:spPr>
          <a:xfrm>
            <a:off x="2926080" y="1463040"/>
            <a:ext cx="2743200" cy="2743200"/>
          </a:xfrm>
          <a:prstGeom prst="ellipse">
            <a:avLst/>
          </a:prstGeom>
          <a:noFill/>
          <a:ln w="164592">
            <a:solidFill>
              <a:srgbClr val="CBD5E1">
                <a:alpha val="55000"/>
              </a:srgbClr>
            </a:solidFill>
          </a:ln>
        </p:spPr>
        <p:txBody>
          <a:bodyPr/>
          <a:lstStyle/>
          <a:p/>
        </p:txBody>
      </p:sp>
      <p:sp>
        <p:nvSpPr>
          <p:cNvPr id="8" name="CenterEllipse"/>
          <p:cNvSpPr>
            <a:spLocks noGrp="1"/>
          </p:cNvSpPr>
          <p:nvPr/>
        </p:nvSpPr>
        <p:spPr>
          <a:xfrm>
            <a:off x="3822192" y="2359152"/>
            <a:ext cx="950976" cy="950976"/>
          </a:xfrm>
          <a:prstGeom prst="ellipse">
            <a:avLst/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Devin</a:t>
            </a:r>
          </a:p>
          <a:p>
            <a:pPr algn="ctr">
              <a:buNone/>
            </a:pPr>
            <a:r>
              <a:rPr lang="en-US" sz="520" b="0" i="1" dirty="0">
                <a:solidFill>
                  <a:srgbClr val="93C5FD"/>
                </a:solidFill>
              </a:rPr>
              <a:t>AI agent</a:t>
            </a:r>
          </a:p>
        </p:txBody>
      </p:sp>
      <p:sp>
        <p:nvSpPr>
          <p:cNvPr id="120" name="SN20"/>
          <p:cNvSpPr>
            <a:spLocks noGrp="1"/>
          </p:cNvSpPr>
          <p:nvPr/>
        </p:nvSpPr>
        <p:spPr>
          <a:xfrm>
            <a:off x="4160520" y="1159888"/>
            <a:ext cx="274320" cy="21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580" b="1" dirty="0">
                <a:solidFill>
                  <a:srgbClr val="1E2B5E"/>
                </a:solidFill>
              </a:rPr>
              <a:t>01</a:t>
            </a:r>
          </a:p>
        </p:txBody>
      </p:sp>
      <p:sp>
        <p:nvSpPr>
          <p:cNvPr id="20" name="Step20"/>
          <p:cNvSpPr>
            <a:spLocks noGrp="1"/>
          </p:cNvSpPr>
          <p:nvPr/>
        </p:nvSpPr>
        <p:spPr>
          <a:xfrm>
            <a:off x="3739896" y="1389888"/>
            <a:ext cx="1115568" cy="548640"/>
          </a:xfrm>
          <a:prstGeom prst="roundRect">
            <a:avLst>
              <a:gd name="adj" fmla="val 12000"/>
            </a:avLst>
          </a:prstGeom>
          <a:solidFill>
            <a:srgbClr val="1E2B5E"/>
          </a:solidFill>
          <a:ln>
            <a:noFill/>
          </a:ln>
        </p:spPr>
        <p:txBody>
          <a:bodyPr anchor="t" lIns="45720" rIns="45720" tIns="36000" bIns="18000">
            <a:normAutofit/>
          </a:bodyPr>
          <a:lstStyle/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Reqs parsed</a:t>
            </a:r>
          </a:p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→ Jira tasks made</a:t>
            </a:r>
          </a:p>
          <a:p>
            <a:pPr algn="ctr" spcBef="60000">
              <a:buNone/>
            </a:pPr>
            <a:r>
              <a:rPr lang="en-US" sz="510" b="0" i="1" dirty="0">
                <a:solidFill>
                  <a:srgbClr val="DBEAFE"/>
                </a:solidFill>
              </a:rPr>
              <a:t>Confluence / PRD reader</a:t>
            </a:r>
          </a:p>
        </p:txBody>
      </p:sp>
      <p:sp>
        <p:nvSpPr>
          <p:cNvPr id="123" name="SN23"/>
          <p:cNvSpPr>
            <a:spLocks noGrp="1"/>
          </p:cNvSpPr>
          <p:nvPr/>
        </p:nvSpPr>
        <p:spPr>
          <a:xfrm>
            <a:off x="5174143" y="1745104"/>
            <a:ext cx="274320" cy="21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580" b="1" dirty="0">
                <a:solidFill>
                  <a:srgbClr val="028090"/>
                </a:solidFill>
              </a:rPr>
              <a:t>02</a:t>
            </a:r>
          </a:p>
        </p:txBody>
      </p:sp>
      <p:sp>
        <p:nvSpPr>
          <p:cNvPr id="23" name="Step23"/>
          <p:cNvSpPr>
            <a:spLocks noGrp="1"/>
          </p:cNvSpPr>
          <p:nvPr/>
        </p:nvSpPr>
        <p:spPr>
          <a:xfrm>
            <a:off x="4753519" y="1975104"/>
            <a:ext cx="1115568" cy="54864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</p:spPr>
        <p:txBody>
          <a:bodyPr anchor="t" lIns="45720" rIns="45720" tIns="36000" bIns="18000">
            <a:normAutofit/>
          </a:bodyPr>
          <a:lstStyle/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Jira task</a:t>
            </a:r>
          </a:p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triggers Devin</a:t>
            </a:r>
          </a:p>
          <a:p>
            <a:pPr algn="ctr" spcBef="60000">
              <a:buNone/>
            </a:pPr>
            <a:r>
              <a:rPr lang="en-US" sz="510" b="0" i="1" dirty="0">
                <a:solidFill>
                  <a:srgbClr val="DBEAFE"/>
                </a:solidFill>
              </a:rPr>
              <a:t>Git webhook + Jira API</a:t>
            </a:r>
          </a:p>
        </p:txBody>
      </p:sp>
      <p:sp>
        <p:nvSpPr>
          <p:cNvPr id="126" name="SN26"/>
          <p:cNvSpPr>
            <a:spLocks noGrp="1"/>
          </p:cNvSpPr>
          <p:nvPr/>
        </p:nvSpPr>
        <p:spPr>
          <a:xfrm>
            <a:off x="5174143" y="2915536"/>
            <a:ext cx="274320" cy="21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580" b="1" dirty="0">
                <a:solidFill>
                  <a:srgbClr val="3B4FBF"/>
                </a:solidFill>
              </a:rPr>
              <a:t>03</a:t>
            </a:r>
          </a:p>
        </p:txBody>
      </p:sp>
      <p:sp>
        <p:nvSpPr>
          <p:cNvPr id="26" name="Step26"/>
          <p:cNvSpPr>
            <a:spLocks noGrp="1"/>
          </p:cNvSpPr>
          <p:nvPr/>
        </p:nvSpPr>
        <p:spPr>
          <a:xfrm>
            <a:off x="4753519" y="3145536"/>
            <a:ext cx="1115568" cy="548640"/>
          </a:xfrm>
          <a:prstGeom prst="roundRect">
            <a:avLst>
              <a:gd name="adj" fmla="val 12000"/>
            </a:avLst>
          </a:prstGeom>
          <a:solidFill>
            <a:srgbClr val="3B4FBF"/>
          </a:solidFill>
          <a:ln>
            <a:noFill/>
          </a:ln>
        </p:spPr>
        <p:txBody>
          <a:bodyPr anchor="t" lIns="45720" rIns="45720" tIns="36000" bIns="18000">
            <a:normAutofit/>
          </a:bodyPr>
          <a:lstStyle/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Devin reads</a:t>
            </a:r>
          </a:p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the diff</a:t>
            </a:r>
          </a:p>
          <a:p>
            <a:pPr algn="ctr" spcBef="60000">
              <a:buNone/>
            </a:pPr>
            <a:r>
              <a:rPr lang="en-US" sz="510" b="0" i="1" dirty="0">
                <a:solidFill>
                  <a:srgbClr val="DBEAFE"/>
                </a:solidFill>
              </a:rPr>
              <a:t>Devin's Planner</a:t>
            </a:r>
          </a:p>
        </p:txBody>
      </p:sp>
      <p:sp>
        <p:nvSpPr>
          <p:cNvPr id="129" name="SN29"/>
          <p:cNvSpPr>
            <a:spLocks noGrp="1"/>
          </p:cNvSpPr>
          <p:nvPr/>
        </p:nvSpPr>
        <p:spPr>
          <a:xfrm>
            <a:off x="4160520" y="3500752"/>
            <a:ext cx="274320" cy="21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580" b="1" dirty="0">
                <a:solidFill>
                  <a:srgbClr val="1E2B5E"/>
                </a:solidFill>
              </a:rPr>
              <a:t>04</a:t>
            </a:r>
          </a:p>
        </p:txBody>
      </p:sp>
      <p:sp>
        <p:nvSpPr>
          <p:cNvPr id="29" name="Step29"/>
          <p:cNvSpPr>
            <a:spLocks noGrp="1"/>
          </p:cNvSpPr>
          <p:nvPr/>
        </p:nvSpPr>
        <p:spPr>
          <a:xfrm>
            <a:off x="3739896" y="3730752"/>
            <a:ext cx="1115568" cy="548640"/>
          </a:xfrm>
          <a:prstGeom prst="roundRect">
            <a:avLst>
              <a:gd name="adj" fmla="val 12000"/>
            </a:avLst>
          </a:prstGeom>
          <a:solidFill>
            <a:srgbClr val="1E2B5E"/>
          </a:solidFill>
          <a:ln>
            <a:noFill/>
          </a:ln>
        </p:spPr>
        <p:txBody>
          <a:bodyPr anchor="t" lIns="45720" rIns="45720" tIns="36000" bIns="18000">
            <a:normAutofit/>
          </a:bodyPr>
          <a:lstStyle/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pytest + Jest</a:t>
            </a:r>
          </a:p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suite runs</a:t>
            </a:r>
          </a:p>
          <a:p>
            <a:pPr algn="ctr" spcBef="60000">
              <a:buNone/>
            </a:pPr>
            <a:r>
              <a:rPr lang="en-US" sz="510" b="0" i="1" dirty="0">
                <a:solidFill>
                  <a:srgbClr val="DBEAFE"/>
                </a:solidFill>
              </a:rPr>
              <a:t>Devin's Shell</a:t>
            </a:r>
          </a:p>
        </p:txBody>
      </p:sp>
      <p:sp>
        <p:nvSpPr>
          <p:cNvPr id="132" name="SN32"/>
          <p:cNvSpPr>
            <a:spLocks noGrp="1"/>
          </p:cNvSpPr>
          <p:nvPr/>
        </p:nvSpPr>
        <p:spPr>
          <a:xfrm>
            <a:off x="3146896" y="2915536"/>
            <a:ext cx="274320" cy="21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580" b="1" dirty="0">
                <a:solidFill>
                  <a:srgbClr val="028090"/>
                </a:solidFill>
              </a:rPr>
              <a:t>05</a:t>
            </a:r>
          </a:p>
        </p:txBody>
      </p:sp>
      <p:sp>
        <p:nvSpPr>
          <p:cNvPr id="32" name="Step32"/>
          <p:cNvSpPr>
            <a:spLocks noGrp="1"/>
          </p:cNvSpPr>
          <p:nvPr/>
        </p:nvSpPr>
        <p:spPr>
          <a:xfrm>
            <a:off x="2726272" y="3145536"/>
            <a:ext cx="1115568" cy="54864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</p:spPr>
        <p:txBody>
          <a:bodyPr anchor="t" lIns="45720" rIns="45720" tIns="36000" bIns="18000">
            <a:normAutofit/>
          </a:bodyPr>
          <a:lstStyle/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Failures</a:t>
            </a:r>
          </a:p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traced + diagnosed</a:t>
            </a:r>
          </a:p>
          <a:p>
            <a:pPr algn="ctr" spcBef="60000">
              <a:buNone/>
            </a:pPr>
            <a:r>
              <a:rPr lang="en-US" sz="510" b="0" i="1" dirty="0">
                <a:solidFill>
                  <a:srgbClr val="DBEAFE"/>
                </a:solidFill>
              </a:rPr>
              <a:t>Log + stack analyzer</a:t>
            </a:r>
          </a:p>
        </p:txBody>
      </p:sp>
      <p:sp>
        <p:nvSpPr>
          <p:cNvPr id="135" name="SN35"/>
          <p:cNvSpPr>
            <a:spLocks noGrp="1"/>
          </p:cNvSpPr>
          <p:nvPr/>
        </p:nvSpPr>
        <p:spPr>
          <a:xfrm>
            <a:off x="3146896" y="1745104"/>
            <a:ext cx="274320" cy="21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580" b="1" dirty="0">
                <a:solidFill>
                  <a:srgbClr val="3B4FBF"/>
                </a:solidFill>
              </a:rPr>
              <a:t>06</a:t>
            </a:r>
          </a:p>
        </p:txBody>
      </p:sp>
      <p:sp>
        <p:nvSpPr>
          <p:cNvPr id="35" name="Step35"/>
          <p:cNvSpPr>
            <a:spLocks noGrp="1"/>
          </p:cNvSpPr>
          <p:nvPr/>
        </p:nvSpPr>
        <p:spPr>
          <a:xfrm>
            <a:off x="2726272" y="1975104"/>
            <a:ext cx="1115568" cy="548640"/>
          </a:xfrm>
          <a:prstGeom prst="roundRect">
            <a:avLst>
              <a:gd name="adj" fmla="val 12000"/>
            </a:avLst>
          </a:prstGeom>
          <a:solidFill>
            <a:srgbClr val="3B4FBF"/>
          </a:solidFill>
          <a:ln>
            <a:noFill/>
          </a:ln>
        </p:spPr>
        <p:txBody>
          <a:bodyPr anchor="t" lIns="45720" rIns="45720" tIns="36000" bIns="18000">
            <a:normAutofit/>
          </a:bodyPr>
          <a:lstStyle/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Fix committed</a:t>
            </a:r>
          </a:p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by Devin</a:t>
            </a:r>
          </a:p>
          <a:p>
            <a:pPr algn="ctr" spcBef="60000">
              <a:buNone/>
            </a:pPr>
            <a:r>
              <a:rPr lang="en-US" sz="510" b="0" i="1" dirty="0">
                <a:solidFill>
                  <a:srgbClr val="DBEAFE"/>
                </a:solidFill>
              </a:rPr>
              <a:t>Editor + Auto-commit</a:t>
            </a:r>
          </a:p>
        </p:txBody>
      </p:sp>
      <p:sp>
        <p:nvSpPr>
          <p:cNvPr id="50" name="Arr50"/>
          <p:cNvSpPr>
            <a:spLocks noGrp="1"/>
          </p:cNvSpPr>
          <p:nvPr/>
        </p:nvSpPr>
        <p:spPr>
          <a:xfrm rot="1800000">
            <a:off x="4777740" y="1703697"/>
            <a:ext cx="256032" cy="1554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Arr51"/>
          <p:cNvSpPr>
            <a:spLocks noGrp="1"/>
          </p:cNvSpPr>
          <p:nvPr/>
        </p:nvSpPr>
        <p:spPr>
          <a:xfrm rot="5400000">
            <a:off x="5385816" y="2756916"/>
            <a:ext cx="256032" cy="1554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Arr52"/>
          <p:cNvSpPr>
            <a:spLocks noGrp="1"/>
          </p:cNvSpPr>
          <p:nvPr/>
        </p:nvSpPr>
        <p:spPr>
          <a:xfrm rot="9000000">
            <a:off x="4777740" y="3810134"/>
            <a:ext cx="256032" cy="1554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Arr53"/>
          <p:cNvSpPr>
            <a:spLocks noGrp="1"/>
          </p:cNvSpPr>
          <p:nvPr/>
        </p:nvSpPr>
        <p:spPr>
          <a:xfrm rot="-9000000">
            <a:off x="3561588" y="3810134"/>
            <a:ext cx="256032" cy="1554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Arr54"/>
          <p:cNvSpPr>
            <a:spLocks noGrp="1"/>
          </p:cNvSpPr>
          <p:nvPr/>
        </p:nvSpPr>
        <p:spPr>
          <a:xfrm rot="-5400000">
            <a:off x="2953512" y="2756916"/>
            <a:ext cx="256032" cy="1554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Arr55"/>
          <p:cNvSpPr>
            <a:spLocks noGrp="1"/>
          </p:cNvSpPr>
          <p:nvPr/>
        </p:nvSpPr>
        <p:spPr>
          <a:xfrm rot="-1799999">
            <a:off x="3561588" y="1703697"/>
            <a:ext cx="256032" cy="1554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FB89"/>
          <p:cNvSpPr>
            <a:spLocks noGrp="1"/>
          </p:cNvSpPr>
          <p:nvPr/>
        </p:nvSpPr>
        <p:spPr>
          <a:xfrm>
            <a:off x="3474720" y="914400"/>
            <a:ext cx="1645920" cy="256032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20" b="1" dirty="0">
                <a:solidFill>
                  <a:srgbClr val="FFFFFF"/>
                </a:solidFill>
              </a:rPr>
              <a:t>PRD / Confluence / Slack</a:t>
            </a:r>
          </a:p>
        </p:txBody>
      </p:sp>
      <p:sp>
        <p:nvSpPr>
          <p:cNvPr id="88" name="ReqArrow"/>
          <p:cNvSpPr>
            <a:spLocks noGrp="1"/>
          </p:cNvSpPr>
          <p:nvPr/>
        </p:nvSpPr>
        <p:spPr>
          <a:xfrm rot="5400000">
            <a:off x="4233672" y="1188720"/>
            <a:ext cx="128016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28D9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FB90"/>
          <p:cNvSpPr>
            <a:spLocks noGrp="1"/>
          </p:cNvSpPr>
          <p:nvPr/>
        </p:nvSpPr>
        <p:spPr>
          <a:xfrm>
            <a:off x="3246120" y="4352544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Loop repeats — Jira task closed when green</a:t>
            </a:r>
          </a:p>
        </p:txBody>
      </p:sp>
      <p:sp>
        <p:nvSpPr>
          <p:cNvPr id="200" name="T200"/>
          <p:cNvSpPr>
            <a:spLocks noGrp="1"/>
          </p:cNvSpPr>
          <p:nvPr/>
        </p:nvSpPr>
        <p:spPr>
          <a:xfrm>
            <a:off x="7040880" y="80467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50" b="1" i="0" dirty="0">
                <a:solidFill>
                  <a:srgbClr val="1E2B5E"/>
                </a:solidFill>
              </a:rPr>
              <a:t>Live Jira + Dev Outputs</a:t>
            </a:r>
          </a:p>
        </p:txBody>
      </p:sp>
      <p:sp>
        <p:nvSpPr>
          <p:cNvPr id="201" name="PDiv"/>
          <p:cNvSpPr/>
          <p:nvPr/>
        </p:nvSpPr>
        <p:spPr>
          <a:xfrm>
            <a:off x="7040880" y="1115568"/>
            <a:ext cx="1691640" cy="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10" name="Pill210"/>
          <p:cNvSpPr>
            <a:spLocks noGrp="1"/>
          </p:cNvSpPr>
          <p:nvPr/>
        </p:nvSpPr>
        <p:spPr>
          <a:xfrm>
            <a:off x="7040880" y="1170432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1E2B5E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l">
              <a:buNone/>
            </a:pPr>
            <a:r>
              <a:rPr lang="en-US" sz="590" b="1" dirty="0">
                <a:solidFill>
                  <a:srgbClr val="FFFFFF"/>
                </a:solidFill>
              </a:rPr>
              <a:t>Confluence / PRD</a:t>
            </a:r>
          </a:p>
        </p:txBody>
      </p:sp>
      <p:sp>
        <p:nvSpPr>
          <p:cNvPr id="211" name="Ex210"/>
          <p:cNvSpPr>
            <a:spLocks noGrp="1"/>
          </p:cNvSpPr>
          <p:nvPr/>
        </p:nvSpPr>
        <p:spPr>
          <a:xfrm>
            <a:off x="7040880" y="1444752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575" b="0" i="1" dirty="0">
                <a:solidFill>
                  <a:srgbClr val="475569"/>
                </a:solidFill>
              </a:rPr>
              <a:t>PRD parsed: 3 stories created in AGENT project</a:t>
            </a:r>
          </a:p>
        </p:txBody>
      </p:sp>
      <p:sp>
        <p:nvSpPr>
          <p:cNvPr id="215" name="Pill215"/>
          <p:cNvSpPr>
            <a:spLocks noGrp="1"/>
          </p:cNvSpPr>
          <p:nvPr/>
        </p:nvSpPr>
        <p:spPr>
          <a:xfrm>
            <a:off x="7040880" y="1755648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l">
              <a:buNone/>
            </a:pPr>
            <a:r>
              <a:rPr lang="en-US" sz="590" b="1" dirty="0">
                <a:solidFill>
                  <a:srgbClr val="FFFFFF"/>
                </a:solidFill>
              </a:rPr>
              <a:t>Jira task created</a:t>
            </a:r>
          </a:p>
        </p:txBody>
      </p:sp>
      <p:sp>
        <p:nvSpPr>
          <p:cNvPr id="216" name="Ex215"/>
          <p:cNvSpPr>
            <a:spLocks noGrp="1"/>
          </p:cNvSpPr>
          <p:nvPr/>
        </p:nvSpPr>
        <p:spPr>
          <a:xfrm>
            <a:off x="7040880" y="202996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575" b="0" i="1" dirty="0">
                <a:solidFill>
                  <a:srgbClr val="475569"/>
                </a:solidFill>
              </a:rPr>
              <a:t>AGENT-142: Add SSE streaming to /agents endpoint</a:t>
            </a:r>
          </a:p>
        </p:txBody>
      </p:sp>
      <p:sp>
        <p:nvSpPr>
          <p:cNvPr id="220" name="Pill220"/>
          <p:cNvSpPr>
            <a:spLocks noGrp="1"/>
          </p:cNvSpPr>
          <p:nvPr/>
        </p:nvSpPr>
        <p:spPr>
          <a:xfrm>
            <a:off x="7040880" y="2340864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3B4FBF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l">
              <a:buNone/>
            </a:pPr>
            <a:r>
              <a:rPr lang="en-US" sz="590" b="1" dirty="0">
                <a:solidFill>
                  <a:srgbClr val="FFFFFF"/>
                </a:solidFill>
              </a:rPr>
              <a:t>Devin's Planner</a:t>
            </a:r>
          </a:p>
        </p:txBody>
      </p:sp>
      <p:sp>
        <p:nvSpPr>
          <p:cNvPr id="221" name="Ex220"/>
          <p:cNvSpPr>
            <a:spLocks noGrp="1"/>
          </p:cNvSpPr>
          <p:nvPr/>
        </p:nvSpPr>
        <p:spPr>
          <a:xfrm>
            <a:off x="7040880" y="2615184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575" b="0" i="1" dirty="0">
                <a:solidFill>
                  <a:srgbClr val="475569"/>
                </a:solidFill>
              </a:rPr>
              <a:t>Plan: FastAPI SSE route + React useStream hook + tests</a:t>
            </a:r>
          </a:p>
        </p:txBody>
      </p:sp>
      <p:sp>
        <p:nvSpPr>
          <p:cNvPr id="225" name="Pill225"/>
          <p:cNvSpPr>
            <a:spLocks noGrp="1"/>
          </p:cNvSpPr>
          <p:nvPr/>
        </p:nvSpPr>
        <p:spPr>
          <a:xfrm>
            <a:off x="7040880" y="2926080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1E2B5E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l">
              <a:buNone/>
            </a:pPr>
            <a:r>
              <a:rPr lang="en-US" sz="590" b="1" dirty="0">
                <a:solidFill>
                  <a:srgbClr val="FFFFFF"/>
                </a:solidFill>
              </a:rPr>
              <a:t>pytest + Jest</a:t>
            </a:r>
          </a:p>
        </p:txBody>
      </p:sp>
      <p:sp>
        <p:nvSpPr>
          <p:cNvPr id="226" name="Ex225"/>
          <p:cNvSpPr>
            <a:spLocks noGrp="1"/>
          </p:cNvSpPr>
          <p:nvPr/>
        </p:nvSpPr>
        <p:spPr>
          <a:xfrm>
            <a:off x="7040880" y="3200400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575" b="0" i="1" dirty="0">
                <a:solidFill>
                  <a:srgbClr val="475569"/>
                </a:solidFill>
              </a:rPr>
              <a:t>47 passed, 2 failed — SSE headers missing in response</a:t>
            </a:r>
          </a:p>
        </p:txBody>
      </p:sp>
      <p:sp>
        <p:nvSpPr>
          <p:cNvPr id="230" name="Pill230"/>
          <p:cNvSpPr>
            <a:spLocks noGrp="1"/>
          </p:cNvSpPr>
          <p:nvPr/>
        </p:nvSpPr>
        <p:spPr>
          <a:xfrm>
            <a:off x="7040880" y="3511296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l">
              <a:buNone/>
            </a:pPr>
            <a:r>
              <a:rPr lang="en-US" sz="590" b="1" dirty="0">
                <a:solidFill>
                  <a:srgbClr val="FFFFFF"/>
                </a:solidFill>
              </a:rPr>
              <a:t>Log Analyzer</a:t>
            </a:r>
          </a:p>
        </p:txBody>
      </p:sp>
      <p:sp>
        <p:nvSpPr>
          <p:cNvPr id="231" name="Ex230"/>
          <p:cNvSpPr>
            <a:spLocks noGrp="1"/>
          </p:cNvSpPr>
          <p:nvPr/>
        </p:nvSpPr>
        <p:spPr>
          <a:xfrm>
            <a:off x="7040880" y="3785616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575" b="0" i="1" dirty="0">
                <a:solidFill>
                  <a:srgbClr val="475569"/>
                </a:solidFill>
              </a:rPr>
              <a:t>AssertionError: Content-Type must be text/event-stream</a:t>
            </a:r>
          </a:p>
        </p:txBody>
      </p:sp>
      <p:sp>
        <p:nvSpPr>
          <p:cNvPr id="235" name="Pill235"/>
          <p:cNvSpPr>
            <a:spLocks noGrp="1"/>
          </p:cNvSpPr>
          <p:nvPr/>
        </p:nvSpPr>
        <p:spPr>
          <a:xfrm>
            <a:off x="7040880" y="4096512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3B4FBF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l">
              <a:buNone/>
            </a:pPr>
            <a:r>
              <a:rPr lang="en-US" sz="590" b="1" dirty="0">
                <a:solidFill>
                  <a:srgbClr val="FFFFFF"/>
                </a:solidFill>
              </a:rPr>
              <a:t>Auto-commit</a:t>
            </a:r>
          </a:p>
        </p:txBody>
      </p:sp>
      <p:sp>
        <p:nvSpPr>
          <p:cNvPr id="236" name="Ex235"/>
          <p:cNvSpPr>
            <a:spLocks noGrp="1"/>
          </p:cNvSpPr>
          <p:nvPr/>
        </p:nvSpPr>
        <p:spPr>
          <a:xfrm>
            <a:off x="7040880" y="4370832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575" b="0" i="1" dirty="0">
                <a:solidFill>
                  <a:srgbClr val="475569"/>
                </a:solidFill>
              </a:rPr>
              <a:t>fix(api): SSE headers — AGENT-142 closed automatically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 - Implement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P3"/>
          <p:cNvSpPr>
            <a:spLocks noGrp="1"/>
          </p:cNvSpPr>
          <p:nvPr/>
        </p:nvSpPr>
        <p:spPr>
          <a:xfrm>
            <a:off x="411480" y="2011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USE CASE 05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1463040" y="164592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1800" b="1" i="0" dirty="0">
                <a:solidFill>
                  <a:srgbClr val="1E2B5E"/>
                </a:solidFill>
              </a:rPr>
              <a:t>Requirements → Jira → Devin → PR: Full Setup Guide</a:t>
            </a:r>
          </a:p>
        </p:txBody>
      </p:sp>
      <p:sp>
        <p:nvSpPr>
          <p:cNvPr id="5" name="P5"/>
          <p:cNvSpPr>
            <a:spLocks noGrp="1"/>
          </p:cNvSpPr>
          <p:nvPr/>
        </p:nvSpPr>
        <p:spPr>
          <a:xfrm>
            <a:off x="1463040" y="566928"/>
            <a:ext cx="1261872" cy="20116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Jira + Confluence</a:t>
            </a:r>
          </a:p>
        </p:txBody>
      </p:sp>
      <p:sp>
        <p:nvSpPr>
          <p:cNvPr id="6" name="P6"/>
          <p:cNvSpPr>
            <a:spLocks noGrp="1"/>
          </p:cNvSpPr>
          <p:nvPr/>
        </p:nvSpPr>
        <p:spPr>
          <a:xfrm>
            <a:off x="2788920" y="566928"/>
            <a:ext cx="1261872" cy="201168"/>
          </a:xfrm>
          <a:prstGeom prst="roundRect">
            <a:avLst>
              <a:gd name="adj" fmla="val 50000"/>
            </a:avLst>
          </a:prstGeom>
          <a:solidFill>
            <a:srgbClr val="3B4FBF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FastAPI / React</a:t>
            </a:r>
          </a:p>
        </p:txBody>
      </p:sp>
      <p:sp>
        <p:nvSpPr>
          <p:cNvPr id="7" name="P7"/>
          <p:cNvSpPr>
            <a:spLocks noGrp="1"/>
          </p:cNvSpPr>
          <p:nvPr/>
        </p:nvSpPr>
        <p:spPr>
          <a:xfrm>
            <a:off x="4114800" y="566928"/>
            <a:ext cx="1261872" cy="20116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pytest + Jest</a:t>
            </a:r>
          </a:p>
        </p:txBody>
      </p:sp>
      <p:sp>
        <p:nvSpPr>
          <p:cNvPr id="8" name="Sep"/>
          <p:cNvSpPr/>
          <p:nvPr/>
        </p:nvSpPr>
        <p:spPr>
          <a:xfrm>
            <a:off x="411480" y="822960"/>
            <a:ext cx="8321040" cy="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0" name="P10"/>
          <p:cNvSpPr>
            <a:spLocks noGrp="1"/>
          </p:cNvSpPr>
          <p:nvPr/>
        </p:nvSpPr>
        <p:spPr>
          <a:xfrm>
            <a:off x="365760" y="886968"/>
            <a:ext cx="329184" cy="329184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11"/>
          <p:cNvSpPr>
            <a:spLocks noGrp="1"/>
          </p:cNvSpPr>
          <p:nvPr/>
        </p:nvSpPr>
        <p:spPr>
          <a:xfrm>
            <a:off x="804672" y="886968"/>
            <a:ext cx="4608576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10" b="1" i="0" dirty="0">
                <a:solidFill>
                  <a:srgbClr val="1E2B5E"/>
                </a:solidFill>
              </a:rPr>
              <a:t>Point Devin at your requirements source</a:t>
            </a:r>
          </a:p>
        </p:txBody>
      </p:sp>
      <p:sp>
        <p:nvSpPr>
          <p:cNvPr id="12" name="T12"/>
          <p:cNvSpPr>
            <a:spLocks noGrp="1"/>
          </p:cNvSpPr>
          <p:nvPr/>
        </p:nvSpPr>
        <p:spPr>
          <a:xfrm>
            <a:off x="804672" y="1161288"/>
            <a:ext cx="4608576" cy="21945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70" b="0" i="0" dirty="0">
                <a:solidFill>
                  <a:srgbClr val="475569"/>
                </a:solidFill>
              </a:rPr>
              <a:t>Connect Confluence, Notion, or a Google Doc that holds the PRD. Devin reads it and breaks features into Jira stories automatically.</a:t>
            </a:r>
          </a:p>
        </p:txBody>
      </p:sp>
      <p:sp>
        <p:nvSpPr>
          <p:cNvPr id="13" name="Code13"/>
          <p:cNvSpPr>
            <a:spLocks noGrp="1"/>
          </p:cNvSpPr>
          <p:nvPr/>
        </p:nvSpPr>
        <p:spPr>
          <a:xfrm>
            <a:off x="804672" y="1399032"/>
            <a:ext cx="4608576" cy="24688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anchor="ctr" lIns="114300" rIns="91440" tIns="45720" bIns="45720">
            <a:normAutofit/>
          </a:bodyPr>
          <a:lstStyle/>
          <a:p>
            <a:pPr algn="l">
              <a:buNone/>
            </a:pPr>
            <a:r>
              <a:rPr lang="en-US" sz="560" b="0" dirty="0">
                <a:solidFill>
                  <a:srgbClr val="C4B5FD"/>
                </a:solidFill>
              </a:rPr>
              <a:t>Source: Confluence space AGENT / page: PRD-v2</a:t>
            </a:r>
          </a:p>
          <a:p>
            <a:pPr algn="l">
              <a:buNone/>
            </a:pPr>
            <a:r>
              <a:rPr lang="en-US" sz="560" b="0" dirty="0">
                <a:solidFill>
                  <a:srgbClr val="94A3B8"/>
                </a:solidFill>
              </a:rPr>
              <a:t>Jira project: AGENT  |  Issue type: Story + Sub-task</a:t>
            </a:r>
          </a:p>
        </p:txBody>
      </p:sp>
      <p:sp>
        <p:nvSpPr>
          <p:cNvPr id="20" name="P20"/>
          <p:cNvSpPr>
            <a:spLocks noGrp="1"/>
          </p:cNvSpPr>
          <p:nvPr/>
        </p:nvSpPr>
        <p:spPr>
          <a:xfrm>
            <a:off x="365760" y="1636776"/>
            <a:ext cx="329184" cy="329184"/>
          </a:xfrm>
          <a:prstGeom prst="roundRect">
            <a:avLst>
              <a:gd name="adj" fmla="val 0"/>
            </a:avLst>
          </a:prstGeom>
          <a:solidFill>
            <a:srgbClr val="1E2B5E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21"/>
          <p:cNvSpPr>
            <a:spLocks noGrp="1"/>
          </p:cNvSpPr>
          <p:nvPr/>
        </p:nvSpPr>
        <p:spPr>
          <a:xfrm>
            <a:off x="804672" y="1636776"/>
            <a:ext cx="4608576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10" b="1" i="0" dirty="0">
                <a:solidFill>
                  <a:srgbClr val="1E2B5E"/>
                </a:solidFill>
              </a:rPr>
              <a:t>Devin parses requirements → creates Jira tasks</a:t>
            </a:r>
          </a:p>
        </p:txBody>
      </p:sp>
      <p:sp>
        <p:nvSpPr>
          <p:cNvPr id="22" name="T22"/>
          <p:cNvSpPr>
            <a:spLocks noGrp="1"/>
          </p:cNvSpPr>
          <p:nvPr/>
        </p:nvSpPr>
        <p:spPr>
          <a:xfrm>
            <a:off x="804672" y="1911096"/>
            <a:ext cx="4608576" cy="21945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70" b="0" i="0" dirty="0">
                <a:solidFill>
                  <a:srgbClr val="475569"/>
                </a:solidFill>
              </a:rPr>
              <a:t>Devin reads each feature, writes an acceptance criterion, and opens a Jira story. Sub-tasks are split by layer: API, React, and tests.</a:t>
            </a:r>
          </a:p>
        </p:txBody>
      </p:sp>
      <p:sp>
        <p:nvSpPr>
          <p:cNvPr id="23" name="Code23"/>
          <p:cNvSpPr>
            <a:spLocks noGrp="1"/>
          </p:cNvSpPr>
          <p:nvPr/>
        </p:nvSpPr>
        <p:spPr>
          <a:xfrm>
            <a:off x="804672" y="2148840"/>
            <a:ext cx="4608576" cy="24688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anchor="ctr" lIns="114300" rIns="91440" tIns="45720" bIns="45720">
            <a:normAutofit/>
          </a:bodyPr>
          <a:lstStyle/>
          <a:p>
            <a:pPr algn="l">
              <a:buNone/>
            </a:pPr>
            <a:r>
              <a:rPr lang="en-US" sz="560" b="0" dirty="0">
                <a:solidFill>
                  <a:srgbClr val="A5F3FC"/>
                </a:solidFill>
              </a:rPr>
              <a:t>AGENT-142  Add SSE streaming to /agents endpoint</a:t>
            </a:r>
          </a:p>
          <a:p>
            <a:pPr algn="l">
              <a:buNone/>
            </a:pPr>
            <a:r>
              <a:rPr lang="en-US" sz="560" b="0" dirty="0">
                <a:solidFill>
                  <a:srgbClr val="94A3B8"/>
                </a:solidFill>
              </a:rPr>
              <a:t>  └ AGENT-143 FastAPI route  |  AGENT-144 React hook</a:t>
            </a:r>
          </a:p>
        </p:txBody>
      </p:sp>
      <p:sp>
        <p:nvSpPr>
          <p:cNvPr id="30" name="P30"/>
          <p:cNvSpPr>
            <a:spLocks noGrp="1"/>
          </p:cNvSpPr>
          <p:nvPr/>
        </p:nvSpPr>
        <p:spPr>
          <a:xfrm>
            <a:off x="365760" y="2386584"/>
            <a:ext cx="329184" cy="329184"/>
          </a:xfrm>
          <a:prstGeom prst="roundRect">
            <a:avLst>
              <a:gd name="adj" fmla="val 0"/>
            </a:avLst>
          </a:prstGeom>
          <a:solidFill>
            <a:srgbClr val="028090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31"/>
          <p:cNvSpPr>
            <a:spLocks noGrp="1"/>
          </p:cNvSpPr>
          <p:nvPr/>
        </p:nvSpPr>
        <p:spPr>
          <a:xfrm>
            <a:off x="804672" y="2386584"/>
            <a:ext cx="4608576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10" b="1" i="0" dirty="0">
                <a:solidFill>
                  <a:srgbClr val="1E2B5E"/>
                </a:solidFill>
              </a:rPr>
              <a:t>Connect the repo and configure the test prompt</a:t>
            </a:r>
          </a:p>
        </p:txBody>
      </p:sp>
      <p:sp>
        <p:nvSpPr>
          <p:cNvPr id="32" name="T32"/>
          <p:cNvSpPr>
            <a:spLocks noGrp="1"/>
          </p:cNvSpPr>
          <p:nvPr/>
        </p:nvSpPr>
        <p:spPr>
          <a:xfrm>
            <a:off x="804672" y="2660904"/>
            <a:ext cx="4608576" cy="21945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70" b="0" i="0" dirty="0">
                <a:solidFill>
                  <a:srgbClr val="475569"/>
                </a:solidFill>
              </a:rPr>
              <a:t>Authorize Devin on GitHub. Write the task prompt specifying both test suites — Devin runs them in sequence every cycle.</a:t>
            </a:r>
          </a:p>
        </p:txBody>
      </p:sp>
      <p:sp>
        <p:nvSpPr>
          <p:cNvPr id="33" name="Code33"/>
          <p:cNvSpPr>
            <a:spLocks noGrp="1"/>
          </p:cNvSpPr>
          <p:nvPr/>
        </p:nvSpPr>
        <p:spPr>
          <a:xfrm>
            <a:off x="804672" y="2898648"/>
            <a:ext cx="4608576" cy="24688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anchor="ctr" lIns="114300" rIns="91440" tIns="45720" bIns="45720">
            <a:normAutofit/>
          </a:bodyPr>
          <a:lstStyle/>
          <a:p>
            <a:pPr algn="l">
              <a:buNone/>
            </a:pPr>
            <a:r>
              <a:rPr lang="en-US" sz="560" b="0" dirty="0">
                <a:solidFill>
                  <a:srgbClr val="A5F3FC"/>
                </a:solidFill>
              </a:rPr>
              <a:t>cd api &amp;&amp; pytest tests/ -v --tb=short</a:t>
            </a:r>
          </a:p>
          <a:p>
            <a:pPr algn="l">
              <a:buNone/>
            </a:pPr>
            <a:r>
              <a:rPr lang="en-US" sz="560" b="0" dirty="0">
                <a:solidFill>
                  <a:srgbClr val="86EFAC"/>
                </a:solidFill>
              </a:rPr>
              <a:t>cd frontend &amp;&amp; npm test -- --watchAll=false</a:t>
            </a:r>
          </a:p>
        </p:txBody>
      </p:sp>
      <p:sp>
        <p:nvSpPr>
          <p:cNvPr id="40" name="P40"/>
          <p:cNvSpPr>
            <a:spLocks noGrp="1"/>
          </p:cNvSpPr>
          <p:nvPr/>
        </p:nvSpPr>
        <p:spPr>
          <a:xfrm>
            <a:off x="365760" y="3136392"/>
            <a:ext cx="329184" cy="329184"/>
          </a:xfrm>
          <a:prstGeom prst="roundRect">
            <a:avLst>
              <a:gd name="adj" fmla="val 0"/>
            </a:avLst>
          </a:prstGeom>
          <a:solidFill>
            <a:srgbClr val="3B4FBF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T41"/>
          <p:cNvSpPr>
            <a:spLocks noGrp="1"/>
          </p:cNvSpPr>
          <p:nvPr/>
        </p:nvSpPr>
        <p:spPr>
          <a:xfrm>
            <a:off x="804672" y="3136392"/>
            <a:ext cx="4608576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10" b="1" i="0" dirty="0">
                <a:solidFill>
                  <a:srgbClr val="1E2B5E"/>
                </a:solidFill>
              </a:rPr>
              <a:t>Set Jira webhook: task moves to In Progress → Devin starts</a:t>
            </a:r>
          </a:p>
        </p:txBody>
      </p:sp>
      <p:sp>
        <p:nvSpPr>
          <p:cNvPr id="42" name="T42"/>
          <p:cNvSpPr>
            <a:spLocks noGrp="1"/>
          </p:cNvSpPr>
          <p:nvPr/>
        </p:nvSpPr>
        <p:spPr>
          <a:xfrm>
            <a:off x="804672" y="3410712"/>
            <a:ext cx="4608576" cy="21945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70" b="0" i="0" dirty="0">
                <a:solidFill>
                  <a:srgbClr val="475569"/>
                </a:solidFill>
              </a:rPr>
              <a:t>Configure a Jira automation rule so Devin sessions fire the moment a ticket hits 'In Progress' — no manual trigger needed.</a:t>
            </a:r>
          </a:p>
        </p:txBody>
      </p:sp>
      <p:sp>
        <p:nvSpPr>
          <p:cNvPr id="43" name="Code43"/>
          <p:cNvSpPr>
            <a:spLocks noGrp="1"/>
          </p:cNvSpPr>
          <p:nvPr/>
        </p:nvSpPr>
        <p:spPr>
          <a:xfrm>
            <a:off x="804672" y="3648456"/>
            <a:ext cx="4608576" cy="24688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anchor="ctr" lIns="114300" rIns="91440" tIns="45720" bIns="45720">
            <a:normAutofit/>
          </a:bodyPr>
          <a:lstStyle/>
          <a:p>
            <a:pPr algn="l">
              <a:buNone/>
            </a:pPr>
            <a:r>
              <a:rPr lang="en-US" sz="560" b="0" dirty="0">
                <a:solidFill>
                  <a:srgbClr val="A5F3FC"/>
                </a:solidFill>
              </a:rPr>
              <a:t>Trigger: issue status = In Progress (assignee: Devin)</a:t>
            </a:r>
          </a:p>
          <a:p>
            <a:pPr algn="l">
              <a:buNone/>
            </a:pPr>
            <a:r>
              <a:rPr lang="en-US" sz="560" b="0" dirty="0">
                <a:solidFill>
                  <a:srgbClr val="94A3B8"/>
                </a:solidFill>
              </a:rPr>
              <a:t>Action: POST app.devin.ai/webhooks/{proj-id}/jira</a:t>
            </a:r>
          </a:p>
        </p:txBody>
      </p:sp>
      <p:sp>
        <p:nvSpPr>
          <p:cNvPr id="50" name="P50"/>
          <p:cNvSpPr>
            <a:spLocks noGrp="1"/>
          </p:cNvSpPr>
          <p:nvPr/>
        </p:nvSpPr>
        <p:spPr>
          <a:xfrm>
            <a:off x="365760" y="3886200"/>
            <a:ext cx="329184" cy="329184"/>
          </a:xfrm>
          <a:prstGeom prst="roundRect">
            <a:avLst>
              <a:gd name="adj" fmla="val 0"/>
            </a:avLst>
          </a:prstGeom>
          <a:solidFill>
            <a:srgbClr val="1E2B5E"/>
          </a:solidFill>
          <a:ln>
            <a:noFill/>
          </a:ln>
        </p:spPr>
        <p:txBody>
          <a:bodyPr anchor="ctr" lIns="91440" rIns="91440">
            <a:norm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T51"/>
          <p:cNvSpPr>
            <a:spLocks noGrp="1"/>
          </p:cNvSpPr>
          <p:nvPr/>
        </p:nvSpPr>
        <p:spPr>
          <a:xfrm>
            <a:off x="804672" y="3886200"/>
            <a:ext cx="4608576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10" b="1" i="0" dirty="0">
                <a:solidFill>
                  <a:srgbClr val="1E2B5E"/>
                </a:solidFill>
              </a:rPr>
              <a:t>Devin delivers a PR, closes the Jira task</a:t>
            </a:r>
          </a:p>
        </p:txBody>
      </p:sp>
      <p:sp>
        <p:nvSpPr>
          <p:cNvPr id="52" name="T52"/>
          <p:cNvSpPr>
            <a:spLocks noGrp="1"/>
          </p:cNvSpPr>
          <p:nvPr/>
        </p:nvSpPr>
        <p:spPr>
          <a:xfrm>
            <a:off x="804672" y="4160520"/>
            <a:ext cx="4608576" cy="219456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70" b="0" i="0" dirty="0">
                <a:solidFill>
                  <a:srgbClr val="475569"/>
                </a:solidFill>
              </a:rPr>
              <a:t>When all tests pass, Devin raises a PR referencing the Jira ticket and transitions it to Done. Your team reviews and merges.</a:t>
            </a:r>
          </a:p>
        </p:txBody>
      </p:sp>
      <p:sp>
        <p:nvSpPr>
          <p:cNvPr id="53" name="Code53"/>
          <p:cNvSpPr>
            <a:spLocks noGrp="1"/>
          </p:cNvSpPr>
          <p:nvPr/>
        </p:nvSpPr>
        <p:spPr>
          <a:xfrm>
            <a:off x="804672" y="4398264"/>
            <a:ext cx="4608576" cy="24688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anchor="ctr" lIns="114300" rIns="91440" tIns="45720" bIns="45720">
            <a:normAutofit/>
          </a:bodyPr>
          <a:lstStyle/>
          <a:p>
            <a:pPr algn="l">
              <a:buNone/>
            </a:pPr>
            <a:r>
              <a:rPr lang="en-US" sz="560" b="0" dirty="0">
                <a:solidFill>
                  <a:srgbClr val="A5F3FC"/>
                </a:solidFill>
              </a:rPr>
              <a:t>fix(api): SSE headers  Closes AGENT-143  47/47 pass</a:t>
            </a:r>
          </a:p>
          <a:p>
            <a:pPr algn="l">
              <a:buNone/>
            </a:pPr>
            <a:r>
              <a:rPr lang="en-US" sz="560" b="0" dirty="0">
                <a:solidFill>
                  <a:srgbClr val="86EFAC"/>
                </a:solidFill>
              </a:rPr>
              <a:t>Jira: AGENT-143 → Done  |  AGENT-144 → In Progress</a:t>
            </a:r>
          </a:p>
        </p:txBody>
      </p:sp>
      <p:sp>
        <p:nvSpPr>
          <p:cNvPr id="200" name="R200"/>
          <p:cNvSpPr>
            <a:spLocks noGrp="1"/>
          </p:cNvSpPr>
          <p:nvPr/>
        </p:nvSpPr>
        <p:spPr>
          <a:xfrm>
            <a:off x="5623560" y="886968"/>
            <a:ext cx="3218688" cy="1792224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txBody>
          <a:bodyPr/>
          <a:lstStyle/>
          <a:p/>
        </p:txBody>
      </p:sp>
      <p:sp>
        <p:nvSpPr>
          <p:cNvPr id="201" name="T201"/>
          <p:cNvSpPr>
            <a:spLocks noGrp="1"/>
          </p:cNvSpPr>
          <p:nvPr/>
        </p:nvSpPr>
        <p:spPr>
          <a:xfrm>
            <a:off x="5788152" y="996696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780" b="1" i="0" dirty="0">
                <a:solidFill>
                  <a:srgbClr val="16A34A"/>
                </a:solidFill>
              </a:rPr>
              <a:t>What Devin handles automatically</a:t>
            </a:r>
          </a:p>
        </p:txBody>
      </p:sp>
      <p:sp>
        <p:nvSpPr>
          <p:cNvPr id="205" name="D205"/>
          <p:cNvSpPr>
            <a:spLocks noGrp="1"/>
          </p:cNvSpPr>
          <p:nvPr/>
        </p:nvSpPr>
        <p:spPr>
          <a:xfrm>
            <a:off x="5788152" y="1353312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BT205"/>
          <p:cNvSpPr>
            <a:spLocks noGrp="1"/>
          </p:cNvSpPr>
          <p:nvPr/>
        </p:nvSpPr>
        <p:spPr>
          <a:xfrm>
            <a:off x="5916168" y="1307592"/>
            <a:ext cx="2871216" cy="24688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dirty="0">
                <a:solidFill>
                  <a:srgbClr val="15803D"/>
                </a:solidFill>
              </a:rPr>
              <a:t>Reads PRD and writes acceptance criteria per feature</a:t>
            </a:r>
          </a:p>
        </p:txBody>
      </p:sp>
      <p:sp>
        <p:nvSpPr>
          <p:cNvPr id="208" name="D208"/>
          <p:cNvSpPr>
            <a:spLocks noGrp="1"/>
          </p:cNvSpPr>
          <p:nvPr/>
        </p:nvSpPr>
        <p:spPr>
          <a:xfrm>
            <a:off x="5788152" y="1618488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BT208"/>
          <p:cNvSpPr>
            <a:spLocks noGrp="1"/>
          </p:cNvSpPr>
          <p:nvPr/>
        </p:nvSpPr>
        <p:spPr>
          <a:xfrm>
            <a:off x="5916168" y="1572768"/>
            <a:ext cx="2871216" cy="24688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dirty="0">
                <a:solidFill>
                  <a:srgbClr val="15803D"/>
                </a:solidFill>
              </a:rPr>
              <a:t>Creates Jira stories + sub-tasks (API layer / UI layer)</a:t>
            </a:r>
          </a:p>
        </p:txBody>
      </p:sp>
      <p:sp>
        <p:nvSpPr>
          <p:cNvPr id="211" name="D211"/>
          <p:cNvSpPr>
            <a:spLocks noGrp="1"/>
          </p:cNvSpPr>
          <p:nvPr/>
        </p:nvSpPr>
        <p:spPr>
          <a:xfrm>
            <a:off x="5788152" y="1883664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BT211"/>
          <p:cNvSpPr>
            <a:spLocks noGrp="1"/>
          </p:cNvSpPr>
          <p:nvPr/>
        </p:nvSpPr>
        <p:spPr>
          <a:xfrm>
            <a:off x="5916168" y="1837944"/>
            <a:ext cx="2871216" cy="24688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dirty="0">
                <a:solidFill>
                  <a:srgbClr val="15803D"/>
                </a:solidFill>
              </a:rPr>
              <a:t>Picks up the ticket, clones repo, installs pip + npm deps</a:t>
            </a:r>
          </a:p>
        </p:txBody>
      </p:sp>
      <p:sp>
        <p:nvSpPr>
          <p:cNvPr id="214" name="D214"/>
          <p:cNvSpPr>
            <a:spLocks noGrp="1"/>
          </p:cNvSpPr>
          <p:nvPr/>
        </p:nvSpPr>
        <p:spPr>
          <a:xfrm>
            <a:off x="5788152" y="2148840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BT214"/>
          <p:cNvSpPr>
            <a:spLocks noGrp="1"/>
          </p:cNvSpPr>
          <p:nvPr/>
        </p:nvSpPr>
        <p:spPr>
          <a:xfrm>
            <a:off x="5916168" y="2103120"/>
            <a:ext cx="2871216" cy="24688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dirty="0">
                <a:solidFill>
                  <a:srgbClr val="15803D"/>
                </a:solidFill>
              </a:rPr>
              <a:t>Runs pytest + Jest, reads every failure trace in full</a:t>
            </a:r>
          </a:p>
        </p:txBody>
      </p:sp>
      <p:sp>
        <p:nvSpPr>
          <p:cNvPr id="217" name="D217"/>
          <p:cNvSpPr>
            <a:spLocks noGrp="1"/>
          </p:cNvSpPr>
          <p:nvPr/>
        </p:nvSpPr>
        <p:spPr>
          <a:xfrm>
            <a:off x="5788152" y="2414016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BT217"/>
          <p:cNvSpPr>
            <a:spLocks noGrp="1"/>
          </p:cNvSpPr>
          <p:nvPr/>
        </p:nvSpPr>
        <p:spPr>
          <a:xfrm>
            <a:off x="5916168" y="2368296"/>
            <a:ext cx="2871216" cy="24688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dirty="0">
                <a:solidFill>
                  <a:srgbClr val="15803D"/>
                </a:solidFill>
              </a:rPr>
              <a:t>Commits fix, closes Jira ticket, moves next task In Progress</a:t>
            </a:r>
          </a:p>
        </p:txBody>
      </p:sp>
      <p:sp>
        <p:nvSpPr>
          <p:cNvPr id="220" name="R220"/>
          <p:cNvSpPr>
            <a:spLocks noGrp="1"/>
          </p:cNvSpPr>
          <p:nvPr/>
        </p:nvSpPr>
        <p:spPr>
          <a:xfrm>
            <a:off x="5623560" y="2798064"/>
            <a:ext cx="3218688" cy="1719072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FDB97D"/>
            </a:solidFill>
          </a:ln>
        </p:spPr>
        <p:txBody>
          <a:bodyPr/>
          <a:lstStyle/>
          <a:p/>
        </p:txBody>
      </p:sp>
      <p:sp>
        <p:nvSpPr>
          <p:cNvPr id="221" name="T221"/>
          <p:cNvSpPr>
            <a:spLocks noGrp="1"/>
          </p:cNvSpPr>
          <p:nvPr/>
        </p:nvSpPr>
        <p:spPr>
          <a:xfrm>
            <a:off x="5788152" y="2907792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780" b="1" i="0" dirty="0">
                <a:solidFill>
                  <a:srgbClr val="C2410C"/>
                </a:solidFill>
              </a:rPr>
              <a:t>Guardrails to set before you start</a:t>
            </a:r>
          </a:p>
        </p:txBody>
      </p:sp>
      <p:sp>
        <p:nvSpPr>
          <p:cNvPr id="225" name="D225"/>
          <p:cNvSpPr>
            <a:spLocks noGrp="1"/>
          </p:cNvSpPr>
          <p:nvPr/>
        </p:nvSpPr>
        <p:spPr>
          <a:xfrm>
            <a:off x="5788152" y="3264408"/>
            <a:ext cx="82296" cy="8229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BT225"/>
          <p:cNvSpPr>
            <a:spLocks noGrp="1"/>
          </p:cNvSpPr>
          <p:nvPr/>
        </p:nvSpPr>
        <p:spPr>
          <a:xfrm>
            <a:off x="5916168" y="3218688"/>
            <a:ext cx="2871216" cy="228600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dirty="0">
                <a:solidFill>
                  <a:srgbClr val="9A3412"/>
                </a:solidFill>
              </a:rPr>
              <a:t>Review Jira tasks Devin creates before marking In Progress</a:t>
            </a:r>
          </a:p>
        </p:txBody>
      </p:sp>
      <p:sp>
        <p:nvSpPr>
          <p:cNvPr id="228" name="D228"/>
          <p:cNvSpPr>
            <a:spLocks noGrp="1"/>
          </p:cNvSpPr>
          <p:nvPr/>
        </p:nvSpPr>
        <p:spPr>
          <a:xfrm>
            <a:off x="5788152" y="3511296"/>
            <a:ext cx="82296" cy="8229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BT228"/>
          <p:cNvSpPr>
            <a:spLocks noGrp="1"/>
          </p:cNvSpPr>
          <p:nvPr/>
        </p:nvSpPr>
        <p:spPr>
          <a:xfrm>
            <a:off x="5916168" y="3465576"/>
            <a:ext cx="2871216" cy="228600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dirty="0">
                <a:solidFill>
                  <a:srgbClr val="9A3412"/>
                </a:solidFill>
              </a:rPr>
              <a:t>Devin writes to devin/AGENT-{id} branch — never main</a:t>
            </a:r>
          </a:p>
        </p:txBody>
      </p:sp>
      <p:sp>
        <p:nvSpPr>
          <p:cNvPr id="231" name="D231"/>
          <p:cNvSpPr>
            <a:spLocks noGrp="1"/>
          </p:cNvSpPr>
          <p:nvPr/>
        </p:nvSpPr>
        <p:spPr>
          <a:xfrm>
            <a:off x="5788152" y="3758184"/>
            <a:ext cx="82296" cy="8229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BT231"/>
          <p:cNvSpPr>
            <a:spLocks noGrp="1"/>
          </p:cNvSpPr>
          <p:nvPr/>
        </p:nvSpPr>
        <p:spPr>
          <a:xfrm>
            <a:off x="5916168" y="3712464"/>
            <a:ext cx="2871216" cy="228600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dirty="0">
                <a:solidFill>
                  <a:srgbClr val="9A3412"/>
                </a:solidFill>
              </a:rPr>
              <a:t>Scope each task to one layer: API or UI, not both at once</a:t>
            </a:r>
          </a:p>
        </p:txBody>
      </p:sp>
      <p:sp>
        <p:nvSpPr>
          <p:cNvPr id="234" name="D234"/>
          <p:cNvSpPr>
            <a:spLocks noGrp="1"/>
          </p:cNvSpPr>
          <p:nvPr/>
        </p:nvSpPr>
        <p:spPr>
          <a:xfrm>
            <a:off x="5788152" y="4005072"/>
            <a:ext cx="82296" cy="8229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BT234"/>
          <p:cNvSpPr>
            <a:spLocks noGrp="1"/>
          </p:cNvSpPr>
          <p:nvPr/>
        </p:nvSpPr>
        <p:spPr>
          <a:xfrm>
            <a:off x="5916168" y="3959352"/>
            <a:ext cx="2871216" cy="228600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dirty="0">
                <a:solidFill>
                  <a:srgbClr val="9A3412"/>
                </a:solidFill>
              </a:rPr>
              <a:t>Set 5-retry cap — on fail, Devin adds comment to Jira task</a:t>
            </a:r>
          </a:p>
        </p:txBody>
      </p:sp>
      <p:sp>
        <p:nvSpPr>
          <p:cNvPr id="237" name="D237"/>
          <p:cNvSpPr>
            <a:spLocks noGrp="1"/>
          </p:cNvSpPr>
          <p:nvPr/>
        </p:nvSpPr>
        <p:spPr>
          <a:xfrm>
            <a:off x="5788152" y="4251960"/>
            <a:ext cx="82296" cy="8229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BT237"/>
          <p:cNvSpPr>
            <a:spLocks noGrp="1"/>
          </p:cNvSpPr>
          <p:nvPr/>
        </p:nvSpPr>
        <p:spPr>
          <a:xfrm>
            <a:off x="5916168" y="4206240"/>
            <a:ext cx="2871216" cy="228600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dirty="0">
                <a:solidFill>
                  <a:srgbClr val="9A3412"/>
                </a:solidFill>
              </a:rPr>
              <a:t>Require 1 human PR approval before Jira moves to Done</a:t>
            </a:r>
          </a:p>
        </p:txBody>
      </p:sp>
      <p:sp>
        <p:nvSpPr>
          <p:cNvPr id="240" name="R240"/>
          <p:cNvSpPr>
            <a:spLocks noGrp="1"/>
          </p:cNvSpPr>
          <p:nvPr/>
        </p:nvSpPr>
        <p:spPr>
          <a:xfrm>
            <a:off x="365760" y="4796028"/>
            <a:ext cx="5074920" cy="274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/>
          <a:lstStyle/>
          <a:p/>
        </p:txBody>
      </p:sp>
      <p:sp>
        <p:nvSpPr>
          <p:cNvPr id="241" name="T241"/>
          <p:cNvSpPr>
            <a:spLocks noGrp="1"/>
          </p:cNvSpPr>
          <p:nvPr/>
        </p:nvSpPr>
        <p:spPr>
          <a:xfrm>
            <a:off x="502920" y="4796028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670" b="0" i="0" dirty="0">
                <a:solidFill>
                  <a:srgbClr val="1E40AF"/>
                </a:solidFill>
              </a:rPr>
              <a:t>Setup: Req source ~5 min  |  Jira config ~10 min  |  Repo + prompt ~15 min  |  Total: ~30 min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 - Test Fix Loo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P3"/>
          <p:cNvSpPr>
            <a:spLocks noGrp="1"/>
          </p:cNvSpPr>
          <p:nvPr/>
        </p:nvSpPr>
        <p:spPr>
          <a:xfrm>
            <a:off x="411480" y="19202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USE CASE 05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1463040" y="155448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1800" b="1" i="0" dirty="0">
                <a:solidFill>
                  <a:srgbClr val="1E2B5E"/>
                </a:solidFill>
              </a:rPr>
              <a:t>Test-Fix Loop: Devin Runs Tests, Finds Failures, and Fixes Them Automatically</a:t>
            </a:r>
          </a:p>
        </p:txBody>
      </p:sp>
      <p:sp>
        <p:nvSpPr>
          <p:cNvPr id="5" name="Sep"/>
          <p:cNvSpPr/>
          <p:nvPr/>
        </p:nvSpPr>
        <p:spPr>
          <a:xfrm>
            <a:off x="411480" y="612648"/>
            <a:ext cx="8321040" cy="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00" b="0" i="0" dirty="0">
                <a:solidFill>
                  <a:srgbClr val="64748B"/>
                </a:solidFill>
              </a:rPr>
              <a:t>Every time a test fails, Devin reads the full stack trace, patches the root cause, and re-runs until all tests pass — no human involvement needed.</a:t>
            </a:r>
          </a:p>
        </p:txBody>
      </p:sp>
      <p:sp>
        <p:nvSpPr>
          <p:cNvPr id="10" name="FB10"/>
          <p:cNvSpPr>
            <a:spLocks noGrp="1"/>
          </p:cNvSpPr>
          <p:nvPr/>
        </p:nvSpPr>
        <p:spPr>
          <a:xfrm>
            <a:off x="1600200" y="804672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txBody>
          <a:bodyPr anchor="ctr" lIns="57150" rIns="57150">
            <a:normAutofit/>
          </a:bodyPr>
          <a:lstStyle/>
          <a:p>
            <a:pPr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Jira task moves to In Progress</a:t>
            </a:r>
          </a:p>
          <a:p>
            <a:pPr algn="ctr">
              <a:buNone/>
            </a:pPr>
            <a:r>
              <a:rPr lang="en-US" sz="580" b="0" i="1" dirty="0">
                <a:solidFill>
                  <a:srgbClr val="DBEAFE"/>
                </a:solidFill>
              </a:rPr>
              <a:t>Code committed to branch</a:t>
            </a:r>
          </a:p>
        </p:txBody>
      </p:sp>
      <p:sp>
        <p:nvSpPr>
          <p:cNvPr id="11" name="AV11"/>
          <p:cNvSpPr>
            <a:spLocks noGrp="1"/>
          </p:cNvSpPr>
          <p:nvPr/>
        </p:nvSpPr>
        <p:spPr>
          <a:xfrm rot="5400000">
            <a:off x="2587752" y="1207008"/>
            <a:ext cx="128016" cy="146304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FB60"/>
          <p:cNvSpPr>
            <a:spLocks noGrp="1"/>
          </p:cNvSpPr>
          <p:nvPr/>
        </p:nvSpPr>
        <p:spPr>
          <a:xfrm>
            <a:off x="1600200" y="1353312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</p:spPr>
        <p:txBody>
          <a:bodyPr anchor="ctr" lIns="57150" rIns="57150">
            <a:normAutofit/>
          </a:bodyPr>
          <a:lstStyle/>
          <a:p>
            <a:pPr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Devin develops the feature</a:t>
            </a:r>
          </a:p>
          <a:p>
            <a:pPr algn="ctr">
              <a:buNone/>
            </a:pPr>
            <a:r>
              <a:rPr lang="en-US" sz="580" b="0" i="1" dirty="0">
                <a:solidFill>
                  <a:srgbClr val="DBEAFE"/>
                </a:solidFill>
              </a:rPr>
              <a:t>Reads ticket, writes FastAPI + React code</a:t>
            </a:r>
          </a:p>
        </p:txBody>
      </p:sp>
      <p:sp>
        <p:nvSpPr>
          <p:cNvPr id="61" name="AV61"/>
          <p:cNvSpPr>
            <a:spLocks noGrp="1"/>
          </p:cNvSpPr>
          <p:nvPr/>
        </p:nvSpPr>
        <p:spPr>
          <a:xfrm rot="5400000">
            <a:off x="2587752" y="1755648"/>
            <a:ext cx="128016" cy="146304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FB12"/>
          <p:cNvSpPr>
            <a:spLocks noGrp="1"/>
          </p:cNvSpPr>
          <p:nvPr/>
        </p:nvSpPr>
        <p:spPr>
          <a:xfrm>
            <a:off x="1600200" y="1901952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</p:spPr>
        <p:txBody>
          <a:bodyPr anchor="ctr" lIns="57150" rIns="57150">
            <a:normAutofit/>
          </a:bodyPr>
          <a:lstStyle/>
          <a:p>
            <a:pPr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Run full test suite</a:t>
            </a:r>
          </a:p>
          <a:p>
            <a:pPr algn="ctr">
              <a:buNone/>
            </a:pPr>
            <a:r>
              <a:rPr lang="en-US" sz="580" b="0" i="1" dirty="0">
                <a:solidFill>
                  <a:srgbClr val="DBEAFE"/>
                </a:solidFill>
              </a:rPr>
              <a:t>pytest api/tests/ -v   +   npm test</a:t>
            </a:r>
          </a:p>
        </p:txBody>
      </p:sp>
      <p:sp>
        <p:nvSpPr>
          <p:cNvPr id="13" name="AV13"/>
          <p:cNvSpPr>
            <a:spLocks noGrp="1"/>
          </p:cNvSpPr>
          <p:nvPr/>
        </p:nvSpPr>
        <p:spPr>
          <a:xfrm rot="5400000">
            <a:off x="2587752" y="2304288"/>
            <a:ext cx="128016" cy="146304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D14"/>
          <p:cNvSpPr>
            <a:spLocks noGrp="1"/>
          </p:cNvSpPr>
          <p:nvPr/>
        </p:nvSpPr>
        <p:spPr>
          <a:xfrm>
            <a:off x="1691640" y="2450592"/>
            <a:ext cx="1920240" cy="658368"/>
          </a:xfrm>
          <a:prstGeom prst="diamond">
            <a:avLst/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710" b="1" dirty="0">
                <a:solidFill>
                  <a:srgbClr val="FFFFFF"/>
                </a:solidFill>
              </a:rPr>
              <a:t>All tests pass?</a:t>
            </a:r>
          </a:p>
        </p:txBody>
      </p:sp>
      <p:sp>
        <p:nvSpPr>
          <p:cNvPr id="15" name="AH15"/>
          <p:cNvSpPr>
            <a:spLocks noGrp="1"/>
          </p:cNvSpPr>
          <p:nvPr/>
        </p:nvSpPr>
        <p:spPr>
          <a:xfrm rot="0">
            <a:off x="3611880" y="2715768"/>
            <a:ext cx="384048" cy="128016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>
            <a:spLocks noGrp="1"/>
          </p:cNvSpPr>
          <p:nvPr/>
        </p:nvSpPr>
        <p:spPr>
          <a:xfrm>
            <a:off x="3657600" y="26151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680" b="1" i="0" dirty="0">
                <a:solidFill>
                  <a:srgbClr val="16A34A"/>
                </a:solidFill>
              </a:rPr>
              <a:t>YES</a:t>
            </a:r>
          </a:p>
        </p:txBody>
      </p:sp>
      <p:sp>
        <p:nvSpPr>
          <p:cNvPr id="17" name="FB17"/>
          <p:cNvSpPr>
            <a:spLocks noGrp="1"/>
          </p:cNvSpPr>
          <p:nvPr/>
        </p:nvSpPr>
        <p:spPr>
          <a:xfrm>
            <a:off x="3995928" y="257860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txBody>
          <a:bodyPr anchor="ctr" lIns="57150" rIns="57150">
            <a:norm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PR raised + Jira closed</a:t>
            </a:r>
          </a:p>
          <a:p>
            <a:pPr algn="ctr">
              <a:buNone/>
            </a:pPr>
            <a:r>
              <a:rPr lang="en-US" sz="580" b="0" i="1" dirty="0">
                <a:solidFill>
                  <a:srgbClr val="DBEAFE"/>
                </a:solidFill>
              </a:rPr>
              <a:t>Tests green — human reviews PR</a:t>
            </a:r>
          </a:p>
        </p:txBody>
      </p:sp>
      <p:sp>
        <p:nvSpPr>
          <p:cNvPr id="18" name="T18"/>
          <p:cNvSpPr>
            <a:spLocks noGrp="1"/>
          </p:cNvSpPr>
          <p:nvPr/>
        </p:nvSpPr>
        <p:spPr>
          <a:xfrm>
            <a:off x="5961888" y="2578608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1200" b="1" i="0" dirty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19" name="T19"/>
          <p:cNvSpPr>
            <a:spLocks noGrp="1"/>
          </p:cNvSpPr>
          <p:nvPr/>
        </p:nvSpPr>
        <p:spPr>
          <a:xfrm>
            <a:off x="1307592" y="2596896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buNone/>
            </a:pPr>
            <a:r>
              <a:rPr lang="en-US" sz="680" b="1" i="0" dirty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20" name="AV20"/>
          <p:cNvSpPr>
            <a:spLocks noGrp="1"/>
          </p:cNvSpPr>
          <p:nvPr/>
        </p:nvSpPr>
        <p:spPr>
          <a:xfrm rot="5400000">
            <a:off x="2587752" y="3108960"/>
            <a:ext cx="128016" cy="146304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B21"/>
          <p:cNvSpPr>
            <a:spLocks noGrp="1"/>
          </p:cNvSpPr>
          <p:nvPr/>
        </p:nvSpPr>
        <p:spPr>
          <a:xfrm>
            <a:off x="1600200" y="3255264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>
            <a:noFill/>
          </a:ln>
        </p:spPr>
        <p:txBody>
          <a:bodyPr anchor="ctr" lIns="57150" rIns="57150">
            <a:normAutofit/>
          </a:bodyPr>
          <a:lstStyle/>
          <a:p>
            <a:pPr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Devin reads failure traces</a:t>
            </a:r>
          </a:p>
          <a:p>
            <a:pPr algn="ctr">
              <a:buNone/>
            </a:pPr>
            <a:r>
              <a:rPr lang="en-US" sz="580" b="0" i="1" dirty="0">
                <a:solidFill>
                  <a:srgbClr val="DBEAFE"/>
                </a:solidFill>
              </a:rPr>
              <a:t>Full stack trace + line reference</a:t>
            </a:r>
          </a:p>
        </p:txBody>
      </p:sp>
      <p:sp>
        <p:nvSpPr>
          <p:cNvPr id="22" name="AV22"/>
          <p:cNvSpPr>
            <a:spLocks noGrp="1"/>
          </p:cNvSpPr>
          <p:nvPr/>
        </p:nvSpPr>
        <p:spPr>
          <a:xfrm rot="5400000">
            <a:off x="2587752" y="3657600"/>
            <a:ext cx="128016" cy="146304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B23"/>
          <p:cNvSpPr>
            <a:spLocks noGrp="1"/>
          </p:cNvSpPr>
          <p:nvPr/>
        </p:nvSpPr>
        <p:spPr>
          <a:xfrm>
            <a:off x="1600200" y="3803904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3B4FBF"/>
          </a:solidFill>
          <a:ln>
            <a:noFill/>
          </a:ln>
        </p:spPr>
        <p:txBody>
          <a:bodyPr anchor="ctr" lIns="57150" rIns="57150">
            <a:normAutofit/>
          </a:bodyPr>
          <a:lstStyle/>
          <a:p>
            <a:pPr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Devin patches the code</a:t>
            </a:r>
          </a:p>
          <a:p>
            <a:pPr algn="ctr">
              <a:buNone/>
            </a:pPr>
            <a:r>
              <a:rPr lang="en-US" sz="580" b="0" i="1" dirty="0">
                <a:solidFill>
                  <a:srgbClr val="DBEAFE"/>
                </a:solidFill>
              </a:rPr>
              <a:t>Root cause fixed, commit pushed</a:t>
            </a:r>
          </a:p>
        </p:txBody>
      </p:sp>
      <p:sp>
        <p:nvSpPr>
          <p:cNvPr id="24" name="LH24"/>
          <p:cNvSpPr>
            <a:spLocks noGrp="1"/>
          </p:cNvSpPr>
          <p:nvPr/>
        </p:nvSpPr>
        <p:spPr>
          <a:xfrm>
            <a:off x="384048" y="4005072"/>
            <a:ext cx="1216152" cy="0"/>
          </a:xfrm>
          <a:prstGeom prst="rect">
            <a:avLst/>
          </a:prstGeom>
          <a:noFill/>
          <a:ln w="38100">
            <a:solidFill>
              <a:srgbClr val="3B4FBF"/>
            </a:solidFill>
          </a:ln>
        </p:spPr>
        <p:txBody>
          <a:bodyPr/>
          <a:lstStyle/>
          <a:p/>
        </p:txBody>
      </p:sp>
      <p:sp>
        <p:nvSpPr>
          <p:cNvPr id="25" name="LV25"/>
          <p:cNvSpPr>
            <a:spLocks noGrp="1"/>
          </p:cNvSpPr>
          <p:nvPr/>
        </p:nvSpPr>
        <p:spPr>
          <a:xfrm>
            <a:off x="384048" y="2103120"/>
            <a:ext cx="0" cy="1901952"/>
          </a:xfrm>
          <a:prstGeom prst="rect">
            <a:avLst/>
          </a:prstGeom>
          <a:noFill/>
          <a:ln w="38100">
            <a:solidFill>
              <a:srgbClr val="3B4FBF"/>
            </a:solidFill>
          </a:ln>
        </p:spPr>
        <p:txBody>
          <a:bodyPr/>
          <a:lstStyle/>
          <a:p/>
        </p:txBody>
      </p:sp>
      <p:sp>
        <p:nvSpPr>
          <p:cNvPr id="26" name="AH26"/>
          <p:cNvSpPr>
            <a:spLocks noGrp="1"/>
          </p:cNvSpPr>
          <p:nvPr/>
        </p:nvSpPr>
        <p:spPr>
          <a:xfrm rot="0">
            <a:off x="384048" y="2039112"/>
            <a:ext cx="1216152" cy="128016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3B4FB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27"/>
          <p:cNvSpPr>
            <a:spLocks noGrp="1"/>
          </p:cNvSpPr>
          <p:nvPr/>
        </p:nvSpPr>
        <p:spPr>
          <a:xfrm>
            <a:off x="338328" y="285292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i="0" dirty="0">
                <a:solidFill>
                  <a:srgbClr val="3B4FBF"/>
                </a:solidFill>
              </a:rPr>
              <a:t>Retry
(max 5x)</a:t>
            </a:r>
          </a:p>
        </p:txBody>
      </p:sp>
      <p:sp>
        <p:nvSpPr>
          <p:cNvPr id="28" name="P28"/>
          <p:cNvSpPr>
            <a:spLocks noGrp="1"/>
          </p:cNvSpPr>
          <p:nvPr/>
        </p:nvSpPr>
        <p:spPr>
          <a:xfrm>
            <a:off x="347472" y="327355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3B4FB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60" b="1" dirty="0">
                <a:solidFill>
                  <a:srgbClr val="FFFFFF"/>
                </a:solidFill>
              </a:rPr>
              <a:t>avg 2.3 iters</a:t>
            </a:r>
          </a:p>
        </p:txBody>
      </p:sp>
      <p:sp>
        <p:nvSpPr>
          <p:cNvPr id="40" name="T40"/>
          <p:cNvSpPr>
            <a:spLocks noGrp="1"/>
          </p:cNvSpPr>
          <p:nvPr/>
        </p:nvSpPr>
        <p:spPr>
          <a:xfrm>
            <a:off x="5577840" y="868680"/>
            <a:ext cx="3182112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20" b="1" i="0" dirty="0">
                <a:solidFill>
                  <a:srgbClr val="1E2B5E"/>
                </a:solidFill>
              </a:rPr>
              <a:t>What Devin sees in the terminal</a:t>
            </a:r>
          </a:p>
        </p:txBody>
      </p:sp>
      <p:sp>
        <p:nvSpPr>
          <p:cNvPr id="41" name="Term41"/>
          <p:cNvSpPr>
            <a:spLocks noGrp="1"/>
          </p:cNvSpPr>
          <p:nvPr/>
        </p:nvSpPr>
        <p:spPr>
          <a:xfrm>
            <a:off x="5577840" y="1161288"/>
            <a:ext cx="3182112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anchor="t" lIns="114300" rIns="91440" tIns="91440" bIns="91440">
            <a:normAutofit/>
          </a:bodyPr>
          <a:lstStyle/>
          <a:p>
            <a:pPr algn="l">
              <a:buNone/>
            </a:pPr>
            <a:r>
              <a:rPr lang="en-US" sz="560" b="0" dirty="0">
                <a:solidFill>
                  <a:srgbClr val="64748B"/>
                </a:solidFill>
              </a:rPr>
              <a:t xml:space="preserve">$ pytest api/tests/ -v --tb=short</a:t>
            </a:r>
          </a:p>
          <a:p>
            <a:pPr algn="l">
              <a:buNone/>
            </a:pPr>
            <a:r>
              <a:rPr lang="en-US" sz="560" b="0" dirty="0">
                <a:solidFill>
                  <a:srgbClr val="64748B"/>
                </a:solidFill>
              </a:rPr>
              <a:t xml:space="preserve"/>
            </a:r>
          </a:p>
          <a:p>
            <a:pPr algn="l">
              <a:buNone/>
            </a:pPr>
            <a:r>
              <a:rPr lang="en-US" sz="560" b="0" dirty="0">
                <a:solidFill>
                  <a:srgbClr val="FCA5A5"/>
                </a:solidFill>
              </a:rPr>
              <a:t xml:space="preserve">FAILED tests/test_agents.py::test_stream_endpoint</a:t>
            </a:r>
          </a:p>
          <a:p>
            <a:pPr algn="l">
              <a:buNone/>
            </a:pPr>
            <a:r>
              <a:rPr lang="en-US" sz="560" b="0" dirty="0">
                <a:solidFill>
                  <a:srgbClr val="FCA5A5"/>
                </a:solidFill>
              </a:rPr>
              <a:t xml:space="preserve">  AssertionError: expected Content-Type:</a:t>
            </a:r>
          </a:p>
          <a:p>
            <a:pPr algn="l">
              <a:buNone/>
            </a:pPr>
            <a:r>
              <a:rPr lang="en-US" sz="560" b="0" dirty="0">
                <a:solidFill>
                  <a:srgbClr val="FCA5A5"/>
                </a:solidFill>
              </a:rPr>
              <a:t xml:space="preserve">    text/event-stream, got text/plain</a:t>
            </a:r>
          </a:p>
          <a:p>
            <a:pPr algn="l">
              <a:buNone/>
            </a:pPr>
            <a:r>
              <a:rPr lang="en-US" sz="560" b="0" dirty="0">
                <a:solidFill>
                  <a:srgbClr val="64748B"/>
                </a:solidFill>
              </a:rPr>
              <a:t xml:space="preserve"/>
            </a:r>
          </a:p>
          <a:p>
            <a:pPr algn="l">
              <a:buNone/>
            </a:pPr>
            <a:r>
              <a:rPr lang="en-US" sz="560" b="0" dirty="0">
                <a:solidFill>
                  <a:srgbClr val="FCA5A5"/>
                </a:solidFill>
              </a:rPr>
              <a:t xml:space="preserve">FAILED tests/test_agents.py::test_sse_headers</a:t>
            </a:r>
          </a:p>
          <a:p>
            <a:pPr algn="l">
              <a:buNone/>
            </a:pPr>
            <a:r>
              <a:rPr lang="en-US" sz="560" b="0" dirty="0">
                <a:solidFill>
                  <a:srgbClr val="FCA5A5"/>
                </a:solidFill>
              </a:rPr>
              <a:t xml:space="preserve">  AssertionError: header X-Accel-Buffering missing</a:t>
            </a:r>
          </a:p>
          <a:p>
            <a:pPr algn="l">
              <a:buNone/>
            </a:pPr>
            <a:r>
              <a:rPr lang="en-US" sz="560" b="0" dirty="0">
                <a:solidFill>
                  <a:srgbClr val="64748B"/>
                </a:solidFill>
              </a:rPr>
              <a:t xml:space="preserve"/>
            </a:r>
          </a:p>
          <a:p>
            <a:pPr algn="l">
              <a:buNone/>
            </a:pPr>
            <a:r>
              <a:rPr lang="en-US" sz="560" b="0" dirty="0">
                <a:solidFill>
                  <a:srgbClr val="FCA5A5"/>
                </a:solidFill>
              </a:rPr>
              <a:t xml:space="preserve">2 failed, 45 passed in 3.1s</a:t>
            </a:r>
          </a:p>
        </p:txBody>
      </p:sp>
      <p:sp>
        <p:nvSpPr>
          <p:cNvPr id="42" name="T42"/>
          <p:cNvSpPr>
            <a:spLocks noGrp="1"/>
          </p:cNvSpPr>
          <p:nvPr/>
        </p:nvSpPr>
        <p:spPr>
          <a:xfrm>
            <a:off x="5577840" y="2624328"/>
            <a:ext cx="3182112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20" b="1" i="0" dirty="0">
                <a:solidFill>
                  <a:srgbClr val="3B4FBF"/>
                </a:solidFill>
              </a:rPr>
              <a:t>Devin diagnoses and applies the fix</a:t>
            </a:r>
          </a:p>
        </p:txBody>
      </p:sp>
      <p:sp>
        <p:nvSpPr>
          <p:cNvPr id="43" name="RB43"/>
          <p:cNvSpPr>
            <a:spLocks noGrp="1"/>
          </p:cNvSpPr>
          <p:nvPr/>
        </p:nvSpPr>
        <p:spPr>
          <a:xfrm>
            <a:off x="5577840" y="2907792"/>
            <a:ext cx="3182112" cy="69494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000">
            <a:solidFill>
              <a:srgbClr val="BFDBFE"/>
            </a:solidFill>
          </a:ln>
        </p:spPr>
        <p:txBody>
          <a:bodyPr/>
          <a:lstStyle/>
          <a:p/>
        </p:txBody>
      </p:sp>
      <p:sp>
        <p:nvSpPr>
          <p:cNvPr id="44" name="T44"/>
          <p:cNvSpPr>
            <a:spLocks noGrp="1"/>
          </p:cNvSpPr>
          <p:nvPr/>
        </p:nvSpPr>
        <p:spPr>
          <a:xfrm>
            <a:off x="5715000" y="2944368"/>
            <a:ext cx="2999232" cy="621792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r>
              <a:rPr lang="en-US" sz="640" b="0" i="0" dirty="0">
                <a:solidFill>
                  <a:srgbClr val="1E40AF"/>
                </a:solidFill>
              </a:rPr>
              <a:t>Root cause: api/routes/agents.py line 47 — response headers not set before yield. Devin patches: response.headers['Content-Type'] = 'text/event-stream' and response.headers['X-Accel-Buffering'] = 'no'</a:t>
            </a:r>
          </a:p>
        </p:txBody>
      </p:sp>
      <p:sp>
        <p:nvSpPr>
          <p:cNvPr id="45" name="T45"/>
          <p:cNvSpPr>
            <a:spLocks noGrp="1"/>
          </p:cNvSpPr>
          <p:nvPr/>
        </p:nvSpPr>
        <p:spPr>
          <a:xfrm>
            <a:off x="5577840" y="3639312"/>
            <a:ext cx="3182112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820" b="1" i="0" dirty="0">
                <a:solidFill>
                  <a:srgbClr val="16A34A"/>
                </a:solidFill>
              </a:rPr>
              <a:t>Re-run after fix</a:t>
            </a:r>
          </a:p>
        </p:txBody>
      </p:sp>
      <p:sp>
        <p:nvSpPr>
          <p:cNvPr id="46" name="Term46"/>
          <p:cNvSpPr>
            <a:spLocks noGrp="1"/>
          </p:cNvSpPr>
          <p:nvPr/>
        </p:nvSpPr>
        <p:spPr>
          <a:xfrm>
            <a:off x="5577840" y="3931920"/>
            <a:ext cx="3182112" cy="65836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anchor="t" lIns="114300" rIns="91440" tIns="91440" bIns="91440">
            <a:normAutofit/>
          </a:bodyPr>
          <a:lstStyle/>
          <a:p>
            <a:pPr algn="l">
              <a:buNone/>
            </a:pPr>
            <a:r>
              <a:rPr lang="en-US" sz="560" b="0" dirty="0">
                <a:solidFill>
                  <a:srgbClr val="64748B"/>
                </a:solidFill>
              </a:rPr>
              <a:t xml:space="preserve">$ pytest api/tests/ -v --tb=short</a:t>
            </a:r>
          </a:p>
          <a:p>
            <a:pPr algn="l">
              <a:buNone/>
            </a:pPr>
            <a:r>
              <a:rPr lang="en-US" sz="560" b="0" dirty="0">
                <a:solidFill>
                  <a:srgbClr val="64748B"/>
                </a:solidFill>
              </a:rPr>
              <a:t xml:space="preserve"/>
            </a:r>
          </a:p>
          <a:p>
            <a:pPr algn="l">
              <a:buNone/>
            </a:pPr>
            <a:r>
              <a:rPr lang="en-US" sz="560" b="0" dirty="0">
                <a:solidFill>
                  <a:srgbClr val="86EFAC"/>
                </a:solidFill>
              </a:rPr>
              <a:t xml:space="preserve">47 passed in 3.0s</a:t>
            </a:r>
          </a:p>
          <a:p>
            <a:pPr algn="l">
              <a:buNone/>
            </a:pPr>
            <a:r>
              <a:rPr lang="en-US" sz="560" b="0" dirty="0">
                <a:solidFill>
                  <a:srgbClr val="64748B"/>
                </a:solidFill>
              </a:rPr>
              <a:t xml:space="preserve">$ npm test -- --watchAll=false</a:t>
            </a:r>
          </a:p>
          <a:p>
            <a:pPr algn="l">
              <a:buNone/>
            </a:pPr>
            <a:r>
              <a:rPr lang="en-US" sz="560" b="0" dirty="0">
                <a:solidFill>
                  <a:srgbClr val="86EFAC"/>
                </a:solidFill>
              </a:rPr>
              <a:t xml:space="preserve">Tests: 23 passed, 0 failed</a:t>
            </a:r>
          </a:p>
        </p:txBody>
      </p:sp>
      <p:sp>
        <p:nvSpPr>
          <p:cNvPr id="50" name="RB50"/>
          <p:cNvSpPr>
            <a:spLocks noGrp="1"/>
          </p:cNvSpPr>
          <p:nvPr/>
        </p:nvSpPr>
        <p:spPr>
          <a:xfrm>
            <a:off x="365760" y="4814316"/>
            <a:ext cx="8412480" cy="256032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/>
          <a:lstStyle/>
          <a:p/>
        </p:txBody>
      </p:sp>
      <p:sp>
        <p:nvSpPr>
          <p:cNvPr id="51" name="T51"/>
          <p:cNvSpPr>
            <a:spLocks noGrp="1"/>
          </p:cNvSpPr>
          <p:nvPr/>
        </p:nvSpPr>
        <p:spPr>
          <a:xfrm>
            <a:off x="502920" y="481431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700" b="1" i="0" dirty="0">
                <a:solidFill>
                  <a:srgbClr val="16A34A"/>
                </a:solidFill>
              </a:rPr>
              <a:t>Result: 47 pytest + 23 Jest tests green  |  Devin commits fix  |  PR raised  |  Jira task: AGENT-143 → Done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Developer Efficiency with Devin</dc:title>
  <dc:subject>PptxGenJS Presentation</dc:subject>
  <dc:creator>PptxGenJS</dc:creator>
  <cp:lastModifiedBy>PptxGenJS</cp:lastModifiedBy>
  <cp:revision>1</cp:revision>
  <dcterms:created xsi:type="dcterms:W3CDTF">2026-04-05T06:33:29Z</dcterms:created>
  <dcterms:modified xsi:type="dcterms:W3CDTF">2026-04-05T06:33:29Z</dcterms:modified>
</cp:coreProperties>
</file>