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Dialogflow CX →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System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patterns, schema bridging &amp; memory design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1097280" cy="457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 ·  Dialogflow CX  ·  A2A  ·  Kafka + Flink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delegates to sub-agents — Dialogflow CX is one of them (via A2A adapter)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/ 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188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188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1188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188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11887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1188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Orchestrator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1440180"/>
            <a:ext cx="3657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83280" y="1440180"/>
            <a:ext cx="3657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0" y="1440180"/>
            <a:ext cx="3657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1965960"/>
            <a:ext cx="11247120" cy="3566160"/>
          </a:xfrm>
          <a:prstGeom prst="roundRect">
            <a:avLst>
              <a:gd name="adj" fmla="val 2564"/>
            </a:avLst>
          </a:prstGeom>
          <a:solidFill>
            <a:srgbClr val="E0F2FE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011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Agentic Path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4920" y="233172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2331720"/>
            <a:ext cx="137160" cy="-6400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triangle"/>
          </a:ln>
        </p:spPr>
      </p:sp>
      <p:sp>
        <p:nvSpPr>
          <p:cNvPr id="20" name="Shape 18"/>
          <p:cNvSpPr/>
          <p:nvPr/>
        </p:nvSpPr>
        <p:spPr>
          <a:xfrm>
            <a:off x="937260" y="35661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726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Sub-Agent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7260" y="38587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(legacy flows)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05840" y="4078224"/>
            <a:ext cx="2331720" cy="274320"/>
          </a:xfrm>
          <a:prstGeom prst="roundRect">
            <a:avLst>
              <a:gd name="adj" fmla="val 1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0782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Adapter  (speaks A2A ↔ Dialogflow)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74420" y="4398264"/>
            <a:ext cx="2194560" cy="0"/>
          </a:xfrm>
          <a:prstGeom prst="line">
            <a:avLst/>
          </a:prstGeom>
          <a:noFill/>
          <a:ln w="9525">
            <a:solidFill>
              <a:srgbClr val="FED7A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005840" y="44805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05940" y="44805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05940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06040" y="44805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7260" y="48006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Webhooks → FAPI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43300" y="35661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330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AnswerHub Agent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43300" y="4160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knowledge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43300" y="4663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ADK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49340" y="35661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934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Agent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49340" y="4160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operations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49340" y="4663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ADK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755380" y="35661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5538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Agent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755380" y="4160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/ transfers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755380" y="4663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ADK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171700" y="3566160"/>
            <a:ext cx="3268980" cy="-731520"/>
          </a:xfrm>
          <a:prstGeom prst="line">
            <a:avLst/>
          </a:prstGeom>
          <a:noFill/>
          <a:ln w="19050">
            <a:solidFill>
              <a:srgbClr val="B91C1C"/>
            </a:solidFill>
            <a:prstDash val="dash"/>
            <a:headEnd type="triangle"/>
          </a:ln>
        </p:spPr>
      </p:sp>
      <p:sp>
        <p:nvSpPr>
          <p:cNvPr id="46" name="Text 44"/>
          <p:cNvSpPr/>
          <p:nvPr/>
        </p:nvSpPr>
        <p:spPr>
          <a:xfrm>
            <a:off x="1623060" y="3063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A2A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77740" y="3566160"/>
            <a:ext cx="900684" cy="-73152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triangle"/>
          </a:ln>
        </p:spPr>
      </p:sp>
      <p:sp>
        <p:nvSpPr>
          <p:cNvPr id="48" name="Shape 46"/>
          <p:cNvSpPr/>
          <p:nvPr/>
        </p:nvSpPr>
        <p:spPr>
          <a:xfrm>
            <a:off x="6080760" y="2834640"/>
            <a:ext cx="1303020" cy="73152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483096" y="2834640"/>
            <a:ext cx="3506724" cy="73152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57200" y="576072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5760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FAPI APIs  (business logic)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0" y="576072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 (vector)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92240" y="576072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0" y="5760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 (short-term)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235440" y="576072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35440" y="5760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(long-term)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188720" y="5760720"/>
            <a:ext cx="982980" cy="-82296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triangle"/>
          </a:ln>
        </p:spPr>
      </p:sp>
      <p:sp>
        <p:nvSpPr>
          <p:cNvPr id="59" name="Shape 57"/>
          <p:cNvSpPr/>
          <p:nvPr/>
        </p:nvSpPr>
        <p:spPr>
          <a:xfrm>
            <a:off x="1920240" y="5760720"/>
            <a:ext cx="5463540" cy="-82296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triangle"/>
          </a:ln>
        </p:spPr>
      </p:sp>
      <p:sp>
        <p:nvSpPr>
          <p:cNvPr id="60" name="Shape 58"/>
          <p:cNvSpPr/>
          <p:nvPr/>
        </p:nvSpPr>
        <p:spPr>
          <a:xfrm>
            <a:off x="2651760" y="5760720"/>
            <a:ext cx="7338060" cy="-82296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triangle"/>
          </a:ln>
        </p:spPr>
      </p:sp>
      <p:sp>
        <p:nvSpPr>
          <p:cNvPr id="61" name="Shape 59"/>
          <p:cNvSpPr/>
          <p:nvPr/>
        </p:nvSpPr>
        <p:spPr>
          <a:xfrm>
            <a:off x="4777740" y="4937760"/>
            <a:ext cx="160020" cy="82296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784848" y="2583180"/>
            <a:ext cx="484632" cy="3177540"/>
          </a:xfrm>
          <a:prstGeom prst="line">
            <a:avLst/>
          </a:prstGeom>
          <a:noFill/>
          <a:ln w="19050">
            <a:solidFill>
              <a:srgbClr val="4B5563"/>
            </a:solidFill>
            <a:prstDash val="dash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086600" y="2583180"/>
            <a:ext cx="3383280" cy="3177540"/>
          </a:xfrm>
          <a:prstGeom prst="line">
            <a:avLst/>
          </a:prstGeom>
          <a:noFill/>
          <a:ln w="19050">
            <a:solidFill>
              <a:srgbClr val="4B5563"/>
            </a:solidFill>
            <a:prstDash val="dash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777740" y="4937760"/>
            <a:ext cx="2583180" cy="822960"/>
          </a:xfrm>
          <a:prstGeom prst="line">
            <a:avLst/>
          </a:prstGeom>
          <a:noFill/>
          <a:ln w="19050">
            <a:solidFill>
              <a:srgbClr val="4B5563"/>
            </a:solidFill>
            <a:prstDash val="dash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7383780" y="4937760"/>
            <a:ext cx="342900" cy="822960"/>
          </a:xfrm>
          <a:prstGeom prst="line">
            <a:avLst/>
          </a:prstGeom>
          <a:noFill/>
          <a:ln w="19050">
            <a:solidFill>
              <a:srgbClr val="4B5563"/>
            </a:solidFill>
            <a:prstDash val="dash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8092440" y="5760720"/>
            <a:ext cx="1897380" cy="-822960"/>
          </a:xfrm>
          <a:prstGeom prst="line">
            <a:avLst/>
          </a:prstGeom>
          <a:noFill/>
          <a:ln w="19050">
            <a:solidFill>
              <a:srgbClr val="4B5563"/>
            </a:solidFill>
            <a:prstDash val="dash"/>
            <a:headEnd type="triangle"/>
          </a:ln>
        </p:spPr>
      </p:sp>
      <p:sp>
        <p:nvSpPr>
          <p:cNvPr id="67" name="Shape 65"/>
          <p:cNvSpPr/>
          <p:nvPr/>
        </p:nvSpPr>
        <p:spPr>
          <a:xfrm>
            <a:off x="7383780" y="4937760"/>
            <a:ext cx="3451860" cy="822960"/>
          </a:xfrm>
          <a:prstGeom prst="line">
            <a:avLst/>
          </a:prstGeom>
          <a:noFill/>
          <a:ln w="19050">
            <a:solidFill>
              <a:srgbClr val="4B5563"/>
            </a:solidFill>
            <a:prstDash val="dash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9989820" y="4937760"/>
            <a:ext cx="1394460" cy="822960"/>
          </a:xfrm>
          <a:prstGeom prst="line">
            <a:avLst/>
          </a:prstGeom>
          <a:noFill/>
          <a:ln w="19050">
            <a:solidFill>
              <a:srgbClr val="4B5563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Integration Options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based on migration stage and control needs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3657600" cy="48463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63040"/>
            <a:ext cx="36576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Manager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front of both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flows untouched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routing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GOOD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systems to maintain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state translation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routing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5669280"/>
            <a:ext cx="3657600" cy="6400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669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 for safe, gradual migration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1463040"/>
            <a:ext cx="3657600" cy="48463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1463040"/>
            <a:ext cx="36576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60020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Sub-Agent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2628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ADK supervisor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6280" y="2560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28346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owns its session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migration path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ADK-native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4114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GOOD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6280" y="4389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Mid-flow interruption hard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latency per turn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state layers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51960" y="5669280"/>
            <a:ext cx="3657600" cy="6400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5669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here once supervisor is primary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1463040"/>
            <a:ext cx="3657600" cy="48463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1463040"/>
            <a:ext cx="365760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160020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41248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by supervisor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12480" y="2560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0" y="28346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model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tests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4114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GOOD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12480" y="4389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multi-turn DF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DF capabilities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Rewrite, not migrate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38160" y="5669280"/>
            <a:ext cx="3657600" cy="6400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5669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unless DF is just NLU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1 — State Manager in Front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router decides: Dialogflow or Supervisor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0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7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67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4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94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4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Mgr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1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21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8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5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75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Agent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2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02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2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Redis/Mongo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89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029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9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16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000760" y="2011680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000760" y="173736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₹5000 to Priya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70760" y="2258568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270760" y="1984248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40760" y="2505456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540760" y="2231136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turn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10760" y="2752344"/>
            <a:ext cx="508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810760" y="2478024"/>
            <a:ext cx="508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10760" y="2999232"/>
            <a:ext cx="508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40" name="Text 38"/>
          <p:cNvSpPr/>
          <p:nvPr/>
        </p:nvSpPr>
        <p:spPr>
          <a:xfrm>
            <a:off x="4810760" y="2724912"/>
            <a:ext cx="508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DF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10760" y="3246120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4810760" y="297180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detect_intent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80760" y="3493008"/>
            <a:ext cx="508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6080760" y="3218688"/>
            <a:ext cx="508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payee (webhook)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80760" y="3739896"/>
            <a:ext cx="508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46" name="Text 44"/>
          <p:cNvSpPr/>
          <p:nvPr/>
        </p:nvSpPr>
        <p:spPr>
          <a:xfrm>
            <a:off x="6080760" y="3465576"/>
            <a:ext cx="508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payee found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10760" y="3986784"/>
            <a:ext cx="127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48" name="Text 46"/>
          <p:cNvSpPr/>
          <p:nvPr/>
        </p:nvSpPr>
        <p:spPr>
          <a:xfrm>
            <a:off x="4810760" y="3712464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currentPage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00760" y="4233672"/>
            <a:ext cx="381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50" name="Text 48"/>
          <p:cNvSpPr/>
          <p:nvPr/>
        </p:nvSpPr>
        <p:spPr>
          <a:xfrm>
            <a:off x="1000760" y="3959352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₹5000 to Priya?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4251960"/>
            <a:ext cx="8798560" cy="27432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251960"/>
            <a:ext cx="879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turn — user asks something else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00760" y="4727448"/>
            <a:ext cx="381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1000760" y="4453128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my card balance?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10760" y="4791456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085080" y="4791456"/>
            <a:ext cx="0" cy="1645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10760" y="4956048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5176520" y="4745736"/>
            <a:ext cx="81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classify, switch mode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10760" y="5221224"/>
            <a:ext cx="508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4810760" y="4946904"/>
            <a:ext cx="508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DF state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10760" y="5468112"/>
            <a:ext cx="254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4810760" y="5193792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350760" y="5715000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7350760" y="544068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task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620760" y="5961888"/>
            <a:ext cx="254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8620760" y="5687568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get_card_balance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620760" y="6208776"/>
            <a:ext cx="254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68" name="Text 66"/>
          <p:cNvSpPr/>
          <p:nvPr/>
        </p:nvSpPr>
        <p:spPr>
          <a:xfrm>
            <a:off x="8620760" y="5934456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data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000760" y="6455664"/>
            <a:ext cx="762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70" name="Text 68"/>
          <p:cNvSpPr/>
          <p:nvPr/>
        </p:nvSpPr>
        <p:spPr>
          <a:xfrm>
            <a:off x="1000760" y="6181344"/>
            <a:ext cx="762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balance is ₹42,150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2 — Dialogflow as Sub-Agent under ADK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delegates via A2A adapter; native sub-agents look the same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0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7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67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4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94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4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1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21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Adapter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8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5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75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Agent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2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02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2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Redis/Mongo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89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029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9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16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000760" y="2011680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000760" y="173736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₹5000 to Priya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70760" y="2258568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270760" y="1984248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40760" y="2505456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540760" y="2231136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10760" y="2752344"/>
            <a:ext cx="508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810760" y="2478024"/>
            <a:ext cx="508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10760" y="2816352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85080" y="2816352"/>
            <a:ext cx="0" cy="1645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10760" y="2980944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176520" y="2770632"/>
            <a:ext cx="81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delegate to DF sub-agent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10760" y="3246120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810760" y="297180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tasks/send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80760" y="3493008"/>
            <a:ext cx="381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6080760" y="3218688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session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80760" y="3739896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6080760" y="3465576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detect_intent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50760" y="3986784"/>
            <a:ext cx="381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7350760" y="3712464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payee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50760" y="4233672"/>
            <a:ext cx="381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52" name="Text 50"/>
          <p:cNvSpPr/>
          <p:nvPr/>
        </p:nvSpPr>
        <p:spPr>
          <a:xfrm>
            <a:off x="7350760" y="3959352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payee found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80760" y="4480560"/>
            <a:ext cx="127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54" name="Text 52"/>
          <p:cNvSpPr/>
          <p:nvPr/>
        </p:nvSpPr>
        <p:spPr>
          <a:xfrm>
            <a:off x="6080760" y="420624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currentPage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10760" y="4727448"/>
            <a:ext cx="127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56" name="Text 54"/>
          <p:cNvSpPr/>
          <p:nvPr/>
        </p:nvSpPr>
        <p:spPr>
          <a:xfrm>
            <a:off x="4810760" y="4453128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response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00760" y="4974336"/>
            <a:ext cx="381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58" name="Text 56"/>
          <p:cNvSpPr/>
          <p:nvPr/>
        </p:nvSpPr>
        <p:spPr>
          <a:xfrm>
            <a:off x="1000760" y="4700016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₹5000 to Priya?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992624"/>
            <a:ext cx="8798560" cy="27432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992624"/>
            <a:ext cx="879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— user asks about card balance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00760" y="5468112"/>
            <a:ext cx="381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1000760" y="5193792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my card balance?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10760" y="5532120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85080" y="5532120"/>
            <a:ext cx="0" cy="1645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10760" y="5696712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5176520" y="5486400"/>
            <a:ext cx="81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delegate to Cards Agent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810760" y="5961888"/>
            <a:ext cx="381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4810760" y="5687568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task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620760" y="6208776"/>
            <a:ext cx="254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8620760" y="5934456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get_card_balance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620760" y="6455664"/>
            <a:ext cx="254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72" name="Text 70"/>
          <p:cNvSpPr/>
          <p:nvPr/>
        </p:nvSpPr>
        <p:spPr>
          <a:xfrm>
            <a:off x="8620760" y="6181344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data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000760" y="6702552"/>
            <a:ext cx="762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74" name="Text 72"/>
          <p:cNvSpPr/>
          <p:nvPr/>
        </p:nvSpPr>
        <p:spPr>
          <a:xfrm>
            <a:off x="1000760" y="6428232"/>
            <a:ext cx="762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balance is ₹42,150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3 — Dialogflow as a Tool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owns state; Dialogflow used only for NLU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0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7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67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4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94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4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1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21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Tool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8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5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75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Agent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2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02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2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Redis/Mongo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89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029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9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16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000760" y="2011680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000760" y="173736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₹5000 to Priya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70760" y="2258568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270760" y="1984248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40760" y="2505456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540760" y="2231136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10760" y="2752344"/>
            <a:ext cx="508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810760" y="2478024"/>
            <a:ext cx="508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full state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10760" y="2816352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85080" y="2816352"/>
            <a:ext cx="0" cy="1645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10760" y="2980944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176520" y="2770632"/>
            <a:ext cx="81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call DF for NLU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10760" y="3246120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810760" y="297180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query_dialogflow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80760" y="3493008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6080760" y="3218688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detect_intent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50760" y="3739896"/>
            <a:ext cx="381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7350760" y="3465576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payee + transfer (webhook)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50760" y="3986784"/>
            <a:ext cx="381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50" name="Text 48"/>
          <p:cNvSpPr/>
          <p:nvPr/>
        </p:nvSpPr>
        <p:spPr>
          <a:xfrm>
            <a:off x="7350760" y="3712464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payee data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80760" y="4233672"/>
            <a:ext cx="127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52" name="Text 50"/>
          <p:cNvSpPr/>
          <p:nvPr/>
        </p:nvSpPr>
        <p:spPr>
          <a:xfrm>
            <a:off x="6080760" y="3959352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params + result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10760" y="4480560"/>
            <a:ext cx="127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54" name="Text 52"/>
          <p:cNvSpPr/>
          <p:nvPr/>
        </p:nvSpPr>
        <p:spPr>
          <a:xfrm>
            <a:off x="4810760" y="420624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result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10760" y="4544568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085080" y="4544568"/>
            <a:ext cx="0" cy="1645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10760" y="4709160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5176520" y="4498848"/>
            <a:ext cx="81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plans next action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000760" y="4974336"/>
            <a:ext cx="381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60" name="Text 58"/>
          <p:cNvSpPr/>
          <p:nvPr/>
        </p:nvSpPr>
        <p:spPr>
          <a:xfrm>
            <a:off x="1000760" y="4700016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₹5000 to Priya?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11480" y="4992624"/>
            <a:ext cx="8798560" cy="27432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4992624"/>
            <a:ext cx="879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card question — native sub-agent still works normally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000760" y="5468112"/>
            <a:ext cx="381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1000760" y="5193792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my card balance?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810760" y="5715000"/>
            <a:ext cx="381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4810760" y="5440680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620760" y="5961888"/>
            <a:ext cx="254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8620760" y="5687568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get_card_balance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620760" y="6208776"/>
            <a:ext cx="254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70" name="Text 68"/>
          <p:cNvSpPr/>
          <p:nvPr/>
        </p:nvSpPr>
        <p:spPr>
          <a:xfrm>
            <a:off x="8620760" y="5934456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data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000760" y="6455664"/>
            <a:ext cx="762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72" name="Text 70"/>
          <p:cNvSpPr/>
          <p:nvPr/>
        </p:nvSpPr>
        <p:spPr>
          <a:xfrm>
            <a:off x="1000760" y="6181344"/>
            <a:ext cx="762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balance is ₹42,150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Memory + currentPage = Resume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tiers, one checkpoint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3716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50876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Minutes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Redis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"Are you still mid-flow?"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926080"/>
            <a:ext cx="13716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306324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063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Hours → Days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MongoDB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749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happened earlier today?"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480560"/>
            <a:ext cx="137160" cy="137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89120" y="46177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4617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Permanent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4983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MongoDB + vector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"Any unfinished business across sessions?"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1371600"/>
            <a:ext cx="5394960" cy="4937760"/>
          </a:xfrm>
          <a:prstGeom prst="roundRect">
            <a:avLst>
              <a:gd name="adj" fmla="val 185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currentPage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75120" y="2148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durable checkpoint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75120" y="2514600"/>
            <a:ext cx="4846320" cy="0"/>
          </a:xfrm>
          <a:prstGeom prst="line">
            <a:avLst/>
          </a:prstGeom>
          <a:noFill/>
          <a:ln w="12700">
            <a:solidFill>
              <a:srgbClr val="5EEA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2651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unlocks: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301752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recovery after DF's 30-min expiry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from the exact page a webhook failed 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supervisor interruption decisions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Replayable snapshots for debugging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resume across long-term memory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534924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5349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persist currentPage + parameters on every turn.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insurance, massive resilience win.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Migration Path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gradual, reversible path from Dialogflow CX to fully agentic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16204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1737360"/>
            <a:ext cx="731520" cy="73152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Manager in Front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3611880"/>
            <a:ext cx="210312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untouched. Supervisor stood up next to it. Flink routing rules decide per flow.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3566160"/>
            <a:ext cx="27432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97680" y="210312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162047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1737360"/>
            <a:ext cx="731520" cy="73152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under ADK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3611880"/>
            <a:ext cx="2103120" cy="0"/>
          </a:xfrm>
          <a:prstGeom prst="line">
            <a:avLst/>
          </a:prstGeom>
          <a:noFill/>
          <a:ln w="9525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becomes primary. Remaining DF flows wrapped as A2A sub-agents. Retire one at a time.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63840" y="3566160"/>
            <a:ext cx="27432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38160" y="210312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162047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1737360"/>
            <a:ext cx="731520" cy="731520"/>
          </a:xfrm>
          <a:prstGeom prst="ellipse">
            <a:avLst/>
          </a:prstGeom>
          <a:solidFill>
            <a:srgbClr val="5EEAD4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1248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1248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ADK everywhere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869680" y="3611880"/>
            <a:ext cx="2103120" cy="0"/>
          </a:xfrm>
          <a:prstGeom prst="line">
            <a:avLst/>
          </a:prstGeom>
          <a:noFill/>
          <a:ln w="9525">
            <a:solidFill>
              <a:srgbClr val="5EE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flows replaced by native ADK sub-agents (AnswerHub, Cards, Transaction, …). DF retired.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852160"/>
            <a:ext cx="11247120" cy="68580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8521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Flink is the seam. Migration = updating Flink routing rules, not rewriting apps.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Dialogflow CX + Agentic Integration</dc:title>
  <dc:subject>PptxGenJS Presentation</dc:subject>
  <dc:creator>Sri</dc:creator>
  <cp:lastModifiedBy>Sri</cp:lastModifiedBy>
  <cp:revision>1</cp:revision>
  <dcterms:created xsi:type="dcterms:W3CDTF">2026-04-22T04:19:17Z</dcterms:created>
  <dcterms:modified xsi:type="dcterms:W3CDTF">2026-04-22T04:19:17Z</dcterms:modified>
</cp:coreProperties>
</file>