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RPN</c:v>
                </c:pt>
              </c:strCache>
            </c:strRef>
          </c:tx>
          <c:spPr>
            <a:solidFill>
              <a:srgbClr val="D71E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B3B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Wrong model selection</c:v>
                  </c:pt>
                  <c:pt idx="1">
                    <c:v>Token multiplication</c:v>
                  </c:pt>
                  <c:pt idx="2">
                    <c:v>Hallucination</c:v>
                  </c:pt>
                  <c:pt idx="3">
                    <c:v>Goal drift</c:v>
                  </c:pt>
                  <c:pt idx="4">
                    <c:v>Task drift</c:v>
                  </c:pt>
                  <c:pt idx="5">
                    <c:v>Inefficient prompts</c:v>
                  </c:pt>
                  <c:pt idx="6">
                    <c:v>Model degradation</c:v>
                  </c:pt>
                  <c:pt idx="7">
                    <c:v>Knowledge staleness</c:v>
                  </c:pt>
                  <c:pt idx="8">
                    <c:v>Cost runaway</c:v>
                  </c:pt>
                  <c:pt idx="9">
                    <c:v>Under-reliance on tools</c:v>
                  </c:pt>
                  <c:pt idx="10">
                    <c:v>Multi-turn explosion</c:v>
                  </c:pt>
                  <c:pt idx="11">
                    <c:v>Instruction following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392</c:v>
                </c:pt>
                <c:pt idx="1">
                  <c:v>392</c:v>
                </c:pt>
                <c:pt idx="2">
                  <c:v>378</c:v>
                </c:pt>
                <c:pt idx="3">
                  <c:v>336</c:v>
                </c:pt>
                <c:pt idx="4">
                  <c:v>336</c:v>
                </c:pt>
                <c:pt idx="5">
                  <c:v>336</c:v>
                </c:pt>
                <c:pt idx="6">
                  <c:v>336</c:v>
                </c:pt>
                <c:pt idx="7">
                  <c:v>336</c:v>
                </c:pt>
                <c:pt idx="8">
                  <c:v>324</c:v>
                </c:pt>
                <c:pt idx="9">
                  <c:v>288</c:v>
                </c:pt>
                <c:pt idx="10">
                  <c:v>288</c:v>
                </c:pt>
                <c:pt idx="11">
                  <c:v>280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B3B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3B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"/>
        </c:scaling>
        <c:delete val="0"/>
        <c:axPos val="b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91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Fargo FMEA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246888" y="621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Architecture (E2E-Agent)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053328" y="2084832"/>
            <a:ext cx="2395728" cy="2395728"/>
          </a:xfrm>
          <a:prstGeom prst="rect">
            <a:avLst/>
          </a:prstGeom>
          <a:solidFill>
            <a:srgbClr val="F2EFF8"/>
          </a:solidFill>
          <a:ln w="12700">
            <a:solidFill>
              <a:srgbClr val="B9AEDB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099048" y="2103120"/>
            <a:ext cx="23042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4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Layer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31936" y="2084832"/>
            <a:ext cx="1481328" cy="2395728"/>
          </a:xfrm>
          <a:prstGeom prst="rect">
            <a:avLst/>
          </a:prstGeom>
          <a:solidFill>
            <a:srgbClr val="F2EFF8"/>
          </a:solidFill>
          <a:ln w="12700">
            <a:solidFill>
              <a:srgbClr val="B9AEDB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8677656" y="2103120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4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Tachyon Control Plane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296144" y="2084832"/>
            <a:ext cx="1664208" cy="3127248"/>
          </a:xfrm>
          <a:prstGeom prst="rect">
            <a:avLst/>
          </a:prstGeom>
          <a:solidFill>
            <a:srgbClr val="F2EFF8"/>
          </a:solidFill>
          <a:ln w="12700">
            <a:solidFill>
              <a:srgbClr val="B9AEDB"/>
            </a:solidFill>
            <a:prstDash val="dash"/>
          </a:ln>
        </p:spPr>
      </p:sp>
      <p:sp>
        <p:nvSpPr>
          <p:cNvPr id="9" name="Text 7"/>
          <p:cNvSpPr txBox="1"/>
          <p:nvPr/>
        </p:nvSpPr>
        <p:spPr>
          <a:xfrm>
            <a:off x="10341864" y="2103120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E4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Layer / Backend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2788920"/>
            <a:ext cx="1051560" cy="292608"/>
          </a:xfrm>
          <a:prstGeom prst="rect">
            <a:avLst/>
          </a:prstGeom>
          <a:solidFill>
            <a:srgbClr val="E07B39"/>
          </a:solidFill>
          <a:ln w="9525">
            <a:solidFill>
              <a:srgbClr val="B85E2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8600" y="278892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3081528"/>
            <a:ext cx="10515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8600" y="3081528"/>
            <a:ext cx="105156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 |  Android</a:t>
            </a:r>
            <a:endParaRPr lang="en-US" sz="9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WF Developed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28600" y="254203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83080" y="2880360"/>
            <a:ext cx="1143000" cy="777240"/>
          </a:xfrm>
          <a:prstGeom prst="roundRect">
            <a:avLst>
              <a:gd name="adj" fmla="val 5882"/>
            </a:avLst>
          </a:prstGeom>
          <a:solidFill>
            <a:srgbClr val="7A6BAB"/>
          </a:solidFill>
          <a:ln w="12700">
            <a:solidFill>
              <a:srgbClr val="5E4F94"/>
            </a:solidFill>
            <a:prstDash val="solid"/>
          </a:ln>
          <a:effectLst>
            <a:outerShdw sx="100000" sy="100000" kx="0" ky="0" algn="bl" rotWithShape="0" blurRad="38100" dist="25400" dir="2700000">
              <a:srgbClr val="999999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783080" y="2880360"/>
            <a:ext cx="11430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(PAA)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Layer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10128" y="2880360"/>
            <a:ext cx="1188720" cy="777240"/>
          </a:xfrm>
          <a:prstGeom prst="roundRect">
            <a:avLst>
              <a:gd name="adj" fmla="val 5882"/>
            </a:avLst>
          </a:prstGeom>
          <a:solidFill>
            <a:srgbClr val="7A6BAB"/>
          </a:solidFill>
          <a:ln w="12700">
            <a:solidFill>
              <a:srgbClr val="5E4F94"/>
            </a:solidFill>
            <a:prstDash val="solid"/>
          </a:ln>
          <a:effectLst>
            <a:outerShdw sx="100000" sy="100000" kx="0" ky="0" algn="bl" rotWithShape="0" blurRad="38100" dist="25400" dir="2700000">
              <a:srgbClr val="999999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3310128" y="2880360"/>
            <a:ext cx="11887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(Filtering)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64608" y="2880360"/>
            <a:ext cx="1051560" cy="777240"/>
          </a:xfrm>
          <a:prstGeom prst="roundRect">
            <a:avLst>
              <a:gd name="adj" fmla="val 5882"/>
            </a:avLst>
          </a:prstGeom>
          <a:solidFill>
            <a:srgbClr val="7A6BAB"/>
          </a:solidFill>
          <a:ln w="12700">
            <a:solidFill>
              <a:srgbClr val="5E4F94"/>
            </a:solidFill>
            <a:prstDash val="solid"/>
          </a:ln>
          <a:effectLst>
            <a:outerShdw sx="100000" sy="100000" kx="0" ky="0" algn="bl" rotWithShape="0" blurRad="38100" dist="25400" dir="2700000">
              <a:srgbClr val="999999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864608" y="2880360"/>
            <a:ext cx="105156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(Flink)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44768" y="2395728"/>
            <a:ext cx="1078992" cy="640080"/>
          </a:xfrm>
          <a:prstGeom prst="roundRect">
            <a:avLst>
              <a:gd name="adj" fmla="val 7143"/>
            </a:avLst>
          </a:prstGeom>
          <a:solidFill>
            <a:srgbClr val="7A6BAB"/>
          </a:solidFill>
          <a:ln w="12700">
            <a:solidFill>
              <a:srgbClr val="5E4F94"/>
            </a:solidFill>
            <a:prstDash val="solid"/>
          </a:ln>
          <a:effectLst>
            <a:outerShdw sx="100000" sy="100000" kx="0" ky="0" algn="bl" rotWithShape="0" blurRad="38100" dist="25400" dir="2700000">
              <a:srgbClr val="999999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144768" y="2395728"/>
            <a:ext cx="107899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44768" y="3401568"/>
            <a:ext cx="1078992" cy="640080"/>
          </a:xfrm>
          <a:prstGeom prst="roundRect">
            <a:avLst>
              <a:gd name="adj" fmla="val 7143"/>
            </a:avLst>
          </a:prstGeom>
          <a:solidFill>
            <a:srgbClr val="A41E22"/>
          </a:solidFill>
          <a:ln w="12700">
            <a:solidFill>
              <a:srgbClr val="7A1518"/>
            </a:solidFill>
            <a:prstDash val="solid"/>
          </a:ln>
          <a:effectLst>
            <a:outerShdw sx="100000" sy="100000" kx="0" ky="0" algn="bl" rotWithShape="0" blurRad="38100" dist="25400" dir="2700000">
              <a:srgbClr val="999999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144768" y="3401568"/>
            <a:ext cx="1078992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(State Store)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33488" y="3401568"/>
            <a:ext cx="1024128" cy="640080"/>
          </a:xfrm>
          <a:prstGeom prst="roundRect">
            <a:avLst>
              <a:gd name="adj" fmla="val 7143"/>
            </a:avLst>
          </a:prstGeom>
          <a:solidFill>
            <a:srgbClr val="7A6BAB"/>
          </a:solidFill>
          <a:ln w="12700">
            <a:solidFill>
              <a:srgbClr val="5E4F94"/>
            </a:solidFill>
            <a:prstDash val="solid"/>
          </a:ln>
          <a:effectLst>
            <a:outerShdw sx="100000" sy="100000" kx="0" ky="0" algn="bl" rotWithShape="0" blurRad="38100" dist="25400" dir="2700000">
              <a:srgbClr val="999999">
                <a:alpha val="35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333488" y="3401568"/>
            <a:ext cx="102412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723376" y="2395728"/>
            <a:ext cx="1298448" cy="640080"/>
          </a:xfrm>
          <a:prstGeom prst="roundRect">
            <a:avLst>
              <a:gd name="adj" fmla="val 7143"/>
            </a:avLst>
          </a:prstGeom>
          <a:solidFill>
            <a:srgbClr val="7A6BAB"/>
          </a:solidFill>
          <a:ln w="12700">
            <a:solidFill>
              <a:srgbClr val="5E4F94"/>
            </a:solidFill>
            <a:prstDash val="solid"/>
          </a:ln>
          <a:effectLst>
            <a:outerShdw sx="100000" sy="100000" kx="0" ky="0" algn="bl" rotWithShape="0" blurRad="38100" dist="25400" dir="2700000">
              <a:srgbClr val="999999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723376" y="2395728"/>
            <a:ext cx="1298448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Tachyon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 Interface)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723376" y="3657600"/>
            <a:ext cx="1298448" cy="566928"/>
          </a:xfrm>
          <a:prstGeom prst="roundRect">
            <a:avLst>
              <a:gd name="adj" fmla="val 8065"/>
            </a:avLst>
          </a:prstGeom>
          <a:solidFill>
            <a:srgbClr val="3E7C59"/>
          </a:solidFill>
          <a:ln w="12700">
            <a:solidFill>
              <a:srgbClr val="2C5940"/>
            </a:solidFill>
            <a:prstDash val="solid"/>
          </a:ln>
          <a:effectLst>
            <a:outerShdw sx="100000" sy="100000" kx="0" ky="0" algn="bl" rotWithShape="0" blurRad="38100" dist="25400" dir="2700000">
              <a:srgbClr val="999999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723376" y="3657600"/>
            <a:ext cx="1298448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Overwatch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(Monitoring)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0442448" y="2395728"/>
            <a:ext cx="1371600" cy="566928"/>
          </a:xfrm>
          <a:prstGeom prst="roundRect">
            <a:avLst>
              <a:gd name="adj" fmla="val 8065"/>
            </a:avLst>
          </a:prstGeom>
          <a:solidFill>
            <a:srgbClr val="7A6BAB"/>
          </a:solidFill>
          <a:ln w="12700">
            <a:solidFill>
              <a:srgbClr val="5E4F94"/>
            </a:solidFill>
            <a:prstDash val="solid"/>
          </a:ln>
          <a:effectLst>
            <a:outerShdw sx="100000" sy="100000" kx="0" ky="0" algn="bl" rotWithShape="0" blurRad="38100" dist="25400" dir="2700000">
              <a:srgbClr val="999999">
                <a:alpha val="35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10442448" y="2395728"/>
            <a:ext cx="13716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442448" y="3182112"/>
            <a:ext cx="1371600" cy="502920"/>
          </a:xfrm>
          <a:prstGeom prst="roundRect">
            <a:avLst>
              <a:gd name="adj" fmla="val 9091"/>
            </a:avLst>
          </a:prstGeom>
          <a:solidFill>
            <a:srgbClr val="7A6BAB"/>
          </a:solidFill>
          <a:ln w="12700">
            <a:solidFill>
              <a:srgbClr val="5E4F94"/>
            </a:solidFill>
            <a:prstDash val="solid"/>
          </a:ln>
          <a:effectLst>
            <a:outerShdw sx="100000" sy="100000" kx="0" ky="0" algn="bl" rotWithShape="0" blurRad="38100" dist="25400" dir="2700000">
              <a:srgbClr val="999999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10442448" y="3182112"/>
            <a:ext cx="1371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442448" y="4480560"/>
            <a:ext cx="1371600" cy="566928"/>
          </a:xfrm>
          <a:prstGeom prst="roundRect">
            <a:avLst>
              <a:gd name="adj" fmla="val 8065"/>
            </a:avLst>
          </a:prstGeom>
          <a:solidFill>
            <a:srgbClr val="2E3A59"/>
          </a:solidFill>
          <a:ln w="12700">
            <a:solidFill>
              <a:srgbClr val="1C2436"/>
            </a:solidFill>
            <a:prstDash val="solid"/>
          </a:ln>
          <a:effectLst>
            <a:outerShdw sx="100000" sy="100000" kx="0" ky="0" algn="bl" rotWithShape="0" blurRad="38100" dist="25400" dir="2700000">
              <a:srgbClr val="999999">
                <a:alpha val="3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10442448" y="4480560"/>
            <a:ext cx="137160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chat-data-service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0332720" y="507492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Services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280160" y="3268980"/>
            <a:ext cx="502920" cy="0"/>
          </a:xfrm>
          <a:prstGeom prst="line">
            <a:avLst/>
          </a:prstGeom>
          <a:noFill/>
          <a:ln w="15875">
            <a:solidFill>
              <a:srgbClr val="D71E28"/>
            </a:solidFill>
            <a:prstDash val="solid"/>
            <a:headEnd type="triangle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1371600" y="2286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i="1" dirty="0">
                <a:solidFill>
                  <a:srgbClr val="6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– Chat message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i="1" dirty="0">
                <a:solidFill>
                  <a:srgbClr val="6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– Bot response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926080" y="3268980"/>
            <a:ext cx="384048" cy="0"/>
          </a:xfrm>
          <a:prstGeom prst="line">
            <a:avLst/>
          </a:prstGeom>
          <a:noFill/>
          <a:ln w="15875">
            <a:solidFill>
              <a:srgbClr val="D71E28"/>
            </a:solidFill>
            <a:prstDash val="solid"/>
            <a:headEnd type="triangle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2761488" y="25786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i="1" dirty="0">
                <a:solidFill>
                  <a:srgbClr val="6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– Forward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i="1" dirty="0">
                <a:solidFill>
                  <a:srgbClr val="6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(authenticated)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498848" y="3268980"/>
            <a:ext cx="365760" cy="0"/>
          </a:xfrm>
          <a:prstGeom prst="line">
            <a:avLst/>
          </a:prstGeom>
          <a:noFill/>
          <a:ln w="15875">
            <a:solidFill>
              <a:srgbClr val="D71E28"/>
            </a:solidFill>
            <a:prstDash val="solid"/>
            <a:headEnd type="triangle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4389120" y="25786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i="1" dirty="0">
                <a:solidFill>
                  <a:srgbClr val="6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– Route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i="1" dirty="0">
                <a:solidFill>
                  <a:srgbClr val="6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 flipV="1">
            <a:off x="5916168" y="2788920"/>
            <a:ext cx="228600" cy="274320"/>
          </a:xfrm>
          <a:prstGeom prst="line">
            <a:avLst/>
          </a:prstGeom>
          <a:noFill/>
          <a:ln w="15875">
            <a:solidFill>
              <a:srgbClr val="D71E28"/>
            </a:solidFill>
            <a:prstDash val="solid"/>
            <a:headEnd type="none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5669280" y="248716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i="1" dirty="0">
                <a:solidFill>
                  <a:srgbClr val="6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– Route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223760" y="2715768"/>
            <a:ext cx="1499616" cy="0"/>
          </a:xfrm>
          <a:prstGeom prst="line">
            <a:avLst/>
          </a:prstGeom>
          <a:noFill/>
          <a:ln w="15875">
            <a:solidFill>
              <a:srgbClr val="5E4F94"/>
            </a:solidFill>
            <a:prstDash val="dash"/>
            <a:headEnd type="triangle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7516368" y="24871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i="1" dirty="0">
                <a:solidFill>
                  <a:srgbClr val="6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– Classify intent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684264" y="3035808"/>
            <a:ext cx="905256" cy="365760"/>
          </a:xfrm>
          <a:prstGeom prst="line">
            <a:avLst/>
          </a:prstGeom>
          <a:noFill/>
          <a:ln w="15875">
            <a:solidFill>
              <a:srgbClr val="D71E28"/>
            </a:solidFill>
            <a:prstDash val="solid"/>
            <a:headEnd type="none"/>
            <a:tailEnd type="triangle"/>
          </a:ln>
        </p:spPr>
      </p:sp>
      <p:sp>
        <p:nvSpPr>
          <p:cNvPr id="49" name="Text 47"/>
          <p:cNvSpPr txBox="1"/>
          <p:nvPr/>
        </p:nvSpPr>
        <p:spPr>
          <a:xfrm>
            <a:off x="6053328" y="30906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i="1" dirty="0">
                <a:solidFill>
                  <a:srgbClr val="6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– Route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i="1" dirty="0">
                <a:solidFill>
                  <a:srgbClr val="6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agent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223760" y="3721608"/>
            <a:ext cx="109728" cy="0"/>
          </a:xfrm>
          <a:prstGeom prst="line">
            <a:avLst/>
          </a:prstGeom>
          <a:noFill/>
          <a:ln w="15875">
            <a:solidFill>
              <a:srgbClr val="D71E28"/>
            </a:solidFill>
            <a:prstDash val="solid"/>
            <a:headEnd type="triangle"/>
            <a:tailEnd type="triangle"/>
          </a:ln>
        </p:spPr>
      </p:sp>
      <p:sp>
        <p:nvSpPr>
          <p:cNvPr id="51" name="Text 49"/>
          <p:cNvSpPr txBox="1"/>
          <p:nvPr/>
        </p:nvSpPr>
        <p:spPr>
          <a:xfrm>
            <a:off x="6355080" y="40965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i="1" dirty="0">
                <a:solidFill>
                  <a:srgbClr val="6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– Get / update context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 flipV="1">
            <a:off x="7818120" y="3035808"/>
            <a:ext cx="1417320" cy="365760"/>
          </a:xfrm>
          <a:prstGeom prst="line">
            <a:avLst/>
          </a:prstGeom>
          <a:noFill/>
          <a:ln w="15875">
            <a:solidFill>
              <a:srgbClr val="D71E28"/>
            </a:solidFill>
            <a:prstDash val="solid"/>
            <a:headEnd type="triangle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7360920" y="2788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i="1" dirty="0">
                <a:solidFill>
                  <a:srgbClr val="6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– Plan tools   11 – Generate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357616" y="3538728"/>
            <a:ext cx="1865376" cy="0"/>
          </a:xfrm>
          <a:prstGeom prst="line">
            <a:avLst/>
          </a:prstGeom>
          <a:noFill/>
          <a:ln w="15875">
            <a:solidFill>
              <a:srgbClr val="D71E28"/>
            </a:solidFill>
            <a:prstDash val="solid"/>
            <a:headEnd type="none"/>
            <a:tailEnd type="none"/>
          </a:ln>
        </p:spPr>
      </p:sp>
      <p:sp>
        <p:nvSpPr>
          <p:cNvPr id="55" name="Shape 53"/>
          <p:cNvSpPr/>
          <p:nvPr/>
        </p:nvSpPr>
        <p:spPr>
          <a:xfrm flipV="1">
            <a:off x="10222992" y="2724912"/>
            <a:ext cx="219456" cy="813816"/>
          </a:xfrm>
          <a:prstGeom prst="line">
            <a:avLst/>
          </a:prstGeom>
          <a:noFill/>
          <a:ln w="15875">
            <a:solidFill>
              <a:srgbClr val="D71E28"/>
            </a:solidFill>
            <a:prstDash val="solid"/>
            <a:headEnd type="none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8485632" y="3246120"/>
            <a:ext cx="8412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i="1" dirty="0">
                <a:solidFill>
                  <a:srgbClr val="6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– Discover /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i="1" dirty="0">
                <a:solidFill>
                  <a:srgbClr val="6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tool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11128248" y="2962656"/>
            <a:ext cx="0" cy="219456"/>
          </a:xfrm>
          <a:prstGeom prst="line">
            <a:avLst/>
          </a:prstGeom>
          <a:noFill/>
          <a:ln w="15875">
            <a:solidFill>
              <a:srgbClr val="D71E28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11128248" y="3685032"/>
            <a:ext cx="0" cy="795528"/>
          </a:xfrm>
          <a:prstGeom prst="line">
            <a:avLst/>
          </a:prstGeom>
          <a:noFill/>
          <a:ln w="15875">
            <a:solidFill>
              <a:srgbClr val="D71E28"/>
            </a:solidFill>
            <a:prstDash val="solid"/>
            <a:headEnd type="none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11192256" y="395020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i="1" dirty="0">
                <a:solidFill>
                  <a:srgbClr val="6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– Query</a:t>
            </a:r>
            <a:endParaRPr lang="en-US" sz="750" dirty="0"/>
          </a:p>
          <a:p>
            <a:pPr algn="l" indent="0" marL="0">
              <a:buNone/>
            </a:pPr>
            <a:r>
              <a:rPr lang="en-US" sz="750" b="1" i="1" dirty="0">
                <a:solidFill>
                  <a:srgbClr val="6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9372600" y="3035808"/>
            <a:ext cx="0" cy="621792"/>
          </a:xfrm>
          <a:prstGeom prst="line">
            <a:avLst/>
          </a:prstGeom>
          <a:noFill/>
          <a:ln w="15875">
            <a:solidFill>
              <a:srgbClr val="3E7C59"/>
            </a:solidFill>
            <a:prstDash val="dash"/>
            <a:headEnd type="none"/>
            <a:tailEnd type="triangle"/>
          </a:ln>
        </p:spPr>
      </p:sp>
      <p:sp>
        <p:nvSpPr>
          <p:cNvPr id="61" name="Text 59"/>
          <p:cNvSpPr txBox="1"/>
          <p:nvPr/>
        </p:nvSpPr>
        <p:spPr>
          <a:xfrm>
            <a:off x="8705088" y="426110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i="1" dirty="0">
                <a:solidFill>
                  <a:srgbClr val="6B2D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– Validate goal, log LLM metrics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1463040" y="932688"/>
            <a:ext cx="1691640" cy="1005840"/>
          </a:xfrm>
          <a:prstGeom prst="rect">
            <a:avLst/>
          </a:prstGeom>
          <a:solidFill>
            <a:srgbClr val="FBF1D3"/>
          </a:solidFill>
          <a:ln w="9525">
            <a:solidFill>
              <a:srgbClr val="D9C583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30000"/>
              </a:srgbClr>
            </a:outerShdw>
          </a:effectLst>
        </p:spPr>
      </p:sp>
      <p:sp>
        <p:nvSpPr>
          <p:cNvPr id="63" name="Text 61"/>
          <p:cNvSpPr txBox="1"/>
          <p:nvPr/>
        </p:nvSpPr>
        <p:spPr>
          <a:xfrm>
            <a:off x="1517904" y="932688"/>
            <a:ext cx="1581912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</a:t>
            </a:r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API (Entry):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failure (RPN 54)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(RPN 96)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 (RPN 96)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2286000" y="1938528"/>
            <a:ext cx="45720" cy="941832"/>
          </a:xfrm>
          <a:prstGeom prst="line">
            <a:avLst/>
          </a:prstGeom>
          <a:noFill/>
          <a:ln w="12700">
            <a:solidFill>
              <a:srgbClr val="E07B39"/>
            </a:solidFill>
            <a:prstDash val="dash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3200400" y="685800"/>
            <a:ext cx="1965960" cy="1051560"/>
          </a:xfrm>
          <a:prstGeom prst="rect">
            <a:avLst/>
          </a:prstGeom>
          <a:solidFill>
            <a:srgbClr val="FBF1D3"/>
          </a:solidFill>
          <a:ln w="9525">
            <a:solidFill>
              <a:srgbClr val="D9C583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30000"/>
              </a:srgbClr>
            </a:outerShdw>
          </a:effectLst>
        </p:spPr>
      </p:sp>
      <p:sp>
        <p:nvSpPr>
          <p:cNvPr id="66" name="Text 64"/>
          <p:cNvSpPr txBox="1"/>
          <p:nvPr/>
        </p:nvSpPr>
        <p:spPr>
          <a:xfrm>
            <a:off x="3255264" y="685800"/>
            <a:ext cx="1856232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</a:t>
            </a:r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 (Flink):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processing failure (RPN 108)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protocol errors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4297680" y="1737360"/>
            <a:ext cx="914400" cy="1143000"/>
          </a:xfrm>
          <a:prstGeom prst="line">
            <a:avLst/>
          </a:prstGeom>
          <a:noFill/>
          <a:ln w="12700">
            <a:solidFill>
              <a:srgbClr val="E07B39"/>
            </a:solidFill>
            <a:prstDash val="dash"/>
            <a:headEnd type="none"/>
            <a:tailEnd type="none"/>
          </a:ln>
        </p:spPr>
      </p:sp>
      <p:sp>
        <p:nvSpPr>
          <p:cNvPr id="68" name="Shape 66"/>
          <p:cNvSpPr/>
          <p:nvPr/>
        </p:nvSpPr>
        <p:spPr>
          <a:xfrm>
            <a:off x="5349240" y="502920"/>
            <a:ext cx="2286000" cy="1417320"/>
          </a:xfrm>
          <a:prstGeom prst="rect">
            <a:avLst/>
          </a:prstGeom>
          <a:solidFill>
            <a:srgbClr val="FBF1D3"/>
          </a:solidFill>
          <a:ln w="9525">
            <a:solidFill>
              <a:srgbClr val="D9C583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30000"/>
              </a:srgbClr>
            </a:outerShdw>
          </a:effectLst>
        </p:spPr>
      </p:sp>
      <p:sp>
        <p:nvSpPr>
          <p:cNvPr id="69" name="Text 67"/>
          <p:cNvSpPr txBox="1"/>
          <p:nvPr/>
        </p:nvSpPr>
        <p:spPr>
          <a:xfrm>
            <a:off x="5404104" y="502920"/>
            <a:ext cx="2176272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</a:t>
            </a:r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/ Routing: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misclassification (RPN 210)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(RPN 180)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coordination (RPN 252)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routing loop (RPN 144)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Low-confidence routing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6492240" y="1938528"/>
            <a:ext cx="182880" cy="457200"/>
          </a:xfrm>
          <a:prstGeom prst="line">
            <a:avLst/>
          </a:prstGeom>
          <a:noFill/>
          <a:ln w="12700">
            <a:solidFill>
              <a:srgbClr val="E07B39"/>
            </a:solidFill>
            <a:prstDash val="dash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7818120" y="502920"/>
            <a:ext cx="2148840" cy="1417320"/>
          </a:xfrm>
          <a:prstGeom prst="rect">
            <a:avLst/>
          </a:prstGeom>
          <a:solidFill>
            <a:srgbClr val="FBF1D3"/>
          </a:solidFill>
          <a:ln w="9525">
            <a:solidFill>
              <a:srgbClr val="D9C583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30000"/>
              </a:srgbClr>
            </a:outerShdw>
          </a:effectLst>
        </p:spPr>
      </p:sp>
      <p:sp>
        <p:nvSpPr>
          <p:cNvPr id="72" name="Text 70"/>
          <p:cNvSpPr txBox="1"/>
          <p:nvPr/>
        </p:nvSpPr>
        <p:spPr>
          <a:xfrm>
            <a:off x="7872984" y="502920"/>
            <a:ext cx="2039112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</a:t>
            </a:r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Planning (Tachyon):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model selection (RPN 392)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multiplication (RPN 392)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Inefficient prompts (RPN 336)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Under/over-reliance on tools (288/216)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9052560" y="1920240"/>
            <a:ext cx="274320" cy="475488"/>
          </a:xfrm>
          <a:prstGeom prst="line">
            <a:avLst/>
          </a:prstGeom>
          <a:noFill/>
          <a:ln w="12700">
            <a:solidFill>
              <a:srgbClr val="E07B39"/>
            </a:solidFill>
            <a:prstDash val="dash"/>
            <a:headEnd type="none"/>
            <a:tailEnd type="none"/>
          </a:ln>
        </p:spPr>
      </p:sp>
      <p:sp>
        <p:nvSpPr>
          <p:cNvPr id="74" name="Shape 72"/>
          <p:cNvSpPr/>
          <p:nvPr/>
        </p:nvSpPr>
        <p:spPr>
          <a:xfrm>
            <a:off x="10149840" y="502920"/>
            <a:ext cx="1828800" cy="1417320"/>
          </a:xfrm>
          <a:prstGeom prst="rect">
            <a:avLst/>
          </a:prstGeom>
          <a:solidFill>
            <a:srgbClr val="FBF1D3"/>
          </a:solidFill>
          <a:ln w="9525">
            <a:solidFill>
              <a:srgbClr val="D9C583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30000"/>
              </a:srgbClr>
            </a:outerShdw>
          </a:effectLst>
        </p:spPr>
      </p:sp>
      <p:sp>
        <p:nvSpPr>
          <p:cNvPr id="75" name="Text 73"/>
          <p:cNvSpPr txBox="1"/>
          <p:nvPr/>
        </p:nvSpPr>
        <p:spPr>
          <a:xfrm>
            <a:off x="10204704" y="502920"/>
            <a:ext cx="1719072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</a:t>
            </a:r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/ Tools: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version mismatch (RPN 140)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timeout / failure (RPN 140)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Serialization error (RPN 128)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failure, schema incompat.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11109960" y="1920240"/>
            <a:ext cx="18288" cy="475488"/>
          </a:xfrm>
          <a:prstGeom prst="line">
            <a:avLst/>
          </a:prstGeom>
          <a:noFill/>
          <a:ln w="12700">
            <a:solidFill>
              <a:srgbClr val="E07B39"/>
            </a:solidFill>
            <a:prstDash val="dash"/>
            <a:headEnd type="none"/>
            <a:tailEnd type="none"/>
          </a:ln>
        </p:spPr>
      </p:sp>
      <p:sp>
        <p:nvSpPr>
          <p:cNvPr id="77" name="Shape 75"/>
          <p:cNvSpPr/>
          <p:nvPr/>
        </p:nvSpPr>
        <p:spPr>
          <a:xfrm>
            <a:off x="228600" y="4572000"/>
            <a:ext cx="2148840" cy="1234440"/>
          </a:xfrm>
          <a:prstGeom prst="rect">
            <a:avLst/>
          </a:prstGeom>
          <a:solidFill>
            <a:srgbClr val="FBF1D3"/>
          </a:solidFill>
          <a:ln w="9525">
            <a:solidFill>
              <a:srgbClr val="D9C583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30000"/>
              </a:srgbClr>
            </a:outerShdw>
          </a:effectLst>
        </p:spPr>
      </p:sp>
      <p:sp>
        <p:nvSpPr>
          <p:cNvPr id="78" name="Text 76"/>
          <p:cNvSpPr txBox="1"/>
          <p:nvPr/>
        </p:nvSpPr>
        <p:spPr>
          <a:xfrm>
            <a:off x="283464" y="4572000"/>
            <a:ext cx="203911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</a:t>
            </a:r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/ Response: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leakage (RPN 160)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validation failure, filter bypass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timeout (RPN 96)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failure, client disconnect</a:t>
            </a:r>
            <a:endParaRPr lang="en-US" sz="1150" dirty="0"/>
          </a:p>
        </p:txBody>
      </p:sp>
      <p:sp>
        <p:nvSpPr>
          <p:cNvPr id="79" name="Shape 77"/>
          <p:cNvSpPr/>
          <p:nvPr/>
        </p:nvSpPr>
        <p:spPr>
          <a:xfrm flipV="1">
            <a:off x="1463040" y="3675888"/>
            <a:ext cx="868680" cy="896112"/>
          </a:xfrm>
          <a:prstGeom prst="line">
            <a:avLst/>
          </a:prstGeom>
          <a:noFill/>
          <a:ln w="12700">
            <a:solidFill>
              <a:srgbClr val="E07B39"/>
            </a:solidFill>
            <a:prstDash val="dash"/>
            <a:headEnd type="none"/>
            <a:tailEnd type="none"/>
          </a:ln>
        </p:spPr>
      </p:sp>
      <p:sp>
        <p:nvSpPr>
          <p:cNvPr id="80" name="Shape 78"/>
          <p:cNvSpPr/>
          <p:nvPr/>
        </p:nvSpPr>
        <p:spPr>
          <a:xfrm>
            <a:off x="2560320" y="4572000"/>
            <a:ext cx="2103120" cy="1234440"/>
          </a:xfrm>
          <a:prstGeom prst="rect">
            <a:avLst/>
          </a:prstGeom>
          <a:solidFill>
            <a:srgbClr val="FBF1D3"/>
          </a:solidFill>
          <a:ln w="9525">
            <a:solidFill>
              <a:srgbClr val="D9C583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30000"/>
              </a:srgbClr>
            </a:outerShdw>
          </a:effectLst>
        </p:spPr>
      </p:sp>
      <p:sp>
        <p:nvSpPr>
          <p:cNvPr id="81" name="Text 79"/>
          <p:cNvSpPr txBox="1"/>
          <p:nvPr/>
        </p:nvSpPr>
        <p:spPr>
          <a:xfrm>
            <a:off x="2615184" y="4572000"/>
            <a:ext cx="1993392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</a:t>
            </a:r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(Redis):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miss (RPN 245)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explosion (RPN 288)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corruption / update failure (96)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compression loss, Redis down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 flipV="1">
            <a:off x="4617720" y="4069080"/>
            <a:ext cx="1645920" cy="502920"/>
          </a:xfrm>
          <a:prstGeom prst="line">
            <a:avLst/>
          </a:prstGeom>
          <a:noFill/>
          <a:ln w="12700">
            <a:solidFill>
              <a:srgbClr val="E07B39"/>
            </a:solidFill>
            <a:prstDash val="dash"/>
            <a:headEnd type="none"/>
            <a:tailEnd type="none"/>
          </a:ln>
        </p:spPr>
      </p:sp>
      <p:sp>
        <p:nvSpPr>
          <p:cNvPr id="83" name="Shape 81"/>
          <p:cNvSpPr/>
          <p:nvPr/>
        </p:nvSpPr>
        <p:spPr>
          <a:xfrm>
            <a:off x="5074920" y="4572000"/>
            <a:ext cx="2331720" cy="1325880"/>
          </a:xfrm>
          <a:prstGeom prst="rect">
            <a:avLst/>
          </a:prstGeom>
          <a:solidFill>
            <a:srgbClr val="FBF1D3"/>
          </a:solidFill>
          <a:ln w="9525">
            <a:solidFill>
              <a:srgbClr val="D9C583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30000"/>
              </a:srgbClr>
            </a:outerShdw>
          </a:effectLst>
        </p:spPr>
      </p:sp>
      <p:sp>
        <p:nvSpPr>
          <p:cNvPr id="84" name="Text 82"/>
          <p:cNvSpPr txBox="1"/>
          <p:nvPr/>
        </p:nvSpPr>
        <p:spPr>
          <a:xfrm>
            <a:off x="5129784" y="4572000"/>
            <a:ext cx="2221992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</a:t>
            </a:r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Behavior (LLM):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(RPN 378)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drift / task drift (RPN 336)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runaway (RPN 324)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&amp; fairness (RPN 252)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following (RPN 280)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 flipV="1">
            <a:off x="7223760" y="4069080"/>
            <a:ext cx="548640" cy="502920"/>
          </a:xfrm>
          <a:prstGeom prst="line">
            <a:avLst/>
          </a:prstGeom>
          <a:noFill/>
          <a:ln w="12700">
            <a:solidFill>
              <a:srgbClr val="E07B39"/>
            </a:solidFill>
            <a:prstDash val="dash"/>
            <a:headEnd type="none"/>
            <a:tailEnd type="none"/>
          </a:ln>
        </p:spPr>
      </p:sp>
      <p:sp>
        <p:nvSpPr>
          <p:cNvPr id="86" name="Shape 84"/>
          <p:cNvSpPr/>
          <p:nvPr/>
        </p:nvSpPr>
        <p:spPr>
          <a:xfrm>
            <a:off x="7818120" y="4572000"/>
            <a:ext cx="2240280" cy="1325880"/>
          </a:xfrm>
          <a:prstGeom prst="rect">
            <a:avLst/>
          </a:prstGeom>
          <a:solidFill>
            <a:srgbClr val="FBF1D3"/>
          </a:solidFill>
          <a:ln w="9525">
            <a:solidFill>
              <a:srgbClr val="D9C583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30000"/>
              </a:srgbClr>
            </a:outerShdw>
          </a:effectLst>
        </p:spPr>
      </p:sp>
      <p:sp>
        <p:nvSpPr>
          <p:cNvPr id="87" name="Text 85"/>
          <p:cNvSpPr txBox="1"/>
          <p:nvPr/>
        </p:nvSpPr>
        <p:spPr>
          <a:xfrm>
            <a:off x="7872984" y="4572000"/>
            <a:ext cx="2130552" cy="1325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</a:t>
            </a:r>
            <a:pPr algn="l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(Overwatch):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degradation (RPN 336)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staleness (RPN 336)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blind spots (RPN 224)</a:t>
            </a:r>
            <a:endParaRPr lang="en-US" sz="11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fatigue (RPN 135)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 flipV="1">
            <a:off x="9052560" y="4224528"/>
            <a:ext cx="274320" cy="347472"/>
          </a:xfrm>
          <a:prstGeom prst="line">
            <a:avLst/>
          </a:prstGeom>
          <a:noFill/>
          <a:ln w="12700">
            <a:solidFill>
              <a:srgbClr val="E07B39"/>
            </a:solidFill>
            <a:prstDash val="dash"/>
            <a:headEnd type="none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10351008" y="5376672"/>
            <a:ext cx="1627632" cy="749808"/>
          </a:xfrm>
          <a:prstGeom prst="rect">
            <a:avLst/>
          </a:prstGeom>
          <a:solidFill>
            <a:srgbClr val="FBF1D3"/>
          </a:solidFill>
          <a:ln w="9525">
            <a:solidFill>
              <a:srgbClr val="D9C583"/>
            </a:solidFill>
            <a:prstDash val="solid"/>
          </a:ln>
          <a:effectLst>
            <a:outerShdw sx="100000" sy="100000" kx="0" ky="0" algn="bl" rotWithShape="0" blurRad="38100" dist="25400" dir="2700000">
              <a:srgbClr val="AAAAAA">
                <a:alpha val="30000"/>
              </a:srgbClr>
            </a:outerShdw>
          </a:effectLst>
        </p:spPr>
      </p:sp>
      <p:sp>
        <p:nvSpPr>
          <p:cNvPr id="90" name="Text 88"/>
          <p:cNvSpPr txBox="1"/>
          <p:nvPr/>
        </p:nvSpPr>
        <p:spPr>
          <a:xfrm>
            <a:off x="10405872" y="5376672"/>
            <a:ext cx="1517904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</a:t>
            </a:r>
            <a:pPr algn="l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inconsistency (RPN 240)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Svc timeout (108), API failure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 flipH="1" flipV="1">
            <a:off x="11128248" y="5074920"/>
            <a:ext cx="27432" cy="274320"/>
          </a:xfrm>
          <a:prstGeom prst="line">
            <a:avLst/>
          </a:prstGeom>
          <a:noFill/>
          <a:ln w="12700">
            <a:solidFill>
              <a:srgbClr val="E07B39"/>
            </a:solidFill>
            <a:prstDash val="dash"/>
            <a:headEnd type="none"/>
            <a:tailEnd type="none"/>
          </a:ln>
        </p:spPr>
      </p:sp>
      <p:sp>
        <p:nvSpPr>
          <p:cNvPr id="92" name="Text 90"/>
          <p:cNvSpPr txBox="1"/>
          <p:nvPr/>
        </p:nvSpPr>
        <p:spPr>
          <a:xfrm>
            <a:off x="228600" y="6355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*RPN = Severity × Occurrence × Detection. Wherever components take over load from failed components, ensure there is enough capacity.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8366760" y="6263640"/>
            <a:ext cx="361188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8458200" y="6263640"/>
            <a:ext cx="34747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Stack: 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Flink · Redis · Tachyon · ADK · A2A · MCP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FMEA Risks by RPN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77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Risk Priority Numbers across the agentic flow — AI behavioral risks dominate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786384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458200" y="1371600"/>
            <a:ext cx="3383280" cy="4572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B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major risk categories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71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Behavioral Risks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Hallucination, goal/task drift, cost runaway, prompt injection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5E4F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Orchestration &amp; Tooling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loops, multi-agent coordination, tool/MCP failures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3A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State &amp; Infrastructure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cache miss, multi-turn explosion, data inconsistency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2026-09-08T13:01:20Z</dcterms:created>
  <dcterms:modified xsi:type="dcterms:W3CDTF">2026-09-08T13:01:20Z</dcterms:modified>
</cp:coreProperties>
</file>